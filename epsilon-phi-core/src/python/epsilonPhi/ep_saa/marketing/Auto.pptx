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notesSlides/notesSlide2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6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7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8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9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0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1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2.xml" ContentType="application/vnd.openxmlformats-officedocument.drawingml.chart+xml"/>
  <Override PartName="/ppt/drawings/drawing1.xml" ContentType="application/vnd.openxmlformats-officedocument.drawingml.chartshapes+xml"/>
  <Override PartName="/ppt/charts/chart23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4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5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6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7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72" r:id="rId2"/>
    <p:sldId id="256" r:id="rId3"/>
    <p:sldId id="284" r:id="rId4"/>
    <p:sldId id="283" r:id="rId5"/>
    <p:sldId id="285" r:id="rId6"/>
    <p:sldId id="286" r:id="rId7"/>
    <p:sldId id="288" r:id="rId8"/>
    <p:sldId id="290" r:id="rId9"/>
    <p:sldId id="287" r:id="rId10"/>
    <p:sldId id="291" r:id="rId11"/>
    <p:sldId id="289" r:id="rId12"/>
    <p:sldId id="292" r:id="rId13"/>
    <p:sldId id="299" r:id="rId14"/>
    <p:sldId id="293" r:id="rId15"/>
    <p:sldId id="295" r:id="rId16"/>
    <p:sldId id="302" r:id="rId17"/>
    <p:sldId id="300" r:id="rId18"/>
    <p:sldId id="296" r:id="rId19"/>
    <p:sldId id="297" r:id="rId20"/>
    <p:sldId id="304" r:id="rId21"/>
    <p:sldId id="303" r:id="rId22"/>
    <p:sldId id="30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1624"/>
    <a:srgbClr val="70AD47"/>
    <a:srgbClr val="7CC04D"/>
    <a:srgbClr val="DAE3F3"/>
    <a:srgbClr val="7F94BA"/>
    <a:srgbClr val="0B0D37"/>
    <a:srgbClr val="151824"/>
    <a:srgbClr val="000D67"/>
    <a:srgbClr val="7D9BD3"/>
    <a:srgbClr val="739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40"/>
    <p:restoredTop sz="94613"/>
  </p:normalViewPr>
  <p:slideViewPr>
    <p:cSldViewPr snapToGrid="0">
      <p:cViewPr>
        <p:scale>
          <a:sx n="180" d="100"/>
          <a:sy n="180" d="100"/>
        </p:scale>
        <p:origin x="320" y="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python/epsilonPhi/core/reporting/formatted_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python/epsilonPhi/core/reporting/formatted_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python/epsilonPhi/core/reporting/formatted_exc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python/epsilonPhi/core/reporting/formatted_exce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python/epsilonPhi/core/reporting/formatted_exce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python/epsilonPhi/core/reporting/formatted_exce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1.%20Portfolio%20Analysis/Simple%20Portfolio%20Report_new_p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1.%20Portfolio%20Analysis/Simple%20Portfolio%20Report_new_p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1.%20Portfolio%20Analysis/Simple%20Portfolio%20Report_new_pe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1.%20Portfolio%20Analysis/Simple%20Portfolio%20Report_new_pe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francisbarker/Repositories/Python/epsilon-phi/epsilon-phi-core/src/Scripts/Case%20Studies/1.%20Portfolio%20Analysis/Simple%20Portfolio%20Report_new_pe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francisbarker/Repositories/Python/epsilon-phi/epsilon-phi-core/src/Scripts/Case%20Studies/1.%20Portfolio%20Analysis/Simple%20Portfolio%20Report%20Spending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francisbarker/Repositories/Python/epsilon-phi/epsilon-phi-core/src/Scripts/Case%20Studies/1.%20Portfolio%20Analysis/Simple%20Portfolio%20Report%20Spending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1.%20Portfolio%20Analysis/Simple%20Portfolio%20Report_new_pe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3.%20Single%20Stock%20Analysis/Single%20Stock%20Analysi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3.%20Single%20Stock%20Analysis/Single%20Stock%20Analysis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3.%20Single%20Stock%20Analysis/Single%20Stock%20Analysis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3.%20Single%20Stock%20Analysis/Single%20Stock%20Analysis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3.%20Single%20Stock%20Analysis/Single%20Stock%20Analysis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3.%20Single%20Stock%20Analysis/Staged%20Sell%20Down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/Users/francisbarker/Repositories/Python/epsilon-phi/epsilon-phi-core/src/Scripts/Case%20Studies/3.%20Single%20Stock%20Analysis/Single%20Stock%20Analysis.xlsx" TargetMode="Externa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4.%20Structured%20Notes/Autocallable/Strucutred%20Notes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4.%20Structured%20Notes/Autocallable/Strucutred%20Notes%20Report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4.%20Structured%20Notes/Autocallable/Strucutred%20Notes%20Report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4.%20Structured%20Notes/Autocallable/Strucutred%20Notes%20Report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4.%20Structured%20Notes/Autocallable/Strucutred%20Notes%20Report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596068786070678E-2"/>
          <c:y val="4.0039682539682549E-2"/>
          <c:w val="0.9068078624278586"/>
          <c:h val="0.916309523809523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'Factor Charts'!$I$1</c:f>
              <c:strCache>
                <c:ptCount val="1"/>
              </c:strCache>
            </c:strRef>
          </c:tx>
          <c:spPr>
            <a:solidFill>
              <a:schemeClr val="accent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F86-F244-85C1-474F3562038C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F86-F244-85C1-474F3562038C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F86-F244-85C1-474F3562038C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F86-F244-85C1-474F3562038C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F86-F244-85C1-474F3562038C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F86-F244-85C1-474F3562038C}"/>
              </c:ext>
            </c:extLst>
          </c:dPt>
          <c:val>
            <c:numRef>
              <c:f>'Factor Charts'!$I$2:$I$9</c:f>
              <c:numCache>
                <c:formatCode>0.00%</c:formatCode>
                <c:ptCount val="8"/>
                <c:pt idx="1">
                  <c:v>2.5000000000000001E-2</c:v>
                </c:pt>
                <c:pt idx="2">
                  <c:v>5.0000000000000001E-3</c:v>
                </c:pt>
                <c:pt idx="3">
                  <c:v>6.0000000000000001E-3</c:v>
                </c:pt>
                <c:pt idx="4">
                  <c:v>2.5000000000000001E-3</c:v>
                </c:pt>
                <c:pt idx="5">
                  <c:v>3.5000000000000001E-3</c:v>
                </c:pt>
                <c:pt idx="6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F86-F244-85C1-474F356203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95615184"/>
        <c:axId val="344716032"/>
      </c:barChart>
      <c:catAx>
        <c:axId val="2956151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bg1">
                <a:lumMod val="50000"/>
                <a:alpha val="99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716032"/>
        <c:crosses val="autoZero"/>
        <c:auto val="1"/>
        <c:lblAlgn val="ctr"/>
        <c:lblOffset val="100"/>
        <c:noMultiLvlLbl val="0"/>
      </c:catAx>
      <c:valAx>
        <c:axId val="3447160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956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596068786070678E-2"/>
          <c:y val="4.0039682539682549E-2"/>
          <c:w val="0.9068078624278586"/>
          <c:h val="0.91630952380952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'Factor Charts'!$I$1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dkUpDiag">
                <a:fgClr>
                  <a:schemeClr val="tx2">
                    <a:lumMod val="20000"/>
                    <a:lumOff val="80000"/>
                  </a:schemeClr>
                </a:fgClr>
                <a:bgClr>
                  <a:srgbClr val="16537D"/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388-684F-886E-9C79A7C16C1A}"/>
              </c:ext>
            </c:extLst>
          </c:dPt>
          <c:dPt>
            <c:idx val="2"/>
            <c:invertIfNegative val="0"/>
            <c:bubble3D val="0"/>
            <c:spPr>
              <a:pattFill prst="wdDnDiag">
                <a:fgClr>
                  <a:srgbClr val="658E00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388-684F-886E-9C79A7C16C1A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rgbClr val="B37838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388-684F-886E-9C79A7C16C1A}"/>
              </c:ext>
            </c:extLst>
          </c:dPt>
          <c:dPt>
            <c:idx val="4"/>
            <c:invertIfNegative val="0"/>
            <c:bubble3D val="0"/>
            <c:spPr>
              <a:pattFill prst="plaid">
                <a:fgClr>
                  <a:schemeClr val="bg1">
                    <a:lumMod val="95000"/>
                  </a:schemeClr>
                </a:fgClr>
                <a:bgClr>
                  <a:schemeClr val="tx1">
                    <a:lumMod val="50000"/>
                    <a:lumOff val="5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388-684F-886E-9C79A7C16C1A}"/>
              </c:ext>
            </c:extLst>
          </c:dPt>
          <c:dPt>
            <c:idx val="5"/>
            <c:invertIfNegative val="0"/>
            <c:bubble3D val="0"/>
            <c:spPr>
              <a:pattFill prst="solidDmnd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388-684F-886E-9C79A7C16C1A}"/>
              </c:ext>
            </c:extLst>
          </c:dPt>
          <c:dPt>
            <c:idx val="6"/>
            <c:invertIfNegative val="0"/>
            <c:bubble3D val="0"/>
            <c:spPr>
              <a:pattFill prst="smCheck">
                <a:fgClr>
                  <a:srgbClr val="DDA500"/>
                </a:fgClr>
                <a:bgClr>
                  <a:schemeClr val="accent6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388-684F-886E-9C79A7C16C1A}"/>
              </c:ext>
            </c:extLst>
          </c:dPt>
          <c:val>
            <c:numRef>
              <c:f>'Factor Charts'!$I$2:$I$9</c:f>
              <c:numCache>
                <c:formatCode>0.00%</c:formatCode>
                <c:ptCount val="8"/>
                <c:pt idx="1">
                  <c:v>2.5000000000000001E-2</c:v>
                </c:pt>
                <c:pt idx="2">
                  <c:v>5.0000000000000001E-3</c:v>
                </c:pt>
                <c:pt idx="3">
                  <c:v>6.0000000000000001E-3</c:v>
                </c:pt>
                <c:pt idx="4">
                  <c:v>2.5000000000000001E-3</c:v>
                </c:pt>
                <c:pt idx="5">
                  <c:v>3.5000000000000001E-3</c:v>
                </c:pt>
                <c:pt idx="6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388-684F-886E-9C79A7C16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95615184"/>
        <c:axId val="344716032"/>
      </c:barChart>
      <c:catAx>
        <c:axId val="295615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bg1">
                <a:lumMod val="50000"/>
                <a:alpha val="99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716032"/>
        <c:crosses val="autoZero"/>
        <c:auto val="1"/>
        <c:lblAlgn val="ctr"/>
        <c:lblOffset val="100"/>
        <c:tickMarkSkip val="8"/>
        <c:noMultiLvlLbl val="0"/>
      </c:catAx>
      <c:valAx>
        <c:axId val="344716032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2956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596068786070678E-2"/>
          <c:y val="4.0039682539682549E-2"/>
          <c:w val="0.9068078624278586"/>
          <c:h val="0.91630952380952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'Factor Charts'!$I$1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dkUpDiag">
                <a:fgClr>
                  <a:schemeClr val="tx2">
                    <a:lumMod val="20000"/>
                    <a:lumOff val="80000"/>
                  </a:schemeClr>
                </a:fgClr>
                <a:bgClr>
                  <a:srgbClr val="16537D"/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44F-4248-AE92-8D9C3261DEEA}"/>
              </c:ext>
            </c:extLst>
          </c:dPt>
          <c:dPt>
            <c:idx val="2"/>
            <c:invertIfNegative val="0"/>
            <c:bubble3D val="0"/>
            <c:spPr>
              <a:pattFill prst="wdDnDiag">
                <a:fgClr>
                  <a:srgbClr val="658E00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4F-4248-AE92-8D9C3261DEEA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rgbClr val="B37838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44F-4248-AE92-8D9C3261DEEA}"/>
              </c:ext>
            </c:extLst>
          </c:dPt>
          <c:dPt>
            <c:idx val="4"/>
            <c:invertIfNegative val="0"/>
            <c:bubble3D val="0"/>
            <c:spPr>
              <a:pattFill prst="plaid">
                <a:fgClr>
                  <a:schemeClr val="bg1">
                    <a:lumMod val="95000"/>
                  </a:schemeClr>
                </a:fgClr>
                <a:bgClr>
                  <a:schemeClr val="tx1">
                    <a:lumMod val="50000"/>
                    <a:lumOff val="5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44F-4248-AE92-8D9C3261DEEA}"/>
              </c:ext>
            </c:extLst>
          </c:dPt>
          <c:dPt>
            <c:idx val="5"/>
            <c:invertIfNegative val="0"/>
            <c:bubble3D val="0"/>
            <c:spPr>
              <a:pattFill prst="solidDmnd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44F-4248-AE92-8D9C3261DEEA}"/>
              </c:ext>
            </c:extLst>
          </c:dPt>
          <c:dPt>
            <c:idx val="6"/>
            <c:invertIfNegative val="0"/>
            <c:bubble3D val="0"/>
            <c:spPr>
              <a:pattFill prst="smCheck">
                <a:fgClr>
                  <a:srgbClr val="DDA500"/>
                </a:fgClr>
                <a:bgClr>
                  <a:schemeClr val="accent6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44F-4248-AE92-8D9C3261DEEA}"/>
              </c:ext>
            </c:extLst>
          </c:dPt>
          <c:val>
            <c:numRef>
              <c:f>'Factor Charts'!$I$2:$I$9</c:f>
              <c:numCache>
                <c:formatCode>0.00%</c:formatCode>
                <c:ptCount val="8"/>
                <c:pt idx="1">
                  <c:v>2.5000000000000001E-2</c:v>
                </c:pt>
                <c:pt idx="2">
                  <c:v>5.0000000000000001E-3</c:v>
                </c:pt>
                <c:pt idx="3">
                  <c:v>6.0000000000000001E-3</c:v>
                </c:pt>
                <c:pt idx="4">
                  <c:v>2.5000000000000001E-3</c:v>
                </c:pt>
                <c:pt idx="5">
                  <c:v>3.5000000000000001E-3</c:v>
                </c:pt>
                <c:pt idx="6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44F-4248-AE92-8D9C3261DE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95615184"/>
        <c:axId val="344716032"/>
      </c:barChart>
      <c:catAx>
        <c:axId val="295615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bg1">
                <a:lumMod val="50000"/>
                <a:alpha val="99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716032"/>
        <c:crosses val="autoZero"/>
        <c:auto val="1"/>
        <c:lblAlgn val="ctr"/>
        <c:lblOffset val="100"/>
        <c:tickMarkSkip val="8"/>
        <c:noMultiLvlLbl val="0"/>
      </c:catAx>
      <c:valAx>
        <c:axId val="344716032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2956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596068786070678E-2"/>
          <c:y val="4.0039682539682549E-2"/>
          <c:w val="0.9068078624278586"/>
          <c:h val="0.916309523809523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'Factor Charts'!$I$1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pattFill prst="dkUpDiag">
                <a:fgClr>
                  <a:schemeClr val="tx2">
                    <a:lumMod val="20000"/>
                    <a:lumOff val="80000"/>
                  </a:schemeClr>
                </a:fgClr>
                <a:bgClr>
                  <a:srgbClr val="16537D"/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8E7-A34F-8E37-374647514286}"/>
              </c:ext>
            </c:extLst>
          </c:dPt>
          <c:dPt>
            <c:idx val="2"/>
            <c:invertIfNegative val="0"/>
            <c:bubble3D val="0"/>
            <c:spPr>
              <a:pattFill prst="wdDnDiag">
                <a:fgClr>
                  <a:srgbClr val="658E00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8E7-A34F-8E37-374647514286}"/>
              </c:ext>
            </c:extLst>
          </c:dPt>
          <c:dPt>
            <c:idx val="3"/>
            <c:invertIfNegative val="0"/>
            <c:bubble3D val="0"/>
            <c:spPr>
              <a:pattFill prst="wdUpDiag">
                <a:fgClr>
                  <a:srgbClr val="B37838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8E7-A34F-8E37-374647514286}"/>
              </c:ext>
            </c:extLst>
          </c:dPt>
          <c:dPt>
            <c:idx val="4"/>
            <c:invertIfNegative val="0"/>
            <c:bubble3D val="0"/>
            <c:spPr>
              <a:pattFill prst="plaid">
                <a:fgClr>
                  <a:schemeClr val="bg1">
                    <a:lumMod val="95000"/>
                  </a:schemeClr>
                </a:fgClr>
                <a:bgClr>
                  <a:schemeClr val="tx1">
                    <a:lumMod val="50000"/>
                    <a:lumOff val="5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8E7-A34F-8E37-374647514286}"/>
              </c:ext>
            </c:extLst>
          </c:dPt>
          <c:dPt>
            <c:idx val="5"/>
            <c:invertIfNegative val="0"/>
            <c:bubble3D val="0"/>
            <c:spPr>
              <a:pattFill prst="solidDmnd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8E7-A34F-8E37-374647514286}"/>
              </c:ext>
            </c:extLst>
          </c:dPt>
          <c:dPt>
            <c:idx val="6"/>
            <c:invertIfNegative val="0"/>
            <c:bubble3D val="0"/>
            <c:spPr>
              <a:pattFill prst="smCheck">
                <a:fgClr>
                  <a:srgbClr val="DDA500"/>
                </a:fgClr>
                <a:bgClr>
                  <a:schemeClr val="accent6">
                    <a:lumMod val="40000"/>
                    <a:lumOff val="60000"/>
                  </a:schemeClr>
                </a:bgClr>
              </a:patt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8E7-A34F-8E37-374647514286}"/>
              </c:ext>
            </c:extLst>
          </c:dPt>
          <c:val>
            <c:numRef>
              <c:f>'Factor Charts'!$I$2:$I$9</c:f>
              <c:numCache>
                <c:formatCode>0.00%</c:formatCode>
                <c:ptCount val="8"/>
                <c:pt idx="1">
                  <c:v>2.5000000000000001E-2</c:v>
                </c:pt>
                <c:pt idx="2">
                  <c:v>5.0000000000000001E-3</c:v>
                </c:pt>
                <c:pt idx="3">
                  <c:v>6.0000000000000001E-3</c:v>
                </c:pt>
                <c:pt idx="4">
                  <c:v>2.5000000000000001E-3</c:v>
                </c:pt>
                <c:pt idx="5">
                  <c:v>3.5000000000000001E-3</c:v>
                </c:pt>
                <c:pt idx="6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8E7-A34F-8E37-374647514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295615184"/>
        <c:axId val="344716032"/>
      </c:barChart>
      <c:catAx>
        <c:axId val="295615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bg1">
                <a:lumMod val="50000"/>
                <a:alpha val="99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716032"/>
        <c:crosses val="autoZero"/>
        <c:auto val="1"/>
        <c:lblAlgn val="ctr"/>
        <c:lblOffset val="100"/>
        <c:tickMarkSkip val="8"/>
        <c:noMultiLvlLbl val="0"/>
      </c:catAx>
      <c:valAx>
        <c:axId val="344716032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2956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596068786070678E-2"/>
          <c:y val="4.0039682539682549E-2"/>
          <c:w val="0.9068078624278586"/>
          <c:h val="0.916309523809523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'Factor Charts'!$I$1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D01-F749-9E25-DD0336B37F1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D01-F749-9E25-DD0336B37F1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D01-F749-9E25-DD0336B37F12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D01-F749-9E25-DD0336B37F12}"/>
              </c:ext>
            </c:extLst>
          </c:dPt>
          <c:dPt>
            <c:idx val="5"/>
            <c:invertIfNegative val="0"/>
            <c:bubble3D val="0"/>
            <c:spPr>
              <a:solidFill>
                <a:srgbClr val="7030A0"/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D01-F749-9E25-DD0336B37F12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D01-F749-9E25-DD0336B37F12}"/>
              </c:ext>
            </c:extLst>
          </c:dPt>
          <c:val>
            <c:numRef>
              <c:f>'Factor Charts'!$I$2:$I$9</c:f>
              <c:numCache>
                <c:formatCode>0.00%</c:formatCode>
                <c:ptCount val="8"/>
                <c:pt idx="1">
                  <c:v>2.5000000000000001E-2</c:v>
                </c:pt>
                <c:pt idx="2">
                  <c:v>5.0000000000000001E-3</c:v>
                </c:pt>
                <c:pt idx="3">
                  <c:v>6.0000000000000001E-3</c:v>
                </c:pt>
                <c:pt idx="4">
                  <c:v>2.5000000000000001E-3</c:v>
                </c:pt>
                <c:pt idx="5">
                  <c:v>3.5000000000000001E-3</c:v>
                </c:pt>
                <c:pt idx="6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D01-F749-9E25-DD0336B37F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95615184"/>
        <c:axId val="344716032"/>
      </c:barChart>
      <c:catAx>
        <c:axId val="2956151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bg1">
                <a:lumMod val="50000"/>
                <a:alpha val="99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716032"/>
        <c:crosses val="autoZero"/>
        <c:auto val="1"/>
        <c:lblAlgn val="ctr"/>
        <c:lblOffset val="100"/>
        <c:noMultiLvlLbl val="0"/>
      </c:catAx>
      <c:valAx>
        <c:axId val="344716032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2956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6596068786070678E-2"/>
          <c:y val="4.0039682539682549E-2"/>
          <c:w val="0.9068078624278586"/>
          <c:h val="0.916309523809523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'Factor Charts'!$I$1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4F7-7E47-A695-57F70ABA41E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4F7-7E47-A695-57F70ABA41E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4F7-7E47-A695-57F70ABA41E4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4F7-7E47-A695-57F70ABA41E4}"/>
              </c:ext>
            </c:extLst>
          </c:dPt>
          <c:dPt>
            <c:idx val="5"/>
            <c:invertIfNegative val="0"/>
            <c:bubble3D val="0"/>
            <c:spPr>
              <a:solidFill>
                <a:srgbClr val="7030A0"/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4F7-7E47-A695-57F70ABA41E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4F7-7E47-A695-57F70ABA41E4}"/>
              </c:ext>
            </c:extLst>
          </c:dPt>
          <c:val>
            <c:numRef>
              <c:f>'Factor Charts'!$I$2:$I$9</c:f>
              <c:numCache>
                <c:formatCode>0.00%</c:formatCode>
                <c:ptCount val="8"/>
                <c:pt idx="1">
                  <c:v>2.5000000000000001E-2</c:v>
                </c:pt>
                <c:pt idx="2">
                  <c:v>5.0000000000000001E-3</c:v>
                </c:pt>
                <c:pt idx="3">
                  <c:v>6.0000000000000001E-3</c:v>
                </c:pt>
                <c:pt idx="4">
                  <c:v>2.5000000000000001E-3</c:v>
                </c:pt>
                <c:pt idx="5">
                  <c:v>3.5000000000000001E-3</c:v>
                </c:pt>
                <c:pt idx="6">
                  <c:v>4.0000000000000001E-3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4F7-7E47-A695-57F70ABA41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95615184"/>
        <c:axId val="344716032"/>
      </c:barChart>
      <c:catAx>
        <c:axId val="2956151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bg1">
                <a:lumMod val="50000"/>
                <a:alpha val="99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716032"/>
        <c:crosses val="autoZero"/>
        <c:auto val="1"/>
        <c:lblAlgn val="ctr"/>
        <c:lblOffset val="100"/>
        <c:noMultiLvlLbl val="0"/>
      </c:catAx>
      <c:valAx>
        <c:axId val="344716032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2956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501228346456691"/>
          <c:y val="4.1509433962264149E-2"/>
          <c:w val="0.66847433070866147"/>
          <c:h val="0.87094993314514935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tx2">
                <a:lumMod val="5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'Risk Decomposition'!$A$2:$A$23</c:f>
              <c:strCache>
                <c:ptCount val="19"/>
                <c:pt idx="0">
                  <c:v>US Dollar Debt</c:v>
                </c:pt>
                <c:pt idx="1">
                  <c:v>US High Yield</c:v>
                </c:pt>
                <c:pt idx="2">
                  <c:v>US Equity</c:v>
                </c:pt>
                <c:pt idx="3">
                  <c:v>Europe ex-UK Equity</c:v>
                </c:pt>
                <c:pt idx="4">
                  <c:v>UK Equity</c:v>
                </c:pt>
                <c:pt idx="5">
                  <c:v>Japanese Equity</c:v>
                </c:pt>
                <c:pt idx="6">
                  <c:v>Asia-Pacific Equity</c:v>
                </c:pt>
                <c:pt idx="7">
                  <c:v>Emerging Market Equity</c:v>
                </c:pt>
                <c:pt idx="8">
                  <c:v>Global REITs</c:v>
                </c:pt>
                <c:pt idx="9">
                  <c:v>Infrastructure Equity</c:v>
                </c:pt>
                <c:pt idx="10">
                  <c:v>Event Driven</c:v>
                </c:pt>
                <c:pt idx="11">
                  <c:v>Equity Long/Short</c:v>
                </c:pt>
                <c:pt idx="12">
                  <c:v>Tactical Trading</c:v>
                </c:pt>
                <c:pt idx="13">
                  <c:v>Buyout</c:v>
                </c:pt>
                <c:pt idx="14">
                  <c:v>Growth</c:v>
                </c:pt>
                <c:pt idx="15">
                  <c:v>Venture</c:v>
                </c:pt>
                <c:pt idx="16">
                  <c:v>Private Credit</c:v>
                </c:pt>
                <c:pt idx="17">
                  <c:v>Core Real Estate</c:v>
                </c:pt>
                <c:pt idx="18">
                  <c:v>Infrastructure</c:v>
                </c:pt>
              </c:strCache>
            </c:strRef>
          </c:cat>
          <c:val>
            <c:numRef>
              <c:f>'Risk Decomposition'!$B$2:$B$23</c:f>
              <c:numCache>
                <c:formatCode>0%</c:formatCode>
                <c:ptCount val="19"/>
                <c:pt idx="0">
                  <c:v>8.6024742893045791E-3</c:v>
                </c:pt>
                <c:pt idx="1">
                  <c:v>3.2801500345226997E-2</c:v>
                </c:pt>
                <c:pt idx="2">
                  <c:v>0.4582721463401897</c:v>
                </c:pt>
                <c:pt idx="3">
                  <c:v>7.3157780722153398E-2</c:v>
                </c:pt>
                <c:pt idx="4">
                  <c:v>1.87236840825202E-2</c:v>
                </c:pt>
                <c:pt idx="5">
                  <c:v>2.97933991652987E-2</c:v>
                </c:pt>
                <c:pt idx="6">
                  <c:v>1.54976214370223E-2</c:v>
                </c:pt>
                <c:pt idx="7">
                  <c:v>1.97275781635846E-2</c:v>
                </c:pt>
                <c:pt idx="8">
                  <c:v>1.01151456589024E-2</c:v>
                </c:pt>
                <c:pt idx="9">
                  <c:v>1.17981976649371E-2</c:v>
                </c:pt>
                <c:pt idx="10">
                  <c:v>5.1275847854916597E-3</c:v>
                </c:pt>
                <c:pt idx="11">
                  <c:v>1.5793800933559501E-2</c:v>
                </c:pt>
                <c:pt idx="12">
                  <c:v>3.4977493858902998E-3</c:v>
                </c:pt>
                <c:pt idx="13">
                  <c:v>0.15256482789336701</c:v>
                </c:pt>
                <c:pt idx="14">
                  <c:v>5.3093620137906E-2</c:v>
                </c:pt>
                <c:pt idx="15">
                  <c:v>1.5460685206523699E-2</c:v>
                </c:pt>
                <c:pt idx="16">
                  <c:v>3.23569923114434E-2</c:v>
                </c:pt>
                <c:pt idx="17">
                  <c:v>2.0805473063830501E-2</c:v>
                </c:pt>
                <c:pt idx="18">
                  <c:v>2.28097384128455E-2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83-B54D-ABC2-41ED282D4E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7"/>
        <c:axId val="241575423"/>
        <c:axId val="241577183"/>
      </c:barChart>
      <c:catAx>
        <c:axId val="241575423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41577183"/>
        <c:crosses val="autoZero"/>
        <c:auto val="1"/>
        <c:lblAlgn val="ctr"/>
        <c:lblOffset val="100"/>
        <c:noMultiLvlLbl val="0"/>
      </c:catAx>
      <c:valAx>
        <c:axId val="241577183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41575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latin typeface="Aptos" panose="020B00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501228346456691"/>
          <c:y val="4.1509433962264149E-2"/>
          <c:w val="0.66847433070866147"/>
          <c:h val="0.87094993314514935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cat>
            <c:strRef>
              <c:f>'Risk Decomposition'!$A$41:$A$45</c:f>
              <c:strCache>
                <c:ptCount val="5"/>
                <c:pt idx="0">
                  <c:v>EUR</c:v>
                </c:pt>
                <c:pt idx="1">
                  <c:v>GBP</c:v>
                </c:pt>
                <c:pt idx="2">
                  <c:v>JPY</c:v>
                </c:pt>
                <c:pt idx="3">
                  <c:v>Asia-Pacific Equity</c:v>
                </c:pt>
                <c:pt idx="4">
                  <c:v>EM</c:v>
                </c:pt>
              </c:strCache>
            </c:strRef>
          </c:cat>
          <c:val>
            <c:numRef>
              <c:f>'Risk Decomposition'!$B$41:$B$45</c:f>
              <c:numCache>
                <c:formatCode>0.0%</c:formatCode>
                <c:ptCount val="5"/>
                <c:pt idx="0">
                  <c:v>1.9086594707416901E-2</c:v>
                </c:pt>
                <c:pt idx="1">
                  <c:v>6.6725975927464697E-3</c:v>
                </c:pt>
                <c:pt idx="2">
                  <c:v>3.5395217114644602E-3</c:v>
                </c:pt>
                <c:pt idx="3">
                  <c:v>8.3038021272114002E-3</c:v>
                </c:pt>
                <c:pt idx="4">
                  <c:v>5.8650377463103599E-3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24-E147-AF47-307CEFCFE1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7"/>
        <c:axId val="241575423"/>
        <c:axId val="241577183"/>
      </c:barChart>
      <c:catAx>
        <c:axId val="241575423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41577183"/>
        <c:crosses val="autoZero"/>
        <c:auto val="1"/>
        <c:lblAlgn val="ctr"/>
        <c:lblOffset val="100"/>
        <c:noMultiLvlLbl val="0"/>
      </c:catAx>
      <c:valAx>
        <c:axId val="241577183"/>
        <c:scaling>
          <c:orientation val="minMax"/>
        </c:scaling>
        <c:delete val="0"/>
        <c:axPos val="b"/>
        <c:numFmt formatCode="0.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41575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latin typeface="Aptos" panose="020B00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344231841796694E-2"/>
          <c:y val="5.011389521640091E-2"/>
          <c:w val="0.92331153631640661"/>
          <c:h val="0.6996383033384263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'Currency Hedging'!$B$3:$B$6</c:f>
              <c:numCache>
                <c:formatCode>0%</c:formatCode>
                <c:ptCount val="4"/>
                <c:pt idx="0">
                  <c:v>0</c:v>
                </c:pt>
                <c:pt idx="1">
                  <c:v>0.5</c:v>
                </c:pt>
                <c:pt idx="2">
                  <c:v>0.7</c:v>
                </c:pt>
                <c:pt idx="3">
                  <c:v>1</c:v>
                </c:pt>
              </c:numCache>
            </c:numRef>
          </c:cat>
          <c:val>
            <c:numRef>
              <c:f>'Currency Hedging'!$C$3:$C$6</c:f>
              <c:numCache>
                <c:formatCode>0.0%</c:formatCode>
                <c:ptCount val="4"/>
                <c:pt idx="0">
                  <c:v>7.61400749455894E-2</c:v>
                </c:pt>
                <c:pt idx="1">
                  <c:v>7.5265245665851105E-2</c:v>
                </c:pt>
                <c:pt idx="2">
                  <c:v>7.4936639097747296E-2</c:v>
                </c:pt>
                <c:pt idx="3">
                  <c:v>7.4466879106657904E-2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CA-7A4E-96FE-893893E150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3"/>
        <c:overlap val="-27"/>
        <c:axId val="1996417584"/>
        <c:axId val="1997040144"/>
      </c:barChart>
      <c:catAx>
        <c:axId val="1996417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GB"/>
                  <a:t>Portfolio Currency Hegding Level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 panose="020B00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GB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97040144"/>
        <c:crosses val="autoZero"/>
        <c:auto val="1"/>
        <c:lblAlgn val="ctr"/>
        <c:lblOffset val="100"/>
        <c:noMultiLvlLbl val="0"/>
      </c:catAx>
      <c:valAx>
        <c:axId val="1997040144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996417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latin typeface="Aptos" panose="020B00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tx2">
                <a:lumMod val="7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EE1-8C4F-B93F-E546FDDBB52F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EE1-8C4F-B93F-E546FDDBB52F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EE1-8C4F-B93F-E546FDDBB52F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EE1-8C4F-B93F-E546FDDBB52F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EE1-8C4F-B93F-E546FDDBB52F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'Risk Premias'!$B$2:$B$8</c:f>
              <c:strCache>
                <c:ptCount val="7"/>
                <c:pt idx="0">
                  <c:v>Total</c:v>
                </c:pt>
                <c:pt idx="1">
                  <c:v>Emerging Market</c:v>
                </c:pt>
                <c:pt idx="2">
                  <c:v>Carry</c:v>
                </c:pt>
                <c:pt idx="3">
                  <c:v>Liquidity</c:v>
                </c:pt>
                <c:pt idx="4">
                  <c:v>Leverage</c:v>
                </c:pt>
                <c:pt idx="5">
                  <c:v>Term</c:v>
                </c:pt>
                <c:pt idx="6">
                  <c:v>Equity</c:v>
                </c:pt>
              </c:strCache>
            </c:strRef>
          </c:cat>
          <c:val>
            <c:numRef>
              <c:f>'Risk Premias'!$C$2:$C$8</c:f>
              <c:numCache>
                <c:formatCode>0.0%</c:formatCode>
                <c:ptCount val="7"/>
                <c:pt idx="0">
                  <c:v>3.9323104932666136E-2</c:v>
                </c:pt>
                <c:pt idx="1">
                  <c:v>7.0898094817600603E-4</c:v>
                </c:pt>
                <c:pt idx="2">
                  <c:v>-7.31425731588811E-5</c:v>
                </c:pt>
                <c:pt idx="3">
                  <c:v>5.2595580514326603E-3</c:v>
                </c:pt>
                <c:pt idx="4">
                  <c:v>3.2283957050202399E-3</c:v>
                </c:pt>
                <c:pt idx="5">
                  <c:v>5.9454343476038098E-3</c:v>
                </c:pt>
                <c:pt idx="6">
                  <c:v>2.4253878453592299E-2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EE1-8C4F-B93F-E546FDDBB5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8"/>
        <c:overlap val="-2"/>
        <c:axId val="1996777520"/>
        <c:axId val="1997081584"/>
      </c:barChart>
      <c:catAx>
        <c:axId val="199677752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97081584"/>
        <c:crosses val="autoZero"/>
        <c:auto val="1"/>
        <c:lblAlgn val="ctr"/>
        <c:lblOffset val="100"/>
        <c:noMultiLvlLbl val="0"/>
      </c:catAx>
      <c:valAx>
        <c:axId val="1997081584"/>
        <c:scaling>
          <c:orientation val="minMax"/>
          <c:min val="0"/>
        </c:scaling>
        <c:delete val="1"/>
        <c:axPos val="b"/>
        <c:numFmt formatCode="0.0%" sourceLinked="1"/>
        <c:majorTickMark val="none"/>
        <c:minorTickMark val="none"/>
        <c:tickLblPos val="nextTo"/>
        <c:crossAx val="199677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1"/>
          <c:order val="0"/>
          <c:tx>
            <c:strRef>
              <c:f>Sheet1!$D$3</c:f>
              <c:strCache>
                <c:ptCount val="1"/>
                <c:pt idx="0">
                  <c:v>Over 1 Month</c:v>
                </c:pt>
              </c:strCache>
            </c:strRef>
          </c:tx>
          <c:spPr>
            <a:solidFill>
              <a:srgbClr val="721624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Sheet1!$B$4:$B$9</c:f>
              <c:strCache>
                <c:ptCount val="6"/>
                <c:pt idx="0">
                  <c:v>Emerging Equity</c:v>
                </c:pt>
                <c:pt idx="1">
                  <c:v>Carry</c:v>
                </c:pt>
                <c:pt idx="2">
                  <c:v>Liquidity</c:v>
                </c:pt>
                <c:pt idx="3">
                  <c:v>Funding</c:v>
                </c:pt>
                <c:pt idx="4">
                  <c:v>Term</c:v>
                </c:pt>
                <c:pt idx="5">
                  <c:v>Equity</c:v>
                </c:pt>
              </c:strCache>
            </c:strRef>
          </c:cat>
          <c:val>
            <c:numRef>
              <c:f>Sheet1!$D$4:$D$9</c:f>
              <c:numCache>
                <c:formatCode>0.0%</c:formatCode>
                <c:ptCount val="6"/>
                <c:pt idx="0">
                  <c:v>2.0070188103500802E-3</c:v>
                </c:pt>
                <c:pt idx="1">
                  <c:v>1.1533191337533199E-2</c:v>
                </c:pt>
                <c:pt idx="2">
                  <c:v>1.9097868310067299E-2</c:v>
                </c:pt>
                <c:pt idx="3">
                  <c:v>2.9984788424161701E-2</c:v>
                </c:pt>
                <c:pt idx="4">
                  <c:v>2.1696266369707E-2</c:v>
                </c:pt>
                <c:pt idx="5">
                  <c:v>4.9845832259403103E-2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31-8D4B-A331-C96214022655}"/>
            </c:ext>
          </c:extLst>
        </c:ser>
        <c:ser>
          <c:idx val="0"/>
          <c:order val="1"/>
          <c:tx>
            <c:strRef>
              <c:f>Sheet1!$E$3</c:f>
              <c:strCache>
                <c:ptCount val="1"/>
                <c:pt idx="0">
                  <c:v>Over 3 Months</c:v>
                </c:pt>
              </c:strCache>
            </c:strRef>
          </c:tx>
          <c:spPr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Sheet1!$B$4:$B$9</c:f>
              <c:strCache>
                <c:ptCount val="6"/>
                <c:pt idx="0">
                  <c:v>Emerging Equity</c:v>
                </c:pt>
                <c:pt idx="1">
                  <c:v>Carry</c:v>
                </c:pt>
                <c:pt idx="2">
                  <c:v>Liquidity</c:v>
                </c:pt>
                <c:pt idx="3">
                  <c:v>Funding</c:v>
                </c:pt>
                <c:pt idx="4">
                  <c:v>Term</c:v>
                </c:pt>
                <c:pt idx="5">
                  <c:v>Equity</c:v>
                </c:pt>
              </c:strCache>
            </c:strRef>
          </c:cat>
          <c:val>
            <c:numRef>
              <c:f>Sheet1!$E$4:$E$9</c:f>
              <c:numCache>
                <c:formatCode>0.0%</c:formatCode>
                <c:ptCount val="6"/>
                <c:pt idx="0">
                  <c:v>2.4066967964924298E-2</c:v>
                </c:pt>
                <c:pt idx="1">
                  <c:v>2.0670152890742199E-2</c:v>
                </c:pt>
                <c:pt idx="2">
                  <c:v>2.64217996817603E-2</c:v>
                </c:pt>
                <c:pt idx="3">
                  <c:v>3.5749966067414297E-2</c:v>
                </c:pt>
                <c:pt idx="4">
                  <c:v>2.6817476466793801E-2</c:v>
                </c:pt>
                <c:pt idx="5">
                  <c:v>8.39509614821317E-2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31-8D4B-A331-C96214022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05985375"/>
        <c:axId val="337447343"/>
      </c:barChart>
      <c:catAx>
        <c:axId val="405985375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337447343"/>
        <c:crosses val="autoZero"/>
        <c:auto val="1"/>
        <c:lblAlgn val="ctr"/>
        <c:lblOffset val="100"/>
        <c:noMultiLvlLbl val="0"/>
      </c:catAx>
      <c:valAx>
        <c:axId val="337447343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405985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71394423791327"/>
          <c:y val="9.4532373527128344E-2"/>
          <c:w val="0.8625745071676858"/>
          <c:h val="0.76907794223024384"/>
        </c:manualLayout>
      </c:layout>
      <c:lineChart>
        <c:grouping val="standard"/>
        <c:varyColors val="0"/>
        <c:ser>
          <c:idx val="0"/>
          <c:order val="0"/>
          <c:tx>
            <c:strRef>
              <c:f>ws_Strategic_Asset_Allocation!$B$2</c:f>
              <c:strCache>
                <c:ptCount val="1"/>
                <c:pt idx="0">
                  <c:v>1st %ile</c:v>
                </c:pt>
              </c:strCache>
            </c:strRef>
          </c:tx>
          <c:spPr>
            <a:ln w="12700">
              <a:solidFill>
                <a:srgbClr val="C00000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F0C-AB44-91AB-F35FD994F6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ws_Strategic_Asset_Allocation!$A$3:$A$23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ws_Strategic_Asset_Allocation!$B$3:$B$23</c:f>
              <c:numCache>
                <c:formatCode>General</c:formatCode>
                <c:ptCount val="21"/>
                <c:pt idx="0">
                  <c:v>100</c:v>
                </c:pt>
                <c:pt idx="1">
                  <c:v>89.11357616559873</c:v>
                </c:pt>
                <c:pt idx="2">
                  <c:v>91.60162953348572</c:v>
                </c:pt>
                <c:pt idx="3">
                  <c:v>93.815829158247922</c:v>
                </c:pt>
                <c:pt idx="4">
                  <c:v>94.79355662644069</c:v>
                </c:pt>
                <c:pt idx="5">
                  <c:v>96.786940383185495</c:v>
                </c:pt>
                <c:pt idx="6">
                  <c:v>99.596967260218321</c:v>
                </c:pt>
                <c:pt idx="7">
                  <c:v>100.39224283924069</c:v>
                </c:pt>
                <c:pt idx="8">
                  <c:v>102.0470254834844</c:v>
                </c:pt>
                <c:pt idx="9">
                  <c:v>102.1158985111246</c:v>
                </c:pt>
                <c:pt idx="10">
                  <c:v>104.08395598869581</c:v>
                </c:pt>
                <c:pt idx="11">
                  <c:v>107.0044382754448</c:v>
                </c:pt>
                <c:pt idx="12">
                  <c:v>108.8131712443323</c:v>
                </c:pt>
                <c:pt idx="13">
                  <c:v>111.6787628594856</c:v>
                </c:pt>
                <c:pt idx="14">
                  <c:v>114.1648306006793</c:v>
                </c:pt>
                <c:pt idx="15">
                  <c:v>116.94846470249441</c:v>
                </c:pt>
                <c:pt idx="16">
                  <c:v>120.6895388076103</c:v>
                </c:pt>
                <c:pt idx="17">
                  <c:v>124.5827568264387</c:v>
                </c:pt>
                <c:pt idx="18">
                  <c:v>130.08039162075499</c:v>
                </c:pt>
                <c:pt idx="19">
                  <c:v>135.07466130722719</c:v>
                </c:pt>
                <c:pt idx="20">
                  <c:v>138.38754880809691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0C-AB44-91AB-F35FD994F663}"/>
            </c:ext>
          </c:extLst>
        </c:ser>
        <c:ser>
          <c:idx val="1"/>
          <c:order val="1"/>
          <c:tx>
            <c:strRef>
              <c:f>ws_Strategic_Asset_Allocation!$C$2</c:f>
              <c:strCache>
                <c:ptCount val="1"/>
                <c:pt idx="0">
                  <c:v>10th %ile</c:v>
                </c:pt>
              </c:strCache>
            </c:strRef>
          </c:tx>
          <c:spPr>
            <a:ln w="12700">
              <a:solidFill>
                <a:srgbClr val="8064A2"/>
              </a:solidFill>
              <a:prstDash val="solid"/>
            </a:ln>
          </c:spPr>
          <c:marker>
            <c:symbol val="none"/>
          </c:marker>
          <c:cat>
            <c:numRef>
              <c:f>ws_Strategic_Asset_Allocation!$A$3:$A$23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ws_Strategic_Asset_Allocation!$C$3:$C$23</c:f>
              <c:numCache>
                <c:formatCode>General</c:formatCode>
                <c:ptCount val="21"/>
                <c:pt idx="0">
                  <c:v>100</c:v>
                </c:pt>
                <c:pt idx="1">
                  <c:v>98.377106810551254</c:v>
                </c:pt>
                <c:pt idx="2">
                  <c:v>101.8607356065238</c:v>
                </c:pt>
                <c:pt idx="3">
                  <c:v>107.4832677914452</c:v>
                </c:pt>
                <c:pt idx="4">
                  <c:v>112.2630908977339</c:v>
                </c:pt>
                <c:pt idx="5">
                  <c:v>117.8643420081454</c:v>
                </c:pt>
                <c:pt idx="6">
                  <c:v>124.1799184920722</c:v>
                </c:pt>
                <c:pt idx="7">
                  <c:v>128.6287755349901</c:v>
                </c:pt>
                <c:pt idx="8">
                  <c:v>134.10051095898541</c:v>
                </c:pt>
                <c:pt idx="9">
                  <c:v>138.9213988405281</c:v>
                </c:pt>
                <c:pt idx="10">
                  <c:v>144.71403399354139</c:v>
                </c:pt>
                <c:pt idx="11">
                  <c:v>150.14126855313401</c:v>
                </c:pt>
                <c:pt idx="12">
                  <c:v>156.35042246148811</c:v>
                </c:pt>
                <c:pt idx="13">
                  <c:v>162.3720167266743</c:v>
                </c:pt>
                <c:pt idx="14">
                  <c:v>169.87041053254299</c:v>
                </c:pt>
                <c:pt idx="15">
                  <c:v>176.44797315684929</c:v>
                </c:pt>
                <c:pt idx="16">
                  <c:v>184.5582878586122</c:v>
                </c:pt>
                <c:pt idx="17">
                  <c:v>192.04470625572819</c:v>
                </c:pt>
                <c:pt idx="18">
                  <c:v>200.11230718843879</c:v>
                </c:pt>
                <c:pt idx="19">
                  <c:v>209.18238170025961</c:v>
                </c:pt>
                <c:pt idx="20">
                  <c:v>219.44408933557989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0C-AB44-91AB-F35FD994F663}"/>
            </c:ext>
          </c:extLst>
        </c:ser>
        <c:ser>
          <c:idx val="2"/>
          <c:order val="2"/>
          <c:tx>
            <c:strRef>
              <c:f>ws_Strategic_Asset_Allocation!$D$2</c:f>
              <c:strCache>
                <c:ptCount val="1"/>
                <c:pt idx="0">
                  <c:v>50th %ile</c:v>
                </c:pt>
              </c:strCache>
            </c:strRef>
          </c:tx>
          <c:spPr>
            <a:ln w="12700">
              <a:solidFill>
                <a:srgbClr val="376092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F0C-AB44-91AB-F35FD994F6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ws_Strategic_Asset_Allocation!$A$3:$A$23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ws_Strategic_Asset_Allocation!$D$3:$D$23</c:f>
              <c:numCache>
                <c:formatCode>General</c:formatCode>
                <c:ptCount val="21"/>
                <c:pt idx="0">
                  <c:v>100</c:v>
                </c:pt>
                <c:pt idx="1">
                  <c:v>108.59586455235851</c:v>
                </c:pt>
                <c:pt idx="2">
                  <c:v>117.14981335783359</c:v>
                </c:pt>
                <c:pt idx="3">
                  <c:v>125.36579844410799</c:v>
                </c:pt>
                <c:pt idx="4">
                  <c:v>134.91119833162739</c:v>
                </c:pt>
                <c:pt idx="5">
                  <c:v>145.53600021109381</c:v>
                </c:pt>
                <c:pt idx="6">
                  <c:v>156.4400157783241</c:v>
                </c:pt>
                <c:pt idx="7">
                  <c:v>167.6614924555582</c:v>
                </c:pt>
                <c:pt idx="8">
                  <c:v>179.25308156343809</c:v>
                </c:pt>
                <c:pt idx="9">
                  <c:v>190.96096500480641</c:v>
                </c:pt>
                <c:pt idx="10">
                  <c:v>203.34764359664979</c:v>
                </c:pt>
                <c:pt idx="11">
                  <c:v>216.0159713047079</c:v>
                </c:pt>
                <c:pt idx="12">
                  <c:v>229.3666317573612</c:v>
                </c:pt>
                <c:pt idx="13">
                  <c:v>243.8584651128759</c:v>
                </c:pt>
                <c:pt idx="14">
                  <c:v>259.51652380798532</c:v>
                </c:pt>
                <c:pt idx="15">
                  <c:v>275.57435981139378</c:v>
                </c:pt>
                <c:pt idx="16">
                  <c:v>292.86879908284271</c:v>
                </c:pt>
                <c:pt idx="17">
                  <c:v>310.44299751964542</c:v>
                </c:pt>
                <c:pt idx="18">
                  <c:v>330.63599007274888</c:v>
                </c:pt>
                <c:pt idx="19">
                  <c:v>351.34384128399489</c:v>
                </c:pt>
                <c:pt idx="20">
                  <c:v>373.17103675181261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F0C-AB44-91AB-F35FD994F663}"/>
            </c:ext>
          </c:extLst>
        </c:ser>
        <c:ser>
          <c:idx val="3"/>
          <c:order val="3"/>
          <c:tx>
            <c:strRef>
              <c:f>ws_Strategic_Asset_Allocation!$E$2</c:f>
              <c:strCache>
                <c:ptCount val="1"/>
                <c:pt idx="0">
                  <c:v>90th %ile</c:v>
                </c:pt>
              </c:strCache>
            </c:strRef>
          </c:tx>
          <c:spPr>
            <a:ln w="12700">
              <a:solidFill>
                <a:srgbClr val="77933C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F0C-AB44-91AB-F35FD994F6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ws_Strategic_Asset_Allocation!$A$3:$A$23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ws_Strategic_Asset_Allocation!$E$3:$E$23</c:f>
              <c:numCache>
                <c:formatCode>General</c:formatCode>
                <c:ptCount val="21"/>
                <c:pt idx="0">
                  <c:v>100</c:v>
                </c:pt>
                <c:pt idx="1">
                  <c:v>118.3350197366818</c:v>
                </c:pt>
                <c:pt idx="2">
                  <c:v>131.0753382616993</c:v>
                </c:pt>
                <c:pt idx="3">
                  <c:v>144.254048051712</c:v>
                </c:pt>
                <c:pt idx="4">
                  <c:v>159.54073836732519</c:v>
                </c:pt>
                <c:pt idx="5">
                  <c:v>176.23558047964991</c:v>
                </c:pt>
                <c:pt idx="6">
                  <c:v>193.44167042286151</c:v>
                </c:pt>
                <c:pt idx="7">
                  <c:v>212.1082464211369</c:v>
                </c:pt>
                <c:pt idx="8">
                  <c:v>232.20702757592409</c:v>
                </c:pt>
                <c:pt idx="9">
                  <c:v>253.28245819085791</c:v>
                </c:pt>
                <c:pt idx="10">
                  <c:v>276.25314088452672</c:v>
                </c:pt>
                <c:pt idx="11">
                  <c:v>299.92736851466429</c:v>
                </c:pt>
                <c:pt idx="12">
                  <c:v>326.72795378761089</c:v>
                </c:pt>
                <c:pt idx="13">
                  <c:v>353.93469583325208</c:v>
                </c:pt>
                <c:pt idx="14">
                  <c:v>385.32973347398939</c:v>
                </c:pt>
                <c:pt idx="15">
                  <c:v>415.47706928552731</c:v>
                </c:pt>
                <c:pt idx="16">
                  <c:v>449.87075797114511</c:v>
                </c:pt>
                <c:pt idx="17">
                  <c:v>487.7088127375024</c:v>
                </c:pt>
                <c:pt idx="18">
                  <c:v>527.08095101682204</c:v>
                </c:pt>
                <c:pt idx="19">
                  <c:v>567.21766387124046</c:v>
                </c:pt>
                <c:pt idx="20">
                  <c:v>615.12421059398446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F0C-AB44-91AB-F35FD994F663}"/>
            </c:ext>
          </c:extLst>
        </c:ser>
        <c:ser>
          <c:idx val="4"/>
          <c:order val="4"/>
          <c:tx>
            <c:strRef>
              <c:f>ws_Strategic_Asset_Allocation!$F$2</c:f>
              <c:strCache>
                <c:ptCount val="1"/>
              </c:strCache>
            </c:strRef>
          </c:tx>
          <c:spPr>
            <a:ln w="12700">
              <a:solidFill>
                <a:schemeClr val="dk1">
                  <a:shade val="95000"/>
                  <a:satMod val="105000"/>
                </a:schemeClr>
              </a:solidFill>
              <a:prstDash val="sysDash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0C-AB44-91AB-F35FD994F6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ws_Strategic_Asset_Allocation!$A$3:$A$23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ws_Strategic_Asset_Allocation!$F$3:$F$23</c:f>
              <c:numCache>
                <c:formatCode>General</c:formatCode>
                <c:ptCount val="21"/>
                <c:pt idx="0">
                  <c:v>100</c:v>
                </c:pt>
                <c:pt idx="1">
                  <c:v>107.2964246392673</c:v>
                </c:pt>
                <c:pt idx="2">
                  <c:v>113.7138018902814</c:v>
                </c:pt>
                <c:pt idx="3">
                  <c:v>120.26903593377649</c:v>
                </c:pt>
                <c:pt idx="4">
                  <c:v>127.9854010950353</c:v>
                </c:pt>
                <c:pt idx="5">
                  <c:v>136.3763430569168</c:v>
                </c:pt>
                <c:pt idx="6">
                  <c:v>144.99552644687711</c:v>
                </c:pt>
                <c:pt idx="7">
                  <c:v>153.97465830705951</c:v>
                </c:pt>
                <c:pt idx="8">
                  <c:v>162.42977116175831</c:v>
                </c:pt>
                <c:pt idx="9">
                  <c:v>171.63207254495529</c:v>
                </c:pt>
                <c:pt idx="10">
                  <c:v>180.52228230756191</c:v>
                </c:pt>
                <c:pt idx="11">
                  <c:v>190.33769459995139</c:v>
                </c:pt>
                <c:pt idx="12">
                  <c:v>200.03641835794909</c:v>
                </c:pt>
                <c:pt idx="13">
                  <c:v>210.30699708041709</c:v>
                </c:pt>
                <c:pt idx="14">
                  <c:v>221.33505062412209</c:v>
                </c:pt>
                <c:pt idx="15">
                  <c:v>232.53450843709851</c:v>
                </c:pt>
                <c:pt idx="16">
                  <c:v>244.89506125768489</c:v>
                </c:pt>
                <c:pt idx="17">
                  <c:v>257.31929415272668</c:v>
                </c:pt>
                <c:pt idx="18">
                  <c:v>270.40073261624838</c:v>
                </c:pt>
                <c:pt idx="19">
                  <c:v>284.41271952023618</c:v>
                </c:pt>
                <c:pt idx="20">
                  <c:v>298.96127257995357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F0C-AB44-91AB-F35FD994F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0"/>
        <c:crosses val="autoZero"/>
        <c:auto val="0"/>
        <c:lblAlgn val="ctr"/>
        <c:lblOffset val="100"/>
        <c:tickLblSkip val="5"/>
        <c:tickMarkSkip val="5"/>
        <c:noMultiLvlLbl val="0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chemeClr val="bg1">
                  <a:lumMod val="85000"/>
                </a:schemeClr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Nominal Portfolio Values ($)</a:t>
                </a:r>
              </a:p>
            </c:rich>
          </c:tx>
          <c:overlay val="0"/>
        </c:title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"/>
        <c:crosses val="autoZero"/>
        <c:crossBetween val="between"/>
      </c:valAx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2.1069717871500603E-2"/>
          <c:y val="1.4066060120915477E-2"/>
          <c:w val="0.97893028212849942"/>
          <c:h val="7.4882625745152268E-2"/>
        </c:manualLayout>
      </c:layout>
      <c:overlay val="0"/>
      <c:txPr>
        <a:bodyPr/>
        <a:lstStyle/>
        <a:p>
          <a:pPr>
            <a:defRPr sz="900" b="0">
              <a:latin typeface="Apto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210720354083242E-2"/>
          <c:y val="0.11529161370580265"/>
          <c:w val="0.37649122983709232"/>
          <c:h val="0.66313379850458087"/>
        </c:manualLayout>
      </c:layout>
      <c:lineChart>
        <c:grouping val="standard"/>
        <c:varyColors val="0"/>
        <c:ser>
          <c:idx val="0"/>
          <c:order val="0"/>
          <c:tx>
            <c:strRef>
              <c:f>'ws_SAA_6.0%'!$F$2</c:f>
              <c:strCache>
                <c:ptCount val="1"/>
                <c:pt idx="0">
                  <c:v>1st %ile</c:v>
                </c:pt>
              </c:strCache>
            </c:strRef>
          </c:tx>
          <c:spPr>
            <a:ln w="12700">
              <a:solidFill>
                <a:srgbClr val="C00000"/>
              </a:solidFill>
              <a:prstDash val="solid"/>
            </a:ln>
          </c:spPr>
          <c:marker>
            <c:symbol val="none"/>
          </c:marker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'ws_SAA_6.0%'!$F$3:$F$23</c:f>
              <c:numCache>
                <c:formatCode>General</c:formatCode>
                <c:ptCount val="21"/>
                <c:pt idx="0">
                  <c:v>100</c:v>
                </c:pt>
                <c:pt idx="1">
                  <c:v>80.881108386509325</c:v>
                </c:pt>
                <c:pt idx="2">
                  <c:v>75.875063562083866</c:v>
                </c:pt>
                <c:pt idx="3">
                  <c:v>71.049605028464256</c:v>
                </c:pt>
                <c:pt idx="4">
                  <c:v>65.614858238206864</c:v>
                </c:pt>
                <c:pt idx="5">
                  <c:v>61.293350654655526</c:v>
                </c:pt>
                <c:pt idx="6">
                  <c:v>57.055472873577393</c:v>
                </c:pt>
                <c:pt idx="7">
                  <c:v>51.668811690304139</c:v>
                </c:pt>
                <c:pt idx="8">
                  <c:v>46.54192958163452</c:v>
                </c:pt>
                <c:pt idx="9">
                  <c:v>41.594811858807518</c:v>
                </c:pt>
                <c:pt idx="10">
                  <c:v>36.385280680028103</c:v>
                </c:pt>
                <c:pt idx="11">
                  <c:v>31.551381586112981</c:v>
                </c:pt>
                <c:pt idx="12">
                  <c:v>26.549189548788959</c:v>
                </c:pt>
                <c:pt idx="13">
                  <c:v>21.7875474894687</c:v>
                </c:pt>
                <c:pt idx="14">
                  <c:v>16.671261012842528</c:v>
                </c:pt>
                <c:pt idx="15">
                  <c:v>11.60172975157665</c:v>
                </c:pt>
                <c:pt idx="16">
                  <c:v>6.673333797598981</c:v>
                </c:pt>
                <c:pt idx="17">
                  <c:v>1.383046262470867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FE-FF4C-80C6-EF50D8326743}"/>
            </c:ext>
          </c:extLst>
        </c:ser>
        <c:ser>
          <c:idx val="1"/>
          <c:order val="1"/>
          <c:tx>
            <c:strRef>
              <c:f>'ws_SAA_6.0%'!$G$2</c:f>
              <c:strCache>
                <c:ptCount val="1"/>
                <c:pt idx="0">
                  <c:v>10th %ile</c:v>
                </c:pt>
              </c:strCache>
            </c:strRef>
          </c:tx>
          <c:spPr>
            <a:ln w="12700">
              <a:solidFill>
                <a:srgbClr val="8064A2"/>
              </a:solidFill>
              <a:prstDash val="solid"/>
            </a:ln>
          </c:spPr>
          <c:marker>
            <c:symbol val="none"/>
          </c:marker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'ws_SAA_6.0%'!$G$3:$G$23</c:f>
              <c:numCache>
                <c:formatCode>General</c:formatCode>
                <c:ptCount val="21"/>
                <c:pt idx="0">
                  <c:v>100</c:v>
                </c:pt>
                <c:pt idx="1">
                  <c:v>90.656623826287927</c:v>
                </c:pt>
                <c:pt idx="2">
                  <c:v>86.135404009133723</c:v>
                </c:pt>
                <c:pt idx="3">
                  <c:v>83.690249585605883</c:v>
                </c:pt>
                <c:pt idx="4">
                  <c:v>80.33979480091817</c:v>
                </c:pt>
                <c:pt idx="5">
                  <c:v>77.2697154812858</c:v>
                </c:pt>
                <c:pt idx="6">
                  <c:v>74.574054487448109</c:v>
                </c:pt>
                <c:pt idx="7">
                  <c:v>70.855689172568802</c:v>
                </c:pt>
                <c:pt idx="8">
                  <c:v>67.201499381749485</c:v>
                </c:pt>
                <c:pt idx="9">
                  <c:v>63.182661304099248</c:v>
                </c:pt>
                <c:pt idx="10">
                  <c:v>59.805368260078552</c:v>
                </c:pt>
                <c:pt idx="11">
                  <c:v>55.856579377394873</c:v>
                </c:pt>
                <c:pt idx="12">
                  <c:v>51.532612499001402</c:v>
                </c:pt>
                <c:pt idx="13">
                  <c:v>47.665604519093073</c:v>
                </c:pt>
                <c:pt idx="14">
                  <c:v>43.640675236164753</c:v>
                </c:pt>
                <c:pt idx="15">
                  <c:v>39.795895809931572</c:v>
                </c:pt>
                <c:pt idx="16">
                  <c:v>35.468983410151239</c:v>
                </c:pt>
                <c:pt idx="17">
                  <c:v>31.373125965412491</c:v>
                </c:pt>
                <c:pt idx="18">
                  <c:v>26.71427019483346</c:v>
                </c:pt>
                <c:pt idx="19">
                  <c:v>22.03041235473183</c:v>
                </c:pt>
                <c:pt idx="20">
                  <c:v>17.31424260592479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FE-FF4C-80C6-EF50D8326743}"/>
            </c:ext>
          </c:extLst>
        </c:ser>
        <c:ser>
          <c:idx val="2"/>
          <c:order val="2"/>
          <c:tx>
            <c:strRef>
              <c:f>'ws_SAA_6.0%'!$H$2</c:f>
              <c:strCache>
                <c:ptCount val="1"/>
                <c:pt idx="0">
                  <c:v>50th %ile</c:v>
                </c:pt>
              </c:strCache>
            </c:strRef>
          </c:tx>
          <c:spPr>
            <a:ln w="12700">
              <a:solidFill>
                <a:srgbClr val="376092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5FE-FF4C-80C6-EF50D832674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'ws_SAA_6.0%'!$H$3:$H$23</c:f>
              <c:numCache>
                <c:formatCode>General</c:formatCode>
                <c:ptCount val="21"/>
                <c:pt idx="0">
                  <c:v>100</c:v>
                </c:pt>
                <c:pt idx="1">
                  <c:v>100.6701908618946</c:v>
                </c:pt>
                <c:pt idx="2">
                  <c:v>100.8847004991072</c:v>
                </c:pt>
                <c:pt idx="3">
                  <c:v>100.31721298800529</c:v>
                </c:pt>
                <c:pt idx="4">
                  <c:v>100.0966204184468</c:v>
                </c:pt>
                <c:pt idx="5">
                  <c:v>100.24301586024841</c:v>
                </c:pt>
                <c:pt idx="6">
                  <c:v>100.0959770230684</c:v>
                </c:pt>
                <c:pt idx="7">
                  <c:v>99.728073953715509</c:v>
                </c:pt>
                <c:pt idx="8">
                  <c:v>98.830059175420757</c:v>
                </c:pt>
                <c:pt idx="9">
                  <c:v>97.800158034979205</c:v>
                </c:pt>
                <c:pt idx="10">
                  <c:v>96.55471120124173</c:v>
                </c:pt>
                <c:pt idx="11">
                  <c:v>94.849486471141446</c:v>
                </c:pt>
                <c:pt idx="12">
                  <c:v>93.154436362870683</c:v>
                </c:pt>
                <c:pt idx="13">
                  <c:v>91.755879186972479</c:v>
                </c:pt>
                <c:pt idx="14">
                  <c:v>90.334040104371837</c:v>
                </c:pt>
                <c:pt idx="15">
                  <c:v>88.462010634309479</c:v>
                </c:pt>
                <c:pt idx="16">
                  <c:v>86.832615976326849</c:v>
                </c:pt>
                <c:pt idx="17">
                  <c:v>84.723926304902449</c:v>
                </c:pt>
                <c:pt idx="18">
                  <c:v>82.734930155012847</c:v>
                </c:pt>
                <c:pt idx="19">
                  <c:v>80.862223630725651</c:v>
                </c:pt>
                <c:pt idx="20">
                  <c:v>78.71416052227292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5FE-FF4C-80C6-EF50D8326743}"/>
            </c:ext>
          </c:extLst>
        </c:ser>
        <c:ser>
          <c:idx val="3"/>
          <c:order val="3"/>
          <c:tx>
            <c:strRef>
              <c:f>'ws_SAA_6.0%'!$I$2</c:f>
              <c:strCache>
                <c:ptCount val="1"/>
                <c:pt idx="0">
                  <c:v>90th %ile</c:v>
                </c:pt>
              </c:strCache>
            </c:strRef>
          </c:tx>
          <c:spPr>
            <a:ln w="12700">
              <a:solidFill>
                <a:srgbClr val="77933C"/>
              </a:solidFill>
              <a:prstDash val="solid"/>
            </a:ln>
          </c:spPr>
          <c:marker>
            <c:symbol val="none"/>
          </c:marker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'ws_SAA_6.0%'!$I$3:$I$23</c:f>
              <c:numCache>
                <c:formatCode>General</c:formatCode>
                <c:ptCount val="21"/>
                <c:pt idx="0">
                  <c:v>100</c:v>
                </c:pt>
                <c:pt idx="1">
                  <c:v>110.65351065355431</c:v>
                </c:pt>
                <c:pt idx="2">
                  <c:v>114.48726505919019</c:v>
                </c:pt>
                <c:pt idx="3">
                  <c:v>117.551049996096</c:v>
                </c:pt>
                <c:pt idx="4">
                  <c:v>121.86166248005659</c:v>
                </c:pt>
                <c:pt idx="5">
                  <c:v>125.9233775547105</c:v>
                </c:pt>
                <c:pt idx="6">
                  <c:v>129.66578687040919</c:v>
                </c:pt>
                <c:pt idx="7">
                  <c:v>133.4535924157779</c:v>
                </c:pt>
                <c:pt idx="8">
                  <c:v>137.22099082389701</c:v>
                </c:pt>
                <c:pt idx="9">
                  <c:v>140.95441957263051</c:v>
                </c:pt>
                <c:pt idx="10">
                  <c:v>145.10348725988109</c:v>
                </c:pt>
                <c:pt idx="11">
                  <c:v>147.92520681617219</c:v>
                </c:pt>
                <c:pt idx="12">
                  <c:v>151.85764617678581</c:v>
                </c:pt>
                <c:pt idx="13">
                  <c:v>155.07760419177981</c:v>
                </c:pt>
                <c:pt idx="14">
                  <c:v>159.01075820592251</c:v>
                </c:pt>
                <c:pt idx="15">
                  <c:v>161.8148330899273</c:v>
                </c:pt>
                <c:pt idx="16">
                  <c:v>165.87862694105431</c:v>
                </c:pt>
                <c:pt idx="17">
                  <c:v>170.36133204410339</c:v>
                </c:pt>
                <c:pt idx="18">
                  <c:v>173.55744963176031</c:v>
                </c:pt>
                <c:pt idx="19">
                  <c:v>176.72698547965101</c:v>
                </c:pt>
                <c:pt idx="20">
                  <c:v>180.3882978136858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5FE-FF4C-80C6-EF50D83267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0"/>
        <c:crosses val="autoZero"/>
        <c:auto val="0"/>
        <c:lblAlgn val="ctr"/>
        <c:lblOffset val="100"/>
        <c:tickLblSkip val="5"/>
        <c:tickMarkSkip val="5"/>
        <c:noMultiLvlLbl val="0"/>
      </c:catAx>
      <c:valAx>
        <c:axId val="10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 dirty="0">
                    <a:latin typeface="Aptos"/>
                  </a:rPr>
                  <a:t>Real Portfolio Values ($mm)</a:t>
                </a:r>
              </a:p>
            </c:rich>
          </c:tx>
          <c:overlay val="0"/>
        </c:title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21565734384399876"/>
          <c:y val="0.93253998561983575"/>
          <c:w val="0.59396927676267819"/>
          <c:h val="6.5965720754146626E-2"/>
        </c:manualLayout>
      </c:layout>
      <c:overlay val="0"/>
      <c:spPr>
        <a:ln w="6350">
          <a:solidFill>
            <a:schemeClr val="bg1">
              <a:lumMod val="50000"/>
            </a:schemeClr>
          </a:solidFill>
        </a:ln>
      </c:spPr>
      <c:txPr>
        <a:bodyPr/>
        <a:lstStyle/>
        <a:p>
          <a:pPr>
            <a:defRPr sz="900" b="0">
              <a:latin typeface="Aptos"/>
            </a:defRPr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376128301937174"/>
          <c:y val="9.9348008885148095E-2"/>
          <c:w val="0.7956811486673997"/>
          <c:h val="0.67015351346589802"/>
        </c:manualLayout>
      </c:layout>
      <c:lineChart>
        <c:grouping val="standard"/>
        <c:varyColors val="0"/>
        <c:ser>
          <c:idx val="0"/>
          <c:order val="0"/>
          <c:tx>
            <c:strRef>
              <c:f>'ws_SAA_6.0%'!$J$2</c:f>
              <c:strCache>
                <c:ptCount val="1"/>
                <c:pt idx="0">
                  <c:v>1st %ile</c:v>
                </c:pt>
              </c:strCache>
            </c:strRef>
          </c:tx>
          <c:spPr>
            <a:ln w="12700">
              <a:solidFill>
                <a:srgbClr val="C00000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numFmt formatCode="#,##0.0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D4C-8249-8F67-96F0357FC96B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'ws_SAA_6.0%'!$J$3:$J$23</c:f>
              <c:numCache>
                <c:formatCode>General</c:formatCode>
                <c:ptCount val="21"/>
                <c:pt idx="0">
                  <c:v>#N/A</c:v>
                </c:pt>
                <c:pt idx="1">
                  <c:v>5.4999999999999991</c:v>
                </c:pt>
                <c:pt idx="2">
                  <c:v>5.721517128537589</c:v>
                </c:pt>
                <c:pt idx="3">
                  <c:v>5.8904300441037298</c:v>
                </c:pt>
                <c:pt idx="4">
                  <c:v>6.0453427380911782</c:v>
                </c:pt>
                <c:pt idx="5">
                  <c:v>6.2688480472024137</c:v>
                </c:pt>
                <c:pt idx="6">
                  <c:v>6.523438439591752</c:v>
                </c:pt>
                <c:pt idx="7">
                  <c:v>6.7491090862543066</c:v>
                </c:pt>
                <c:pt idx="8">
                  <c:v>6.9343052205253306</c:v>
                </c:pt>
                <c:pt idx="9">
                  <c:v>7.1634684064317478</c:v>
                </c:pt>
                <c:pt idx="10">
                  <c:v>7.3684346180972113</c:v>
                </c:pt>
                <c:pt idx="11">
                  <c:v>7.5771341906883816</c:v>
                </c:pt>
                <c:pt idx="12">
                  <c:v>7.7978115441727729</c:v>
                </c:pt>
                <c:pt idx="13">
                  <c:v>8.0253156198406241</c:v>
                </c:pt>
                <c:pt idx="14">
                  <c:v>8.2274191155727276</c:v>
                </c:pt>
                <c:pt idx="15">
                  <c:v>8.4512669524336221</c:v>
                </c:pt>
                <c:pt idx="16">
                  <c:v>8.6535543496732839</c:v>
                </c:pt>
                <c:pt idx="17">
                  <c:v>8.8794052513698549</c:v>
                </c:pt>
                <c:pt idx="18">
                  <c:v>9.1050428328520976</c:v>
                </c:pt>
                <c:pt idx="19">
                  <c:v>9.3700215807687233</c:v>
                </c:pt>
                <c:pt idx="20">
                  <c:v>9.5915964634707205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4C-8249-8F67-96F0357FC96B}"/>
            </c:ext>
          </c:extLst>
        </c:ser>
        <c:ser>
          <c:idx val="1"/>
          <c:order val="1"/>
          <c:tx>
            <c:strRef>
              <c:f>'ws_SAA_6.0%'!$K$2</c:f>
              <c:strCache>
                <c:ptCount val="1"/>
                <c:pt idx="0">
                  <c:v>10th %ile</c:v>
                </c:pt>
              </c:strCache>
            </c:strRef>
          </c:tx>
          <c:spPr>
            <a:ln w="12700">
              <a:solidFill>
                <a:srgbClr val="8064A2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D4C-8249-8F67-96F0357FC96B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'ws_SAA_6.0%'!$K$3:$K$23</c:f>
              <c:numCache>
                <c:formatCode>General</c:formatCode>
                <c:ptCount val="21"/>
                <c:pt idx="0">
                  <c:v>#N/A</c:v>
                </c:pt>
                <c:pt idx="1">
                  <c:v>5.4999999999999991</c:v>
                </c:pt>
                <c:pt idx="2">
                  <c:v>5.6725907460240412</c:v>
                </c:pt>
                <c:pt idx="3">
                  <c:v>5.8251220585055803</c:v>
                </c:pt>
                <c:pt idx="4">
                  <c:v>5.9653124986822261</c:v>
                </c:pt>
                <c:pt idx="5">
                  <c:v>6.1311286428921079</c:v>
                </c:pt>
                <c:pt idx="6">
                  <c:v>6.3002141273595571</c:v>
                </c:pt>
                <c:pt idx="7">
                  <c:v>6.464812325254524</c:v>
                </c:pt>
                <c:pt idx="8">
                  <c:v>6.6402079924613453</c:v>
                </c:pt>
                <c:pt idx="9">
                  <c:v>6.8212590709781962</c:v>
                </c:pt>
                <c:pt idx="10">
                  <c:v>7.0032279090854326</c:v>
                </c:pt>
                <c:pt idx="11">
                  <c:v>7.1863249698691547</c:v>
                </c:pt>
                <c:pt idx="12">
                  <c:v>7.3625664133636377</c:v>
                </c:pt>
                <c:pt idx="13">
                  <c:v>7.5401835131755712</c:v>
                </c:pt>
                <c:pt idx="14">
                  <c:v>7.7249776889592443</c:v>
                </c:pt>
                <c:pt idx="15">
                  <c:v>7.9134729394014434</c:v>
                </c:pt>
                <c:pt idx="16">
                  <c:v>8.0988105212672732</c:v>
                </c:pt>
                <c:pt idx="17">
                  <c:v>8.284824749298128</c:v>
                </c:pt>
                <c:pt idx="18">
                  <c:v>8.4775595339985674</c:v>
                </c:pt>
                <c:pt idx="19">
                  <c:v>8.6717125236727526</c:v>
                </c:pt>
                <c:pt idx="20">
                  <c:v>8.8773034842119891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4C-8249-8F67-96F0357FC96B}"/>
            </c:ext>
          </c:extLst>
        </c:ser>
        <c:ser>
          <c:idx val="2"/>
          <c:order val="2"/>
          <c:tx>
            <c:strRef>
              <c:f>'ws_SAA_6.0%'!$L$2</c:f>
              <c:strCache>
                <c:ptCount val="1"/>
                <c:pt idx="0">
                  <c:v>50th %ile</c:v>
                </c:pt>
              </c:strCache>
            </c:strRef>
          </c:tx>
          <c:spPr>
            <a:ln w="12700">
              <a:solidFill>
                <a:srgbClr val="376092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D4C-8249-8F67-96F0357FC96B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'ws_SAA_6.0%'!$L$3:$L$23</c:f>
              <c:numCache>
                <c:formatCode>General</c:formatCode>
                <c:ptCount val="21"/>
                <c:pt idx="0">
                  <c:v>#N/A</c:v>
                </c:pt>
                <c:pt idx="1">
                  <c:v>5.4999999999999991</c:v>
                </c:pt>
                <c:pt idx="2">
                  <c:v>5.624666962335735</c:v>
                </c:pt>
                <c:pt idx="3">
                  <c:v>5.7589219730703176</c:v>
                </c:pt>
                <c:pt idx="4">
                  <c:v>5.8832320398655931</c:v>
                </c:pt>
                <c:pt idx="5">
                  <c:v>6.0095405264334758</c:v>
                </c:pt>
                <c:pt idx="6">
                  <c:v>6.13509046183888</c:v>
                </c:pt>
                <c:pt idx="7">
                  <c:v>6.2594720699713973</c:v>
                </c:pt>
                <c:pt idx="8">
                  <c:v>6.3900136494039854</c:v>
                </c:pt>
                <c:pt idx="9">
                  <c:v>6.517811082654644</c:v>
                </c:pt>
                <c:pt idx="10">
                  <c:v>6.6442208328249794</c:v>
                </c:pt>
                <c:pt idx="11">
                  <c:v>6.7773320780336679</c:v>
                </c:pt>
                <c:pt idx="12">
                  <c:v>6.913039040200978</c:v>
                </c:pt>
                <c:pt idx="13">
                  <c:v>7.0479473344761718</c:v>
                </c:pt>
                <c:pt idx="14">
                  <c:v>7.1912476031979757</c:v>
                </c:pt>
                <c:pt idx="15">
                  <c:v>7.3349368283746532</c:v>
                </c:pt>
                <c:pt idx="16">
                  <c:v>7.4805137733576892</c:v>
                </c:pt>
                <c:pt idx="17">
                  <c:v>7.6308743331755489</c:v>
                </c:pt>
                <c:pt idx="18">
                  <c:v>7.7826942161794914</c:v>
                </c:pt>
                <c:pt idx="19">
                  <c:v>7.9372343249275543</c:v>
                </c:pt>
                <c:pt idx="20">
                  <c:v>8.0977893310743934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D4C-8249-8F67-96F0357FC96B}"/>
            </c:ext>
          </c:extLst>
        </c:ser>
        <c:ser>
          <c:idx val="3"/>
          <c:order val="3"/>
          <c:tx>
            <c:strRef>
              <c:f>'ws_SAA_6.0%'!$M$2</c:f>
              <c:strCache>
                <c:ptCount val="1"/>
                <c:pt idx="0">
                  <c:v>90th %ile</c:v>
                </c:pt>
              </c:strCache>
            </c:strRef>
          </c:tx>
          <c:spPr>
            <a:ln w="12700">
              <a:solidFill>
                <a:srgbClr val="77933C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D4C-8249-8F67-96F0357FC96B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'ws_SAA_6.0%'!$M$3:$M$23</c:f>
              <c:numCache>
                <c:formatCode>General</c:formatCode>
                <c:ptCount val="21"/>
                <c:pt idx="0">
                  <c:v>#N/A</c:v>
                </c:pt>
                <c:pt idx="1">
                  <c:v>5.4999999999999991</c:v>
                </c:pt>
                <c:pt idx="2">
                  <c:v>5.5846164124535926</c:v>
                </c:pt>
                <c:pt idx="3">
                  <c:v>5.6947159928254338</c:v>
                </c:pt>
                <c:pt idx="4">
                  <c:v>5.8073685327793614</c:v>
                </c:pt>
                <c:pt idx="5">
                  <c:v>5.8994414001413276</c:v>
                </c:pt>
                <c:pt idx="6">
                  <c:v>5.9988270672511659</c:v>
                </c:pt>
                <c:pt idx="7">
                  <c:v>6.0976447509514662</c:v>
                </c:pt>
                <c:pt idx="8">
                  <c:v>6.1832978707848714</c:v>
                </c:pt>
                <c:pt idx="9">
                  <c:v>6.272245223941721</c:v>
                </c:pt>
                <c:pt idx="10">
                  <c:v>6.3637105803935743</c:v>
                </c:pt>
                <c:pt idx="11">
                  <c:v>6.4586305848701304</c:v>
                </c:pt>
                <c:pt idx="12">
                  <c:v>6.5551185946427051</c:v>
                </c:pt>
                <c:pt idx="13">
                  <c:v>6.6579993484041813</c:v>
                </c:pt>
                <c:pt idx="14">
                  <c:v>6.7590723984197441</c:v>
                </c:pt>
                <c:pt idx="15">
                  <c:v>6.8693876065385604</c:v>
                </c:pt>
                <c:pt idx="16">
                  <c:v>6.9817053491498928</c:v>
                </c:pt>
                <c:pt idx="17">
                  <c:v>7.0925513038358314</c:v>
                </c:pt>
                <c:pt idx="18">
                  <c:v>7.2072909247299348</c:v>
                </c:pt>
                <c:pt idx="19">
                  <c:v>7.3289497481818584</c:v>
                </c:pt>
                <c:pt idx="20">
                  <c:v>7.4524684019050067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D4C-8249-8F67-96F0357FC9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Year</a:t>
                </a:r>
              </a:p>
            </c:rich>
          </c:tx>
          <c:layout>
            <c:manualLayout>
              <c:xMode val="edge"/>
              <c:yMode val="edge"/>
              <c:x val="0.5046843901662138"/>
              <c:y val="0.82588799782571154"/>
            </c:manualLayout>
          </c:layout>
          <c:overlay val="0"/>
        </c:title>
        <c:numFmt formatCode="General" sourceLinked="1"/>
        <c:majorTickMark val="none"/>
        <c:minorTickMark val="none"/>
        <c:tickLblPos val="low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0"/>
        <c:crosses val="autoZero"/>
        <c:auto val="0"/>
        <c:lblAlgn val="ctr"/>
        <c:lblOffset val="100"/>
        <c:tickLblSkip val="5"/>
        <c:tickMarkSkip val="5"/>
        <c:noMultiLvlLbl val="0"/>
      </c:catAx>
      <c:valAx>
        <c:axId val="100"/>
        <c:scaling>
          <c:orientation val="minMax"/>
          <c:max val="10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 dirty="0">
                    <a:latin typeface="Aptos"/>
                  </a:rPr>
                  <a:t>Net Flows ($mm)</a:t>
                </a:r>
              </a:p>
            </c:rich>
          </c:tx>
          <c:overlay val="0"/>
        </c:title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624481311769292E-2"/>
          <c:y val="8.1866191560268878E-2"/>
          <c:w val="0.9097857247726272"/>
          <c:h val="0.77005916513030692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Sheet2!$B$4:$L$4</c:f>
            </c:numRef>
          </c:val>
          <c:smooth val="0"/>
          <c:extLst>
            <c:ext xmlns:c16="http://schemas.microsoft.com/office/drawing/2014/chart" uri="{C3380CC4-5D6E-409C-BE32-E72D297353CC}">
              <c16:uniqueId val="{00000000-37DA-F349-AECD-4B25D58A8893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Sheet2!$B$5:$L$5</c:f>
            </c:numRef>
          </c:val>
          <c:smooth val="0"/>
          <c:extLst>
            <c:ext xmlns:c16="http://schemas.microsoft.com/office/drawing/2014/chart" uri="{C3380CC4-5D6E-409C-BE32-E72D297353CC}">
              <c16:uniqueId val="{00000001-37DA-F349-AECD-4B25D58A8893}"/>
            </c:ext>
          </c:extLst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Sheet2!$B$6:$L$6</c:f>
            </c:numRef>
          </c:val>
          <c:smooth val="0"/>
          <c:extLst>
            <c:ext xmlns:c16="http://schemas.microsoft.com/office/drawing/2014/chart" uri="{C3380CC4-5D6E-409C-BE32-E72D297353CC}">
              <c16:uniqueId val="{00000002-37DA-F349-AECD-4B25D58A8893}"/>
            </c:ext>
          </c:extLst>
        </c:ser>
        <c:ser>
          <c:idx val="3"/>
          <c:order val="3"/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Sheet2!$B$7:$L$7</c:f>
            </c:numRef>
          </c:val>
          <c:smooth val="0"/>
          <c:extLst>
            <c:ext xmlns:c16="http://schemas.microsoft.com/office/drawing/2014/chart" uri="{C3380CC4-5D6E-409C-BE32-E72D297353CC}">
              <c16:uniqueId val="{00000003-37DA-F349-AECD-4B25D58A8893}"/>
            </c:ext>
          </c:extLst>
        </c:ser>
        <c:ser>
          <c:idx val="4"/>
          <c:order val="4"/>
          <c:tx>
            <c:v>Over 5 Years</c:v>
          </c:tx>
          <c:spPr>
            <a:ln w="28575" cap="rnd">
              <a:solidFill>
                <a:schemeClr val="tx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Sheet2!$B$8:$L$8</c:f>
              <c:numCache>
                <c:formatCode>0%</c:formatCode>
                <c:ptCount val="11"/>
                <c:pt idx="0">
                  <c:v>0.89715</c:v>
                </c:pt>
                <c:pt idx="1">
                  <c:v>0.87119999999999997</c:v>
                </c:pt>
                <c:pt idx="2">
                  <c:v>0.84065000000000001</c:v>
                </c:pt>
                <c:pt idx="3">
                  <c:v>0.80395000000000005</c:v>
                </c:pt>
                <c:pt idx="4">
                  <c:v>0.76329999999999998</c:v>
                </c:pt>
                <c:pt idx="5">
                  <c:v>0.72004999999999997</c:v>
                </c:pt>
                <c:pt idx="6">
                  <c:v>0.67290000000000005</c:v>
                </c:pt>
                <c:pt idx="7">
                  <c:v>0.61814999999999998</c:v>
                </c:pt>
                <c:pt idx="8">
                  <c:v>0.56084999999999996</c:v>
                </c:pt>
                <c:pt idx="9">
                  <c:v>0.50544999999999995</c:v>
                </c:pt>
                <c:pt idx="10">
                  <c:v>0.4451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7DA-F349-AECD-4B25D58A8893}"/>
            </c:ext>
          </c:extLst>
        </c:ser>
        <c:ser>
          <c:idx val="5"/>
          <c:order val="5"/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Sheet2!$B$9:$L$9</c:f>
            </c:numRef>
          </c:val>
          <c:smooth val="0"/>
          <c:extLst>
            <c:ext xmlns:c16="http://schemas.microsoft.com/office/drawing/2014/chart" uri="{C3380CC4-5D6E-409C-BE32-E72D297353CC}">
              <c16:uniqueId val="{00000005-37DA-F349-AECD-4B25D58A8893}"/>
            </c:ext>
          </c:extLst>
        </c:ser>
        <c:ser>
          <c:idx val="6"/>
          <c:order val="6"/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Sheet2!$B$10:$L$10</c:f>
            </c:numRef>
          </c:val>
          <c:smooth val="0"/>
          <c:extLst>
            <c:ext xmlns:c16="http://schemas.microsoft.com/office/drawing/2014/chart" uri="{C3380CC4-5D6E-409C-BE32-E72D297353CC}">
              <c16:uniqueId val="{00000006-37DA-F349-AECD-4B25D58A8893}"/>
            </c:ext>
          </c:extLst>
        </c:ser>
        <c:ser>
          <c:idx val="7"/>
          <c:order val="7"/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Sheet2!$B$11:$L$11</c:f>
            </c:numRef>
          </c:val>
          <c:smooth val="0"/>
          <c:extLst>
            <c:ext xmlns:c16="http://schemas.microsoft.com/office/drawing/2014/chart" uri="{C3380CC4-5D6E-409C-BE32-E72D297353CC}">
              <c16:uniqueId val="{00000007-37DA-F349-AECD-4B25D58A8893}"/>
            </c:ext>
          </c:extLst>
        </c:ser>
        <c:ser>
          <c:idx val="8"/>
          <c:order val="8"/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Sheet2!$B$12:$L$12</c:f>
            </c:numRef>
          </c:val>
          <c:smooth val="0"/>
          <c:extLst>
            <c:ext xmlns:c16="http://schemas.microsoft.com/office/drawing/2014/chart" uri="{C3380CC4-5D6E-409C-BE32-E72D297353CC}">
              <c16:uniqueId val="{00000008-37DA-F349-AECD-4B25D58A8893}"/>
            </c:ext>
          </c:extLst>
        </c:ser>
        <c:ser>
          <c:idx val="9"/>
          <c:order val="9"/>
          <c:tx>
            <c:v>Over 10 Years</c:v>
          </c:tx>
          <c:spPr>
            <a:ln w="28575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Sheet2!$B$13:$L$13</c:f>
              <c:numCache>
                <c:formatCode>0%</c:formatCode>
                <c:ptCount val="11"/>
                <c:pt idx="0">
                  <c:v>0.93115000000000003</c:v>
                </c:pt>
                <c:pt idx="1">
                  <c:v>0.90690000000000004</c:v>
                </c:pt>
                <c:pt idx="2">
                  <c:v>0.87309999999999999</c:v>
                </c:pt>
                <c:pt idx="3">
                  <c:v>0.83379999999999999</c:v>
                </c:pt>
                <c:pt idx="4">
                  <c:v>0.78664999999999996</c:v>
                </c:pt>
                <c:pt idx="5">
                  <c:v>0.73399999999999999</c:v>
                </c:pt>
                <c:pt idx="6">
                  <c:v>0.67225000000000001</c:v>
                </c:pt>
                <c:pt idx="7">
                  <c:v>0.60235000000000005</c:v>
                </c:pt>
                <c:pt idx="8">
                  <c:v>0.53005000000000002</c:v>
                </c:pt>
                <c:pt idx="9">
                  <c:v>0.45765</c:v>
                </c:pt>
                <c:pt idx="10">
                  <c:v>0.38114999999999999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37DA-F349-AECD-4B25D58A8893}"/>
            </c:ext>
          </c:extLst>
        </c:ser>
        <c:ser>
          <c:idx val="10"/>
          <c:order val="10"/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Sheet2!$B$14:$L$14</c:f>
            </c:numRef>
          </c:val>
          <c:smooth val="0"/>
          <c:extLst>
            <c:ext xmlns:c16="http://schemas.microsoft.com/office/drawing/2014/chart" uri="{C3380CC4-5D6E-409C-BE32-E72D297353CC}">
              <c16:uniqueId val="{0000000A-37DA-F349-AECD-4B25D58A8893}"/>
            </c:ext>
          </c:extLst>
        </c:ser>
        <c:ser>
          <c:idx val="11"/>
          <c:order val="11"/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Sheet2!$B$15:$L$15</c:f>
            </c:numRef>
          </c:val>
          <c:smooth val="0"/>
          <c:extLst>
            <c:ext xmlns:c16="http://schemas.microsoft.com/office/drawing/2014/chart" uri="{C3380CC4-5D6E-409C-BE32-E72D297353CC}">
              <c16:uniqueId val="{0000000B-37DA-F349-AECD-4B25D58A8893}"/>
            </c:ext>
          </c:extLst>
        </c:ser>
        <c:ser>
          <c:idx val="12"/>
          <c:order val="12"/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Sheet2!$B$16:$L$16</c:f>
            </c:numRef>
          </c:val>
          <c:smooth val="0"/>
          <c:extLst>
            <c:ext xmlns:c16="http://schemas.microsoft.com/office/drawing/2014/chart" uri="{C3380CC4-5D6E-409C-BE32-E72D297353CC}">
              <c16:uniqueId val="{0000000C-37DA-F349-AECD-4B25D58A8893}"/>
            </c:ext>
          </c:extLst>
        </c:ser>
        <c:ser>
          <c:idx val="13"/>
          <c:order val="13"/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Sheet2!$B$17:$L$17</c:f>
            </c:numRef>
          </c:val>
          <c:smooth val="0"/>
          <c:extLst>
            <c:ext xmlns:c16="http://schemas.microsoft.com/office/drawing/2014/chart" uri="{C3380CC4-5D6E-409C-BE32-E72D297353CC}">
              <c16:uniqueId val="{0000000D-37DA-F349-AECD-4B25D58A8893}"/>
            </c:ext>
          </c:extLst>
        </c:ser>
        <c:ser>
          <c:idx val="14"/>
          <c:order val="14"/>
          <c:tx>
            <c:v>Over 15 Years</c:v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Sheet2!$B$18:$L$18</c:f>
              <c:numCache>
                <c:formatCode>0%</c:formatCode>
                <c:ptCount val="11"/>
                <c:pt idx="0">
                  <c:v>0.94489999999999996</c:v>
                </c:pt>
                <c:pt idx="1">
                  <c:v>0.91930000000000001</c:v>
                </c:pt>
                <c:pt idx="2">
                  <c:v>0.88639999999999997</c:v>
                </c:pt>
                <c:pt idx="3">
                  <c:v>0.84330000000000005</c:v>
                </c:pt>
                <c:pt idx="4">
                  <c:v>0.78985000000000005</c:v>
                </c:pt>
                <c:pt idx="5">
                  <c:v>0.72499999999999998</c:v>
                </c:pt>
                <c:pt idx="6">
                  <c:v>0.65359999999999996</c:v>
                </c:pt>
                <c:pt idx="7">
                  <c:v>0.57694999999999996</c:v>
                </c:pt>
                <c:pt idx="8">
                  <c:v>0.48845</c:v>
                </c:pt>
                <c:pt idx="9">
                  <c:v>0.40200000000000002</c:v>
                </c:pt>
                <c:pt idx="10">
                  <c:v>0.32450000000000001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37DA-F349-AECD-4B25D58A8893}"/>
            </c:ext>
          </c:extLst>
        </c:ser>
        <c:ser>
          <c:idx val="15"/>
          <c:order val="15"/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Sheet2!$B$19:$L$19</c:f>
            </c:numRef>
          </c:val>
          <c:smooth val="0"/>
          <c:extLst>
            <c:ext xmlns:c16="http://schemas.microsoft.com/office/drawing/2014/chart" uri="{C3380CC4-5D6E-409C-BE32-E72D297353CC}">
              <c16:uniqueId val="{0000000F-37DA-F349-AECD-4B25D58A8893}"/>
            </c:ext>
          </c:extLst>
        </c:ser>
        <c:ser>
          <c:idx val="16"/>
          <c:order val="16"/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Sheet2!$B$20:$L$20</c:f>
            </c:numRef>
          </c:val>
          <c:smooth val="0"/>
          <c:extLst>
            <c:ext xmlns:c16="http://schemas.microsoft.com/office/drawing/2014/chart" uri="{C3380CC4-5D6E-409C-BE32-E72D297353CC}">
              <c16:uniqueId val="{00000010-37DA-F349-AECD-4B25D58A8893}"/>
            </c:ext>
          </c:extLst>
        </c:ser>
        <c:ser>
          <c:idx val="17"/>
          <c:order val="17"/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Sheet2!$B$21:$L$21</c:f>
            </c:numRef>
          </c:val>
          <c:smooth val="0"/>
          <c:extLst>
            <c:ext xmlns:c16="http://schemas.microsoft.com/office/drawing/2014/chart" uri="{C3380CC4-5D6E-409C-BE32-E72D297353CC}">
              <c16:uniqueId val="{00000011-37DA-F349-AECD-4B25D58A8893}"/>
            </c:ext>
          </c:extLst>
        </c:ser>
        <c:ser>
          <c:idx val="18"/>
          <c:order val="18"/>
          <c:spPr>
            <a:ln w="28575" cap="rnd">
              <a:solidFill>
                <a:schemeClr val="accent1">
                  <a:lumMod val="8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Sheet2!$B$22:$L$22</c:f>
            </c:numRef>
          </c:val>
          <c:smooth val="0"/>
          <c:extLst>
            <c:ext xmlns:c16="http://schemas.microsoft.com/office/drawing/2014/chart" uri="{C3380CC4-5D6E-409C-BE32-E72D297353CC}">
              <c16:uniqueId val="{00000012-37DA-F349-AECD-4B25D58A8893}"/>
            </c:ext>
          </c:extLst>
        </c:ser>
        <c:ser>
          <c:idx val="19"/>
          <c:order val="19"/>
          <c:tx>
            <c:v>Over 20 Years</c:v>
          </c:tx>
          <c:spPr>
            <a:ln w="28575" cap="rnd">
              <a:solidFill>
                <a:schemeClr val="tx2">
                  <a:lumMod val="20000"/>
                  <a:lumOff val="8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Sheet2!$B$23:$L$23</c:f>
              <c:numCache>
                <c:formatCode>0%</c:formatCode>
                <c:ptCount val="11"/>
                <c:pt idx="0">
                  <c:v>0.95694999999999997</c:v>
                </c:pt>
                <c:pt idx="1">
                  <c:v>0.93169999999999997</c:v>
                </c:pt>
                <c:pt idx="2">
                  <c:v>0.89949999999999997</c:v>
                </c:pt>
                <c:pt idx="3">
                  <c:v>0.85399999999999998</c:v>
                </c:pt>
                <c:pt idx="4">
                  <c:v>0.79774999999999996</c:v>
                </c:pt>
                <c:pt idx="5">
                  <c:v>0.72529999999999994</c:v>
                </c:pt>
                <c:pt idx="6">
                  <c:v>0.64480000000000004</c:v>
                </c:pt>
                <c:pt idx="7">
                  <c:v>0.55700000000000005</c:v>
                </c:pt>
                <c:pt idx="8">
                  <c:v>0.46465000000000001</c:v>
                </c:pt>
                <c:pt idx="9">
                  <c:v>0.373</c:v>
                </c:pt>
                <c:pt idx="10">
                  <c:v>0.28820000000000001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37DA-F349-AECD-4B25D58A88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61759248"/>
        <c:axId val="1776207024"/>
      </c:lineChart>
      <c:catAx>
        <c:axId val="15617592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GB"/>
                  <a:t>Assumed Yearly Spend</a:t>
                </a:r>
                <a:r>
                  <a:rPr lang="en-GB" baseline="0"/>
                  <a:t> (% of Initial Portfolio Value, Adjusted for Inflation)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GB"/>
            </a:p>
          </c:txPr>
        </c:title>
        <c:numFmt formatCode="0.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776207024"/>
        <c:crosses val="autoZero"/>
        <c:auto val="1"/>
        <c:lblAlgn val="ctr"/>
        <c:lblOffset val="100"/>
        <c:noMultiLvlLbl val="0"/>
      </c:catAx>
      <c:valAx>
        <c:axId val="177620702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61759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0" i="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risk_dashboard!$B$38</c:f>
              <c:strCache>
                <c:ptCount val="1"/>
                <c:pt idx="0">
                  <c:v>Exc. Single Stock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2.6191113817624411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92-EB40-81C9-1A53F17B2406}"/>
                </c:ext>
              </c:extLst>
            </c:dLbl>
            <c:dLbl>
              <c:idx val="1"/>
              <c:layout>
                <c:manualLayout>
                  <c:x val="-7.483175376464116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F92-EB40-81C9-1A53F17B24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risk_dashboard!$A$39:$A$41</c:f>
              <c:strCache>
                <c:ptCount val="3"/>
                <c:pt idx="0">
                  <c:v>Over 1 Month</c:v>
                </c:pt>
                <c:pt idx="1">
                  <c:v>Over 1 Year</c:v>
                </c:pt>
                <c:pt idx="2">
                  <c:v>Over 3 Years</c:v>
                </c:pt>
              </c:strCache>
            </c:strRef>
          </c:cat>
          <c:val>
            <c:numRef>
              <c:f>risk_dashboard!$B$39:$B$41</c:f>
              <c:numCache>
                <c:formatCode>0.0%</c:formatCode>
                <c:ptCount val="3"/>
                <c:pt idx="0">
                  <c:v>4.1420284237808191E-2</c:v>
                </c:pt>
                <c:pt idx="1">
                  <c:v>0.11542478822860409</c:v>
                </c:pt>
                <c:pt idx="2">
                  <c:v>0.12168605450324201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92-EB40-81C9-1A53F17B2406}"/>
            </c:ext>
          </c:extLst>
        </c:ser>
        <c:ser>
          <c:idx val="1"/>
          <c:order val="1"/>
          <c:tx>
            <c:strRef>
              <c:f>risk_dashboard!$C$38</c:f>
              <c:strCache>
                <c:ptCount val="1"/>
                <c:pt idx="0">
                  <c:v>Inc. Single Stock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 w="63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risk_dashboard!$A$39:$A$41</c:f>
              <c:strCache>
                <c:ptCount val="3"/>
                <c:pt idx="0">
                  <c:v>Over 1 Month</c:v>
                </c:pt>
                <c:pt idx="1">
                  <c:v>Over 1 Year</c:v>
                </c:pt>
                <c:pt idx="2">
                  <c:v>Over 3 Years</c:v>
                </c:pt>
              </c:strCache>
            </c:strRef>
          </c:cat>
          <c:val>
            <c:numRef>
              <c:f>risk_dashboard!$C$39:$C$41</c:f>
              <c:numCache>
                <c:formatCode>0.0%</c:formatCode>
                <c:ptCount val="3"/>
                <c:pt idx="0">
                  <c:v>0.56914782945731501</c:v>
                </c:pt>
                <c:pt idx="1">
                  <c:v>0.52474512706283738</c:v>
                </c:pt>
                <c:pt idx="2">
                  <c:v>0.52098836729805487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92-EB40-81C9-1A53F17B2406}"/>
            </c:ext>
          </c:extLst>
        </c:ser>
        <c:ser>
          <c:idx val="2"/>
          <c:order val="2"/>
          <c:tx>
            <c:strRef>
              <c:f>risk_dashboard!$D$38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risk_dashboard!$A$39:$A$41</c:f>
              <c:strCache>
                <c:ptCount val="3"/>
                <c:pt idx="0">
                  <c:v>Over 1 Month</c:v>
                </c:pt>
                <c:pt idx="1">
                  <c:v>Over 1 Year</c:v>
                </c:pt>
                <c:pt idx="2">
                  <c:v>Over 3 Years</c:v>
                </c:pt>
              </c:strCache>
            </c:strRef>
          </c:cat>
          <c:val>
            <c:numRef>
              <c:f>risk_dashboard!$D$39:$D$41</c:f>
              <c:numCache>
                <c:formatCode>0.0%</c:formatCode>
                <c:ptCount val="3"/>
                <c:pt idx="0">
                  <c:v>0.6105681136951232</c:v>
                </c:pt>
                <c:pt idx="1">
                  <c:v>0.64016991529144152</c:v>
                </c:pt>
                <c:pt idx="2">
                  <c:v>0.64267442180129686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92-EB40-81C9-1A53F17B2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1"/>
        <c:overlap val="100"/>
        <c:axId val="1645031424"/>
        <c:axId val="1567600816"/>
      </c:barChart>
      <c:catAx>
        <c:axId val="1645031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67600816"/>
        <c:crosses val="autoZero"/>
        <c:auto val="1"/>
        <c:lblAlgn val="ctr"/>
        <c:lblOffset val="100"/>
        <c:noMultiLvlLbl val="0"/>
      </c:catAx>
      <c:valAx>
        <c:axId val="1567600816"/>
        <c:scaling>
          <c:orientation val="minMax"/>
          <c:max val="0.8"/>
          <c:min val="0"/>
        </c:scaling>
        <c:delete val="1"/>
        <c:axPos val="b"/>
        <c:numFmt formatCode="0.0%" sourceLinked="1"/>
        <c:majorTickMark val="out"/>
        <c:minorTickMark val="none"/>
        <c:tickLblPos val="nextTo"/>
        <c:crossAx val="164503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438517338995045"/>
          <c:y val="7.7611111111111117E-2"/>
          <c:w val="0.69374941023826375"/>
          <c:h val="0.6899861111111110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risk_dashboard!$B$38</c:f>
              <c:strCache>
                <c:ptCount val="1"/>
                <c:pt idx="0">
                  <c:v>Exc. Single Stock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risk_dashboard!$A$42:$A$44</c:f>
              <c:strCache>
                <c:ptCount val="3"/>
                <c:pt idx="0">
                  <c:v>Over 1 Month</c:v>
                </c:pt>
                <c:pt idx="1">
                  <c:v>Over 1 Year</c:v>
                </c:pt>
                <c:pt idx="2">
                  <c:v>Over 3 Years</c:v>
                </c:pt>
              </c:strCache>
            </c:strRef>
          </c:cat>
          <c:val>
            <c:numRef>
              <c:f>risk_dashboard!$B$42:$B$44</c:f>
              <c:numCache>
                <c:formatCode>0.0%</c:formatCode>
                <c:ptCount val="3"/>
                <c:pt idx="0">
                  <c:v>0.32540000000000002</c:v>
                </c:pt>
                <c:pt idx="1">
                  <c:v>0.14615</c:v>
                </c:pt>
                <c:pt idx="2">
                  <c:v>7.4300000000000005E-2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B5-DA45-B62A-70241AA7DB25}"/>
            </c:ext>
          </c:extLst>
        </c:ser>
        <c:ser>
          <c:idx val="1"/>
          <c:order val="1"/>
          <c:tx>
            <c:strRef>
              <c:f>risk_dashboard!$C$38</c:f>
              <c:strCache>
                <c:ptCount val="1"/>
                <c:pt idx="0">
                  <c:v>Inc. Single Stock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risk_dashboard!$A$42:$A$44</c:f>
              <c:strCache>
                <c:ptCount val="3"/>
                <c:pt idx="0">
                  <c:v>Over 1 Month</c:v>
                </c:pt>
                <c:pt idx="1">
                  <c:v>Over 1 Year</c:v>
                </c:pt>
                <c:pt idx="2">
                  <c:v>Over 3 Years</c:v>
                </c:pt>
              </c:strCache>
            </c:strRef>
          </c:cat>
          <c:val>
            <c:numRef>
              <c:f>risk_dashboard!$C$42:$C$44</c:f>
              <c:numCache>
                <c:formatCode>0.0%</c:formatCode>
                <c:ptCount val="3"/>
                <c:pt idx="0">
                  <c:v>0.12484999999999996</c:v>
                </c:pt>
                <c:pt idx="1">
                  <c:v>0.25235000000000002</c:v>
                </c:pt>
                <c:pt idx="2">
                  <c:v>0.28120000000000001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B5-DA45-B62A-70241AA7DB25}"/>
            </c:ext>
          </c:extLst>
        </c:ser>
        <c:ser>
          <c:idx val="2"/>
          <c:order val="2"/>
          <c:tx>
            <c:strRef>
              <c:f>risk_dashboard!$D$38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risk_dashboard!$A$42:$A$44</c:f>
              <c:strCache>
                <c:ptCount val="3"/>
                <c:pt idx="0">
                  <c:v>Over 1 Month</c:v>
                </c:pt>
                <c:pt idx="1">
                  <c:v>Over 1 Year</c:v>
                </c:pt>
                <c:pt idx="2">
                  <c:v>Over 3 Years</c:v>
                </c:pt>
              </c:strCache>
            </c:strRef>
          </c:cat>
          <c:val>
            <c:numRef>
              <c:f>risk_dashboard!$D$42:$D$44</c:f>
              <c:numCache>
                <c:formatCode>0.0%</c:formatCode>
                <c:ptCount val="3"/>
                <c:pt idx="0">
                  <c:v>0.45024999999999998</c:v>
                </c:pt>
                <c:pt idx="1">
                  <c:v>0.39850000000000002</c:v>
                </c:pt>
                <c:pt idx="2">
                  <c:v>0.35550000000000004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B5-DA45-B62A-70241AA7DB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1"/>
        <c:overlap val="100"/>
        <c:axId val="1645031424"/>
        <c:axId val="1567600816"/>
      </c:barChart>
      <c:catAx>
        <c:axId val="1645031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67600816"/>
        <c:crosses val="autoZero"/>
        <c:auto val="1"/>
        <c:lblAlgn val="ctr"/>
        <c:lblOffset val="100"/>
        <c:noMultiLvlLbl val="0"/>
      </c:catAx>
      <c:valAx>
        <c:axId val="1567600816"/>
        <c:scaling>
          <c:orientation val="minMax"/>
          <c:max val="0.5"/>
          <c:min val="0"/>
        </c:scaling>
        <c:delete val="0"/>
        <c:axPos val="b"/>
        <c:numFmt formatCode="0.0%" sourceLinked="1"/>
        <c:majorTickMark val="out"/>
        <c:minorTickMark val="none"/>
        <c:tickLblPos val="nextTo"/>
        <c:spPr>
          <a:solidFill>
            <a:schemeClr val="bg1"/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64503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395026116784907"/>
          <c:y val="0.90640885406565574"/>
          <c:w val="0.63091135885242067"/>
          <c:h val="6.73185679376284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50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C8C-1949-84FB-F3B6584BCAA7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C8C-1949-84FB-F3B6584BCAA7}"/>
              </c:ext>
            </c:extLst>
          </c:dPt>
          <c:dPt>
            <c:idx val="2"/>
            <c:invertIfNegative val="0"/>
            <c:bubble3D val="0"/>
            <c:spPr>
              <a:pattFill prst="dkDnDiag">
                <a:fgClr>
                  <a:srgbClr val="C00000"/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C8C-1949-84FB-F3B6584BCAA7}"/>
              </c:ext>
            </c:extLst>
          </c:dPt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8C-1949-84FB-F3B6584BCAA7}"/>
                </c:ext>
              </c:extLst>
            </c:dLbl>
            <c:dLbl>
              <c:idx val="2"/>
              <c:layout>
                <c:manualLayout>
                  <c:x val="0"/>
                  <c:y val="-0.32247286763713429"/>
                </c:manualLayout>
              </c:layout>
              <c:tx>
                <c:rich>
                  <a:bodyPr/>
                  <a:lstStyle/>
                  <a:p>
                    <a:fld id="{4C2890AE-E757-BF45-8D5F-F41ABA9F5704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0C8C-1949-84FB-F3B6584BCAA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risk_dashboard!$F$80:$F$82</c:f>
              <c:strCache>
                <c:ptCount val="3"/>
                <c:pt idx="0">
                  <c:v>Implied Return1</c:v>
                </c:pt>
                <c:pt idx="1">
                  <c:v>Risk Premia</c:v>
                </c:pt>
                <c:pt idx="2">
                  <c:v>Implied Alpha</c:v>
                </c:pt>
              </c:strCache>
            </c:strRef>
          </c:cat>
          <c:val>
            <c:numRef>
              <c:f>risk_dashboard!$G$80:$G$82</c:f>
              <c:numCache>
                <c:formatCode>0%</c:formatCode>
                <c:ptCount val="3"/>
                <c:pt idx="0">
                  <c:v>0.54768797000000002</c:v>
                </c:pt>
                <c:pt idx="1">
                  <c:v>0.50268796999999998</c:v>
                </c:pt>
                <c:pt idx="2">
                  <c:v>0.50268796999999998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C8C-1949-84FB-F3B6584BCAA7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0C8C-1949-84FB-F3B6584BCAA7}"/>
              </c:ext>
            </c:extLst>
          </c:dPt>
          <c:dPt>
            <c:idx val="2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0C8C-1949-84FB-F3B6584BCAA7}"/>
              </c:ext>
            </c:extLst>
          </c:dPt>
          <c:dLbls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C8C-1949-84FB-F3B6584BCAA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risk_dashboard!$F$80:$F$82</c:f>
              <c:strCache>
                <c:ptCount val="3"/>
                <c:pt idx="0">
                  <c:v>Implied Return1</c:v>
                </c:pt>
                <c:pt idx="1">
                  <c:v>Risk Premia</c:v>
                </c:pt>
                <c:pt idx="2">
                  <c:v>Implied Alpha</c:v>
                </c:pt>
              </c:strCache>
            </c:strRef>
          </c:cat>
          <c:val>
            <c:numRef>
              <c:f>risk_dashboard!$H$80:$H$82</c:f>
              <c:numCache>
                <c:formatCode>0%</c:formatCode>
                <c:ptCount val="3"/>
                <c:pt idx="0">
                  <c:v>0</c:v>
                </c:pt>
                <c:pt idx="1">
                  <c:v>4.4999999999999998E-2</c:v>
                </c:pt>
                <c:pt idx="2">
                  <c:v>4.500000000000004E-2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C8C-1949-84FB-F3B6584BCA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86061296"/>
        <c:axId val="1401510192"/>
      </c:barChart>
      <c:catAx>
        <c:axId val="148606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401510192"/>
        <c:crosses val="autoZero"/>
        <c:auto val="1"/>
        <c:lblAlgn val="ctr"/>
        <c:lblOffset val="100"/>
        <c:noMultiLvlLbl val="0"/>
      </c:catAx>
      <c:valAx>
        <c:axId val="1401510192"/>
        <c:scaling>
          <c:orientation val="minMax"/>
          <c:min val="0.3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486061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055555555555556"/>
          <c:y val="0.19444444444444445"/>
          <c:w val="0.45555555555555555"/>
          <c:h val="0.7592592592592593"/>
        </c:manualLayout>
      </c:layout>
      <c:pieChart>
        <c:varyColors val="1"/>
        <c:ser>
          <c:idx val="0"/>
          <c:order val="0"/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CA2-1E44-ADDA-A7ABA4E423C1}"/>
              </c:ext>
            </c:extLst>
          </c:dPt>
          <c:dPt>
            <c:idx val="1"/>
            <c:bubble3D val="0"/>
            <c:spPr>
              <a:solidFill>
                <a:schemeClr val="tx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CA2-1E44-ADDA-A7ABA4E423C1}"/>
              </c:ext>
            </c:extLst>
          </c:dPt>
          <c:dLbls>
            <c:dLbl>
              <c:idx val="0"/>
              <c:layout>
                <c:manualLayout>
                  <c:x val="-0.13231067012097525"/>
                  <c:y val="-0.1788911041780101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1"/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CA2-1E44-ADDA-A7ABA4E423C1}"/>
                </c:ext>
              </c:extLst>
            </c:dLbl>
            <c:dLbl>
              <c:idx val="1"/>
              <c:layout>
                <c:manualLayout>
                  <c:x val="0.11774948252994029"/>
                  <c:y val="0.131139012264695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1"/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CA2-1E44-ADDA-A7ABA4E423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risk_dashboard!$C$65:$C$66</c:f>
              <c:strCache>
                <c:ptCount val="2"/>
                <c:pt idx="0">
                  <c:v>Idiosyncratic Risk 
(Unhedgable)</c:v>
                </c:pt>
                <c:pt idx="1">
                  <c:v>Systematic Risk 
(Undiversifiable)</c:v>
                </c:pt>
              </c:strCache>
            </c:strRef>
          </c:cat>
          <c:val>
            <c:numRef>
              <c:f>risk_dashboard!$D$65:$D$66</c:f>
              <c:numCache>
                <c:formatCode>0%</c:formatCode>
                <c:ptCount val="2"/>
                <c:pt idx="0">
                  <c:v>0.73</c:v>
                </c:pt>
                <c:pt idx="1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A2-1E44-ADDA-A7ABA4E423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9.6460411198600188E-2"/>
          <c:y val="2.4E-2"/>
          <c:w val="0.84596806649168843"/>
          <c:h val="0.12545511811023621"/>
        </c:manualLayout>
      </c:layout>
      <c:overlay val="1"/>
      <c:spPr>
        <a:noFill/>
        <a:ln>
          <a:solidFill>
            <a:schemeClr val="bg1">
              <a:lumMod val="7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873779992741975E-2"/>
          <c:y val="9.1732712971578104E-2"/>
          <c:w val="0.87250936112214839"/>
          <c:h val="0.79235020334218464"/>
        </c:manualLayout>
      </c:layout>
      <c:scatterChart>
        <c:scatterStyle val="lineMarker"/>
        <c:varyColors val="0"/>
        <c:ser>
          <c:idx val="0"/>
          <c:order val="0"/>
          <c:tx>
            <c:v>Fixed Income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75000"/>
                </a:schemeClr>
              </a:solidFill>
              <a:ln w="9525">
                <a:solidFill>
                  <a:schemeClr val="accent3"/>
                </a:solidFill>
              </a:ln>
              <a:effectLst/>
            </c:spPr>
          </c:marker>
          <c:dPt>
            <c:idx val="26"/>
            <c:marker>
              <c:symbol val="circle"/>
              <c:size val="5"/>
              <c:spPr>
                <a:solidFill>
                  <a:schemeClr val="accent3">
                    <a:lumMod val="75000"/>
                  </a:schemeClr>
                </a:solidFill>
                <a:ln w="19050">
                  <a:solidFill>
                    <a:schemeClr val="accent3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6632-7244-B13C-D2B0CF175948}"/>
              </c:ext>
            </c:extLst>
          </c:dPt>
          <c:dLbls>
            <c:dLbl>
              <c:idx val="0"/>
              <c:layout>
                <c:manualLayout>
                  <c:x val="-5.9124256041946981E-2"/>
                  <c:y val="2.3848119402088214E-2"/>
                </c:manualLayout>
              </c:layout>
              <c:tx>
                <c:rich>
                  <a:bodyPr/>
                  <a:lstStyle/>
                  <a:p>
                    <a:fld id="{A57EDDFA-93A9-3E46-AAFD-2D8B810DAD3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632-7244-B13C-D2B0CF175948}"/>
                </c:ext>
              </c:extLst>
            </c:dLbl>
            <c:dLbl>
              <c:idx val="1"/>
              <c:layout>
                <c:manualLayout>
                  <c:x val="-3.3649615958361626E-3"/>
                  <c:y val="9.1068832338801024E-3"/>
                </c:manualLayout>
              </c:layout>
              <c:tx>
                <c:rich>
                  <a:bodyPr/>
                  <a:lstStyle/>
                  <a:p>
                    <a:fld id="{C5133F55-6787-5B44-9767-8231E5B07E8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6632-7244-B13C-D2B0CF175948}"/>
                </c:ext>
              </c:extLst>
            </c:dLbl>
            <c:dLbl>
              <c:idx val="2"/>
              <c:layout>
                <c:manualLayout>
                  <c:x val="-0.12416093768808863"/>
                  <c:y val="7.4525373131525668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ptos" panose="020B0004020202020204" pitchFamily="34" charset="0"/>
                        <a:ea typeface="+mn-ea"/>
                        <a:cs typeface="+mn-cs"/>
                      </a:defRPr>
                    </a:pPr>
                    <a:fld id="{78554C57-2753-AF47-82D0-B212E27C16C4}" type="CELLRANGE">
                      <a:rPr lang="en-US"/>
                      <a:pPr>
                        <a:defRPr/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220139091641269"/>
                      <c:h val="8.0442805120961136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6632-7244-B13C-D2B0CF1759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6632-7244-B13C-D2B0CF1759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6632-7244-B13C-D2B0CF17594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6632-7244-B13C-D2B0CF17594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6632-7244-B13C-D2B0CF17594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6632-7244-B13C-D2B0CF17594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6632-7244-B13C-D2B0CF17594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6632-7244-B13C-D2B0CF17594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6632-7244-B13C-D2B0CF17594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6632-7244-B13C-D2B0CF17594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6632-7244-B13C-D2B0CF17594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6632-7244-B13C-D2B0CF17594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6632-7244-B13C-D2B0CF17594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6632-7244-B13C-D2B0CF17594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6632-7244-B13C-D2B0CF17594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6632-7244-B13C-D2B0CF17594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6632-7244-B13C-D2B0CF17594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6632-7244-B13C-D2B0CF175948}"/>
                </c:ext>
              </c:extLst>
            </c:dLbl>
            <c:dLbl>
              <c:idx val="20"/>
              <c:layout>
                <c:manualLayout>
                  <c:x val="-1.0135586750048052E-2"/>
                  <c:y val="2.3848119402088214E-2"/>
                </c:manualLayout>
              </c:layout>
              <c:tx>
                <c:rich>
                  <a:bodyPr/>
                  <a:lstStyle/>
                  <a:p>
                    <a:fld id="{EB0B8B92-9FFB-3F4D-8998-541F762FDF2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5-6632-7244-B13C-D2B0CF175948}"/>
                </c:ext>
              </c:extLst>
            </c:dLbl>
            <c:dLbl>
              <c:idx val="21"/>
              <c:layout>
                <c:manualLayout>
                  <c:x val="-0.17061571029247552"/>
                  <c:y val="-1.7886089551566269E-2"/>
                </c:manualLayout>
              </c:layout>
              <c:tx>
                <c:rich>
                  <a:bodyPr/>
                  <a:lstStyle/>
                  <a:p>
                    <a:fld id="{4570AFF3-425A-934C-8717-DACEE978E8E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6-6632-7244-B13C-D2B0CF17594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6632-7244-B13C-D2B0CF175948}"/>
                </c:ext>
              </c:extLst>
            </c:dLbl>
            <c:dLbl>
              <c:idx val="26"/>
              <c:layout>
                <c:manualLayout>
                  <c:x val="-0.16371310192539312"/>
                  <c:y val="-2.3738866856967019E-2"/>
                </c:manualLayout>
              </c:layout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6632-7244-B13C-D2B0CF1759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Sheet1!$D$2:$D$29</c:f>
              <c:numCache>
                <c:formatCode>0.0%</c:formatCode>
                <c:ptCount val="23"/>
                <c:pt idx="0">
                  <c:v>-8.6508068786803505E-2</c:v>
                </c:pt>
                <c:pt idx="1">
                  <c:v>0.104936374495794</c:v>
                </c:pt>
                <c:pt idx="2">
                  <c:v>0.30912633819222501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0.268853172802058</c:v>
                </c:pt>
                <c:pt idx="21">
                  <c:v>5.51567025897318E-2</c:v>
                </c:pt>
                <c:pt idx="22">
                  <c:v>#N/A</c:v>
                </c:pt>
              </c:numCache>
            </c:numRef>
          </c:xVal>
          <c:yVal>
            <c:numRef>
              <c:f>Sheet1!$C$2:$C$29</c:f>
              <c:numCache>
                <c:formatCode>0%</c:formatCode>
                <c:ptCount val="23"/>
                <c:pt idx="0">
                  <c:v>3.2110810353131201E-2</c:v>
                </c:pt>
                <c:pt idx="1">
                  <c:v>4.2238342638410503E-2</c:v>
                </c:pt>
                <c:pt idx="2">
                  <c:v>8.2058406335332804E-2</c:v>
                </c:pt>
                <c:pt idx="3">
                  <c:v>0.14950308831877701</c:v>
                </c:pt>
                <c:pt idx="4">
                  <c:v>0.14474187855499701</c:v>
                </c:pt>
                <c:pt idx="5">
                  <c:v>0.192237867976849</c:v>
                </c:pt>
                <c:pt idx="6">
                  <c:v>0.182085912415376</c:v>
                </c:pt>
                <c:pt idx="7">
                  <c:v>0.201626510653036</c:v>
                </c:pt>
                <c:pt idx="8">
                  <c:v>0.232770455211537</c:v>
                </c:pt>
                <c:pt idx="9">
                  <c:v>0.13562199119584201</c:v>
                </c:pt>
                <c:pt idx="10">
                  <c:v>6.1838706545769902E-2</c:v>
                </c:pt>
                <c:pt idx="11">
                  <c:v>8.8325647168886703E-2</c:v>
                </c:pt>
                <c:pt idx="12">
                  <c:v>7.3138510600272905E-2</c:v>
                </c:pt>
                <c:pt idx="13">
                  <c:v>0.35654736283202199</c:v>
                </c:pt>
                <c:pt idx="14">
                  <c:v>0.13777198464128801</c:v>
                </c:pt>
                <c:pt idx="15">
                  <c:v>0.15640735725123101</c:v>
                </c:pt>
                <c:pt idx="16">
                  <c:v>0.167252179960899</c:v>
                </c:pt>
                <c:pt idx="17">
                  <c:v>0.113600285320638</c:v>
                </c:pt>
                <c:pt idx="18">
                  <c:v>0.14474239435031699</c:v>
                </c:pt>
                <c:pt idx="19">
                  <c:v>0.14614645332248</c:v>
                </c:pt>
                <c:pt idx="20">
                  <c:v>0.122019620848281</c:v>
                </c:pt>
                <c:pt idx="21">
                  <c:v>4.6212231292721499E-2</c:v>
                </c:pt>
                <c:pt idx="22" formatCode="0.0%">
                  <c:v>7.4615293576842906E-2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Sheet1!$A$2:$A$29</c15:f>
                <c15:dlblRangeCache>
                  <c:ptCount val="23"/>
                  <c:pt idx="0">
                    <c:v>US Treasury Bonds</c:v>
                  </c:pt>
                  <c:pt idx="1">
                    <c:v>US Corporate Credit</c:v>
                  </c:pt>
                  <c:pt idx="2">
                    <c:v>US Corporate High Yield</c:v>
                  </c:pt>
                  <c:pt idx="3">
                    <c:v>Global Equity</c:v>
                  </c:pt>
                  <c:pt idx="4">
                    <c:v>US Large Cap</c:v>
                  </c:pt>
                  <c:pt idx="5">
                    <c:v>US Small Caps</c:v>
                  </c:pt>
                  <c:pt idx="6">
                    <c:v>European</c:v>
                  </c:pt>
                  <c:pt idx="7">
                    <c:v>Japan</c:v>
                  </c:pt>
                  <c:pt idx="8">
                    <c:v>Emerging Markets</c:v>
                  </c:pt>
                  <c:pt idx="9">
                    <c:v>Global REITs</c:v>
                  </c:pt>
                  <c:pt idx="10">
                    <c:v>Event Driven</c:v>
                  </c:pt>
                  <c:pt idx="11">
                    <c:v>Equity Long/Short</c:v>
                  </c:pt>
                  <c:pt idx="12">
                    <c:v>Tactical Trading</c:v>
                  </c:pt>
                  <c:pt idx="13">
                    <c:v>Intel Stock Proxy</c:v>
                  </c:pt>
                  <c:pt idx="14">
                    <c:v>Buyout</c:v>
                  </c:pt>
                  <c:pt idx="15">
                    <c:v>Growth</c:v>
                  </c:pt>
                  <c:pt idx="16">
                    <c:v>Venture</c:v>
                  </c:pt>
                  <c:pt idx="17">
                    <c:v>Private Credit</c:v>
                  </c:pt>
                  <c:pt idx="18">
                    <c:v>Private Real Estate</c:v>
                  </c:pt>
                  <c:pt idx="19">
                    <c:v>Infrastructure</c:v>
                  </c:pt>
                  <c:pt idx="20">
                    <c:v>Emerging Markets</c:v>
                  </c:pt>
                  <c:pt idx="21">
                    <c:v>US Inflation Protected</c:v>
                  </c:pt>
                  <c:pt idx="22">
                    <c:v>Moderate Portfolio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8-6632-7244-B13C-D2B0CF175948}"/>
            </c:ext>
          </c:extLst>
        </c:ser>
        <c:ser>
          <c:idx val="1"/>
          <c:order val="1"/>
          <c:tx>
            <c:v>Public Equity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2">
                  <a:lumMod val="75000"/>
                </a:schemeClr>
              </a:solidFill>
              <a:ln w="9525">
                <a:solidFill>
                  <a:schemeClr val="tx2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6632-7244-B13C-D2B0CF1759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6632-7244-B13C-D2B0CF1759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6632-7244-B13C-D2B0CF175948}"/>
                </c:ext>
              </c:extLst>
            </c:dLbl>
            <c:dLbl>
              <c:idx val="3"/>
              <c:layout>
                <c:manualLayout>
                  <c:x val="1.0135586750048052E-2"/>
                  <c:y val="-5.9620298505220536E-3"/>
                </c:manualLayout>
              </c:layout>
              <c:tx>
                <c:rich>
                  <a:bodyPr/>
                  <a:lstStyle/>
                  <a:p>
                    <a:fld id="{716E7BB9-905C-A940-B6AA-363E39BF096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C-6632-7244-B13C-D2B0CF175948}"/>
                </c:ext>
              </c:extLst>
            </c:dLbl>
            <c:dLbl>
              <c:idx val="4"/>
              <c:layout>
                <c:manualLayout>
                  <c:x val="1.098028548569346E-2"/>
                  <c:y val="8.9429274129907473E-3"/>
                </c:manualLayout>
              </c:layout>
              <c:tx>
                <c:rich>
                  <a:bodyPr/>
                  <a:lstStyle/>
                  <a:p>
                    <a:fld id="{CFC47FD2-4FFB-8F47-AE11-8B9F5F286B8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360258923007448"/>
                      <c:h val="4.1689611092567781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D-6632-7244-B13C-D2B0CF175948}"/>
                </c:ext>
              </c:extLst>
            </c:dLbl>
            <c:dLbl>
              <c:idx val="5"/>
              <c:layout>
                <c:manualLayout>
                  <c:x val="-1.5203380125072139E-2"/>
                  <c:y val="-3.2791164177871292E-2"/>
                </c:manualLayout>
              </c:layout>
              <c:tx>
                <c:rich>
                  <a:bodyPr/>
                  <a:lstStyle/>
                  <a:p>
                    <a:fld id="{07688981-5A1C-6049-9F29-8DE644B694A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E-6632-7244-B13C-D2B0CF175948}"/>
                </c:ext>
              </c:extLst>
            </c:dLbl>
            <c:dLbl>
              <c:idx val="6"/>
              <c:layout>
                <c:manualLayout>
                  <c:x val="-8.6152487375408426E-2"/>
                  <c:y val="8.9430447757830791E-3"/>
                </c:manualLayout>
              </c:layout>
              <c:tx>
                <c:rich>
                  <a:bodyPr/>
                  <a:lstStyle/>
                  <a:p>
                    <a:fld id="{4104538A-3E26-C649-91D4-1F4E3B5B84F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F-6632-7244-B13C-D2B0CF17594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8BF12B1C-892A-9A43-A371-29098E3D8B6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6632-7244-B13C-D2B0CF17594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048D4229-2FC8-1B47-9969-D436E6FA231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6632-7244-B13C-D2B0CF17594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D76ED385-FFD0-954E-B25A-C1CCDE55DCF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6632-7244-B13C-D2B0CF17594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6632-7244-B13C-D2B0CF17594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6632-7244-B13C-D2B0CF17594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6632-7244-B13C-D2B0CF17594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6632-7244-B13C-D2B0CF17594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6632-7244-B13C-D2B0CF17594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6632-7244-B13C-D2B0CF17594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6632-7244-B13C-D2B0CF17594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6632-7244-B13C-D2B0CF17594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6632-7244-B13C-D2B0CF17594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6632-7244-B13C-D2B0CF17594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6632-7244-B13C-D2B0CF17594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6632-7244-B13C-D2B0CF17594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6632-7244-B13C-D2B0CF1759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Sheet1!$E$2:$E$29</c:f>
              <c:numCache>
                <c:formatCode>0.0%</c:formatCode>
                <c:ptCount val="23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0.498437121945842</c:v>
                </c:pt>
                <c:pt idx="4">
                  <c:v>0.41624082831193099</c:v>
                </c:pt>
                <c:pt idx="5">
                  <c:v>0.44451658727186899</c:v>
                </c:pt>
                <c:pt idx="6">
                  <c:v>0.41798915817555299</c:v>
                </c:pt>
                <c:pt idx="7">
                  <c:v>0.32960273632869302</c:v>
                </c:pt>
                <c:pt idx="8">
                  <c:v>0.37505895361635799</c:v>
                </c:pt>
                <c:pt idx="9">
                  <c:v>0.21822090763501001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</c:numCache>
            </c:numRef>
          </c:xVal>
          <c:yVal>
            <c:numRef>
              <c:f>Sheet1!$C$2:$C$29</c:f>
              <c:numCache>
                <c:formatCode>0%</c:formatCode>
                <c:ptCount val="23"/>
                <c:pt idx="0">
                  <c:v>3.2110810353131201E-2</c:v>
                </c:pt>
                <c:pt idx="1">
                  <c:v>4.2238342638410503E-2</c:v>
                </c:pt>
                <c:pt idx="2">
                  <c:v>8.2058406335332804E-2</c:v>
                </c:pt>
                <c:pt idx="3">
                  <c:v>0.14950308831877701</c:v>
                </c:pt>
                <c:pt idx="4">
                  <c:v>0.14474187855499701</c:v>
                </c:pt>
                <c:pt idx="5">
                  <c:v>0.192237867976849</c:v>
                </c:pt>
                <c:pt idx="6">
                  <c:v>0.182085912415376</c:v>
                </c:pt>
                <c:pt idx="7">
                  <c:v>0.201626510653036</c:v>
                </c:pt>
                <c:pt idx="8">
                  <c:v>0.232770455211537</c:v>
                </c:pt>
                <c:pt idx="9">
                  <c:v>0.13562199119584201</c:v>
                </c:pt>
                <c:pt idx="10">
                  <c:v>6.1838706545769902E-2</c:v>
                </c:pt>
                <c:pt idx="11">
                  <c:v>8.8325647168886703E-2</c:v>
                </c:pt>
                <c:pt idx="12">
                  <c:v>7.3138510600272905E-2</c:v>
                </c:pt>
                <c:pt idx="13">
                  <c:v>0.35654736283202199</c:v>
                </c:pt>
                <c:pt idx="14">
                  <c:v>0.13777198464128801</c:v>
                </c:pt>
                <c:pt idx="15">
                  <c:v>0.15640735725123101</c:v>
                </c:pt>
                <c:pt idx="16">
                  <c:v>0.167252179960899</c:v>
                </c:pt>
                <c:pt idx="17">
                  <c:v>0.113600285320638</c:v>
                </c:pt>
                <c:pt idx="18">
                  <c:v>0.14474239435031699</c:v>
                </c:pt>
                <c:pt idx="19">
                  <c:v>0.14614645332248</c:v>
                </c:pt>
                <c:pt idx="20">
                  <c:v>0.122019620848281</c:v>
                </c:pt>
                <c:pt idx="21">
                  <c:v>4.6212231292721499E-2</c:v>
                </c:pt>
                <c:pt idx="22" formatCode="0.0%">
                  <c:v>7.4615293576842906E-2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Sheet1!$A$2:$A$29</c15:f>
                <c15:dlblRangeCache>
                  <c:ptCount val="23"/>
                  <c:pt idx="0">
                    <c:v>US Treasury Bonds</c:v>
                  </c:pt>
                  <c:pt idx="1">
                    <c:v>US Corporate Credit</c:v>
                  </c:pt>
                  <c:pt idx="2">
                    <c:v>US Corporate High Yield</c:v>
                  </c:pt>
                  <c:pt idx="3">
                    <c:v>Global Equity</c:v>
                  </c:pt>
                  <c:pt idx="4">
                    <c:v>US Large Cap</c:v>
                  </c:pt>
                  <c:pt idx="5">
                    <c:v>US Small Caps</c:v>
                  </c:pt>
                  <c:pt idx="6">
                    <c:v>European</c:v>
                  </c:pt>
                  <c:pt idx="7">
                    <c:v>Japan</c:v>
                  </c:pt>
                  <c:pt idx="8">
                    <c:v>Emerging Markets</c:v>
                  </c:pt>
                  <c:pt idx="9">
                    <c:v>Global REITs</c:v>
                  </c:pt>
                  <c:pt idx="10">
                    <c:v>Event Driven</c:v>
                  </c:pt>
                  <c:pt idx="11">
                    <c:v>Equity Long/Short</c:v>
                  </c:pt>
                  <c:pt idx="12">
                    <c:v>Tactical Trading</c:v>
                  </c:pt>
                  <c:pt idx="13">
                    <c:v>Intel Stock Proxy</c:v>
                  </c:pt>
                  <c:pt idx="14">
                    <c:v>Buyout</c:v>
                  </c:pt>
                  <c:pt idx="15">
                    <c:v>Growth</c:v>
                  </c:pt>
                  <c:pt idx="16">
                    <c:v>Venture</c:v>
                  </c:pt>
                  <c:pt idx="17">
                    <c:v>Private Credit</c:v>
                  </c:pt>
                  <c:pt idx="18">
                    <c:v>Private Real Estate</c:v>
                  </c:pt>
                  <c:pt idx="19">
                    <c:v>Infrastructure</c:v>
                  </c:pt>
                  <c:pt idx="20">
                    <c:v>Emerging Markets</c:v>
                  </c:pt>
                  <c:pt idx="21">
                    <c:v>US Inflation Protected</c:v>
                  </c:pt>
                  <c:pt idx="22">
                    <c:v>Moderate Portfolio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30-6632-7244-B13C-D2B0CF175948}"/>
            </c:ext>
          </c:extLst>
        </c:ser>
        <c:ser>
          <c:idx val="2"/>
          <c:order val="2"/>
          <c:tx>
            <c:v>Alternatives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6632-7244-B13C-D2B0CF1759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6632-7244-B13C-D2B0CF1759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6632-7244-B13C-D2B0CF1759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4-6632-7244-B13C-D2B0CF1759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6632-7244-B13C-D2B0CF17594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6632-7244-B13C-D2B0CF17594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6632-7244-B13C-D2B0CF17594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8-6632-7244-B13C-D2B0CF17594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6632-7244-B13C-D2B0CF17594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6632-7244-B13C-D2B0CF175948}"/>
                </c:ext>
              </c:extLst>
            </c:dLbl>
            <c:dLbl>
              <c:idx val="10"/>
              <c:layout>
                <c:manualLayout>
                  <c:x val="-8.4463222917067707E-3"/>
                  <c:y val="2.9810149252610267E-2"/>
                </c:manualLayout>
              </c:layout>
              <c:tx>
                <c:rich>
                  <a:bodyPr/>
                  <a:lstStyle/>
                  <a:p>
                    <a:fld id="{A56547F3-CB6C-FF43-A295-4270E8CA7CF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B-6632-7244-B13C-D2B0CF17594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2E24BCA5-D219-A540-A5EE-2648FC2DD60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6632-7244-B13C-D2B0CF175948}"/>
                </c:ext>
              </c:extLst>
            </c:dLbl>
            <c:dLbl>
              <c:idx val="12"/>
              <c:layout>
                <c:manualLayout>
                  <c:x val="-5.0677933750240288E-2"/>
                  <c:y val="-2.9810149252610375E-2"/>
                </c:manualLayout>
              </c:layout>
              <c:tx>
                <c:rich>
                  <a:bodyPr/>
                  <a:lstStyle/>
                  <a:p>
                    <a:fld id="{57A7F2A5-CE9D-A74D-B561-1384FA25028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D-6632-7244-B13C-D2B0CF17594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6632-7244-B13C-D2B0CF175948}"/>
                </c:ext>
              </c:extLst>
            </c:dLbl>
            <c:dLbl>
              <c:idx val="14"/>
              <c:layout>
                <c:manualLayout>
                  <c:x val="-2.1960437958437443E-2"/>
                  <c:y val="2.6829134327349239E-2"/>
                </c:manualLayout>
              </c:layout>
              <c:tx>
                <c:rich>
                  <a:bodyPr/>
                  <a:lstStyle/>
                  <a:p>
                    <a:fld id="{6ED0DBD9-0AFE-3649-9E09-3B76CF771C6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F-6632-7244-B13C-D2B0CF175948}"/>
                </c:ext>
              </c:extLst>
            </c:dLbl>
            <c:dLbl>
              <c:idx val="15"/>
              <c:layout>
                <c:manualLayout>
                  <c:x val="0"/>
                  <c:y val="-1.1924059701044216E-2"/>
                </c:manualLayout>
              </c:layout>
              <c:tx>
                <c:rich>
                  <a:bodyPr/>
                  <a:lstStyle/>
                  <a:p>
                    <a:fld id="{2911E635-A281-6943-A32A-49E271007C6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0-6632-7244-B13C-D2B0CF175948}"/>
                </c:ext>
              </c:extLst>
            </c:dLbl>
            <c:dLbl>
              <c:idx val="16"/>
              <c:layout>
                <c:manualLayout>
                  <c:x val="-8.3383157767325678E-3"/>
                  <c:y val="-2.0716880102640802E-2"/>
                </c:manualLayout>
              </c:layout>
              <c:tx>
                <c:rich>
                  <a:bodyPr/>
                  <a:lstStyle/>
                  <a:p>
                    <a:fld id="{610BAA7E-20AD-F641-BF70-10087011A3C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1-6632-7244-B13C-D2B0CF175948}"/>
                </c:ext>
              </c:extLst>
            </c:dLbl>
            <c:dLbl>
              <c:idx val="17"/>
              <c:layout>
                <c:manualLayout>
                  <c:x val="-0.11824851208389393"/>
                  <c:y val="0"/>
                </c:manualLayout>
              </c:layout>
              <c:tx>
                <c:rich>
                  <a:bodyPr/>
                  <a:lstStyle/>
                  <a:p>
                    <a:fld id="{747EE2AB-F0B4-174B-9CDE-7F67FEF989D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2-6632-7244-B13C-D2B0CF175948}"/>
                </c:ext>
              </c:extLst>
            </c:dLbl>
            <c:dLbl>
              <c:idx val="18"/>
              <c:layout>
                <c:manualLayout>
                  <c:x val="-0.13683042112564869"/>
                  <c:y val="-2.9810149252610375E-2"/>
                </c:manualLayout>
              </c:layout>
              <c:tx>
                <c:rich>
                  <a:bodyPr/>
                  <a:lstStyle/>
                  <a:p>
                    <a:fld id="{B02FB482-3D12-114A-A993-41BB668568D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3-6632-7244-B13C-D2B0CF175948}"/>
                </c:ext>
              </c:extLst>
            </c:dLbl>
            <c:dLbl>
              <c:idx val="19"/>
              <c:layout>
                <c:manualLayout>
                  <c:x val="-2.702823133346147E-2"/>
                  <c:y val="-2.6829134327349239E-2"/>
                </c:manualLayout>
              </c:layout>
              <c:tx>
                <c:rich>
                  <a:bodyPr/>
                  <a:lstStyle/>
                  <a:p>
                    <a:fld id="{49FC2E90-18AB-4D46-B22B-ED56D2DEC58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4-6632-7244-B13C-D2B0CF17594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6632-7244-B13C-D2B0CF17594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6632-7244-B13C-D2B0CF17594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6632-7244-B13C-D2B0CF175948}"/>
                </c:ext>
              </c:extLst>
            </c:dLbl>
            <c:dLbl>
              <c:idx val="25"/>
              <c:layout>
                <c:manualLayout>
                  <c:x val="-5.4008445996006044E-2"/>
                  <c:y val="3.2640941928329545E-2"/>
                </c:manualLayout>
              </c:layout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48-6632-7244-B13C-D2B0CF1759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Sheet1!$F$2:$F$29</c:f>
              <c:numCache>
                <c:formatCode>0.0%</c:formatCode>
                <c:ptCount val="23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0.33942919613279199</c:v>
                </c:pt>
                <c:pt idx="11">
                  <c:v>0.40004036205398502</c:v>
                </c:pt>
                <c:pt idx="12">
                  <c:v>6.4442015134589498E-2</c:v>
                </c:pt>
                <c:pt idx="13">
                  <c:v>#N/A</c:v>
                </c:pt>
                <c:pt idx="14">
                  <c:v>0.434164729573422</c:v>
                </c:pt>
                <c:pt idx="15">
                  <c:v>0.46072914500845302</c:v>
                </c:pt>
                <c:pt idx="16">
                  <c:v>0.46336217430964899</c:v>
                </c:pt>
                <c:pt idx="17">
                  <c:v>0.24213339009756599</c:v>
                </c:pt>
                <c:pt idx="18">
                  <c:v>0.17135998659937901</c:v>
                </c:pt>
                <c:pt idx="19">
                  <c:v>0.241329373363662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</c:numCache>
            </c:numRef>
          </c:xVal>
          <c:yVal>
            <c:numRef>
              <c:f>Sheet1!$C$2:$C$29</c:f>
              <c:numCache>
                <c:formatCode>0%</c:formatCode>
                <c:ptCount val="23"/>
                <c:pt idx="0">
                  <c:v>3.2110810353131201E-2</c:v>
                </c:pt>
                <c:pt idx="1">
                  <c:v>4.2238342638410503E-2</c:v>
                </c:pt>
                <c:pt idx="2">
                  <c:v>8.2058406335332804E-2</c:v>
                </c:pt>
                <c:pt idx="3">
                  <c:v>0.14950308831877701</c:v>
                </c:pt>
                <c:pt idx="4">
                  <c:v>0.14474187855499701</c:v>
                </c:pt>
                <c:pt idx="5">
                  <c:v>0.192237867976849</c:v>
                </c:pt>
                <c:pt idx="6">
                  <c:v>0.182085912415376</c:v>
                </c:pt>
                <c:pt idx="7">
                  <c:v>0.201626510653036</c:v>
                </c:pt>
                <c:pt idx="8">
                  <c:v>0.232770455211537</c:v>
                </c:pt>
                <c:pt idx="9">
                  <c:v>0.13562199119584201</c:v>
                </c:pt>
                <c:pt idx="10">
                  <c:v>6.1838706545769902E-2</c:v>
                </c:pt>
                <c:pt idx="11">
                  <c:v>8.8325647168886703E-2</c:v>
                </c:pt>
                <c:pt idx="12">
                  <c:v>7.3138510600272905E-2</c:v>
                </c:pt>
                <c:pt idx="13">
                  <c:v>0.35654736283202199</c:v>
                </c:pt>
                <c:pt idx="14">
                  <c:v>0.13777198464128801</c:v>
                </c:pt>
                <c:pt idx="15">
                  <c:v>0.15640735725123101</c:v>
                </c:pt>
                <c:pt idx="16">
                  <c:v>0.167252179960899</c:v>
                </c:pt>
                <c:pt idx="17">
                  <c:v>0.113600285320638</c:v>
                </c:pt>
                <c:pt idx="18">
                  <c:v>0.14474239435031699</c:v>
                </c:pt>
                <c:pt idx="19">
                  <c:v>0.14614645332248</c:v>
                </c:pt>
                <c:pt idx="20">
                  <c:v>0.122019620848281</c:v>
                </c:pt>
                <c:pt idx="21">
                  <c:v>4.6212231292721499E-2</c:v>
                </c:pt>
                <c:pt idx="22" formatCode="0.0%">
                  <c:v>7.4615293576842906E-2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Sheet1!$A$2:$A$29</c15:f>
                <c15:dlblRangeCache>
                  <c:ptCount val="23"/>
                  <c:pt idx="0">
                    <c:v>US Treasury Bonds</c:v>
                  </c:pt>
                  <c:pt idx="1">
                    <c:v>US Corporate Credit</c:v>
                  </c:pt>
                  <c:pt idx="2">
                    <c:v>US Corporate High Yield</c:v>
                  </c:pt>
                  <c:pt idx="3">
                    <c:v>Global Equity</c:v>
                  </c:pt>
                  <c:pt idx="4">
                    <c:v>US Large Cap</c:v>
                  </c:pt>
                  <c:pt idx="5">
                    <c:v>US Small Caps</c:v>
                  </c:pt>
                  <c:pt idx="6">
                    <c:v>European</c:v>
                  </c:pt>
                  <c:pt idx="7">
                    <c:v>Japan</c:v>
                  </c:pt>
                  <c:pt idx="8">
                    <c:v>Emerging Markets</c:v>
                  </c:pt>
                  <c:pt idx="9">
                    <c:v>Global REITs</c:v>
                  </c:pt>
                  <c:pt idx="10">
                    <c:v>Event Driven</c:v>
                  </c:pt>
                  <c:pt idx="11">
                    <c:v>Equity Long/Short</c:v>
                  </c:pt>
                  <c:pt idx="12">
                    <c:v>Tactical Trading</c:v>
                  </c:pt>
                  <c:pt idx="13">
                    <c:v>Intel Stock Proxy</c:v>
                  </c:pt>
                  <c:pt idx="14">
                    <c:v>Buyout</c:v>
                  </c:pt>
                  <c:pt idx="15">
                    <c:v>Growth</c:v>
                  </c:pt>
                  <c:pt idx="16">
                    <c:v>Venture</c:v>
                  </c:pt>
                  <c:pt idx="17">
                    <c:v>Private Credit</c:v>
                  </c:pt>
                  <c:pt idx="18">
                    <c:v>Private Real Estate</c:v>
                  </c:pt>
                  <c:pt idx="19">
                    <c:v>Infrastructure</c:v>
                  </c:pt>
                  <c:pt idx="20">
                    <c:v>Emerging Markets</c:v>
                  </c:pt>
                  <c:pt idx="21">
                    <c:v>US Inflation Protected</c:v>
                  </c:pt>
                  <c:pt idx="22">
                    <c:v>Moderate Portfolio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49-6632-7244-B13C-D2B0CF175948}"/>
            </c:ext>
          </c:extLst>
        </c:ser>
        <c:ser>
          <c:idx val="3"/>
          <c:order val="3"/>
          <c:tx>
            <c:v>Diversified Portfolio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FF00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Pt>
            <c:idx val="27"/>
            <c:marker>
              <c:symbol val="circle"/>
              <c:size val="5"/>
              <c:spPr>
                <a:solidFill>
                  <a:srgbClr val="FFFF00"/>
                </a:solidFill>
                <a:ln w="9525">
                  <a:solidFill>
                    <a:schemeClr val="tx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A-6632-7244-B13C-D2B0CF17594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6632-7244-B13C-D2B0CF1759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6632-7244-B13C-D2B0CF1759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6632-7244-B13C-D2B0CF1759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6632-7244-B13C-D2B0CF1759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6632-7244-B13C-D2B0CF17594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0-6632-7244-B13C-D2B0CF17594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6632-7244-B13C-D2B0CF17594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6632-7244-B13C-D2B0CF17594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6632-7244-B13C-D2B0CF17594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4-6632-7244-B13C-D2B0CF17594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6632-7244-B13C-D2B0CF17594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6-6632-7244-B13C-D2B0CF17594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6632-7244-B13C-D2B0CF17594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8-6632-7244-B13C-D2B0CF17594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6632-7244-B13C-D2B0CF17594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A-6632-7244-B13C-D2B0CF17594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6632-7244-B13C-D2B0CF17594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C-6632-7244-B13C-D2B0CF17594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6632-7244-B13C-D2B0CF17594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E-6632-7244-B13C-D2B0CF17594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6632-7244-B13C-D2B0CF17594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0-6632-7244-B13C-D2B0CF17594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fld id="{967DDB61-B8FF-2A46-96B7-EA9E4B8EC67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1-6632-7244-B13C-D2B0CF1759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Sheet1!$G$2:$G$29</c:f>
              <c:numCache>
                <c:formatCode>0.0%</c:formatCode>
                <c:ptCount val="23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0.48673978777768101</c:v>
                </c:pt>
              </c:numCache>
            </c:numRef>
          </c:xVal>
          <c:yVal>
            <c:numRef>
              <c:f>Sheet1!$C$2:$C$29</c:f>
              <c:numCache>
                <c:formatCode>0%</c:formatCode>
                <c:ptCount val="23"/>
                <c:pt idx="0">
                  <c:v>3.2110810353131201E-2</c:v>
                </c:pt>
                <c:pt idx="1">
                  <c:v>4.2238342638410503E-2</c:v>
                </c:pt>
                <c:pt idx="2">
                  <c:v>8.2058406335332804E-2</c:v>
                </c:pt>
                <c:pt idx="3">
                  <c:v>0.14950308831877701</c:v>
                </c:pt>
                <c:pt idx="4">
                  <c:v>0.14474187855499701</c:v>
                </c:pt>
                <c:pt idx="5">
                  <c:v>0.192237867976849</c:v>
                </c:pt>
                <c:pt idx="6">
                  <c:v>0.182085912415376</c:v>
                </c:pt>
                <c:pt idx="7">
                  <c:v>0.201626510653036</c:v>
                </c:pt>
                <c:pt idx="8">
                  <c:v>0.232770455211537</c:v>
                </c:pt>
                <c:pt idx="9">
                  <c:v>0.13562199119584201</c:v>
                </c:pt>
                <c:pt idx="10">
                  <c:v>6.1838706545769902E-2</c:v>
                </c:pt>
                <c:pt idx="11">
                  <c:v>8.8325647168886703E-2</c:v>
                </c:pt>
                <c:pt idx="12">
                  <c:v>7.3138510600272905E-2</c:v>
                </c:pt>
                <c:pt idx="13">
                  <c:v>0.35654736283202199</c:v>
                </c:pt>
                <c:pt idx="14">
                  <c:v>0.13777198464128801</c:v>
                </c:pt>
                <c:pt idx="15">
                  <c:v>0.15640735725123101</c:v>
                </c:pt>
                <c:pt idx="16">
                  <c:v>0.167252179960899</c:v>
                </c:pt>
                <c:pt idx="17">
                  <c:v>0.113600285320638</c:v>
                </c:pt>
                <c:pt idx="18">
                  <c:v>0.14474239435031699</c:v>
                </c:pt>
                <c:pt idx="19">
                  <c:v>0.14614645332248</c:v>
                </c:pt>
                <c:pt idx="20">
                  <c:v>0.122019620848281</c:v>
                </c:pt>
                <c:pt idx="21">
                  <c:v>4.6212231292721499E-2</c:v>
                </c:pt>
                <c:pt idx="22" formatCode="0.0%">
                  <c:v>7.4615293576842906E-2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Sheet1!$A$2:$A$29</c15:f>
                <c15:dlblRangeCache>
                  <c:ptCount val="23"/>
                  <c:pt idx="0">
                    <c:v>US Treasury Bonds</c:v>
                  </c:pt>
                  <c:pt idx="1">
                    <c:v>US Corporate Credit</c:v>
                  </c:pt>
                  <c:pt idx="2">
                    <c:v>US Corporate High Yield</c:v>
                  </c:pt>
                  <c:pt idx="3">
                    <c:v>Global Equity</c:v>
                  </c:pt>
                  <c:pt idx="4">
                    <c:v>US Large Cap</c:v>
                  </c:pt>
                  <c:pt idx="5">
                    <c:v>US Small Caps</c:v>
                  </c:pt>
                  <c:pt idx="6">
                    <c:v>European</c:v>
                  </c:pt>
                  <c:pt idx="7">
                    <c:v>Japan</c:v>
                  </c:pt>
                  <c:pt idx="8">
                    <c:v>Emerging Markets</c:v>
                  </c:pt>
                  <c:pt idx="9">
                    <c:v>Global REITs</c:v>
                  </c:pt>
                  <c:pt idx="10">
                    <c:v>Event Driven</c:v>
                  </c:pt>
                  <c:pt idx="11">
                    <c:v>Equity Long/Short</c:v>
                  </c:pt>
                  <c:pt idx="12">
                    <c:v>Tactical Trading</c:v>
                  </c:pt>
                  <c:pt idx="13">
                    <c:v>Intel Stock Proxy</c:v>
                  </c:pt>
                  <c:pt idx="14">
                    <c:v>Buyout</c:v>
                  </c:pt>
                  <c:pt idx="15">
                    <c:v>Growth</c:v>
                  </c:pt>
                  <c:pt idx="16">
                    <c:v>Venture</c:v>
                  </c:pt>
                  <c:pt idx="17">
                    <c:v>Private Credit</c:v>
                  </c:pt>
                  <c:pt idx="18">
                    <c:v>Private Real Estate</c:v>
                  </c:pt>
                  <c:pt idx="19">
                    <c:v>Infrastructure</c:v>
                  </c:pt>
                  <c:pt idx="20">
                    <c:v>Emerging Markets</c:v>
                  </c:pt>
                  <c:pt idx="21">
                    <c:v>US Inflation Protected</c:v>
                  </c:pt>
                  <c:pt idx="22">
                    <c:v>Moderate Portfolio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62-6632-7244-B13C-D2B0CF175948}"/>
            </c:ext>
          </c:extLst>
        </c:ser>
        <c:ser>
          <c:idx val="4"/>
          <c:order val="4"/>
          <c:tx>
            <c:v>Intel Stock Proxy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6632-7244-B13C-D2B0CF1759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6632-7244-B13C-D2B0CF1759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6632-7244-B13C-D2B0CF1759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6632-7244-B13C-D2B0CF1759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6632-7244-B13C-D2B0CF17594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6632-7244-B13C-D2B0CF17594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6632-7244-B13C-D2B0CF17594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6632-7244-B13C-D2B0CF17594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6632-7244-B13C-D2B0CF17594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6632-7244-B13C-D2B0CF17594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6632-7244-B13C-D2B0CF17594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6632-7244-B13C-D2B0CF17594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6632-7244-B13C-D2B0CF175948}"/>
                </c:ext>
              </c:extLst>
            </c:dLbl>
            <c:dLbl>
              <c:idx val="13"/>
              <c:layout>
                <c:manualLayout>
                  <c:x val="-4.3920875916875012E-2"/>
                  <c:y val="-2.3848119402088214E-2"/>
                </c:manualLayout>
              </c:layout>
              <c:tx>
                <c:rich>
                  <a:bodyPr/>
                  <a:lstStyle/>
                  <a:p>
                    <a:fld id="{D199EFFD-75BB-144D-B8F5-19047968359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0-6632-7244-B13C-D2B0CF17594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6632-7244-B13C-D2B0CF17594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6632-7244-B13C-D2B0CF17594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6632-7244-B13C-D2B0CF175948}"/>
                </c:ext>
              </c:extLst>
            </c:dLbl>
            <c:dLbl>
              <c:idx val="17"/>
              <c:layout>
                <c:manualLayout>
                  <c:x val="-3.2067514810128671E-2"/>
                  <c:y val="-3.5608300285450541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74-6632-7244-B13C-D2B0CF17594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5-6632-7244-B13C-D2B0CF17594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6632-7244-B13C-D2B0CF17594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7-6632-7244-B13C-D2B0CF17594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6632-7244-B13C-D2B0CF17594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6632-7244-B13C-D2B0CF1759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Sheet1!$H$2:$H$29</c:f>
              <c:numCache>
                <c:formatCode>0.0%</c:formatCode>
                <c:ptCount val="23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1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</c:numCache>
            </c:numRef>
          </c:xVal>
          <c:yVal>
            <c:numRef>
              <c:f>Sheet1!$C$2:$C$29</c:f>
              <c:numCache>
                <c:formatCode>0%</c:formatCode>
                <c:ptCount val="23"/>
                <c:pt idx="0">
                  <c:v>3.2110810353131201E-2</c:v>
                </c:pt>
                <c:pt idx="1">
                  <c:v>4.2238342638410503E-2</c:v>
                </c:pt>
                <c:pt idx="2">
                  <c:v>8.2058406335332804E-2</c:v>
                </c:pt>
                <c:pt idx="3">
                  <c:v>0.14950308831877701</c:v>
                </c:pt>
                <c:pt idx="4">
                  <c:v>0.14474187855499701</c:v>
                </c:pt>
                <c:pt idx="5">
                  <c:v>0.192237867976849</c:v>
                </c:pt>
                <c:pt idx="6">
                  <c:v>0.182085912415376</c:v>
                </c:pt>
                <c:pt idx="7">
                  <c:v>0.201626510653036</c:v>
                </c:pt>
                <c:pt idx="8">
                  <c:v>0.232770455211537</c:v>
                </c:pt>
                <c:pt idx="9">
                  <c:v>0.13562199119584201</c:v>
                </c:pt>
                <c:pt idx="10">
                  <c:v>6.1838706545769902E-2</c:v>
                </c:pt>
                <c:pt idx="11">
                  <c:v>8.8325647168886703E-2</c:v>
                </c:pt>
                <c:pt idx="12">
                  <c:v>7.3138510600272905E-2</c:v>
                </c:pt>
                <c:pt idx="13">
                  <c:v>0.35654736283202199</c:v>
                </c:pt>
                <c:pt idx="14">
                  <c:v>0.13777198464128801</c:v>
                </c:pt>
                <c:pt idx="15">
                  <c:v>0.15640735725123101</c:v>
                </c:pt>
                <c:pt idx="16">
                  <c:v>0.167252179960899</c:v>
                </c:pt>
                <c:pt idx="17">
                  <c:v>0.113600285320638</c:v>
                </c:pt>
                <c:pt idx="18">
                  <c:v>0.14474239435031699</c:v>
                </c:pt>
                <c:pt idx="19">
                  <c:v>0.14614645332248</c:v>
                </c:pt>
                <c:pt idx="20">
                  <c:v>0.122019620848281</c:v>
                </c:pt>
                <c:pt idx="21">
                  <c:v>4.6212231292721499E-2</c:v>
                </c:pt>
                <c:pt idx="22" formatCode="0.0%">
                  <c:v>7.4615293576842906E-2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Sheet1!$A$2:$A$29</c15:f>
                <c15:dlblRangeCache>
                  <c:ptCount val="23"/>
                  <c:pt idx="0">
                    <c:v>US Treasury Bonds</c:v>
                  </c:pt>
                  <c:pt idx="1">
                    <c:v>US Corporate Credit</c:v>
                  </c:pt>
                  <c:pt idx="2">
                    <c:v>US Corporate High Yield</c:v>
                  </c:pt>
                  <c:pt idx="3">
                    <c:v>Global Equity</c:v>
                  </c:pt>
                  <c:pt idx="4">
                    <c:v>US Large Cap</c:v>
                  </c:pt>
                  <c:pt idx="5">
                    <c:v>US Small Caps</c:v>
                  </c:pt>
                  <c:pt idx="6">
                    <c:v>European</c:v>
                  </c:pt>
                  <c:pt idx="7">
                    <c:v>Japan</c:v>
                  </c:pt>
                  <c:pt idx="8">
                    <c:v>Emerging Markets</c:v>
                  </c:pt>
                  <c:pt idx="9">
                    <c:v>Global REITs</c:v>
                  </c:pt>
                  <c:pt idx="10">
                    <c:v>Event Driven</c:v>
                  </c:pt>
                  <c:pt idx="11">
                    <c:v>Equity Long/Short</c:v>
                  </c:pt>
                  <c:pt idx="12">
                    <c:v>Tactical Trading</c:v>
                  </c:pt>
                  <c:pt idx="13">
                    <c:v>Intel Stock Proxy</c:v>
                  </c:pt>
                  <c:pt idx="14">
                    <c:v>Buyout</c:v>
                  </c:pt>
                  <c:pt idx="15">
                    <c:v>Growth</c:v>
                  </c:pt>
                  <c:pt idx="16">
                    <c:v>Venture</c:v>
                  </c:pt>
                  <c:pt idx="17">
                    <c:v>Private Credit</c:v>
                  </c:pt>
                  <c:pt idx="18">
                    <c:v>Private Real Estate</c:v>
                  </c:pt>
                  <c:pt idx="19">
                    <c:v>Infrastructure</c:v>
                  </c:pt>
                  <c:pt idx="20">
                    <c:v>Emerging Markets</c:v>
                  </c:pt>
                  <c:pt idx="21">
                    <c:v>US Inflation Protected</c:v>
                  </c:pt>
                  <c:pt idx="22">
                    <c:v>Moderate Portfolio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7A-6632-7244-B13C-D2B0CF175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9537760"/>
        <c:axId val="929539472"/>
      </c:scatterChart>
      <c:valAx>
        <c:axId val="92953776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GB"/>
                  <a:t>Correlation to Intel Stock Proxy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929539472"/>
        <c:crosses val="autoZero"/>
        <c:crossBetween val="midCat"/>
      </c:valAx>
      <c:valAx>
        <c:axId val="92953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GB"/>
                  <a:t>Volatility (% Annualized)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92953776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portfolios!$A$39</c:f>
              <c:strCache>
                <c:ptCount val="1"/>
                <c:pt idx="0">
                  <c:v>Sharpe Ratio (LHS)</c:v>
                </c:pt>
              </c:strCache>
            </c:strRef>
          </c:tx>
          <c:spPr>
            <a:solidFill>
              <a:schemeClr val="tx2">
                <a:lumMod val="5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cat>
            <c:strRef>
              <c:f>portfolios!$B$37:$H$37</c:f>
              <c:strCache>
                <c:ptCount val="7"/>
                <c:pt idx="0">
                  <c:v>Current Portfolio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Stage 4</c:v>
                </c:pt>
                <c:pt idx="5">
                  <c:v>Stage 5</c:v>
                </c:pt>
                <c:pt idx="6">
                  <c:v>Diversified Portfolio</c:v>
                </c:pt>
              </c:strCache>
            </c:strRef>
          </c:cat>
          <c:val>
            <c:numRef>
              <c:f>portfolios!$B$39:$H$39</c:f>
              <c:numCache>
                <c:formatCode>0.00</c:formatCode>
                <c:ptCount val="7"/>
                <c:pt idx="0">
                  <c:v>0.16346605152076499</c:v>
                </c:pt>
                <c:pt idx="1">
                  <c:v>0.17777472875906619</c:v>
                </c:pt>
                <c:pt idx="2">
                  <c:v>0.20544213007950371</c:v>
                </c:pt>
                <c:pt idx="3">
                  <c:v>0.25546214852690152</c:v>
                </c:pt>
                <c:pt idx="4">
                  <c:v>0.32069113754206768</c:v>
                </c:pt>
                <c:pt idx="5">
                  <c:v>0.40029898869580433</c:v>
                </c:pt>
                <c:pt idx="6">
                  <c:v>0.46413636396119312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FB-AD4D-9EC0-1C5719E73EDC}"/>
            </c:ext>
          </c:extLst>
        </c:ser>
        <c:ser>
          <c:idx val="2"/>
          <c:order val="2"/>
          <c:tx>
            <c:strRef>
              <c:f>portfolios!$A$40</c:f>
              <c:strCache>
                <c:ptCount val="1"/>
                <c:pt idx="0">
                  <c:v>Implied Return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Lbls>
            <c:dLbl>
              <c:idx val="5"/>
              <c:layout>
                <c:manualLayout>
                  <c:x val="1.5590783907070088E-3"/>
                  <c:y val="-2.66715949613788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792-F14F-A747-68D1438D84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portfolios!$B$37:$H$37</c:f>
              <c:strCache>
                <c:ptCount val="7"/>
                <c:pt idx="0">
                  <c:v>Current Portfolio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Stage 4</c:v>
                </c:pt>
                <c:pt idx="5">
                  <c:v>Stage 5</c:v>
                </c:pt>
                <c:pt idx="6">
                  <c:v>Diversified Portfolio</c:v>
                </c:pt>
              </c:strCache>
            </c:strRef>
          </c:cat>
          <c:val>
            <c:numRef>
              <c:f>portfolios!$B$40:$H$40</c:f>
              <c:numCache>
                <c:formatCode>0%</c:formatCode>
                <c:ptCount val="7"/>
                <c:pt idx="0">
                  <c:v>0.49764320248685601</c:v>
                </c:pt>
                <c:pt idx="1">
                  <c:v>0.418509439515031</c:v>
                </c:pt>
                <c:pt idx="2">
                  <c:v>0.33882667672427502</c:v>
                </c:pt>
                <c:pt idx="3">
                  <c:v>0.273768522510416</c:v>
                </c:pt>
                <c:pt idx="4">
                  <c:v>0.20936198530427899</c:v>
                </c:pt>
                <c:pt idx="5">
                  <c:v>0.14495544809814201</c:v>
                </c:pt>
                <c:pt idx="6">
                  <c:v>8.0548910892004999E-2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FB-AD4D-9EC0-1C5719E73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66199712"/>
        <c:axId val="1566186688"/>
      </c:barChart>
      <c:lineChart>
        <c:grouping val="standard"/>
        <c:varyColors val="0"/>
        <c:ser>
          <c:idx val="0"/>
          <c:order val="0"/>
          <c:tx>
            <c:strRef>
              <c:f>portfolios!$A$38</c:f>
              <c:strCache>
                <c:ptCount val="1"/>
                <c:pt idx="0">
                  <c:v>Volatility (RHS)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sysDot"/>
              <a:round/>
            </a:ln>
            <a:effectLst/>
          </c:spPr>
          <c:marker>
            <c:symbol val="none"/>
          </c:marker>
          <c:cat>
            <c:strRef>
              <c:f>portfolios!$B$37:$H$37</c:f>
              <c:strCache>
                <c:ptCount val="7"/>
                <c:pt idx="0">
                  <c:v>Current Portfolio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Stage 4</c:v>
                </c:pt>
                <c:pt idx="5">
                  <c:v>Stage 5</c:v>
                </c:pt>
                <c:pt idx="6">
                  <c:v>Diversified Portfolio</c:v>
                </c:pt>
              </c:strCache>
            </c:strRef>
          </c:cat>
          <c:val>
            <c:numRef>
              <c:f>portfolios!$B$38:$H$38</c:f>
              <c:numCache>
                <c:formatCode>0.0%</c:formatCode>
                <c:ptCount val="7"/>
                <c:pt idx="0">
                  <c:v>0.22530577018721809</c:v>
                </c:pt>
                <c:pt idx="1">
                  <c:v>0.1899614796197118</c:v>
                </c:pt>
                <c:pt idx="2">
                  <c:v>0.15456215722214331</c:v>
                </c:pt>
                <c:pt idx="3">
                  <c:v>0.12763851286607961</c:v>
                </c:pt>
                <c:pt idx="4">
                  <c:v>0.10378136139028769</c:v>
                </c:pt>
                <c:pt idx="5">
                  <c:v>8.4828385549804028E-2</c:v>
                </c:pt>
                <c:pt idx="6">
                  <c:v>7.4615293576842989E-2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1FB-AD4D-9EC0-1C5719E73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41053344"/>
        <c:axId val="1566571584"/>
      </c:lineChart>
      <c:catAx>
        <c:axId val="1566199712"/>
        <c:scaling>
          <c:orientation val="minMax"/>
        </c:scaling>
        <c:delete val="0"/>
        <c:axPos val="b"/>
        <c:numFmt formatCode="General" sourceLinked="1"/>
        <c:majorTickMark val="none"/>
        <c:minorTickMark val="cross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66186688"/>
        <c:crosses val="autoZero"/>
        <c:auto val="1"/>
        <c:lblAlgn val="ctr"/>
        <c:lblOffset val="100"/>
        <c:noMultiLvlLbl val="0"/>
      </c:catAx>
      <c:valAx>
        <c:axId val="1566186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66199712"/>
        <c:crosses val="autoZero"/>
        <c:crossBetween val="between"/>
      </c:valAx>
      <c:valAx>
        <c:axId val="1566571584"/>
        <c:scaling>
          <c:orientation val="minMax"/>
          <c:max val="0.3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241053344"/>
        <c:crosses val="max"/>
        <c:crossBetween val="between"/>
      </c:valAx>
      <c:catAx>
        <c:axId val="12410533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66571584"/>
        <c:crosses val="autoZero"/>
        <c:auto val="1"/>
        <c:lblAlgn val="ctr"/>
        <c:lblOffset val="100"/>
        <c:noMultiLvlLbl val="0"/>
      </c:catAx>
      <c:spPr>
        <a:noFill/>
        <a:ln w="6350">
          <a:solidFill>
            <a:schemeClr val="bg1">
              <a:lumMod val="65000"/>
            </a:schemeClr>
          </a:solidFill>
        </a:ln>
        <a:effectLst/>
      </c:spPr>
    </c:plotArea>
    <c:legend>
      <c:legendPos val="t"/>
      <c:overlay val="0"/>
      <c:spPr>
        <a:noFill/>
        <a:ln w="6350">
          <a:solidFill>
            <a:schemeClr val="bg1">
              <a:lumMod val="6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195317551866062"/>
          <c:y val="0.11170420484357765"/>
          <c:w val="0.81728896369910176"/>
          <c:h val="0.74616136396210386"/>
        </c:manualLayout>
      </c:layout>
      <c:lineChart>
        <c:grouping val="standard"/>
        <c:varyColors val="0"/>
        <c:ser>
          <c:idx val="0"/>
          <c:order val="0"/>
          <c:tx>
            <c:strRef>
              <c:f>ws_Current_Portfolio_X_SS!$B$2</c:f>
              <c:strCache>
                <c:ptCount val="1"/>
                <c:pt idx="0">
                  <c:v>1st %ile</c:v>
                </c:pt>
              </c:strCache>
            </c:strRef>
          </c:tx>
          <c:spPr>
            <a:ln w="22225">
              <a:solidFill>
                <a:srgbClr val="C00000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0E3-7D42-B961-4E40C84E3CB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ws_Current_Portfolio_X_SS!$A$3:$A$23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ws_Current_Portfolio_X_SS!$B$3:$B$23</c:f>
              <c:numCache>
                <c:formatCode>General</c:formatCode>
                <c:ptCount val="21"/>
                <c:pt idx="0">
                  <c:v>100</c:v>
                </c:pt>
                <c:pt idx="1">
                  <c:v>61.818528838662601</c:v>
                </c:pt>
                <c:pt idx="2">
                  <c:v>55.200758171759503</c:v>
                </c:pt>
                <c:pt idx="3">
                  <c:v>54.046708671563898</c:v>
                </c:pt>
                <c:pt idx="4">
                  <c:v>53.151987354922397</c:v>
                </c:pt>
                <c:pt idx="5">
                  <c:v>54.350204240926701</c:v>
                </c:pt>
                <c:pt idx="6">
                  <c:v>56.231422513518801</c:v>
                </c:pt>
                <c:pt idx="7">
                  <c:v>58.433784948301302</c:v>
                </c:pt>
                <c:pt idx="8">
                  <c:v>60.294843373492697</c:v>
                </c:pt>
                <c:pt idx="9">
                  <c:v>62.923042156022198</c:v>
                </c:pt>
                <c:pt idx="10">
                  <c:v>63.799650682808903</c:v>
                </c:pt>
                <c:pt idx="11">
                  <c:v>66.629744601300402</c:v>
                </c:pt>
                <c:pt idx="12">
                  <c:v>68.3061196459347</c:v>
                </c:pt>
                <c:pt idx="13">
                  <c:v>70.223431904647398</c:v>
                </c:pt>
                <c:pt idx="14">
                  <c:v>72.849162870555404</c:v>
                </c:pt>
                <c:pt idx="15">
                  <c:v>74.716550443194507</c:v>
                </c:pt>
                <c:pt idx="16">
                  <c:v>77.288988100974507</c:v>
                </c:pt>
                <c:pt idx="17">
                  <c:v>80.252617127606896</c:v>
                </c:pt>
                <c:pt idx="18">
                  <c:v>82.508864961329195</c:v>
                </c:pt>
                <c:pt idx="19">
                  <c:v>85.728216730682107</c:v>
                </c:pt>
                <c:pt idx="20">
                  <c:v>88.296331281356998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E3-7D42-B961-4E40C84E3CBC}"/>
            </c:ext>
          </c:extLst>
        </c:ser>
        <c:ser>
          <c:idx val="2"/>
          <c:order val="1"/>
          <c:tx>
            <c:strRef>
              <c:f>ws_Current_Portfolio_X_SS!$D$2</c:f>
              <c:strCache>
                <c:ptCount val="1"/>
                <c:pt idx="0">
                  <c:v>50th %ile</c:v>
                </c:pt>
              </c:strCache>
            </c:strRef>
          </c:tx>
          <c:spPr>
            <a:ln w="22225">
              <a:solidFill>
                <a:schemeClr val="accent1">
                  <a:lumMod val="50000"/>
                </a:schemeClr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0E3-7D42-B961-4E40C84E3CB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ws_Current_Portfolio_X_SS!$A$3:$A$23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ws_Current_Portfolio_X_SS!$D$3:$D$23</c:f>
              <c:numCache>
                <c:formatCode>General</c:formatCode>
                <c:ptCount val="21"/>
                <c:pt idx="0">
                  <c:v>100</c:v>
                </c:pt>
                <c:pt idx="1">
                  <c:v>103.956799090877</c:v>
                </c:pt>
                <c:pt idx="2">
                  <c:v>107.91924850371601</c:v>
                </c:pt>
                <c:pt idx="3">
                  <c:v>113.212512555678</c:v>
                </c:pt>
                <c:pt idx="4">
                  <c:v>120.350523357786</c:v>
                </c:pt>
                <c:pt idx="5">
                  <c:v>128.57281589263701</c:v>
                </c:pt>
                <c:pt idx="6">
                  <c:v>136.769381145675</c:v>
                </c:pt>
                <c:pt idx="7">
                  <c:v>145.95674727191499</c:v>
                </c:pt>
                <c:pt idx="8">
                  <c:v>155.52578084270499</c:v>
                </c:pt>
                <c:pt idx="9">
                  <c:v>164.87606578687399</c:v>
                </c:pt>
                <c:pt idx="10">
                  <c:v>174.45705060933199</c:v>
                </c:pt>
                <c:pt idx="11">
                  <c:v>184.80230439486701</c:v>
                </c:pt>
                <c:pt idx="12">
                  <c:v>195.66847941514001</c:v>
                </c:pt>
                <c:pt idx="13">
                  <c:v>206.978184522188</c:v>
                </c:pt>
                <c:pt idx="14">
                  <c:v>219.70895429414301</c:v>
                </c:pt>
                <c:pt idx="15">
                  <c:v>232.014203418383</c:v>
                </c:pt>
                <c:pt idx="16">
                  <c:v>245.701689701503</c:v>
                </c:pt>
                <c:pt idx="17">
                  <c:v>258.44136710227798</c:v>
                </c:pt>
                <c:pt idx="18">
                  <c:v>274.02181471580099</c:v>
                </c:pt>
                <c:pt idx="19">
                  <c:v>290.70665369525</c:v>
                </c:pt>
                <c:pt idx="20">
                  <c:v>307.07395204053302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E3-7D42-B961-4E40C84E3CBC}"/>
            </c:ext>
          </c:extLst>
        </c:ser>
        <c:ser>
          <c:idx val="3"/>
          <c:order val="2"/>
          <c:tx>
            <c:strRef>
              <c:f>ws_Current_Portfolio_X_SS!$E$2</c:f>
              <c:strCache>
                <c:ptCount val="1"/>
                <c:pt idx="0">
                  <c:v>90th %ile</c:v>
                </c:pt>
              </c:strCache>
            </c:strRef>
          </c:tx>
          <c:spPr>
            <a:ln w="22225">
              <a:solidFill>
                <a:srgbClr val="77933C"/>
              </a:solidFill>
              <a:prstDash val="solid"/>
            </a:ln>
          </c:spPr>
          <c:marker>
            <c:symbol val="none"/>
          </c:marker>
          <c:cat>
            <c:numRef>
              <c:f>ws_Current_Portfolio_X_SS!$A$3:$A$23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ws_Current_Portfolio_X_SS!$E$3:$E$23</c:f>
              <c:numCache>
                <c:formatCode>General</c:formatCode>
                <c:ptCount val="21"/>
                <c:pt idx="0">
                  <c:v>100</c:v>
                </c:pt>
                <c:pt idx="1">
                  <c:v>136.745002350367</c:v>
                </c:pt>
                <c:pt idx="2">
                  <c:v>155.16160828295199</c:v>
                </c:pt>
                <c:pt idx="3">
                  <c:v>169.54404145550501</c:v>
                </c:pt>
                <c:pt idx="4">
                  <c:v>186.13607471679501</c:v>
                </c:pt>
                <c:pt idx="5">
                  <c:v>202.60055798873401</c:v>
                </c:pt>
                <c:pt idx="6">
                  <c:v>218.98154697701301</c:v>
                </c:pt>
                <c:pt idx="7">
                  <c:v>235.75612505238101</c:v>
                </c:pt>
                <c:pt idx="8">
                  <c:v>253.980527569391</c:v>
                </c:pt>
                <c:pt idx="9">
                  <c:v>272.06105598880799</c:v>
                </c:pt>
                <c:pt idx="10">
                  <c:v>292.441952562484</c:v>
                </c:pt>
                <c:pt idx="11">
                  <c:v>314.219912416824</c:v>
                </c:pt>
                <c:pt idx="12">
                  <c:v>336.95687800720299</c:v>
                </c:pt>
                <c:pt idx="13">
                  <c:v>360.60196476393702</c:v>
                </c:pt>
                <c:pt idx="14">
                  <c:v>387.99667945016</c:v>
                </c:pt>
                <c:pt idx="15">
                  <c:v>416.69455681968799</c:v>
                </c:pt>
                <c:pt idx="16">
                  <c:v>446.089983549941</c:v>
                </c:pt>
                <c:pt idx="17">
                  <c:v>476.83271223189001</c:v>
                </c:pt>
                <c:pt idx="18">
                  <c:v>510.30873167653101</c:v>
                </c:pt>
                <c:pt idx="19">
                  <c:v>546.90512117672995</c:v>
                </c:pt>
                <c:pt idx="20">
                  <c:v>584.45758325677195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E3-7D42-B961-4E40C84E3CBC}"/>
            </c:ext>
          </c:extLst>
        </c:ser>
        <c:ser>
          <c:idx val="4"/>
          <c:order val="3"/>
          <c:tx>
            <c:strRef>
              <c:f>ws_Current_Portfolio_X_SS!$F$2</c:f>
              <c:strCache>
                <c:ptCount val="1"/>
              </c:strCache>
            </c:strRef>
          </c:tx>
          <c:spPr>
            <a:ln>
              <a:solidFill>
                <a:srgbClr val="C00000"/>
              </a:solidFill>
              <a:prstDash val="sysDot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0E3-7D42-B961-4E40C84E3CB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ws_Current_Portfolio_X_SS!$A$3:$A$23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ws_Current_Portfolio_X_SS!$F$3:$F$23</c:f>
              <c:numCache>
                <c:formatCode>General</c:formatCode>
                <c:ptCount val="21"/>
                <c:pt idx="0">
                  <c:v>100</c:v>
                </c:pt>
                <c:pt idx="1">
                  <c:v>61.818528838662637</c:v>
                </c:pt>
                <c:pt idx="2">
                  <c:v>51.418656500318328</c:v>
                </c:pt>
                <c:pt idx="3">
                  <c:v>45.515505915479586</c:v>
                </c:pt>
                <c:pt idx="4">
                  <c:v>40.816035405245337</c:v>
                </c:pt>
                <c:pt idx="5">
                  <c:v>37.252532271232418</c:v>
                </c:pt>
                <c:pt idx="6">
                  <c:v>33.977457604959049</c:v>
                </c:pt>
                <c:pt idx="7">
                  <c:v>31.43333440582979</c:v>
                </c:pt>
                <c:pt idx="8">
                  <c:v>29.72697440006397</c:v>
                </c:pt>
                <c:pt idx="9">
                  <c:v>27.49419457135048</c:v>
                </c:pt>
                <c:pt idx="10">
                  <c:v>25.547402480417329</c:v>
                </c:pt>
                <c:pt idx="11">
                  <c:v>24.65521735934928</c:v>
                </c:pt>
                <c:pt idx="12">
                  <c:v>22.89769230170635</c:v>
                </c:pt>
                <c:pt idx="13">
                  <c:v>21.3976645070789</c:v>
                </c:pt>
                <c:pt idx="14">
                  <c:v>20.223944984707661</c:v>
                </c:pt>
                <c:pt idx="15">
                  <c:v>19.467366201475681</c:v>
                </c:pt>
                <c:pt idx="16">
                  <c:v>18.282824627442761</c:v>
                </c:pt>
                <c:pt idx="17">
                  <c:v>17.510807624358911</c:v>
                </c:pt>
                <c:pt idx="18">
                  <c:v>17.256404715054199</c:v>
                </c:pt>
                <c:pt idx="19">
                  <c:v>16.567829987066581</c:v>
                </c:pt>
                <c:pt idx="20">
                  <c:v>15.951519416199419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0E3-7D42-B961-4E40C84E3CBC}"/>
            </c:ext>
          </c:extLst>
        </c:ser>
        <c:ser>
          <c:idx val="5"/>
          <c:order val="4"/>
          <c:tx>
            <c:strRef>
              <c:f>ws_Current_Portfolio_X_SS!$G$2</c:f>
              <c:strCache>
                <c:ptCount val="1"/>
              </c:strCache>
            </c:strRef>
          </c:tx>
          <c:marker>
            <c:symbol val="none"/>
          </c:marker>
          <c:cat>
            <c:numRef>
              <c:f>ws_Current_Portfolio_X_SS!$A$3:$A$23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ws_Current_Portfolio_X_SS!$G$3:$G$23</c:f>
            </c:numRef>
          </c:val>
          <c:smooth val="0"/>
          <c:extLst>
            <c:ext xmlns:c16="http://schemas.microsoft.com/office/drawing/2014/chart" uri="{C3380CC4-5D6E-409C-BE32-E72D297353CC}">
              <c16:uniqueId val="{00000005-10E3-7D42-B961-4E40C84E3CBC}"/>
            </c:ext>
          </c:extLst>
        </c:ser>
        <c:ser>
          <c:idx val="6"/>
          <c:order val="5"/>
          <c:tx>
            <c:strRef>
              <c:f>ws_Current_Portfolio_X_SS!$H$2</c:f>
              <c:strCache>
                <c:ptCount val="1"/>
              </c:strCache>
            </c:strRef>
          </c:tx>
          <c:spPr>
            <a:ln>
              <a:solidFill>
                <a:schemeClr val="accent1">
                  <a:lumMod val="50000"/>
                </a:schemeClr>
              </a:solidFill>
              <a:prstDash val="sysDot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0E3-7D42-B961-4E40C84E3CB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ws_Current_Portfolio_X_SS!$A$3:$A$23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ws_Current_Portfolio_X_SS!$H$3:$H$23</c:f>
              <c:numCache>
                <c:formatCode>General</c:formatCode>
                <c:ptCount val="21"/>
                <c:pt idx="0">
                  <c:v>100</c:v>
                </c:pt>
                <c:pt idx="1">
                  <c:v>103.9567990908773</c:v>
                </c:pt>
                <c:pt idx="2">
                  <c:v>107.1145847452551</c:v>
                </c:pt>
                <c:pt idx="3">
                  <c:v>110.57685165845029</c:v>
                </c:pt>
                <c:pt idx="4">
                  <c:v>115.32868879014249</c:v>
                </c:pt>
                <c:pt idx="5">
                  <c:v>120.4385732873385</c:v>
                </c:pt>
                <c:pt idx="6">
                  <c:v>125.4654397278165</c:v>
                </c:pt>
                <c:pt idx="7">
                  <c:v>130.79973378454159</c:v>
                </c:pt>
                <c:pt idx="8">
                  <c:v>137.00040420597799</c:v>
                </c:pt>
                <c:pt idx="9">
                  <c:v>142.0502612187002</c:v>
                </c:pt>
                <c:pt idx="10">
                  <c:v>147.9146147353776</c:v>
                </c:pt>
                <c:pt idx="11">
                  <c:v>153.00997119381989</c:v>
                </c:pt>
                <c:pt idx="12">
                  <c:v>158.58830033045149</c:v>
                </c:pt>
                <c:pt idx="13">
                  <c:v>164.4284467923647</c:v>
                </c:pt>
                <c:pt idx="14">
                  <c:v>171.35597381936091</c:v>
                </c:pt>
                <c:pt idx="15">
                  <c:v>177.74567701918389</c:v>
                </c:pt>
                <c:pt idx="16">
                  <c:v>184.32824926859749</c:v>
                </c:pt>
                <c:pt idx="17">
                  <c:v>189.92205068720139</c:v>
                </c:pt>
                <c:pt idx="18">
                  <c:v>197.52060918620421</c:v>
                </c:pt>
                <c:pt idx="19">
                  <c:v>202.3004067788583</c:v>
                </c:pt>
                <c:pt idx="20">
                  <c:v>209.83315740661129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0E3-7D42-B961-4E40C84E3C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/>
        </c:spPr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0"/>
        <c:crosses val="autoZero"/>
        <c:auto val="0"/>
        <c:lblAlgn val="ctr"/>
        <c:lblOffset val="100"/>
        <c:tickLblSkip val="1"/>
        <c:tickMarkSkip val="1"/>
        <c:noMultiLvlLbl val="0"/>
      </c:catAx>
      <c:valAx>
        <c:axId val="10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 dirty="0">
                    <a:latin typeface="Aptos"/>
                  </a:rPr>
                  <a:t>Nominal Portfolio Values ($mm)</a:t>
                </a:r>
              </a:p>
            </c:rich>
          </c:tx>
          <c:overlay val="0"/>
        </c:title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"/>
        <c:crosses val="autoZero"/>
        <c:crossBetween val="midCat"/>
      </c:valAx>
    </c:plotArea>
    <c:legend>
      <c:legendPos val="t"/>
      <c:legendEntry>
        <c:idx val="3"/>
        <c:delete val="1"/>
      </c:legendEntry>
      <c:legendEntry>
        <c:idx val="4"/>
        <c:delete val="1"/>
      </c:legendEntry>
      <c:layout>
        <c:manualLayout>
          <c:xMode val="edge"/>
          <c:yMode val="edge"/>
          <c:x val="9.8802340033533886E-2"/>
          <c:y val="1.4066170773605639E-2"/>
          <c:w val="0.84250223667745006"/>
          <c:h val="5.0336898408641223E-2"/>
        </c:manualLayout>
      </c:layout>
      <c:overlay val="0"/>
      <c:spPr>
        <a:ln w="6350">
          <a:solidFill>
            <a:schemeClr val="bg1">
              <a:lumMod val="75000"/>
            </a:schemeClr>
          </a:solidFill>
        </a:ln>
      </c:spPr>
      <c:txPr>
        <a:bodyPr/>
        <a:lstStyle/>
        <a:p>
          <a:pPr>
            <a:defRPr sz="900" b="0">
              <a:latin typeface="Aptos"/>
            </a:defRPr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80107747019936"/>
          <c:y val="2.9006929828466255E-2"/>
          <c:w val="0.84610659195879412"/>
          <c:h val="0.80713669071905036"/>
        </c:manualLayout>
      </c:layout>
      <c:lineChart>
        <c:grouping val="standard"/>
        <c:varyColors val="0"/>
        <c:ser>
          <c:idx val="0"/>
          <c:order val="0"/>
          <c:spPr>
            <a:ln w="25400" cap="rnd">
              <a:solidFill>
                <a:schemeClr val="tx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Sheet1!$B$7:$B$19</c:f>
              <c:numCache>
                <c:formatCode>0%</c:formatCode>
                <c:ptCount val="13"/>
                <c:pt idx="0">
                  <c:v>-0.3</c:v>
                </c:pt>
                <c:pt idx="1">
                  <c:v>-0.25</c:v>
                </c:pt>
                <c:pt idx="2">
                  <c:v>-0.2</c:v>
                </c:pt>
                <c:pt idx="3">
                  <c:v>-0.15000000000000002</c:v>
                </c:pt>
                <c:pt idx="4">
                  <c:v>-0.10000000000000002</c:v>
                </c:pt>
                <c:pt idx="5">
                  <c:v>-5.0000000000000017E-2</c:v>
                </c:pt>
                <c:pt idx="6">
                  <c:v>0</c:v>
                </c:pt>
                <c:pt idx="7">
                  <c:v>0.05</c:v>
                </c:pt>
                <c:pt idx="8">
                  <c:v>0.1</c:v>
                </c:pt>
                <c:pt idx="9">
                  <c:v>0.15000000000000002</c:v>
                </c:pt>
                <c:pt idx="10">
                  <c:v>0.2</c:v>
                </c:pt>
                <c:pt idx="11">
                  <c:v>0.25</c:v>
                </c:pt>
                <c:pt idx="12">
                  <c:v>0.3</c:v>
                </c:pt>
              </c:numCache>
            </c:numRef>
          </c:cat>
          <c:val>
            <c:numRef>
              <c:f>Sheet1!$B$7:$B$19</c:f>
              <c:numCache>
                <c:formatCode>0%</c:formatCode>
                <c:ptCount val="13"/>
                <c:pt idx="0">
                  <c:v>-0.3</c:v>
                </c:pt>
                <c:pt idx="1">
                  <c:v>-0.25</c:v>
                </c:pt>
                <c:pt idx="2">
                  <c:v>-0.2</c:v>
                </c:pt>
                <c:pt idx="3">
                  <c:v>-0.15000000000000002</c:v>
                </c:pt>
                <c:pt idx="4">
                  <c:v>-0.10000000000000002</c:v>
                </c:pt>
                <c:pt idx="5">
                  <c:v>-5.0000000000000017E-2</c:v>
                </c:pt>
                <c:pt idx="6">
                  <c:v>0</c:v>
                </c:pt>
                <c:pt idx="7">
                  <c:v>0.05</c:v>
                </c:pt>
                <c:pt idx="8">
                  <c:v>0.1</c:v>
                </c:pt>
                <c:pt idx="9">
                  <c:v>0.15000000000000002</c:v>
                </c:pt>
                <c:pt idx="10">
                  <c:v>0.2</c:v>
                </c:pt>
                <c:pt idx="11">
                  <c:v>0.25</c:v>
                </c:pt>
                <c:pt idx="12">
                  <c:v>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F6-3642-9D3A-07C76E2850C4}"/>
            </c:ext>
          </c:extLst>
        </c:ser>
        <c:ser>
          <c:idx val="1"/>
          <c:order val="1"/>
          <c:spPr>
            <a:ln w="2540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Sheet1!$B$7:$B$19</c:f>
              <c:numCache>
                <c:formatCode>0%</c:formatCode>
                <c:ptCount val="13"/>
                <c:pt idx="0">
                  <c:v>-0.3</c:v>
                </c:pt>
                <c:pt idx="1">
                  <c:v>-0.25</c:v>
                </c:pt>
                <c:pt idx="2">
                  <c:v>-0.2</c:v>
                </c:pt>
                <c:pt idx="3">
                  <c:v>-0.15000000000000002</c:v>
                </c:pt>
                <c:pt idx="4">
                  <c:v>-0.10000000000000002</c:v>
                </c:pt>
                <c:pt idx="5">
                  <c:v>-5.0000000000000017E-2</c:v>
                </c:pt>
                <c:pt idx="6">
                  <c:v>0</c:v>
                </c:pt>
                <c:pt idx="7">
                  <c:v>0.05</c:v>
                </c:pt>
                <c:pt idx="8">
                  <c:v>0.1</c:v>
                </c:pt>
                <c:pt idx="9">
                  <c:v>0.15000000000000002</c:v>
                </c:pt>
                <c:pt idx="10">
                  <c:v>0.2</c:v>
                </c:pt>
                <c:pt idx="11">
                  <c:v>0.25</c:v>
                </c:pt>
                <c:pt idx="12">
                  <c:v>0.3</c:v>
                </c:pt>
              </c:numCache>
            </c:numRef>
          </c:cat>
          <c:val>
            <c:numRef>
              <c:f>Sheet1!$C$7:$C$19</c:f>
              <c:numCache>
                <c:formatCode>0%</c:formatCode>
                <c:ptCount val="13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0.18</c:v>
                </c:pt>
                <c:pt idx="7">
                  <c:v>0.18</c:v>
                </c:pt>
                <c:pt idx="8">
                  <c:v>0.18</c:v>
                </c:pt>
                <c:pt idx="9">
                  <c:v>0.18</c:v>
                </c:pt>
                <c:pt idx="10">
                  <c:v>0.18</c:v>
                </c:pt>
                <c:pt idx="11">
                  <c:v>0.18</c:v>
                </c:pt>
                <c:pt idx="12">
                  <c:v>0.18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F6-3642-9D3A-07C76E2850C4}"/>
            </c:ext>
          </c:extLst>
        </c:ser>
        <c:ser>
          <c:idx val="2"/>
          <c:order val="2"/>
          <c:spPr>
            <a:ln w="254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Sheet1!$B$7:$B$19</c:f>
              <c:numCache>
                <c:formatCode>0%</c:formatCode>
                <c:ptCount val="13"/>
                <c:pt idx="0">
                  <c:v>-0.3</c:v>
                </c:pt>
                <c:pt idx="1">
                  <c:v>-0.25</c:v>
                </c:pt>
                <c:pt idx="2">
                  <c:v>-0.2</c:v>
                </c:pt>
                <c:pt idx="3">
                  <c:v>-0.15000000000000002</c:v>
                </c:pt>
                <c:pt idx="4">
                  <c:v>-0.10000000000000002</c:v>
                </c:pt>
                <c:pt idx="5">
                  <c:v>-5.0000000000000017E-2</c:v>
                </c:pt>
                <c:pt idx="6">
                  <c:v>0</c:v>
                </c:pt>
                <c:pt idx="7">
                  <c:v>0.05</c:v>
                </c:pt>
                <c:pt idx="8">
                  <c:v>0.1</c:v>
                </c:pt>
                <c:pt idx="9">
                  <c:v>0.15000000000000002</c:v>
                </c:pt>
                <c:pt idx="10">
                  <c:v>0.2</c:v>
                </c:pt>
                <c:pt idx="11">
                  <c:v>0.25</c:v>
                </c:pt>
                <c:pt idx="12">
                  <c:v>0.3</c:v>
                </c:pt>
              </c:numCache>
            </c:numRef>
          </c:cat>
          <c:val>
            <c:numRef>
              <c:f>Sheet1!$D$7:$D$19</c:f>
              <c:numCache>
                <c:formatCode>0.0%</c:formatCode>
                <c:ptCount val="13"/>
                <c:pt idx="0">
                  <c:v>-0.15000000000000002</c:v>
                </c:pt>
                <c:pt idx="1">
                  <c:v>-0.1</c:v>
                </c:pt>
                <c:pt idx="2">
                  <c:v>-0.05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F6-3642-9D3A-07C76E2850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56925375"/>
        <c:axId val="1556927087"/>
      </c:lineChart>
      <c:catAx>
        <c:axId val="15569253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GB"/>
                  <a:t>Underlying Cumulative Return at Maturity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56927087"/>
        <c:crossesAt val="0"/>
        <c:auto val="1"/>
        <c:lblAlgn val="ctr"/>
        <c:lblOffset val="100"/>
        <c:tickLblSkip val="2"/>
        <c:tickMarkSkip val="3"/>
        <c:noMultiLvlLbl val="0"/>
      </c:catAx>
      <c:valAx>
        <c:axId val="1556927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GB"/>
                  <a:t>Payoff at Maturity (% Notional)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56925375"/>
        <c:crossesAt val="7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844360617222127"/>
          <c:y val="0.15410166613605011"/>
          <c:w val="0.80485488433603958"/>
          <c:h val="0.753939984143928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Sheet3!$D$15</c:f>
              <c:strCache>
                <c:ptCount val="1"/>
                <c:pt idx="0">
                  <c:v>90th to 10th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152-EE44-8525-1AE27B12EB9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152-EE44-8525-1AE27B12EB98}"/>
              </c:ext>
            </c:extLst>
          </c:dPt>
          <c:cat>
            <c:strRef>
              <c:f>Sheet3!$D$3:$E$3</c:f>
              <c:strCache>
                <c:ptCount val="2"/>
                <c:pt idx="0">
                  <c:v>S&amp;P 500</c:v>
                </c:pt>
                <c:pt idx="1">
                  <c:v>Autocallable</c:v>
                </c:pt>
              </c:strCache>
            </c:strRef>
          </c:cat>
          <c:val>
            <c:numRef>
              <c:f>Sheet3!$D$11:$E$11</c:f>
              <c:numCache>
                <c:formatCode>0%</c:formatCode>
                <c:ptCount val="2"/>
                <c:pt idx="0">
                  <c:v>-0.13889251124822599</c:v>
                </c:pt>
                <c:pt idx="1">
                  <c:v>4.4999999999999998E-2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52-EE44-8525-1AE27B12EB98}"/>
            </c:ext>
          </c:extLst>
        </c:ser>
        <c:ser>
          <c:idx val="1"/>
          <c:order val="1"/>
          <c:tx>
            <c:strRef>
              <c:f>Sheet3!$D$14</c:f>
              <c:strCache>
                <c:ptCount val="1"/>
                <c:pt idx="0">
                  <c:v>1st-10th and 90th-99th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Sheet3!$D$3:$E$3</c:f>
              <c:strCache>
                <c:ptCount val="2"/>
                <c:pt idx="0">
                  <c:v>S&amp;P 500</c:v>
                </c:pt>
                <c:pt idx="1">
                  <c:v>Autocallable</c:v>
                </c:pt>
              </c:strCache>
            </c:strRef>
          </c:cat>
          <c:val>
            <c:numRef>
              <c:f>Sheet3!$D$10:$E$10</c:f>
              <c:numCache>
                <c:formatCode>0%</c:formatCode>
                <c:ptCount val="2"/>
                <c:pt idx="0">
                  <c:v>-0.245290976392184</c:v>
                </c:pt>
                <c:pt idx="1">
                  <c:v>-0.151697343923133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152-EE44-8525-1AE27B12EB98}"/>
            </c:ext>
          </c:extLst>
        </c:ser>
        <c:ser>
          <c:idx val="2"/>
          <c:order val="2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Sheet3!$D$3:$E$3</c:f>
              <c:strCache>
                <c:ptCount val="2"/>
                <c:pt idx="0">
                  <c:v>S&amp;P 500</c:v>
                </c:pt>
                <c:pt idx="1">
                  <c:v>Autocallable</c:v>
                </c:pt>
              </c:strCache>
            </c:strRef>
          </c:cat>
          <c:val>
            <c:numRef>
              <c:f>Sheet3!$D$12:$E$12</c:f>
              <c:numCache>
                <c:formatCode>0%</c:formatCode>
                <c:ptCount val="2"/>
                <c:pt idx="0">
                  <c:v>0.52121120080023697</c:v>
                </c:pt>
                <c:pt idx="1">
                  <c:v>6.7499999999999005E-2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152-EE44-8525-1AE27B12EB98}"/>
            </c:ext>
          </c:extLst>
        </c:ser>
        <c:ser>
          <c:idx val="3"/>
          <c:order val="3"/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Sheet3!$D$3:$E$3</c:f>
              <c:strCache>
                <c:ptCount val="2"/>
                <c:pt idx="0">
                  <c:v>S&amp;P 500</c:v>
                </c:pt>
                <c:pt idx="1">
                  <c:v>Autocallable</c:v>
                </c:pt>
              </c:strCache>
            </c:strRef>
          </c:cat>
          <c:val>
            <c:numRef>
              <c:f>Sheet3!$D$13:$E$13</c:f>
              <c:numCache>
                <c:formatCode>0%</c:formatCode>
                <c:ptCount val="2"/>
                <c:pt idx="0">
                  <c:v>0.31880300208777901</c:v>
                </c:pt>
                <c:pt idx="1">
                  <c:v>6.7499999999999991E-2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152-EE44-8525-1AE27B12EB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56190863"/>
        <c:axId val="656265215"/>
      </c:barChart>
      <c:scatterChart>
        <c:scatterStyle val="lineMarker"/>
        <c:varyColors val="0"/>
        <c:ser>
          <c:idx val="4"/>
          <c:order val="4"/>
          <c:tx>
            <c:v>Median</c:v>
          </c:tx>
          <c:spPr>
            <a:ln w="25400" cap="rnd">
              <a:noFill/>
              <a:round/>
            </a:ln>
            <a:effectLst/>
          </c:spPr>
          <c:marker>
            <c:symbol val="dash"/>
            <c:size val="18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7.4044476206593629E-2"/>
                  <c:y val="-3.65681220476145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152-EE44-8525-1AE27B12EB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yVal>
            <c:numRef>
              <c:f>Sheet3!$D$6:$E$6</c:f>
              <c:numCache>
                <c:formatCode>0%</c:formatCode>
                <c:ptCount val="2"/>
                <c:pt idx="0">
                  <c:v>0.189840058131898</c:v>
                </c:pt>
                <c:pt idx="1">
                  <c:v>4.4999999999999998E-2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7152-EE44-8525-1AE27B12EB98}"/>
            </c:ext>
          </c:extLst>
        </c:ser>
        <c:ser>
          <c:idx val="5"/>
          <c:order val="5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yVal>
            <c:numRef>
              <c:f>Sheet3!$D$4:$E$4</c:f>
              <c:numCache>
                <c:formatCode>0%</c:formatCode>
                <c:ptCount val="2"/>
                <c:pt idx="0">
                  <c:v>-0.38418348764040999</c:v>
                </c:pt>
                <c:pt idx="1">
                  <c:v>-0.151697343923133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7152-EE44-8525-1AE27B12EB98}"/>
            </c:ext>
          </c:extLst>
        </c:ser>
        <c:ser>
          <c:idx val="6"/>
          <c:order val="6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6.3227276545647484E-2"/>
                  <c:y val="-3.55127424154065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152-EE44-8525-1AE27B12EB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yVal>
            <c:numRef>
              <c:f>Sheet3!$D$8:$E$8</c:f>
              <c:numCache>
                <c:formatCode>0%</c:formatCode>
                <c:ptCount val="2"/>
                <c:pt idx="0">
                  <c:v>0.84001420288801598</c:v>
                </c:pt>
                <c:pt idx="1">
                  <c:v>0.17999999999999899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7152-EE44-8525-1AE27B12EB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56190863"/>
        <c:axId val="656265215"/>
      </c:scatterChart>
      <c:catAx>
        <c:axId val="656190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656265215"/>
        <c:crosses val="autoZero"/>
        <c:auto val="1"/>
        <c:lblAlgn val="ctr"/>
        <c:lblOffset val="100"/>
        <c:noMultiLvlLbl val="0"/>
      </c:catAx>
      <c:valAx>
        <c:axId val="6562652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656190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legendEntry>
        <c:idx val="3"/>
        <c:delete val="1"/>
      </c:legendEntry>
      <c:legendEntry>
        <c:idx val="5"/>
        <c:delete val="1"/>
      </c:legendEntry>
      <c:legendEntry>
        <c:idx val="6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 b="0" i="0">
          <a:solidFill>
            <a:schemeClr val="tx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906998063505399E-2"/>
          <c:y val="5.2918791436322825E-2"/>
          <c:w val="0.92618600387298922"/>
          <c:h val="0.8022602422673031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9E-FD4D-8658-AFDA1DBD684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Sheet3!$C$35:$C$38</c:f>
              <c:strCache>
                <c:ptCount val="4"/>
                <c:pt idx="0">
                  <c:v>Strong Down Market</c:v>
                </c:pt>
                <c:pt idx="1">
                  <c:v>Flat to Moderate Down</c:v>
                </c:pt>
                <c:pt idx="2">
                  <c:v>Moderate Up Market</c:v>
                </c:pt>
                <c:pt idx="3">
                  <c:v>Strong Up Market</c:v>
                </c:pt>
              </c:strCache>
            </c:strRef>
          </c:cat>
          <c:val>
            <c:numRef>
              <c:f>Sheet3!$P$45:$P$48</c:f>
              <c:numCache>
                <c:formatCode>0%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0.24022715266772299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9E-FD4D-8658-AFDA1DBD6842}"/>
            </c:ext>
          </c:extLst>
        </c:ser>
        <c:ser>
          <c:idx val="1"/>
          <c:order val="1"/>
          <c:spPr>
            <a:solidFill>
              <a:srgbClr val="376092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09E-FD4D-8658-AFDA1DBD684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09E-FD4D-8658-AFDA1DBD684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Sheet3!$C$35:$C$38</c:f>
              <c:strCache>
                <c:ptCount val="4"/>
                <c:pt idx="0">
                  <c:v>Strong Down Market</c:v>
                </c:pt>
                <c:pt idx="1">
                  <c:v>Flat to Moderate Down</c:v>
                </c:pt>
                <c:pt idx="2">
                  <c:v>Moderate Up Market</c:v>
                </c:pt>
                <c:pt idx="3">
                  <c:v>Strong Up Market</c:v>
                </c:pt>
              </c:strCache>
            </c:strRef>
          </c:cat>
          <c:val>
            <c:numRef>
              <c:f>Sheet3!$Q$45:$Q$48</c:f>
              <c:numCache>
                <c:formatCode>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0.75977284733227701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9E-FD4D-8658-AFDA1DBD68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26300399"/>
        <c:axId val="415301439"/>
      </c:barChart>
      <c:catAx>
        <c:axId val="6263003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415301439"/>
        <c:crosses val="autoZero"/>
        <c:auto val="1"/>
        <c:lblAlgn val="ctr"/>
        <c:lblOffset val="100"/>
        <c:noMultiLvlLbl val="0"/>
      </c:catAx>
      <c:valAx>
        <c:axId val="415301439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one"/>
        <c:crossAx val="626300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58732439373233E-2"/>
          <c:y val="0.11416708329183305"/>
          <c:w val="0.41593602170132515"/>
          <c:h val="0.732715462801077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Sheet3!$I$50</c:f>
              <c:strCache>
                <c:ptCount val="1"/>
                <c:pt idx="0">
                  <c:v>Underlying</c:v>
                </c:pt>
              </c:strCache>
            </c:strRef>
          </c:tx>
          <c:spPr>
            <a:solidFill>
              <a:srgbClr val="37609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Sheet3!$C$35:$C$38</c:f>
              <c:strCache>
                <c:ptCount val="4"/>
                <c:pt idx="0">
                  <c:v>Strong Down Market</c:v>
                </c:pt>
                <c:pt idx="1">
                  <c:v>Flat to Moderate Down</c:v>
                </c:pt>
                <c:pt idx="2">
                  <c:v>Moderate Up Market</c:v>
                </c:pt>
                <c:pt idx="3">
                  <c:v>Strong Up Market</c:v>
                </c:pt>
              </c:strCache>
            </c:strRef>
          </c:cat>
          <c:val>
            <c:numRef>
              <c:f>Sheet3!$D$35:$D$38</c:f>
              <c:numCache>
                <c:formatCode>0%</c:formatCode>
                <c:ptCount val="4"/>
                <c:pt idx="0">
                  <c:v>-0.36793492303088499</c:v>
                </c:pt>
                <c:pt idx="1">
                  <c:v>-9.3515544580464599E-2</c:v>
                </c:pt>
                <c:pt idx="2">
                  <c:v>0.124073724675585</c:v>
                </c:pt>
                <c:pt idx="3">
                  <c:v>0.36248484188413899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C3-5043-A90B-C63B5AE55D71}"/>
            </c:ext>
          </c:extLst>
        </c:ser>
        <c:ser>
          <c:idx val="1"/>
          <c:order val="1"/>
          <c:tx>
            <c:strRef>
              <c:f>Sheet3!$I$51</c:f>
              <c:strCache>
                <c:ptCount val="1"/>
                <c:pt idx="0">
                  <c:v>Autcallable Buffered Note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Sheet3!$C$35:$C$38</c:f>
              <c:strCache>
                <c:ptCount val="4"/>
                <c:pt idx="0">
                  <c:v>Strong Down Market</c:v>
                </c:pt>
                <c:pt idx="1">
                  <c:v>Flat to Moderate Down</c:v>
                </c:pt>
                <c:pt idx="2">
                  <c:v>Moderate Up Market</c:v>
                </c:pt>
                <c:pt idx="3">
                  <c:v>Strong Up Market</c:v>
                </c:pt>
              </c:strCache>
            </c:strRef>
          </c:cat>
          <c:val>
            <c:numRef>
              <c:f>Sheet3!$F$35:$F$38</c:f>
              <c:numCache>
                <c:formatCode>0%</c:formatCode>
                <c:ptCount val="4"/>
                <c:pt idx="0">
                  <c:v>-4.1904065849227901E-2</c:v>
                </c:pt>
                <c:pt idx="1">
                  <c:v>8.1305060033594501E-2</c:v>
                </c:pt>
                <c:pt idx="2">
                  <c:v>6.5152535657686195E-2</c:v>
                </c:pt>
                <c:pt idx="3">
                  <c:v>4.9045840192478103E-2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C3-5043-A90B-C63B5AE55D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3"/>
        <c:axId val="586152351"/>
        <c:axId val="585446495"/>
      </c:barChart>
      <c:catAx>
        <c:axId val="5861523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585446495"/>
        <c:crosses val="autoZero"/>
        <c:auto val="1"/>
        <c:lblAlgn val="ctr"/>
        <c:lblOffset val="100"/>
        <c:noMultiLvlLbl val="0"/>
      </c:catAx>
      <c:valAx>
        <c:axId val="58544649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586152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014215528256316"/>
          <c:y val="0"/>
          <c:w val="0.28862846633333039"/>
          <c:h val="6.95303874662712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86244013916988"/>
          <c:y val="8.8620878353379062E-2"/>
          <c:w val="0.86168297689569884"/>
          <c:h val="0.837626936877894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1F7-134D-A75D-3693CE6CF6F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1F7-134D-A75D-3693CE6CF6F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E1F7-134D-A75D-3693CE6CF6F1}"/>
              </c:ext>
            </c:extLst>
          </c:dPt>
          <c:cat>
            <c:strRef>
              <c:f>Sheet1!$G$3:$K$3</c:f>
              <c:strCache>
                <c:ptCount val="4"/>
                <c:pt idx="0">
                  <c:v>SAA</c:v>
                </c:pt>
                <c:pt idx="1">
                  <c:v>+10% Note</c:v>
                </c:pt>
                <c:pt idx="2">
                  <c:v>+20% Note</c:v>
                </c:pt>
                <c:pt idx="3">
                  <c:v>+40% Note</c:v>
                </c:pt>
              </c:strCache>
            </c:strRef>
          </c:cat>
          <c:val>
            <c:numRef>
              <c:f>Sheet1!$G$12:$K$12</c:f>
              <c:numCache>
                <c:formatCode>0%</c:formatCode>
                <c:ptCount val="4"/>
                <c:pt idx="0">
                  <c:v>-5.92687486382244E-2</c:v>
                </c:pt>
                <c:pt idx="1">
                  <c:v>-3.8847792994066099E-2</c:v>
                </c:pt>
                <c:pt idx="2">
                  <c:v>-1.8478844182590499E-2</c:v>
                </c:pt>
                <c:pt idx="3">
                  <c:v>1.7874619962907699E-2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F7-134D-A75D-3693CE6CF6F1}"/>
            </c:ext>
          </c:extLst>
        </c:ser>
        <c:ser>
          <c:idx val="1"/>
          <c:order val="1"/>
          <c:tx>
            <c:strRef>
              <c:f>Sheet1!$H$17</c:f>
              <c:strCache>
                <c:ptCount val="1"/>
                <c:pt idx="0">
                  <c:v>1st to 10th &amp; 90th to 99th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Sheet1!$G$3:$K$3</c:f>
              <c:strCache>
                <c:ptCount val="4"/>
                <c:pt idx="0">
                  <c:v>SAA</c:v>
                </c:pt>
                <c:pt idx="1">
                  <c:v>+10% Note</c:v>
                </c:pt>
                <c:pt idx="2">
                  <c:v>+20% Note</c:v>
                </c:pt>
                <c:pt idx="3">
                  <c:v>+40% Note</c:v>
                </c:pt>
              </c:strCache>
            </c:strRef>
          </c:cat>
          <c:val>
            <c:numRef>
              <c:f>Sheet1!$G$11:$K$11</c:f>
              <c:numCache>
                <c:formatCode>0%</c:formatCode>
                <c:ptCount val="4"/>
                <c:pt idx="0">
                  <c:v>-0.20105730665442462</c:v>
                </c:pt>
                <c:pt idx="1">
                  <c:v>-0.1921075796432189</c:v>
                </c:pt>
                <c:pt idx="2">
                  <c:v>-0.18392175878391051</c:v>
                </c:pt>
                <c:pt idx="3">
                  <c:v>-0.1700005396036727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1F7-134D-A75D-3693CE6CF6F1}"/>
            </c:ext>
          </c:extLst>
        </c:ser>
        <c:ser>
          <c:idx val="2"/>
          <c:order val="2"/>
          <c:tx>
            <c:strRef>
              <c:f>Sheet1!$H$18</c:f>
              <c:strCache>
                <c:ptCount val="1"/>
                <c:pt idx="0">
                  <c:v>10th to 90th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Sheet1!$G$3:$K$3</c:f>
              <c:strCache>
                <c:ptCount val="4"/>
                <c:pt idx="0">
                  <c:v>SAA</c:v>
                </c:pt>
                <c:pt idx="1">
                  <c:v>+10% Note</c:v>
                </c:pt>
                <c:pt idx="2">
                  <c:v>+20% Note</c:v>
                </c:pt>
                <c:pt idx="3">
                  <c:v>+40% Note</c:v>
                </c:pt>
              </c:strCache>
            </c:strRef>
          </c:cat>
          <c:val>
            <c:numRef>
              <c:f>Sheet1!$G$13:$K$13</c:f>
              <c:numCache>
                <c:formatCode>0%</c:formatCode>
                <c:ptCount val="4"/>
                <c:pt idx="0">
                  <c:v>0.39614541982681001</c:v>
                </c:pt>
                <c:pt idx="1">
                  <c:v>0.34714808995295399</c:v>
                </c:pt>
                <c:pt idx="2">
                  <c:v>0.297673138734182</c:v>
                </c:pt>
                <c:pt idx="3">
                  <c:v>0.202580303658801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1F7-134D-A75D-3693CE6CF6F1}"/>
            </c:ext>
          </c:extLst>
        </c:ser>
        <c:ser>
          <c:idx val="3"/>
          <c:order val="3"/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Sheet1!$G$3:$K$3</c:f>
              <c:strCache>
                <c:ptCount val="4"/>
                <c:pt idx="0">
                  <c:v>SAA</c:v>
                </c:pt>
                <c:pt idx="1">
                  <c:v>+10% Note</c:v>
                </c:pt>
                <c:pt idx="2">
                  <c:v>+20% Note</c:v>
                </c:pt>
                <c:pt idx="3">
                  <c:v>+40% Note</c:v>
                </c:pt>
              </c:strCache>
            </c:strRef>
          </c:cat>
          <c:val>
            <c:numRef>
              <c:f>Sheet1!$G$14:$K$14</c:f>
              <c:numCache>
                <c:formatCode>0%</c:formatCode>
                <c:ptCount val="4"/>
                <c:pt idx="0">
                  <c:v>0.19835960758335097</c:v>
                </c:pt>
                <c:pt idx="1">
                  <c:v>0.16465098803618106</c:v>
                </c:pt>
                <c:pt idx="2">
                  <c:v>0.13449896163535202</c:v>
                </c:pt>
                <c:pt idx="3">
                  <c:v>7.6465105631397995E-2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1F7-134D-A75D-3693CE6CF6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70736431"/>
        <c:axId val="670738143"/>
      </c:barChart>
      <c:scatterChart>
        <c:scatterStyle val="lineMarker"/>
        <c:varyColors val="0"/>
        <c:ser>
          <c:idx val="4"/>
          <c:order val="4"/>
          <c:tx>
            <c:strRef>
              <c:f>Sheet1!$H$19</c:f>
              <c:strCache>
                <c:ptCount val="1"/>
                <c:pt idx="0">
                  <c:v>Median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ash"/>
            <c:size val="1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dLbls>
            <c:dLbl>
              <c:idx val="3"/>
              <c:layout>
                <c:manualLayout>
                  <c:x val="-6.3271216446638218E-2"/>
                  <c:y val="-3.7467261318693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1F7-134D-A75D-3693CE6CF6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yVal>
            <c:numRef>
              <c:f>Sheet1!$G$6:$K$6</c:f>
              <c:numCache>
                <c:formatCode>0%</c:formatCode>
                <c:ptCount val="4"/>
                <c:pt idx="0">
                  <c:v>0.17873760082859499</c:v>
                </c:pt>
                <c:pt idx="1">
                  <c:v>0.16411522568016401</c:v>
                </c:pt>
                <c:pt idx="2">
                  <c:v>0.149852930857094</c:v>
                </c:pt>
                <c:pt idx="3">
                  <c:v>0.12150592435143701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E1F7-134D-A75D-3693CE6CF6F1}"/>
            </c:ext>
          </c:extLst>
        </c:ser>
        <c:ser>
          <c:idx val="5"/>
          <c:order val="5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Lbl>
              <c:idx val="3"/>
              <c:layout>
                <c:manualLayout>
                  <c:x val="-5.5283995185295906E-2"/>
                  <c:y val="5.685230087250563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1F7-134D-A75D-3693CE6CF6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yVal>
            <c:numRef>
              <c:f>Sheet1!$G$4:$K$4</c:f>
              <c:numCache>
                <c:formatCode>0%</c:formatCode>
                <c:ptCount val="4"/>
                <c:pt idx="0">
                  <c:v>-0.26032605529264902</c:v>
                </c:pt>
                <c:pt idx="1">
                  <c:v>-0.23095537263728499</c:v>
                </c:pt>
                <c:pt idx="2">
                  <c:v>-0.202400602966501</c:v>
                </c:pt>
                <c:pt idx="3">
                  <c:v>-0.15212591964076499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E1F7-134D-A75D-3693CE6CF6F1}"/>
            </c:ext>
          </c:extLst>
        </c:ser>
        <c:ser>
          <c:idx val="6"/>
          <c:order val="6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yVal>
            <c:numRef>
              <c:f>Sheet1!$G$8:$K$8</c:f>
              <c:numCache>
                <c:formatCode>0%</c:formatCode>
                <c:ptCount val="4"/>
                <c:pt idx="0">
                  <c:v>0.59450502741016098</c:v>
                </c:pt>
                <c:pt idx="1">
                  <c:v>0.51179907798913504</c:v>
                </c:pt>
                <c:pt idx="2">
                  <c:v>0.43217210036953402</c:v>
                </c:pt>
                <c:pt idx="3">
                  <c:v>0.279045409290199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0-E1F7-134D-A75D-3693CE6CF6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0736431"/>
        <c:axId val="670738143"/>
      </c:scatterChart>
      <c:catAx>
        <c:axId val="670736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670738143"/>
        <c:crosses val="autoZero"/>
        <c:auto val="1"/>
        <c:lblAlgn val="ctr"/>
        <c:lblOffset val="100"/>
        <c:noMultiLvlLbl val="0"/>
      </c:catAx>
      <c:valAx>
        <c:axId val="670738143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670736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egendEntry>
        <c:idx val="3"/>
        <c:delete val="1"/>
      </c:legendEntry>
      <c:legendEntry>
        <c:idx val="5"/>
        <c:delete val="1"/>
      </c:legendEntry>
      <c:legendEntry>
        <c:idx val="6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800" b="0" i="0" u="none" strike="noStrike" kern="1200" baseline="0">
              <a:solidFill>
                <a:schemeClr val="tx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solidFill>
            <a:schemeClr val="tx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0.58907</cdr:x>
      <cdr:y>0.14928</cdr:y>
    </cdr:from>
    <cdr:to>
      <cdr:x>0.76012</cdr:x>
      <cdr:y>0.23107</cdr:y>
    </cdr:to>
    <cdr:sp macro="" textlink="">
      <cdr:nvSpPr>
        <cdr:cNvPr id="3" name="TextBox 13">
          <a:extLst xmlns:a="http://schemas.openxmlformats.org/drawingml/2006/main">
            <a:ext uri="{FF2B5EF4-FFF2-40B4-BE49-F238E27FC236}">
              <a16:creationId xmlns:a16="http://schemas.microsoft.com/office/drawing/2014/main" id="{FC649FF1-B1BB-2CE5-B111-24E938081D9D}"/>
            </a:ext>
          </a:extLst>
        </cdr:cNvPr>
        <cdr:cNvSpPr txBox="1"/>
      </cdr:nvSpPr>
      <cdr:spPr>
        <a:xfrm xmlns:a="http://schemas.openxmlformats.org/drawingml/2006/main">
          <a:off x="4062447" y="617895"/>
          <a:ext cx="1179646" cy="338554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6350">
          <a:solidFill>
            <a:schemeClr val="bg1">
              <a:lumMod val="50000"/>
            </a:schemeClr>
          </a:solidFill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800" dirty="0">
              <a:latin typeface="Aptos" panose="020B0004020202020204" pitchFamily="34" charset="0"/>
            </a:rPr>
            <a:t>Long-Term Target Portfolio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FBADA-4773-404F-874F-B3857A68950B}" type="datetimeFigureOut">
              <a:rPr lang="en-US" smtClean="0"/>
              <a:t>7/3/25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30C15-E458-4B43-AE0F-5F07CFCA4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2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30C15-E458-4B43-AE0F-5F07CFCA48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93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30C15-E458-4B43-AE0F-5F07CFCA48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5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B213-3102-C349-9554-E434846F78E6}" type="datetime1">
              <a:rPr lang="en-GB" smtClean="0"/>
              <a:t>03/07/2025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4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1742-974A-4443-8BE3-693B2B3ED8AD}" type="datetime1">
              <a:rPr lang="en-GB" smtClean="0"/>
              <a:t>03/07/2025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4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1FB4-6600-964E-87AE-7944E8A54BF4}" type="datetime1">
              <a:rPr lang="en-GB" smtClean="0"/>
              <a:t>03/07/2025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96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02E-8688-0D40-8D95-F6B633E19384}" type="datetime1">
              <a:rPr lang="en-GB" smtClean="0"/>
              <a:t>03/07/2025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8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2112C-A07D-0C49-83D0-97E7715572E8}" type="datetime1">
              <a:rPr lang="en-GB" smtClean="0"/>
              <a:t>03/07/2025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7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FB06-81A1-7145-AA10-23CB90609DB1}" type="datetime1">
              <a:rPr lang="en-GB" smtClean="0"/>
              <a:t>03/07/2025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3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6BF7C-B1D2-D341-B6EA-0F9EDB8B80EA}" type="datetime1">
              <a:rPr lang="en-GB" smtClean="0"/>
              <a:t>03/07/2025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714D-A05F-CA49-830F-7B0ACED6C706}" type="datetime1">
              <a:rPr lang="en-GB" smtClean="0"/>
              <a:t>03/07/2025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1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311A0-74F8-7840-9594-267945A9A042}" type="datetime1">
              <a:rPr lang="en-GB" smtClean="0"/>
              <a:t>03/07/2025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8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3922-980F-3047-91E3-B20D946F972E}" type="datetime1">
              <a:rPr lang="en-GB" smtClean="0"/>
              <a:t>03/07/2025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51C3-CB6C-CB43-A403-149A332B98B6}" type="datetime1">
              <a:rPr lang="en-GB" smtClean="0"/>
              <a:t>03/07/2025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1A623-B36F-C440-9672-F52869BB3AE9}" type="datetime1">
              <a:rPr lang="en-GB" smtClean="0"/>
              <a:t>03/07/2025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61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1.xls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Excel_Worksheet4.xls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package" Target="../embeddings/Microsoft_Excel_Worksheet5.xlsx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4.xml"/><Relationship Id="rId4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package" Target="../embeddings/Microsoft_Excel_Worksheet8.xlsx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3C78A4-0B54-333F-41FE-7DDDBAF6BE64}"/>
              </a:ext>
            </a:extLst>
          </p:cNvPr>
          <p:cNvSpPr txBox="1"/>
          <p:nvPr/>
        </p:nvSpPr>
        <p:spPr>
          <a:xfrm>
            <a:off x="952969" y="821554"/>
            <a:ext cx="7238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Global Asset Allocation</a:t>
            </a:r>
          </a:p>
        </p:txBody>
      </p:sp>
    </p:spTree>
    <p:extLst>
      <p:ext uri="{BB962C8B-B14F-4D97-AF65-F5344CB8AC3E}">
        <p14:creationId xmlns:p14="http://schemas.microsoft.com/office/powerpoint/2010/main" val="90852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3C78A4-0B54-333F-41FE-7DDDBAF6BE64}"/>
              </a:ext>
            </a:extLst>
          </p:cNvPr>
          <p:cNvSpPr txBox="1"/>
          <p:nvPr/>
        </p:nvSpPr>
        <p:spPr>
          <a:xfrm>
            <a:off x="338291" y="37875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The Advantages of Multi-Factor Approach to Asset Allocation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21660-FF6A-2192-F126-372A80CD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2</a:t>
            </a:fld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A7EDF923-5931-04E9-77D8-1E88AB4197A9}"/>
              </a:ext>
            </a:extLst>
          </p:cNvPr>
          <p:cNvSpPr/>
          <p:nvPr/>
        </p:nvSpPr>
        <p:spPr>
          <a:xfrm>
            <a:off x="4572001" y="1106021"/>
            <a:ext cx="4241258" cy="552448"/>
          </a:xfrm>
          <a:prstGeom prst="rightArrow">
            <a:avLst>
              <a:gd name="adj1" fmla="val 56056"/>
              <a:gd name="adj2" fmla="val 87000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+mj-lt"/>
              </a:rPr>
              <a:t>Modern Enhancements</a:t>
            </a:r>
          </a:p>
        </p:txBody>
      </p:sp>
      <p:sp>
        <p:nvSpPr>
          <p:cNvPr id="22" name="Left Arrow 21">
            <a:extLst>
              <a:ext uri="{FF2B5EF4-FFF2-40B4-BE49-F238E27FC236}">
                <a16:creationId xmlns:a16="http://schemas.microsoft.com/office/drawing/2014/main" id="{3FCBB0AF-C5DE-CDF5-F4A4-1BF7C5142F49}"/>
              </a:ext>
            </a:extLst>
          </p:cNvPr>
          <p:cNvSpPr/>
          <p:nvPr/>
        </p:nvSpPr>
        <p:spPr>
          <a:xfrm>
            <a:off x="372033" y="1106020"/>
            <a:ext cx="4199967" cy="552449"/>
          </a:xfrm>
          <a:prstGeom prst="leftArrow">
            <a:avLst>
              <a:gd name="adj1" fmla="val 56055"/>
              <a:gd name="adj2" fmla="val 103710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 algn="r"/>
            <a:r>
              <a:rPr lang="en-US" sz="1200" dirty="0">
                <a:latin typeface="+mj-lt"/>
              </a:rPr>
              <a:t>Traditional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3A75A-4181-8D2D-98C1-EE650C87A933}"/>
              </a:ext>
            </a:extLst>
          </p:cNvPr>
          <p:cNvSpPr txBox="1"/>
          <p:nvPr/>
        </p:nvSpPr>
        <p:spPr>
          <a:xfrm>
            <a:off x="1020379" y="1645625"/>
            <a:ext cx="2034988" cy="9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Limited Understanding of Complex Investment Universe and poor risk and return estimates</a:t>
            </a:r>
          </a:p>
          <a:p>
            <a:pPr algn="r"/>
            <a:endParaRPr lang="en-US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4F807-F4C3-7985-DA61-FB35BD5C4460}"/>
              </a:ext>
            </a:extLst>
          </p:cNvPr>
          <p:cNvSpPr txBox="1"/>
          <p:nvPr/>
        </p:nvSpPr>
        <p:spPr>
          <a:xfrm>
            <a:off x="6210428" y="1726079"/>
            <a:ext cx="23841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Multi-Factor Model enhances risk premium prediction by 2x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617A6F-505D-0744-A2F4-163063854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568" y="1679897"/>
            <a:ext cx="1272576" cy="1115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421EA9-9757-6893-B209-31ACDA639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553" y="1670610"/>
            <a:ext cx="1329677" cy="1277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D6D2F8-08F2-AF95-BDE0-00230BCAA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881" y="3058395"/>
            <a:ext cx="1309510" cy="11094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395F16-1A9A-7AEA-7B1C-4D41F6ACE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880" y="3051361"/>
            <a:ext cx="1380041" cy="11094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620BBC-109E-4200-C75D-A441A3F60E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5045" y="4279837"/>
            <a:ext cx="1349985" cy="9310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480258-8501-7B37-027E-9FF0461899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4461" y="4279837"/>
            <a:ext cx="1319460" cy="10003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C4FD686-55CF-221C-24BE-7894E6ED73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3858" y="5329892"/>
            <a:ext cx="1337289" cy="9310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D479103-05CB-8C3A-03B4-29DC229C96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4461" y="5329892"/>
            <a:ext cx="1315967" cy="93102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13171A8-3192-C87C-E920-FF03C2C89CDB}"/>
              </a:ext>
            </a:extLst>
          </p:cNvPr>
          <p:cNvSpPr txBox="1"/>
          <p:nvPr/>
        </p:nvSpPr>
        <p:spPr>
          <a:xfrm>
            <a:off x="6294591" y="3152852"/>
            <a:ext cx="238411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Robust Optimization: Superior Portfolio’s without subjective constraints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8CB1F1-A802-0731-7727-96F8A6904103}"/>
              </a:ext>
            </a:extLst>
          </p:cNvPr>
          <p:cNvSpPr txBox="1"/>
          <p:nvPr/>
        </p:nvSpPr>
        <p:spPr>
          <a:xfrm>
            <a:off x="1020379" y="3009269"/>
            <a:ext cx="2034988" cy="5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Optimization Methodology Produced Unreliable Results.</a:t>
            </a:r>
          </a:p>
          <a:p>
            <a:pPr algn="r"/>
            <a:endParaRPr lang="en-US" sz="10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B93985-8C97-68A2-ADFA-0F0551B3D8D8}"/>
              </a:ext>
            </a:extLst>
          </p:cNvPr>
          <p:cNvSpPr txBox="1"/>
          <p:nvPr/>
        </p:nvSpPr>
        <p:spPr>
          <a:xfrm>
            <a:off x="943983" y="4202434"/>
            <a:ext cx="2034988" cy="5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Risk Analytics Underestimate True Downside</a:t>
            </a:r>
          </a:p>
          <a:p>
            <a:pPr algn="r"/>
            <a:endParaRPr lang="en-US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5AE108-2FFA-C3FA-4A59-AE2819326EEB}"/>
              </a:ext>
            </a:extLst>
          </p:cNvPr>
          <p:cNvSpPr txBox="1"/>
          <p:nvPr/>
        </p:nvSpPr>
        <p:spPr>
          <a:xfrm>
            <a:off x="6294590" y="4279734"/>
            <a:ext cx="23841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Factor-Based Risk Analytics generates reliable estimates of downside risk.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B204ED-512E-3725-904A-2D0B199543FF}"/>
              </a:ext>
            </a:extLst>
          </p:cNvPr>
          <p:cNvSpPr txBox="1"/>
          <p:nvPr/>
        </p:nvSpPr>
        <p:spPr>
          <a:xfrm>
            <a:off x="997321" y="5329892"/>
            <a:ext cx="2034988" cy="5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Wealth Projections fail to capture true market dynamics</a:t>
            </a:r>
          </a:p>
          <a:p>
            <a:pPr algn="r"/>
            <a:endParaRPr lang="en-US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FC5C6E-9823-9280-1611-A5318D260BB9}"/>
              </a:ext>
            </a:extLst>
          </p:cNvPr>
          <p:cNvSpPr txBox="1"/>
          <p:nvPr/>
        </p:nvSpPr>
        <p:spPr>
          <a:xfrm>
            <a:off x="6294590" y="5329892"/>
            <a:ext cx="23841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Factor-Based Risk Analytics generates reliable estimates of downside risk.</a:t>
            </a:r>
          </a:p>
        </p:txBody>
      </p:sp>
    </p:spTree>
    <p:extLst>
      <p:ext uri="{BB962C8B-B14F-4D97-AF65-F5344CB8AC3E}">
        <p14:creationId xmlns:p14="http://schemas.microsoft.com/office/powerpoint/2010/main" val="97464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E9E8-C93A-AEB6-4824-CF9B242E6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0F58048-D2E5-E1B1-CCFE-02F19EEFE769}"/>
              </a:ext>
            </a:extLst>
          </p:cNvPr>
          <p:cNvSpPr txBox="1"/>
          <p:nvPr/>
        </p:nvSpPr>
        <p:spPr>
          <a:xfrm>
            <a:off x="567173" y="4278562"/>
            <a:ext cx="8009655" cy="261610"/>
          </a:xfrm>
          <a:prstGeom prst="rect">
            <a:avLst/>
          </a:prstGeom>
          <a:solidFill>
            <a:srgbClr val="7F94BA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Multi-Factor Risk Premia Estimates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0B9EA-B3B6-1A34-0D32-9ED515F627CE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Factor Models Identify Sources of Long-Term Return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10832-8D30-7741-C932-72F4943B9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3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0536FC-E423-FC8A-6BA9-844B9521DB02}"/>
              </a:ext>
            </a:extLst>
          </p:cNvPr>
          <p:cNvSpPr txBox="1"/>
          <p:nvPr/>
        </p:nvSpPr>
        <p:spPr>
          <a:xfrm>
            <a:off x="302496" y="1062681"/>
            <a:ext cx="8539009" cy="276999"/>
          </a:xfrm>
          <a:prstGeom prst="rect">
            <a:avLst/>
          </a:prstGeom>
          <a:solidFill>
            <a:srgbClr val="151824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Multi-Factor Modelling Enhances Our Understanding Of Return Drivers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4A99244B-411B-154C-AD19-A5CB4AC690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2286165"/>
              </p:ext>
            </p:extLst>
          </p:nvPr>
        </p:nvGraphicFramePr>
        <p:xfrm>
          <a:off x="1271257" y="1862616"/>
          <a:ext cx="1670050" cy="1174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8D8B4278-B84F-2EA3-13C5-743A9EB65A49}"/>
              </a:ext>
            </a:extLst>
          </p:cNvPr>
          <p:cNvSpPr/>
          <p:nvPr/>
        </p:nvSpPr>
        <p:spPr>
          <a:xfrm>
            <a:off x="567172" y="1476194"/>
            <a:ext cx="8009655" cy="2077972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E6F662-9015-50BE-8018-0834EB540FA8}"/>
              </a:ext>
            </a:extLst>
          </p:cNvPr>
          <p:cNvSpPr txBox="1"/>
          <p:nvPr/>
        </p:nvSpPr>
        <p:spPr>
          <a:xfrm>
            <a:off x="338291" y="622539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Grotesque Light" panose="020B0304020202020204" pitchFamily="34" charset="0"/>
              </a:rPr>
              <a:t>Empowering Investors to Understand and Manage the Sources of Portfolio Performance</a:t>
            </a:r>
            <a:endParaRPr lang="en-US" sz="1000" dirty="0">
              <a:latin typeface="Grotesque Light" panose="020B03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1C01FA-3D76-8F93-B683-725618281FF9}"/>
              </a:ext>
            </a:extLst>
          </p:cNvPr>
          <p:cNvSpPr txBox="1"/>
          <p:nvPr/>
        </p:nvSpPr>
        <p:spPr>
          <a:xfrm>
            <a:off x="1216008" y="3099466"/>
            <a:ext cx="14167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Multi-Strategy Hedge Funds</a:t>
            </a: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12CD40C7-83BD-7477-D2D1-C20E7ABEA1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9104168"/>
              </p:ext>
            </p:extLst>
          </p:nvPr>
        </p:nvGraphicFramePr>
        <p:xfrm>
          <a:off x="1188508" y="4595866"/>
          <a:ext cx="1670050" cy="1267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8EC2EFA7-9B45-BF6B-45C0-4FF87CCCC68F}"/>
              </a:ext>
            </a:extLst>
          </p:cNvPr>
          <p:cNvSpPr/>
          <p:nvPr/>
        </p:nvSpPr>
        <p:spPr>
          <a:xfrm>
            <a:off x="567172" y="4272211"/>
            <a:ext cx="8009655" cy="2084139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C77E7240-4248-A48A-B6BA-2888FDC567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4570235"/>
              </p:ext>
            </p:extLst>
          </p:nvPr>
        </p:nvGraphicFramePr>
        <p:xfrm>
          <a:off x="6330950" y="4637458"/>
          <a:ext cx="1670050" cy="1270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D2EA214C-9ED4-056D-CB2C-E9BE594A60EB}"/>
              </a:ext>
            </a:extLst>
          </p:cNvPr>
          <p:cNvSpPr txBox="1"/>
          <p:nvPr/>
        </p:nvSpPr>
        <p:spPr>
          <a:xfrm>
            <a:off x="1030828" y="4629118"/>
            <a:ext cx="21509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Multi-Strategy Hedge Funds</a:t>
            </a:r>
          </a:p>
        </p:txBody>
      </p:sp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333B4E94-5EF9-5162-13F0-ACED55F823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6200264"/>
              </p:ext>
            </p:extLst>
          </p:nvPr>
        </p:nvGraphicFramePr>
        <p:xfrm>
          <a:off x="3736975" y="4613191"/>
          <a:ext cx="1670050" cy="1267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06752DE7-FA8A-047E-B521-34047CFD08BD}"/>
              </a:ext>
            </a:extLst>
          </p:cNvPr>
          <p:cNvSpPr txBox="1"/>
          <p:nvPr/>
        </p:nvSpPr>
        <p:spPr>
          <a:xfrm>
            <a:off x="3852197" y="4635196"/>
            <a:ext cx="16108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Emerging Markets Local Debt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80D9D3-C33C-BB1D-A07A-6132E2CFB400}"/>
              </a:ext>
            </a:extLst>
          </p:cNvPr>
          <p:cNvSpPr txBox="1"/>
          <p:nvPr/>
        </p:nvSpPr>
        <p:spPr>
          <a:xfrm>
            <a:off x="6219074" y="4635196"/>
            <a:ext cx="13528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Private Equity</a:t>
            </a:r>
          </a:p>
        </p:txBody>
      </p:sp>
      <p:sp>
        <p:nvSpPr>
          <p:cNvPr id="48" name="Down Arrow 47">
            <a:extLst>
              <a:ext uri="{FF2B5EF4-FFF2-40B4-BE49-F238E27FC236}">
                <a16:creationId xmlns:a16="http://schemas.microsoft.com/office/drawing/2014/main" id="{7B7E2306-3343-A47C-622A-FEF24807540D}"/>
              </a:ext>
            </a:extLst>
          </p:cNvPr>
          <p:cNvSpPr/>
          <p:nvPr/>
        </p:nvSpPr>
        <p:spPr>
          <a:xfrm>
            <a:off x="4251759" y="3740442"/>
            <a:ext cx="701675" cy="399463"/>
          </a:xfrm>
          <a:prstGeom prst="downArrow">
            <a:avLst>
              <a:gd name="adj1" fmla="val 52941"/>
              <a:gd name="adj2" fmla="val 77024"/>
            </a:avLst>
          </a:prstGeom>
          <a:solidFill>
            <a:srgbClr val="151824"/>
          </a:solidFill>
          <a:ln w="3175">
            <a:solidFill>
              <a:srgbClr val="7D9B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1DC053-06FF-6A7E-69ED-6B251E5C7B1C}"/>
              </a:ext>
            </a:extLst>
          </p:cNvPr>
          <p:cNvSpPr txBox="1"/>
          <p:nvPr/>
        </p:nvSpPr>
        <p:spPr>
          <a:xfrm>
            <a:off x="567170" y="4279190"/>
            <a:ext cx="8009655" cy="261610"/>
          </a:xfrm>
          <a:prstGeom prst="rect">
            <a:avLst/>
          </a:prstGeom>
          <a:solidFill>
            <a:srgbClr val="70AD47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+mj-lt"/>
              </a:rPr>
              <a:t>Multi-Factor Doubles the Precision in Risk Premia Estimates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6F7A91-B3F9-8DD1-26F4-7358C4230898}"/>
              </a:ext>
            </a:extLst>
          </p:cNvPr>
          <p:cNvSpPr txBox="1"/>
          <p:nvPr/>
        </p:nvSpPr>
        <p:spPr>
          <a:xfrm>
            <a:off x="567171" y="1470343"/>
            <a:ext cx="8009655" cy="261610"/>
          </a:xfrm>
          <a:prstGeom prst="rect">
            <a:avLst/>
          </a:prstGeom>
          <a:solidFill>
            <a:srgbClr val="C00000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+mj-lt"/>
              </a:rPr>
              <a:t>Single Factor Models Fail to Capture the Complex Investment Universe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B59C244-DC1C-8E91-9E36-13070EB0F2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1239586"/>
              </p:ext>
            </p:extLst>
          </p:nvPr>
        </p:nvGraphicFramePr>
        <p:xfrm>
          <a:off x="3863248" y="1862616"/>
          <a:ext cx="1670050" cy="1180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9BA537-D2EB-73A1-1D85-D6FD64C89315}"/>
              </a:ext>
            </a:extLst>
          </p:cNvPr>
          <p:cNvSpPr txBox="1"/>
          <p:nvPr/>
        </p:nvSpPr>
        <p:spPr>
          <a:xfrm>
            <a:off x="3894226" y="3105817"/>
            <a:ext cx="14167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Multi-Strategy Hedge Funds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151DBD6-ADEC-E67E-C135-101532237C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833978"/>
              </p:ext>
            </p:extLst>
          </p:nvPr>
        </p:nvGraphicFramePr>
        <p:xfrm>
          <a:off x="6651625" y="1862616"/>
          <a:ext cx="1670050" cy="1180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84D8DE2-5A17-ACE3-EE98-6715F5D3D55F}"/>
              </a:ext>
            </a:extLst>
          </p:cNvPr>
          <p:cNvSpPr txBox="1"/>
          <p:nvPr/>
        </p:nvSpPr>
        <p:spPr>
          <a:xfrm>
            <a:off x="6668927" y="3113187"/>
            <a:ext cx="14167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Multi-Strategy Hedge Funds</a:t>
            </a:r>
          </a:p>
        </p:txBody>
      </p:sp>
    </p:spTree>
    <p:extLst>
      <p:ext uri="{BB962C8B-B14F-4D97-AF65-F5344CB8AC3E}">
        <p14:creationId xmlns:p14="http://schemas.microsoft.com/office/powerpoint/2010/main" val="905707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45D56-86AC-EF14-0DB2-D62181E36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ED1332EB-25AA-1ECF-C6A0-6C35533911AC}"/>
              </a:ext>
            </a:extLst>
          </p:cNvPr>
          <p:cNvSpPr txBox="1"/>
          <p:nvPr/>
        </p:nvSpPr>
        <p:spPr>
          <a:xfrm>
            <a:off x="4921249" y="5212662"/>
            <a:ext cx="3676650" cy="261610"/>
          </a:xfrm>
          <a:prstGeom prst="rect">
            <a:avLst/>
          </a:prstGeom>
          <a:solidFill>
            <a:srgbClr val="70AD47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Factors Help Understand True Source </a:t>
            </a:r>
            <a:r>
              <a:rPr lang="en-GB"/>
              <a:t>of Diversification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F68117-76B1-D68E-7433-36EBC7B4FBC0}"/>
              </a:ext>
            </a:extLst>
          </p:cNvPr>
          <p:cNvSpPr txBox="1"/>
          <p:nvPr/>
        </p:nvSpPr>
        <p:spPr>
          <a:xfrm>
            <a:off x="488949" y="5203408"/>
            <a:ext cx="3676650" cy="261610"/>
          </a:xfrm>
          <a:prstGeom prst="rect">
            <a:avLst/>
          </a:prstGeom>
          <a:solidFill>
            <a:srgbClr val="C00000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1"/>
                </a:solidFill>
                <a:latin typeface="+mj-lt"/>
              </a:rPr>
              <a:t>Asset Class Diversification Can Be Misleading</a:t>
            </a:r>
            <a:endParaRPr lang="en-US" sz="1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D4FCE-AD65-66BD-C89C-FE26FA1CC679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Better Understanding of Diversification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7CB25-0B57-3E8C-4FDB-59F6EC92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4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7B93F1-299E-60F2-3D45-1C2DAE7A2597}"/>
              </a:ext>
            </a:extLst>
          </p:cNvPr>
          <p:cNvSpPr txBox="1"/>
          <p:nvPr/>
        </p:nvSpPr>
        <p:spPr>
          <a:xfrm>
            <a:off x="488949" y="1187449"/>
            <a:ext cx="3676650" cy="261610"/>
          </a:xfrm>
          <a:prstGeom prst="rect">
            <a:avLst/>
          </a:prstGeom>
          <a:solidFill>
            <a:srgbClr val="151824"/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z="1100" dirty="0"/>
              <a:t>Portfolio 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FA613B-E5C2-56F4-5A5F-E03A1C06EF09}"/>
              </a:ext>
            </a:extLst>
          </p:cNvPr>
          <p:cNvSpPr txBox="1"/>
          <p:nvPr/>
        </p:nvSpPr>
        <p:spPr>
          <a:xfrm>
            <a:off x="338291" y="622539"/>
            <a:ext cx="774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rotesque Light" panose="020B0304020202020204" pitchFamily="34" charset="0"/>
              </a:rPr>
              <a:t>Leading to More Resilient Asset Allocations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1D4F196-6342-FE89-267B-B0FBD5EBC795}"/>
              </a:ext>
            </a:extLst>
          </p:cNvPr>
          <p:cNvSpPr/>
          <p:nvPr/>
        </p:nvSpPr>
        <p:spPr>
          <a:xfrm>
            <a:off x="488949" y="1187449"/>
            <a:ext cx="3676651" cy="428280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0CE1A7-4E6C-2BB3-7764-0B729BB82250}"/>
              </a:ext>
            </a:extLst>
          </p:cNvPr>
          <p:cNvSpPr txBox="1"/>
          <p:nvPr/>
        </p:nvSpPr>
        <p:spPr>
          <a:xfrm>
            <a:off x="4921249" y="1187449"/>
            <a:ext cx="3676650" cy="261610"/>
          </a:xfrm>
          <a:prstGeom prst="rect">
            <a:avLst/>
          </a:prstGeom>
          <a:solidFill>
            <a:srgbClr val="151824"/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z="1100" dirty="0"/>
              <a:t>Portfolio B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93ECB96-65CC-9BFB-243B-57D7B6FF5A17}"/>
              </a:ext>
            </a:extLst>
          </p:cNvPr>
          <p:cNvSpPr/>
          <p:nvPr/>
        </p:nvSpPr>
        <p:spPr>
          <a:xfrm>
            <a:off x="4921249" y="1187449"/>
            <a:ext cx="3675600" cy="42840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A4844-C761-3970-875F-9A670E1CF184}"/>
              </a:ext>
            </a:extLst>
          </p:cNvPr>
          <p:cNvSpPr txBox="1"/>
          <p:nvPr/>
        </p:nvSpPr>
        <p:spPr>
          <a:xfrm>
            <a:off x="488950" y="5776654"/>
            <a:ext cx="8107900" cy="43088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median case, the SAA portfolio would be expected to grow to around $373, in nominal terms, representing $74 additional growth over the reference portfolio over the 20-year horizon.</a:t>
            </a:r>
          </a:p>
        </p:txBody>
      </p:sp>
    </p:spTree>
    <p:extLst>
      <p:ext uri="{BB962C8B-B14F-4D97-AF65-F5344CB8AC3E}">
        <p14:creationId xmlns:p14="http://schemas.microsoft.com/office/powerpoint/2010/main" val="1936380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EE856-C901-FF68-A896-340EF470A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831C97-B8FD-ADED-555B-7172C37C91E1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Sample Portfolio Risk and Return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7DFE78-E2CF-5F9E-A512-6EC39A7B3DED}"/>
              </a:ext>
            </a:extLst>
          </p:cNvPr>
          <p:cNvSpPr txBox="1"/>
          <p:nvPr/>
        </p:nvSpPr>
        <p:spPr>
          <a:xfrm>
            <a:off x="302496" y="1003170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Forward Looking Portfolio Risk and </a:t>
            </a:r>
            <a:r>
              <a:rPr lang="en-US"/>
              <a:t>Return Analytics </a:t>
            </a:r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1C636B3-34E4-B9EB-D790-CDD89E4138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626493"/>
              </p:ext>
            </p:extLst>
          </p:nvPr>
        </p:nvGraphicFramePr>
        <p:xfrm>
          <a:off x="478658" y="1424012"/>
          <a:ext cx="3563796" cy="4819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803900" imgH="7848600" progId="Excel.Sheet.12">
                  <p:embed/>
                </p:oleObj>
              </mc:Choice>
              <mc:Fallback>
                <p:oleObj name="Worksheet" r:id="rId2" imgW="5803900" imgH="7848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8658" y="1424012"/>
                        <a:ext cx="3563796" cy="48195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A9D689C-CEBF-85B7-5F2F-88913F5BB3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781438"/>
              </p:ext>
            </p:extLst>
          </p:nvPr>
        </p:nvGraphicFramePr>
        <p:xfrm>
          <a:off x="4596667" y="1777843"/>
          <a:ext cx="3976526" cy="410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032500" imgH="6223000" progId="Excel.Sheet.12">
                  <p:embed/>
                </p:oleObj>
              </mc:Choice>
              <mc:Fallback>
                <p:oleObj name="Worksheet" r:id="rId4" imgW="6032500" imgH="6223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96667" y="1777843"/>
                        <a:ext cx="3976526" cy="410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16B4329-6EFE-196D-D94A-9B60009C7E1E}"/>
              </a:ext>
            </a:extLst>
          </p:cNvPr>
          <p:cNvSpPr txBox="1"/>
          <p:nvPr/>
        </p:nvSpPr>
        <p:spPr>
          <a:xfrm>
            <a:off x="338291" y="588604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Base Currency: USD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BE04B9-7B16-9B76-E4AC-9FC610AA1899}"/>
              </a:ext>
            </a:extLst>
          </p:cNvPr>
          <p:cNvCxnSpPr/>
          <p:nvPr/>
        </p:nvCxnSpPr>
        <p:spPr>
          <a:xfrm>
            <a:off x="302496" y="6436242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EF60B05-2298-2A08-B562-00A35E0A143E}"/>
              </a:ext>
            </a:extLst>
          </p:cNvPr>
          <p:cNvSpPr txBox="1"/>
          <p:nvPr/>
        </p:nvSpPr>
        <p:spPr>
          <a:xfrm>
            <a:off x="237947" y="6470773"/>
            <a:ext cx="8596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aseline="30000" dirty="0">
                <a:latin typeface="Grotesque Light" panose="020B0304020202020204" pitchFamily="34" charset="0"/>
              </a:rPr>
              <a:t>1</a:t>
            </a:r>
            <a:r>
              <a:rPr lang="en-US" sz="700" dirty="0">
                <a:latin typeface="Grotesque Light" panose="020B0304020202020204" pitchFamily="34" charset="0"/>
              </a:rPr>
              <a:t>Predicted performance over stress periods captures the expected cumulative portfolio performance should a similar type economic shock happens again in the future. Past performance is not indicative of future results, which may vary. Not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2636714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8801-7EA8-BE34-422D-B22A73EB1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027511-E1A0-5646-C7ED-AF8203B013F3}"/>
              </a:ext>
            </a:extLst>
          </p:cNvPr>
          <p:cNvSpPr txBox="1"/>
          <p:nvPr/>
        </p:nvSpPr>
        <p:spPr>
          <a:xfrm>
            <a:off x="302495" y="311996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Portfolio Risk</a:t>
            </a:r>
            <a:r>
              <a:rPr lang="en-US" sz="2000" baseline="30000" dirty="0">
                <a:latin typeface="Grotesque Light" panose="020B0304020202020204" pitchFamily="34" charset="0"/>
              </a:rPr>
              <a:t>1</a:t>
            </a:r>
            <a:r>
              <a:rPr lang="en-US" sz="2000" dirty="0">
                <a:latin typeface="Grotesque Light" panose="020B0304020202020204" pitchFamily="34" charset="0"/>
              </a:rPr>
              <a:t> 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65087-5F7A-9CC0-C4F8-18C39F468874}"/>
              </a:ext>
            </a:extLst>
          </p:cNvPr>
          <p:cNvSpPr txBox="1"/>
          <p:nvPr/>
        </p:nvSpPr>
        <p:spPr>
          <a:xfrm>
            <a:off x="302495" y="1155211"/>
            <a:ext cx="3998843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Risk </a:t>
            </a:r>
            <a:r>
              <a:rPr lang="en-US"/>
              <a:t>Decomposition by Asset Class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D0A72-9B7D-06B1-1085-AC7870394F3A}"/>
              </a:ext>
            </a:extLst>
          </p:cNvPr>
          <p:cNvSpPr txBox="1"/>
          <p:nvPr/>
        </p:nvSpPr>
        <p:spPr>
          <a:xfrm>
            <a:off x="4520794" y="1160191"/>
            <a:ext cx="4320711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Risk </a:t>
            </a:r>
            <a:r>
              <a:rPr lang="en-US"/>
              <a:t>Decomposition by FX Exposure</a:t>
            </a:r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CF8B335-84BD-19F5-3C3B-2FFA69D008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9702999"/>
              </p:ext>
            </p:extLst>
          </p:nvPr>
        </p:nvGraphicFramePr>
        <p:xfrm>
          <a:off x="416530" y="1671713"/>
          <a:ext cx="3636661" cy="4243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AB950D54-8C89-40B7-6CFD-0A37722B79D8}"/>
              </a:ext>
            </a:extLst>
          </p:cNvPr>
          <p:cNvSpPr/>
          <p:nvPr/>
        </p:nvSpPr>
        <p:spPr>
          <a:xfrm>
            <a:off x="3636659" y="4890200"/>
            <a:ext cx="337721" cy="33392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6BBF2552-DA96-5A44-9E94-D86247C862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7538140"/>
              </p:ext>
            </p:extLst>
          </p:nvPr>
        </p:nvGraphicFramePr>
        <p:xfrm>
          <a:off x="4429327" y="1735208"/>
          <a:ext cx="4202349" cy="170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4DED66C-AE00-1949-59D0-B0455183828A}"/>
              </a:ext>
            </a:extLst>
          </p:cNvPr>
          <p:cNvSpPr txBox="1"/>
          <p:nvPr/>
        </p:nvSpPr>
        <p:spPr>
          <a:xfrm>
            <a:off x="4474723" y="3754287"/>
            <a:ext cx="4252747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Portfolio Risk Under Various Currency </a:t>
            </a:r>
            <a:r>
              <a:rPr lang="en-US"/>
              <a:t>Hedging Scenarios</a:t>
            </a:r>
            <a:endParaRPr lang="en-US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C86B274B-F430-D553-8FEB-31F4119C3A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445927"/>
              </p:ext>
            </p:extLst>
          </p:nvPr>
        </p:nvGraphicFramePr>
        <p:xfrm>
          <a:off x="4753583" y="4224739"/>
          <a:ext cx="3761767" cy="18097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6157E1D-4D6A-EAB3-8A6E-CFF040D370F2}"/>
              </a:ext>
            </a:extLst>
          </p:cNvPr>
          <p:cNvSpPr txBox="1"/>
          <p:nvPr/>
        </p:nvSpPr>
        <p:spPr>
          <a:xfrm>
            <a:off x="7168028" y="4186286"/>
            <a:ext cx="1559442" cy="507831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 algn="ctr">
              <a:buFont typeface="Arial" panose="020B0604020202020204" pitchFamily="34" charset="0"/>
              <a:buChar char="•"/>
              <a:defRPr sz="11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indent="0">
              <a:buNone/>
            </a:pPr>
            <a:r>
              <a:rPr lang="en-US" sz="900" dirty="0"/>
              <a:t>The portfolio volatility can be minimized further by hedging all foreign currencies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E5745D-8085-8D77-A4F5-1102756F63B1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E9630B3-32EF-D46C-D1E8-D1FFCC088C93}"/>
              </a:ext>
            </a:extLst>
          </p:cNvPr>
          <p:cNvSpPr txBox="1"/>
          <p:nvPr/>
        </p:nvSpPr>
        <p:spPr>
          <a:xfrm>
            <a:off x="245035" y="6581915"/>
            <a:ext cx="774737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aseline="30000" dirty="0">
                <a:latin typeface="Grotesque Light" panose="020B0304020202020204" pitchFamily="34" charset="0"/>
              </a:rPr>
              <a:t>1</a:t>
            </a:r>
            <a:r>
              <a:rPr lang="en-US" sz="700" dirty="0">
                <a:latin typeface="Grotesque Light" panose="020B0304020202020204" pitchFamily="34" charset="0"/>
              </a:rPr>
              <a:t>Risk is quantified by the ex-ante variance of portfolio returns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3FC3FD-33ED-8790-CE85-20C66D68F3D1}"/>
              </a:ext>
            </a:extLst>
          </p:cNvPr>
          <p:cNvCxnSpPr>
            <a:cxnSpLocks/>
          </p:cNvCxnSpPr>
          <p:nvPr/>
        </p:nvCxnSpPr>
        <p:spPr>
          <a:xfrm>
            <a:off x="3805519" y="4362113"/>
            <a:ext cx="0" cy="5139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FF632F-7A25-C3F1-5485-0D4D4F153500}"/>
              </a:ext>
            </a:extLst>
          </p:cNvPr>
          <p:cNvSpPr txBox="1"/>
          <p:nvPr/>
        </p:nvSpPr>
        <p:spPr>
          <a:xfrm>
            <a:off x="2716978" y="3854282"/>
            <a:ext cx="1395403" cy="64633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Calibri Light" panose="020F0302020204030204" pitchFamily="34" charset="0"/>
                <a:cs typeface="Calibri Light" panose="020F0302020204030204" pitchFamily="34" charset="0"/>
              </a:rPr>
              <a:t>Close to half of the portfolio volatility is driven by exposure to US Equity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D4AB2C-DB9C-7329-2CBD-82ADC4950067}"/>
              </a:ext>
            </a:extLst>
          </p:cNvPr>
          <p:cNvSpPr txBox="1"/>
          <p:nvPr/>
        </p:nvSpPr>
        <p:spPr>
          <a:xfrm>
            <a:off x="317027" y="624044"/>
            <a:ext cx="7747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Base Currency: USD</a:t>
            </a:r>
          </a:p>
        </p:txBody>
      </p:sp>
    </p:spTree>
    <p:extLst>
      <p:ext uri="{BB962C8B-B14F-4D97-AF65-F5344CB8AC3E}">
        <p14:creationId xmlns:p14="http://schemas.microsoft.com/office/powerpoint/2010/main" val="94158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47D3-69BF-4848-16EB-8DEE57A55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C8BF4C-58D3-640F-09F0-4D52535DBB73}"/>
              </a:ext>
            </a:extLst>
          </p:cNvPr>
          <p:cNvSpPr txBox="1"/>
          <p:nvPr/>
        </p:nvSpPr>
        <p:spPr>
          <a:xfrm>
            <a:off x="317027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Portfolio Factor 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4C6099-039A-C340-A268-BD7F3DF29FB2}"/>
              </a:ext>
            </a:extLst>
          </p:cNvPr>
          <p:cNvSpPr txBox="1"/>
          <p:nvPr/>
        </p:nvSpPr>
        <p:spPr>
          <a:xfrm>
            <a:off x="302495" y="1109211"/>
            <a:ext cx="3998843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z="1100"/>
              <a:t>Excess Return </a:t>
            </a:r>
            <a:r>
              <a:rPr lang="en-US" sz="1100" dirty="0"/>
              <a:t>Decomposition </a:t>
            </a:r>
            <a:r>
              <a:rPr lang="en-US" sz="1100"/>
              <a:t>by Factor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6F0554-EBD5-6754-F517-9DE8E5BC07FB}"/>
              </a:ext>
            </a:extLst>
          </p:cNvPr>
          <p:cNvSpPr txBox="1"/>
          <p:nvPr/>
        </p:nvSpPr>
        <p:spPr>
          <a:xfrm>
            <a:off x="4520794" y="1101221"/>
            <a:ext cx="4320711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Portfolio Loss Given 2 Standard Deviation Factor Shock</a:t>
            </a:r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B9802A8-594D-AEE9-98F2-701F267832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489272"/>
              </p:ext>
            </p:extLst>
          </p:nvPr>
        </p:nvGraphicFramePr>
        <p:xfrm>
          <a:off x="412480" y="1565269"/>
          <a:ext cx="3799499" cy="4007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F3683AD-052A-4312-F594-807ADDD9F4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6356151"/>
              </p:ext>
            </p:extLst>
          </p:nvPr>
        </p:nvGraphicFramePr>
        <p:xfrm>
          <a:off x="4572000" y="1475380"/>
          <a:ext cx="4089843" cy="3979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C963BCA-E6F3-3457-521C-53C1B623FFFE}"/>
              </a:ext>
            </a:extLst>
          </p:cNvPr>
          <p:cNvSpPr txBox="1"/>
          <p:nvPr/>
        </p:nvSpPr>
        <p:spPr>
          <a:xfrm>
            <a:off x="317027" y="624044"/>
            <a:ext cx="7747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Base Currency: USD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2AD8A8-7963-D5BB-5A1F-1EFB1D80261C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413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ED990-EDA5-93B9-1247-B2BA65E0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000000-0008-0000-04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5827551"/>
              </p:ext>
            </p:extLst>
          </p:nvPr>
        </p:nvGraphicFramePr>
        <p:xfrm>
          <a:off x="338291" y="1451869"/>
          <a:ext cx="6027608" cy="4013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7721431-2CC8-123C-C694-FD7352C7CCC7}"/>
              </a:ext>
            </a:extLst>
          </p:cNvPr>
          <p:cNvSpPr txBox="1"/>
          <p:nvPr/>
        </p:nvSpPr>
        <p:spPr>
          <a:xfrm>
            <a:off x="302496" y="1023947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Evolution of Nominal Portfolio Value Paths, Over 20 Years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ECEF5-8C2E-0B67-5638-CF5F6375D00B}"/>
              </a:ext>
            </a:extLst>
          </p:cNvPr>
          <p:cNvSpPr txBox="1"/>
          <p:nvPr/>
        </p:nvSpPr>
        <p:spPr>
          <a:xfrm>
            <a:off x="6702254" y="3487370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Reference Portfolio Median Case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050885-67A2-1CA1-F36C-E38993B1A687}"/>
              </a:ext>
            </a:extLst>
          </p:cNvPr>
          <p:cNvCxnSpPr/>
          <p:nvPr/>
        </p:nvCxnSpPr>
        <p:spPr>
          <a:xfrm flipH="1">
            <a:off x="6442679" y="3603501"/>
            <a:ext cx="2233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436186C-024D-7652-ADED-5A90AE8DEFBE}"/>
              </a:ext>
            </a:extLst>
          </p:cNvPr>
          <p:cNvSpPr txBox="1"/>
          <p:nvPr/>
        </p:nvSpPr>
        <p:spPr>
          <a:xfrm>
            <a:off x="6702254" y="3183584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SAA Portfolio Median Case </a:t>
            </a:r>
            <a:r>
              <a:rPr lang="en-US" sz="1000" dirty="0">
                <a:solidFill>
                  <a:srgbClr val="7CC04D"/>
                </a:solidFill>
              </a:rPr>
              <a:t>(+74mn)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5912D7-CFD8-EE30-39EB-9BF033520932}"/>
              </a:ext>
            </a:extLst>
          </p:cNvPr>
          <p:cNvCxnSpPr/>
          <p:nvPr/>
        </p:nvCxnSpPr>
        <p:spPr>
          <a:xfrm flipH="1">
            <a:off x="6442679" y="3299715"/>
            <a:ext cx="2233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1BF37A9-8B5D-F983-1FC3-258D70E7A3FF}"/>
              </a:ext>
            </a:extLst>
          </p:cNvPr>
          <p:cNvSpPr txBox="1"/>
          <p:nvPr/>
        </p:nvSpPr>
        <p:spPr>
          <a:xfrm>
            <a:off x="460745" y="5537147"/>
            <a:ext cx="8380760" cy="769441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median case, the SAA portfolio would be expected to grow to around $373, in nominal terms, representing $74 additional growth over the reference portfolio over the 20-year horizon.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1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very bad case, the portfolio would still be expected to grow in nominal terms.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901AA9-D0BE-D819-A9C8-11348B06BC8C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Portfolio Wealth Projections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936D7F-89B8-C8B5-D050-7B14494E386D}"/>
              </a:ext>
            </a:extLst>
          </p:cNvPr>
          <p:cNvSpPr txBox="1"/>
          <p:nvPr/>
        </p:nvSpPr>
        <p:spPr>
          <a:xfrm>
            <a:off x="338291" y="588604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Currency: USD. </a:t>
            </a: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No Inflows or Outflows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28A640-95FF-CC71-4B29-1BB1163BB34E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091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06753-B0B4-376E-9014-32E18E3B9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CF33C7-9276-F324-2DCB-69624477106F}"/>
              </a:ext>
            </a:extLst>
          </p:cNvPr>
          <p:cNvSpPr txBox="1"/>
          <p:nvPr/>
        </p:nvSpPr>
        <p:spPr>
          <a:xfrm>
            <a:off x="338291" y="23326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Portfolio Capital Preservation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6090D4-F37F-CE20-B207-BD276D0E5E63}"/>
              </a:ext>
            </a:extLst>
          </p:cNvPr>
          <p:cNvSpPr txBox="1"/>
          <p:nvPr/>
        </p:nvSpPr>
        <p:spPr>
          <a:xfrm>
            <a:off x="302496" y="1039422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Portfolio Wealth Illustrations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BA0733-B160-F21F-F7CC-59D810F719E8}"/>
              </a:ext>
            </a:extLst>
          </p:cNvPr>
          <p:cNvSpPr txBox="1"/>
          <p:nvPr/>
        </p:nvSpPr>
        <p:spPr>
          <a:xfrm>
            <a:off x="338291" y="567664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Currency: USD. </a:t>
            </a:r>
            <a:r>
              <a:rPr lang="en-US" sz="1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5.5 Million Yearly Spend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8886F-8D60-E291-30E0-633BA85B9EC4}"/>
              </a:ext>
            </a:extLst>
          </p:cNvPr>
          <p:cNvSpPr txBox="1"/>
          <p:nvPr/>
        </p:nvSpPr>
        <p:spPr>
          <a:xfrm>
            <a:off x="781997" y="5578593"/>
            <a:ext cx="7831295" cy="60016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With a spend of $5.5mm per year, some amount of real capital destruction would be expected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1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very bad case, the portfolio could experience full capital depletion within the 20-year investment horizon.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78CF40-D4D8-9660-A548-E92F41683D22}"/>
              </a:ext>
            </a:extLst>
          </p:cNvPr>
          <p:cNvGrpSpPr/>
          <p:nvPr/>
        </p:nvGrpSpPr>
        <p:grpSpPr>
          <a:xfrm>
            <a:off x="302495" y="1556951"/>
            <a:ext cx="8539009" cy="3797339"/>
            <a:chOff x="302495" y="1530330"/>
            <a:chExt cx="8539009" cy="3797339"/>
          </a:xfrm>
        </p:grpSpPr>
        <p:graphicFrame>
          <p:nvGraphicFramePr>
            <p:cNvPr id="11" name="Chart 10">
              <a:extLst>
                <a:ext uri="{FF2B5EF4-FFF2-40B4-BE49-F238E27FC236}">
                  <a16:creationId xmlns:a16="http://schemas.microsoft.com/office/drawing/2014/main" id="{00000000-0008-0000-0A00-000004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31744640"/>
                </p:ext>
              </p:extLst>
            </p:nvPr>
          </p:nvGraphicFramePr>
          <p:xfrm>
            <a:off x="302495" y="1530330"/>
            <a:ext cx="8539009" cy="37315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00000000-0008-0000-0A00-000002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32867668"/>
                </p:ext>
              </p:extLst>
            </p:nvPr>
          </p:nvGraphicFramePr>
          <p:xfrm>
            <a:off x="4572000" y="1604152"/>
            <a:ext cx="4194356" cy="372351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A58B946-1E66-5757-23B5-C88CFA7B8CCC}"/>
              </a:ext>
            </a:extLst>
          </p:cNvPr>
          <p:cNvSpPr txBox="1"/>
          <p:nvPr/>
        </p:nvSpPr>
        <p:spPr>
          <a:xfrm>
            <a:off x="302495" y="1364065"/>
            <a:ext cx="3998843" cy="2616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Portfolio Value Paths, Adjusted for Inflation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1F41FD-7777-AE1B-F2E4-708DDEF2DFBD}"/>
              </a:ext>
            </a:extLst>
          </p:cNvPr>
          <p:cNvSpPr txBox="1"/>
          <p:nvPr/>
        </p:nvSpPr>
        <p:spPr>
          <a:xfrm>
            <a:off x="4520794" y="1362947"/>
            <a:ext cx="4320711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Yearly Real Outflow Quantiles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63BDF97-9B99-2D27-41D9-DEC946834A66}"/>
              </a:ext>
            </a:extLst>
          </p:cNvPr>
          <p:cNvSpPr/>
          <p:nvPr/>
        </p:nvSpPr>
        <p:spPr>
          <a:xfrm>
            <a:off x="4069209" y="3329480"/>
            <a:ext cx="328067" cy="3141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E86B78B-78CC-57BB-7545-15F07EA2C1BC}"/>
              </a:ext>
            </a:extLst>
          </p:cNvPr>
          <p:cNvCxnSpPr/>
          <p:nvPr/>
        </p:nvCxnSpPr>
        <p:spPr>
          <a:xfrm>
            <a:off x="935125" y="3226290"/>
            <a:ext cx="335203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D7BBA2E-CEE7-A857-7C2A-611D396E98CB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202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47BA1-F357-E0B7-CABB-755AE647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C15D3C2-5CA1-C2CB-08BA-53429653B7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1687004"/>
              </p:ext>
            </p:extLst>
          </p:nvPr>
        </p:nvGraphicFramePr>
        <p:xfrm>
          <a:off x="506415" y="1394134"/>
          <a:ext cx="8131170" cy="4226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040C3-DBCE-44EA-1E31-B426D2AE9161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Probability of Wealth Preservation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7F05CC-8F1F-EA77-0228-AE616BC5229B}"/>
              </a:ext>
            </a:extLst>
          </p:cNvPr>
          <p:cNvSpPr txBox="1"/>
          <p:nvPr/>
        </p:nvSpPr>
        <p:spPr>
          <a:xfrm>
            <a:off x="302496" y="982066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Probability of Real Wealth Preservation Across Spending Levels and Investment Horizon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20E49B-4298-6478-3440-3F151A56BC66}"/>
              </a:ext>
            </a:extLst>
          </p:cNvPr>
          <p:cNvSpPr txBox="1"/>
          <p:nvPr/>
        </p:nvSpPr>
        <p:spPr>
          <a:xfrm>
            <a:off x="656353" y="5665542"/>
            <a:ext cx="7831295" cy="60016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With a spend of $5.5mm per year, some amount of real capital destruction would be expected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1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very bad case, the portfolio could experience full capital depletion within the 20-year investment horizon.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7D334C0-FFCA-96A4-A6A0-0C57C89EAA6B}"/>
              </a:ext>
            </a:extLst>
          </p:cNvPr>
          <p:cNvCxnSpPr>
            <a:cxnSpLocks/>
          </p:cNvCxnSpPr>
          <p:nvPr/>
        </p:nvCxnSpPr>
        <p:spPr>
          <a:xfrm>
            <a:off x="1047022" y="3371414"/>
            <a:ext cx="740594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48B962-3241-D66C-0A45-32755C423AAB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24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AE7AB-3BA2-EB9A-40E3-B4974B1F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498BBE-9EFF-A4C1-6BF5-3F50123268F9}"/>
              </a:ext>
            </a:extLst>
          </p:cNvPr>
          <p:cNvSpPr txBox="1"/>
          <p:nvPr/>
        </p:nvSpPr>
        <p:spPr>
          <a:xfrm>
            <a:off x="302496" y="781105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Forward Looking Portfolio Risk and Return Analytics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8E11F-A6B8-F6B2-683E-79503EFB2D1D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Portfolio Optimizations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98C08494-0D8D-C4CF-6B63-C25AA11538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86409"/>
              </p:ext>
            </p:extLst>
          </p:nvPr>
        </p:nvGraphicFramePr>
        <p:xfrm>
          <a:off x="865634" y="1087814"/>
          <a:ext cx="7412733" cy="5312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280900" imgH="8801100" progId="Excel.Sheet.12">
                  <p:embed/>
                </p:oleObj>
              </mc:Choice>
              <mc:Fallback>
                <p:oleObj name="Worksheet" r:id="rId2" imgW="12280900" imgH="8801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5634" y="1087814"/>
                        <a:ext cx="7412733" cy="53125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FA4E2B-27E8-88AF-FF21-E6E637E6A6C7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843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89C3F-D813-D027-1F00-1244E8081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28091A7-2BFA-AAA3-1338-E6F8706123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531991"/>
              </p:ext>
            </p:extLst>
          </p:nvPr>
        </p:nvGraphicFramePr>
        <p:xfrm>
          <a:off x="338291" y="1255231"/>
          <a:ext cx="8439419" cy="5304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881100" imgH="8724900" progId="Excel.Sheet.12">
                  <p:embed/>
                </p:oleObj>
              </mc:Choice>
              <mc:Fallback>
                <p:oleObj name="Worksheet" r:id="rId2" imgW="13881100" imgH="8724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8291" y="1255231"/>
                        <a:ext cx="8439419" cy="5304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9A2B41A-189A-6BFF-155D-4DBF5DF27FA6}"/>
              </a:ext>
            </a:extLst>
          </p:cNvPr>
          <p:cNvSpPr txBox="1"/>
          <p:nvPr/>
        </p:nvSpPr>
        <p:spPr>
          <a:xfrm>
            <a:off x="302496" y="919246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Forward Looking Portfolio Risk and Return Analytics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D1AD8D-C50F-D0A5-6C28-1F235C4463D8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Portfolio Optimizations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263B4F-ED14-09DE-D72D-36EF1B6F10FF}"/>
              </a:ext>
            </a:extLst>
          </p:cNvPr>
          <p:cNvCxnSpPr/>
          <p:nvPr/>
        </p:nvCxnSpPr>
        <p:spPr>
          <a:xfrm>
            <a:off x="302495" y="6592183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386A76D8-B4C1-AC8A-C5AC-EF2E3E2B5E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856931"/>
              </p:ext>
            </p:extLst>
          </p:nvPr>
        </p:nvGraphicFramePr>
        <p:xfrm>
          <a:off x="366290" y="5602769"/>
          <a:ext cx="1696426" cy="742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349500" imgH="1028700" progId="Excel.Sheet.12">
                  <p:embed/>
                </p:oleObj>
              </mc:Choice>
              <mc:Fallback>
                <p:oleObj name="Worksheet" r:id="rId4" imgW="2349500" imgH="1028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6290" y="5602769"/>
                        <a:ext cx="1696426" cy="742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0541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84BBA-D5B5-C8D2-6FE8-78AE7757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9D295AC-F777-745F-6A90-B3A88C942A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557007"/>
              </p:ext>
            </p:extLst>
          </p:nvPr>
        </p:nvGraphicFramePr>
        <p:xfrm>
          <a:off x="1551072" y="1196245"/>
          <a:ext cx="6041857" cy="4548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890000" imgH="6692900" progId="Excel.Sheet.12">
                  <p:embed/>
                </p:oleObj>
              </mc:Choice>
              <mc:Fallback>
                <p:oleObj name="Worksheet" r:id="rId2" imgW="8890000" imgH="6692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51072" y="1196245"/>
                        <a:ext cx="6041857" cy="4548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C120C29-EB57-CA8E-AE1E-04A1D144A0CD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Concentrated Equity Position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CDC96-F6FD-9172-CCBD-9AD709D7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13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D486EC-85B1-5F82-9EF8-6DCE82811978}"/>
              </a:ext>
            </a:extLst>
          </p:cNvPr>
          <p:cNvSpPr txBox="1"/>
          <p:nvPr/>
        </p:nvSpPr>
        <p:spPr>
          <a:xfrm>
            <a:off x="1131488" y="899511"/>
            <a:ext cx="6881024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Forward Looking Portfolio Risk and Return Analytics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12DECC-AF5E-E916-A756-E570658541B3}"/>
              </a:ext>
            </a:extLst>
          </p:cNvPr>
          <p:cNvSpPr/>
          <p:nvPr/>
        </p:nvSpPr>
        <p:spPr>
          <a:xfrm>
            <a:off x="4039149" y="5552183"/>
            <a:ext cx="447332" cy="19525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9097A-2074-1F71-DA1C-A9A8F7F5C01A}"/>
              </a:ext>
            </a:extLst>
          </p:cNvPr>
          <p:cNvSpPr txBox="1"/>
          <p:nvPr/>
        </p:nvSpPr>
        <p:spPr>
          <a:xfrm>
            <a:off x="2709891" y="6056175"/>
            <a:ext cx="3105848" cy="430887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Portfolio risk over twice that of an aggressive diversified portfolio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E68E7F-1AA9-4FA3-6D65-2A1F35FFDF49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4262815" y="5747435"/>
            <a:ext cx="0" cy="30874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4E51727-7245-4EA1-2A00-7329E9D95795}"/>
              </a:ext>
            </a:extLst>
          </p:cNvPr>
          <p:cNvSpPr/>
          <p:nvPr/>
        </p:nvSpPr>
        <p:spPr>
          <a:xfrm>
            <a:off x="1551071" y="4605235"/>
            <a:ext cx="6041856" cy="296029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F7EA01-C570-15AA-6B52-8562B22E7961}"/>
              </a:ext>
            </a:extLst>
          </p:cNvPr>
          <p:cNvSpPr txBox="1"/>
          <p:nvPr/>
        </p:nvSpPr>
        <p:spPr>
          <a:xfrm>
            <a:off x="0" y="6646224"/>
            <a:ext cx="90106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Intel Stock is return is modelled using the stocks designated GICS sector, in this case, S&amp;P 500 Information Technology. The systematic sector risk is adjusted upwards to match the stocks historical trading volatility</a:t>
            </a:r>
          </a:p>
        </p:txBody>
      </p:sp>
    </p:spTree>
    <p:extLst>
      <p:ext uri="{BB962C8B-B14F-4D97-AF65-F5344CB8AC3E}">
        <p14:creationId xmlns:p14="http://schemas.microsoft.com/office/powerpoint/2010/main" val="3569768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46D20-315D-F555-9389-750903EE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A19030-9CE5-76E5-87FC-7FAA5049DD76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Concentrated Equity Position Risk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F2D7A-83F3-223D-8BBA-89BD7DFE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14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7DCD7-C1DF-277F-5BAE-99341680140D}"/>
              </a:ext>
            </a:extLst>
          </p:cNvPr>
          <p:cNvSpPr txBox="1"/>
          <p:nvPr/>
        </p:nvSpPr>
        <p:spPr>
          <a:xfrm>
            <a:off x="498863" y="4224332"/>
            <a:ext cx="3737638" cy="261610"/>
          </a:xfrm>
          <a:prstGeom prst="rect">
            <a:avLst/>
          </a:prstGeom>
          <a:solidFill>
            <a:srgbClr val="151824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Impact of Concentrated Position on Portfolio Value at Risk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A9E159A-E50C-8CC7-0EA9-439DB6AD9C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3616478"/>
              </p:ext>
            </p:extLst>
          </p:nvPr>
        </p:nvGraphicFramePr>
        <p:xfrm>
          <a:off x="628650" y="4617510"/>
          <a:ext cx="3391200" cy="1797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52B7A2A-E1EE-2C5C-3561-0527A766C545}"/>
              </a:ext>
            </a:extLst>
          </p:cNvPr>
          <p:cNvSpPr txBox="1"/>
          <p:nvPr/>
        </p:nvSpPr>
        <p:spPr>
          <a:xfrm>
            <a:off x="528730" y="904606"/>
            <a:ext cx="8086541" cy="26161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Most of the risk inherent in a concentrated stock position is idiosyncratic, and absent a strong forward view, it should be diversified away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E8A25-032E-97F9-E9F8-5A373A8DA7E1}"/>
              </a:ext>
            </a:extLst>
          </p:cNvPr>
          <p:cNvSpPr txBox="1"/>
          <p:nvPr/>
        </p:nvSpPr>
        <p:spPr>
          <a:xfrm>
            <a:off x="4907497" y="4224332"/>
            <a:ext cx="3737639" cy="261610"/>
          </a:xfrm>
          <a:prstGeom prst="rect">
            <a:avLst/>
          </a:prstGeom>
          <a:solidFill>
            <a:srgbClr val="151824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Impact of Concentrated Position on Probability of Loss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5BBC4F7-4522-7348-8A20-1AB34DEEBD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0034240"/>
              </p:ext>
            </p:extLst>
          </p:nvPr>
        </p:nvGraphicFramePr>
        <p:xfrm>
          <a:off x="5033632" y="4617510"/>
          <a:ext cx="33912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E54BAF49-5A9D-D8DB-8C48-7E8D6386EE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0943756"/>
              </p:ext>
            </p:extLst>
          </p:nvPr>
        </p:nvGraphicFramePr>
        <p:xfrm>
          <a:off x="5033632" y="1467061"/>
          <a:ext cx="3179411" cy="2364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D324663-6050-7EEE-6237-D3BC4E61D4D6}"/>
              </a:ext>
            </a:extLst>
          </p:cNvPr>
          <p:cNvSpPr txBox="1"/>
          <p:nvPr/>
        </p:nvSpPr>
        <p:spPr>
          <a:xfrm>
            <a:off x="0" y="6646224"/>
            <a:ext cx="90106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Assumes the risk aversion of an aggressive global investor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98FA5FD0-8933-5964-01AF-93BA1A6BE7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0271080"/>
              </p:ext>
            </p:extLst>
          </p:nvPr>
        </p:nvGraphicFramePr>
        <p:xfrm>
          <a:off x="734544" y="1517401"/>
          <a:ext cx="3179411" cy="2475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684931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8E2A9-B068-2D8B-D3C3-FB0F3CBF9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DCF5330C-C74E-1CEB-9A43-79F2C202DF98}"/>
              </a:ext>
            </a:extLst>
          </p:cNvPr>
          <p:cNvSpPr/>
          <p:nvPr/>
        </p:nvSpPr>
        <p:spPr>
          <a:xfrm>
            <a:off x="1661276" y="4320716"/>
            <a:ext cx="1765979" cy="642174"/>
          </a:xfrm>
          <a:prstGeom prst="ellipse">
            <a:avLst/>
          </a:prstGeom>
          <a:solidFill>
            <a:srgbClr val="DAE3F3">
              <a:alpha val="41569"/>
            </a:srgbClr>
          </a:solidFill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73F5AFF-436E-81FC-A26E-30B6A62454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0508918"/>
              </p:ext>
            </p:extLst>
          </p:nvPr>
        </p:nvGraphicFramePr>
        <p:xfrm>
          <a:off x="812967" y="1298853"/>
          <a:ext cx="7518065" cy="4260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8B1ECD1-6320-2DBE-194E-1890AAD3A561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Diversification Opportunities by Asset Class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90E6E-AB34-363D-56C9-5148B5C31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15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78AD09-1790-4E2A-F252-079321639212}"/>
              </a:ext>
            </a:extLst>
          </p:cNvPr>
          <p:cNvSpPr txBox="1"/>
          <p:nvPr/>
        </p:nvSpPr>
        <p:spPr>
          <a:xfrm>
            <a:off x="302496" y="919246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Forward Looking Portfolio Risk and Return Analytics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E8A64-FCD5-1280-7F9B-9B14D5B0AB65}"/>
              </a:ext>
            </a:extLst>
          </p:cNvPr>
          <p:cNvSpPr txBox="1"/>
          <p:nvPr/>
        </p:nvSpPr>
        <p:spPr>
          <a:xfrm>
            <a:off x="1242468" y="5678764"/>
            <a:ext cx="3790221" cy="60016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Ideal diversifiers for holders of Intel stock would be those assets with both low correlation to Intel and low volatility. This means </a:t>
            </a:r>
            <a:r>
              <a:rPr lang="en-US" sz="11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high quality fixed income </a:t>
            </a: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US" sz="11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tactical trading hedge funds</a:t>
            </a: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D8588E-77B9-F670-828E-BD57E3393343}"/>
              </a:ext>
            </a:extLst>
          </p:cNvPr>
          <p:cNvCxnSpPr>
            <a:cxnSpLocks/>
          </p:cNvCxnSpPr>
          <p:nvPr/>
        </p:nvCxnSpPr>
        <p:spPr>
          <a:xfrm flipV="1">
            <a:off x="2297898" y="4962890"/>
            <a:ext cx="0" cy="7158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AA97275-75F2-473A-2602-74781129B8DA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5295014" y="4494028"/>
            <a:ext cx="1638738" cy="1167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61486AC-E8B5-3352-496A-0E2B31166798}"/>
              </a:ext>
            </a:extLst>
          </p:cNvPr>
          <p:cNvSpPr txBox="1"/>
          <p:nvPr/>
        </p:nvSpPr>
        <p:spPr>
          <a:xfrm>
            <a:off x="5597540" y="5661755"/>
            <a:ext cx="2672424" cy="40011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 Light" panose="020F0302020204030204" pitchFamily="34" charset="0"/>
                <a:cs typeface="Calibri Light" panose="020F0302020204030204" pitchFamily="34" charset="0"/>
              </a:rPr>
              <a:t>Multi-Asset diversified portfolios represent a good diversification opportunity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B6132-4746-51C4-3AFF-1204A1CC9FD5}"/>
              </a:ext>
            </a:extLst>
          </p:cNvPr>
          <p:cNvSpPr txBox="1"/>
          <p:nvPr/>
        </p:nvSpPr>
        <p:spPr>
          <a:xfrm>
            <a:off x="6301563" y="289102"/>
            <a:ext cx="1784104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Check Correlation of Moderate Portfolio</a:t>
            </a:r>
          </a:p>
        </p:txBody>
      </p:sp>
    </p:spTree>
    <p:extLst>
      <p:ext uri="{BB962C8B-B14F-4D97-AF65-F5344CB8AC3E}">
        <p14:creationId xmlns:p14="http://schemas.microsoft.com/office/powerpoint/2010/main" val="1121902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B8C55-35EA-0323-C5F9-6078B488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BF4423-11FF-9F9F-514C-367A1F464C5B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Example Staged Diversification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58329-9F3C-614A-2C87-510AE8E80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16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589848-5162-B1FB-B508-2D7AFA62B941}"/>
              </a:ext>
            </a:extLst>
          </p:cNvPr>
          <p:cNvSpPr txBox="1"/>
          <p:nvPr/>
        </p:nvSpPr>
        <p:spPr>
          <a:xfrm>
            <a:off x="302496" y="983038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Evolution of Portfolio Weights in Staged Stock Sell-Down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7757516-0573-7F01-F8FA-9D56EDD6D2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3330023"/>
              </p:ext>
            </p:extLst>
          </p:nvPr>
        </p:nvGraphicFramePr>
        <p:xfrm>
          <a:off x="503752" y="1333069"/>
          <a:ext cx="8136497" cy="429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661900" imgH="6692900" progId="Excel.Sheet.12">
                  <p:embed/>
                </p:oleObj>
              </mc:Choice>
              <mc:Fallback>
                <p:oleObj name="Worksheet" r:id="rId2" imgW="12661900" imgH="6692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3752" y="1333069"/>
                        <a:ext cx="8136497" cy="4299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B198AC-3540-AAD3-6295-55DD4206E2F4}"/>
              </a:ext>
            </a:extLst>
          </p:cNvPr>
          <p:cNvCxnSpPr>
            <a:cxnSpLocks/>
          </p:cNvCxnSpPr>
          <p:nvPr/>
        </p:nvCxnSpPr>
        <p:spPr>
          <a:xfrm flipV="1">
            <a:off x="4747932" y="5632982"/>
            <a:ext cx="0" cy="4842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B438E8-63EE-B424-FFE9-E0E19F0244DA}"/>
              </a:ext>
            </a:extLst>
          </p:cNvPr>
          <p:cNvCxnSpPr>
            <a:cxnSpLocks/>
          </p:cNvCxnSpPr>
          <p:nvPr/>
        </p:nvCxnSpPr>
        <p:spPr>
          <a:xfrm flipH="1" flipV="1">
            <a:off x="4027548" y="5681844"/>
            <a:ext cx="1061903" cy="4354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02520D-FC4C-D57A-16D5-1BD679013B38}"/>
              </a:ext>
            </a:extLst>
          </p:cNvPr>
          <p:cNvCxnSpPr>
            <a:cxnSpLocks/>
          </p:cNvCxnSpPr>
          <p:nvPr/>
        </p:nvCxnSpPr>
        <p:spPr>
          <a:xfrm flipH="1" flipV="1">
            <a:off x="5807487" y="5632982"/>
            <a:ext cx="650463" cy="3869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C60583B-4823-40E1-C190-CECA46750828}"/>
              </a:ext>
            </a:extLst>
          </p:cNvPr>
          <p:cNvSpPr txBox="1"/>
          <p:nvPr/>
        </p:nvSpPr>
        <p:spPr>
          <a:xfrm>
            <a:off x="317027" y="624044"/>
            <a:ext cx="7747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Stock Sell-Down in 10% Increments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60DB0F-031A-E940-48C6-93B6E10DA813}"/>
              </a:ext>
            </a:extLst>
          </p:cNvPr>
          <p:cNvSpPr txBox="1"/>
          <p:nvPr/>
        </p:nvSpPr>
        <p:spPr>
          <a:xfrm>
            <a:off x="5930762" y="5969437"/>
            <a:ext cx="1928929" cy="60016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Stages 3 onwards focuses on building a diversified public equity portfolio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EC3DA7-26A2-7D2B-625A-0DE6F7B7B2D6}"/>
              </a:ext>
            </a:extLst>
          </p:cNvPr>
          <p:cNvSpPr txBox="1"/>
          <p:nvPr/>
        </p:nvSpPr>
        <p:spPr>
          <a:xfrm>
            <a:off x="3545919" y="5969437"/>
            <a:ext cx="2261568" cy="60016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Stages 1-2 Focuses on investing in lowly correlated diversifiers to maximize risk reduction</a:t>
            </a:r>
          </a:p>
        </p:txBody>
      </p:sp>
    </p:spTree>
    <p:extLst>
      <p:ext uri="{BB962C8B-B14F-4D97-AF65-F5344CB8AC3E}">
        <p14:creationId xmlns:p14="http://schemas.microsoft.com/office/powerpoint/2010/main" val="2196887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7B092-6532-C0B0-F50F-23BE0578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821BD-67DD-3DCD-7419-158E236E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17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D0AD1E-A5CA-1044-840D-6591ACEA6B3D}"/>
              </a:ext>
            </a:extLst>
          </p:cNvPr>
          <p:cNvSpPr txBox="1"/>
          <p:nvPr/>
        </p:nvSpPr>
        <p:spPr>
          <a:xfrm>
            <a:off x="302496" y="1067018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Forward Looking Portfolio Risk and Return Analytics 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5A7E875-4C1D-1C71-9637-8F02D81F83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202094"/>
              </p:ext>
            </p:extLst>
          </p:nvPr>
        </p:nvGraphicFramePr>
        <p:xfrm>
          <a:off x="516531" y="1426279"/>
          <a:ext cx="8145838" cy="3809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891CDE-ADDF-7106-4BC0-CC9156292FF5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Example Staged Diversification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B4D4D2-E51B-B71A-FE97-2C4E85E7AFE0}"/>
              </a:ext>
            </a:extLst>
          </p:cNvPr>
          <p:cNvSpPr txBox="1"/>
          <p:nvPr/>
        </p:nvSpPr>
        <p:spPr>
          <a:xfrm>
            <a:off x="828231" y="5580519"/>
            <a:ext cx="7487538" cy="43088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Diversifying into a long-term multi-asset portfolio leads to significantly improved risk-adjusted prospects. Even at low allocations, Intel would require a disproportionally high return to justify its portfolio risk contribution.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8C0D4B-E380-E076-9C9D-087E582F6EEF}"/>
              </a:ext>
            </a:extLst>
          </p:cNvPr>
          <p:cNvSpPr txBox="1"/>
          <p:nvPr/>
        </p:nvSpPr>
        <p:spPr>
          <a:xfrm>
            <a:off x="338291" y="622539"/>
            <a:ext cx="7747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Grotesque Light" panose="020B0304020202020204" pitchFamily="34" charset="0"/>
              </a:rPr>
              <a:t>Impact on Risk and Return</a:t>
            </a:r>
          </a:p>
        </p:txBody>
      </p:sp>
    </p:spTree>
    <p:extLst>
      <p:ext uri="{BB962C8B-B14F-4D97-AF65-F5344CB8AC3E}">
        <p14:creationId xmlns:p14="http://schemas.microsoft.com/office/powerpoint/2010/main" val="8796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0D355-1B48-CC9B-F75E-2A2142FF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E576B4-659B-D23C-D3E9-B101B4C5C0E0}"/>
              </a:ext>
            </a:extLst>
          </p:cNvPr>
          <p:cNvCxnSpPr>
            <a:cxnSpLocks/>
          </p:cNvCxnSpPr>
          <p:nvPr/>
        </p:nvCxnSpPr>
        <p:spPr>
          <a:xfrm>
            <a:off x="3538937" y="2259985"/>
            <a:ext cx="298052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BB5FD-A14F-9EED-E21C-FDE069BBD678}"/>
              </a:ext>
            </a:extLst>
          </p:cNvPr>
          <p:cNvSpPr/>
          <p:nvPr/>
        </p:nvSpPr>
        <p:spPr>
          <a:xfrm>
            <a:off x="1137765" y="1933502"/>
            <a:ext cx="1982363" cy="3085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03CAA-76E4-E929-7F38-A5727D9E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1F207-B37D-1E00-828B-63C4318BB6A1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Example Staged Diversification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89CC8-0164-4435-288F-C77686B14DEC}"/>
              </a:ext>
            </a:extLst>
          </p:cNvPr>
          <p:cNvSpPr txBox="1"/>
          <p:nvPr/>
        </p:nvSpPr>
        <p:spPr>
          <a:xfrm>
            <a:off x="338291" y="622539"/>
            <a:ext cx="7747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Grotesque Light" panose="020B0304020202020204" pitchFamily="34" charset="0"/>
              </a:rPr>
              <a:t>Portfolio Wealth Projections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02DC9B-41C4-6BA9-B44E-4AAA3694A5AA}"/>
              </a:ext>
            </a:extLst>
          </p:cNvPr>
          <p:cNvSpPr txBox="1"/>
          <p:nvPr/>
        </p:nvSpPr>
        <p:spPr>
          <a:xfrm>
            <a:off x="302496" y="1038664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Simulated Future Nominal Portfolio Value Paths through Staged Diversification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D62FB-6D9A-3D24-3CAC-B2DA21A791B2}"/>
              </a:ext>
            </a:extLst>
          </p:cNvPr>
          <p:cNvSpPr txBox="1"/>
          <p:nvPr/>
        </p:nvSpPr>
        <p:spPr>
          <a:xfrm>
            <a:off x="509551" y="5693256"/>
            <a:ext cx="8124897" cy="43088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result of the staged diversification is a long-term wealth projection with both improved expected values along with improved downside estimates.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CDEF84-B8E6-842D-6FAE-A7DA8408DC32}"/>
              </a:ext>
            </a:extLst>
          </p:cNvPr>
          <p:cNvSpPr txBox="1"/>
          <p:nvPr/>
        </p:nvSpPr>
        <p:spPr>
          <a:xfrm>
            <a:off x="7181156" y="3542428"/>
            <a:ext cx="1809022" cy="78483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median case, the staged diversification strategy would be expected to grow by approx. $100mm more over the next 20-year vs the current portfolio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649FF1-B1BB-2CE5-B111-24E938081D9D}"/>
              </a:ext>
            </a:extLst>
          </p:cNvPr>
          <p:cNvSpPr txBox="1"/>
          <p:nvPr/>
        </p:nvSpPr>
        <p:spPr>
          <a:xfrm>
            <a:off x="1546103" y="2090708"/>
            <a:ext cx="1179646" cy="338554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</a:rPr>
              <a:t>Staged Diversification with yearly sell-down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0000000-0008-0000-03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2744018"/>
              </p:ext>
            </p:extLst>
          </p:nvPr>
        </p:nvGraphicFramePr>
        <p:xfrm>
          <a:off x="439750" y="1472813"/>
          <a:ext cx="6896390" cy="4139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90234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B5422-98E0-D915-543E-D436A9AE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FCD63AB9-5AE2-8BE9-BFF4-2A64539F97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6243777"/>
              </p:ext>
            </p:extLst>
          </p:nvPr>
        </p:nvGraphicFramePr>
        <p:xfrm>
          <a:off x="338291" y="1464288"/>
          <a:ext cx="4233710" cy="240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625851-F13A-ED92-665D-79EB66EBCD0C}"/>
              </a:ext>
            </a:extLst>
          </p:cNvPr>
          <p:cNvSpPr txBox="1"/>
          <p:nvPr/>
        </p:nvSpPr>
        <p:spPr>
          <a:xfrm>
            <a:off x="302497" y="249071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Modelling Structured Notes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167B6A-E382-AC54-8DB9-04A5431C45CA}"/>
              </a:ext>
            </a:extLst>
          </p:cNvPr>
          <p:cNvSpPr txBox="1"/>
          <p:nvPr/>
        </p:nvSpPr>
        <p:spPr>
          <a:xfrm>
            <a:off x="302497" y="1069424"/>
            <a:ext cx="4269504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Payoff Profile and Note Terms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C6C18-3349-E734-25B8-37CC6361D7D5}"/>
              </a:ext>
            </a:extLst>
          </p:cNvPr>
          <p:cNvSpPr txBox="1"/>
          <p:nvPr/>
        </p:nvSpPr>
        <p:spPr>
          <a:xfrm>
            <a:off x="4710023" y="1069424"/>
            <a:ext cx="4269504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Simulated Terminal Payoff: Underlying &amp; Autocallable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519714-FC5B-91D1-51EF-6B424C802DC7}"/>
              </a:ext>
            </a:extLst>
          </p:cNvPr>
          <p:cNvSpPr txBox="1"/>
          <p:nvPr/>
        </p:nvSpPr>
        <p:spPr>
          <a:xfrm>
            <a:off x="302851" y="588604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Autocallable Coupon Buffered Notes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0159DDBB-6FBD-86C3-2584-F0B77B4883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389337"/>
              </p:ext>
            </p:extLst>
          </p:nvPr>
        </p:nvGraphicFramePr>
        <p:xfrm>
          <a:off x="500063" y="4056063"/>
          <a:ext cx="3806825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057900" imgH="3340100" progId="Excel.Sheet.12">
                  <p:embed/>
                </p:oleObj>
              </mc:Choice>
              <mc:Fallback>
                <p:oleObj name="Worksheet" r:id="rId3" imgW="6057900" imgH="3340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063" y="4056063"/>
                        <a:ext cx="3806825" cy="209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17F088-EAF5-B620-D83D-44250425996F}"/>
              </a:ext>
            </a:extLst>
          </p:cNvPr>
          <p:cNvCxnSpPr>
            <a:cxnSpLocks/>
          </p:cNvCxnSpPr>
          <p:nvPr/>
        </p:nvCxnSpPr>
        <p:spPr>
          <a:xfrm flipH="1">
            <a:off x="1747471" y="2390720"/>
            <a:ext cx="79016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0B309C-F8A4-461E-E0D5-410692C4C31B}"/>
              </a:ext>
            </a:extLst>
          </p:cNvPr>
          <p:cNvCxnSpPr>
            <a:cxnSpLocks/>
          </p:cNvCxnSpPr>
          <p:nvPr/>
        </p:nvCxnSpPr>
        <p:spPr>
          <a:xfrm flipV="1">
            <a:off x="1689948" y="1533013"/>
            <a:ext cx="0" cy="1938517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1DC984-5400-0F0C-F072-06219A8E8572}"/>
              </a:ext>
            </a:extLst>
          </p:cNvPr>
          <p:cNvSpPr txBox="1"/>
          <p:nvPr/>
        </p:nvSpPr>
        <p:spPr>
          <a:xfrm>
            <a:off x="1025188" y="1554277"/>
            <a:ext cx="671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ptos" panose="020B0004020202020204" pitchFamily="34" charset="0"/>
              </a:rPr>
              <a:t>Barrier &amp; Coupon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EC9E6B-3CBB-4A2B-0495-A11A9C26F655}"/>
              </a:ext>
            </a:extLst>
          </p:cNvPr>
          <p:cNvSpPr txBox="1"/>
          <p:nvPr/>
        </p:nvSpPr>
        <p:spPr>
          <a:xfrm rot="20152289">
            <a:off x="3733591" y="1686394"/>
            <a:ext cx="671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ptos" panose="020B0004020202020204" pitchFamily="34" charset="0"/>
              </a:rPr>
              <a:t>Underlying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5BD6E-C85D-18F5-535B-5F624DC2E7F9}"/>
              </a:ext>
            </a:extLst>
          </p:cNvPr>
          <p:cNvSpPr txBox="1"/>
          <p:nvPr/>
        </p:nvSpPr>
        <p:spPr>
          <a:xfrm>
            <a:off x="2542156" y="1871008"/>
            <a:ext cx="14363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ptos" panose="020B0004020202020204" pitchFamily="34" charset="0"/>
              </a:rPr>
              <a:t>Capped Coupon Return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DDDBE-AD3D-776E-2025-6CF79BDA64A2}"/>
              </a:ext>
            </a:extLst>
          </p:cNvPr>
          <p:cNvSpPr txBox="1"/>
          <p:nvPr/>
        </p:nvSpPr>
        <p:spPr>
          <a:xfrm>
            <a:off x="1915968" y="2264510"/>
            <a:ext cx="467091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</a:rPr>
              <a:t>Buffer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7FB044B-9CE1-61D2-A579-91C3AB0620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4728029"/>
              </p:ext>
            </p:extLst>
          </p:nvPr>
        </p:nvGraphicFramePr>
        <p:xfrm>
          <a:off x="4784651" y="1490483"/>
          <a:ext cx="4083127" cy="4154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Box 13">
            <a:extLst>
              <a:ext uri="{FF2B5EF4-FFF2-40B4-BE49-F238E27FC236}">
                <a16:creationId xmlns:a16="http://schemas.microsoft.com/office/drawing/2014/main" id="{B39781E1-E3ED-A053-6685-74876D598A1E}"/>
              </a:ext>
            </a:extLst>
          </p:cNvPr>
          <p:cNvSpPr txBox="1"/>
          <p:nvPr/>
        </p:nvSpPr>
        <p:spPr>
          <a:xfrm>
            <a:off x="6898658" y="1980611"/>
            <a:ext cx="1260058" cy="58477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u="sng" dirty="0">
                <a:latin typeface="Aptos" panose="020B0004020202020204" pitchFamily="34" charset="0"/>
              </a:rPr>
              <a:t>Probability of Loss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Aptos" panose="020B0004020202020204" pitchFamily="34" charset="0"/>
              </a:rPr>
              <a:t>S&amp;P 500: 23%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Aptos" panose="020B0004020202020204" pitchFamily="34" charset="0"/>
              </a:rPr>
              <a:t>AutoCallable: 4%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BDE6A1C0-7611-B687-F8EB-221E3932C8C4}"/>
              </a:ext>
            </a:extLst>
          </p:cNvPr>
          <p:cNvSpPr txBox="1"/>
          <p:nvPr/>
        </p:nvSpPr>
        <p:spPr>
          <a:xfrm>
            <a:off x="6898658" y="2628481"/>
            <a:ext cx="1260058" cy="58477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u="sng" dirty="0">
                <a:latin typeface="Aptos" panose="020B0004020202020204" pitchFamily="34" charset="0"/>
              </a:rPr>
              <a:t>Simulated Volatility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Aptos" panose="020B0004020202020204" pitchFamily="34" charset="0"/>
              </a:rPr>
              <a:t>S&amp;P 500: 12.1%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Aptos" panose="020B0004020202020204" pitchFamily="34" charset="0"/>
              </a:rPr>
              <a:t>AutoCallable: 2.4%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8139359-DA26-0E21-ABA8-BD3D6E397F77}"/>
              </a:ext>
            </a:extLst>
          </p:cNvPr>
          <p:cNvSpPr/>
          <p:nvPr/>
        </p:nvSpPr>
        <p:spPr>
          <a:xfrm>
            <a:off x="6032205" y="4848447"/>
            <a:ext cx="375683" cy="29771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CC421D3-EB33-5C95-20CA-BF9CAF6CF77C}"/>
              </a:ext>
            </a:extLst>
          </p:cNvPr>
          <p:cNvSpPr/>
          <p:nvPr/>
        </p:nvSpPr>
        <p:spPr>
          <a:xfrm>
            <a:off x="7674190" y="4391247"/>
            <a:ext cx="375683" cy="29771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BE46CB-C7DA-182E-6078-29503B0DCC26}"/>
              </a:ext>
            </a:extLst>
          </p:cNvPr>
          <p:cNvSpPr txBox="1"/>
          <p:nvPr/>
        </p:nvSpPr>
        <p:spPr>
          <a:xfrm>
            <a:off x="6844776" y="4913635"/>
            <a:ext cx="1129644" cy="215444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cs typeface="Calibri Light" panose="020F0302020204030204" pitchFamily="34" charset="0"/>
              </a:rPr>
              <a:t>1</a:t>
            </a:r>
            <a:r>
              <a:rPr lang="en-US" sz="800" baseline="30000" dirty="0">
                <a:latin typeface="Aptos" panose="020B0004020202020204" pitchFamily="34" charset="0"/>
                <a:cs typeface="Calibri Light" panose="020F0302020204030204" pitchFamily="34" charset="0"/>
              </a:rPr>
              <a:t>st</a:t>
            </a:r>
            <a:r>
              <a:rPr lang="en-US" sz="800" dirty="0">
                <a:latin typeface="Aptos" panose="020B0004020202020204" pitchFamily="34" charset="0"/>
                <a:cs typeface="Calibri Light" panose="020F0302020204030204" pitchFamily="34" charset="0"/>
              </a:rPr>
              <a:t> Percentile Loss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823A61-625C-2571-1F58-E498AE3B378F}"/>
              </a:ext>
            </a:extLst>
          </p:cNvPr>
          <p:cNvCxnSpPr/>
          <p:nvPr/>
        </p:nvCxnSpPr>
        <p:spPr>
          <a:xfrm flipV="1">
            <a:off x="7733414" y="4688958"/>
            <a:ext cx="77972" cy="2246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07CA83-8C84-84EF-50F9-EA77325356C0}"/>
              </a:ext>
            </a:extLst>
          </p:cNvPr>
          <p:cNvCxnSpPr>
            <a:stCxn id="17" idx="1"/>
          </p:cNvCxnSpPr>
          <p:nvPr/>
        </p:nvCxnSpPr>
        <p:spPr>
          <a:xfrm flipH="1" flipV="1">
            <a:off x="6407888" y="4976037"/>
            <a:ext cx="436888" cy="453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723DBF4-040C-CB1B-8669-EE583E2BE76A}"/>
              </a:ext>
            </a:extLst>
          </p:cNvPr>
          <p:cNvSpPr txBox="1"/>
          <p:nvPr/>
        </p:nvSpPr>
        <p:spPr>
          <a:xfrm>
            <a:off x="5124894" y="5754902"/>
            <a:ext cx="3607980" cy="507831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900" dirty="0">
                <a:latin typeface="Aptos Light" panose="020B0004020202020204" pitchFamily="34" charset="0"/>
              </a:rPr>
              <a:t>Buffered Autocallable Notes help mitigate tail risk through downside protection; however, this protection comes at the expense of full upside participation relative to holding the underlying asset directly</a:t>
            </a:r>
            <a:endParaRPr lang="en-US" sz="900" dirty="0"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8549491-DC85-F25E-3988-2D7B908A9352}"/>
              </a:ext>
            </a:extLst>
          </p:cNvPr>
          <p:cNvCxnSpPr/>
          <p:nvPr/>
        </p:nvCxnSpPr>
        <p:spPr>
          <a:xfrm flipV="1">
            <a:off x="2587256" y="2079364"/>
            <a:ext cx="0" cy="410400"/>
          </a:xfrm>
          <a:prstGeom prst="line">
            <a:avLst/>
          </a:prstGeom>
          <a:ln w="222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201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DAE96-D654-780A-E1C1-800F7E03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795B64-4FA7-34DE-D01D-1DDB328C2AB8}"/>
              </a:ext>
            </a:extLst>
          </p:cNvPr>
          <p:cNvSpPr txBox="1"/>
          <p:nvPr/>
        </p:nvSpPr>
        <p:spPr>
          <a:xfrm>
            <a:off x="302497" y="249071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Modelling Structured Notes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CED23-1625-EEDF-CB56-65CE104CF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20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974445-149A-8DF9-8D11-ED8593C0741A}"/>
              </a:ext>
            </a:extLst>
          </p:cNvPr>
          <p:cNvSpPr txBox="1"/>
          <p:nvPr/>
        </p:nvSpPr>
        <p:spPr>
          <a:xfrm>
            <a:off x="346384" y="1336605"/>
            <a:ext cx="4176000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Performance Under Varying Market Scenarios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6F88C3-07F8-3AF5-3448-598080677A42}"/>
              </a:ext>
            </a:extLst>
          </p:cNvPr>
          <p:cNvSpPr txBox="1"/>
          <p:nvPr/>
        </p:nvSpPr>
        <p:spPr>
          <a:xfrm>
            <a:off x="4660407" y="1336605"/>
            <a:ext cx="4176000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Outperformance Probability Under Varying </a:t>
            </a:r>
            <a:r>
              <a:rPr lang="en-US"/>
              <a:t>Market Scenarios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6A86DC-2E5D-8444-A689-4B9702055933}"/>
              </a:ext>
            </a:extLst>
          </p:cNvPr>
          <p:cNvSpPr txBox="1"/>
          <p:nvPr/>
        </p:nvSpPr>
        <p:spPr>
          <a:xfrm>
            <a:off x="302496" y="589651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Autocallable Coupon Buffered Notes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BDE65B-C1D6-2809-9AF5-ED426595925C}"/>
              </a:ext>
            </a:extLst>
          </p:cNvPr>
          <p:cNvSpPr txBox="1"/>
          <p:nvPr/>
        </p:nvSpPr>
        <p:spPr>
          <a:xfrm>
            <a:off x="949842" y="5070595"/>
            <a:ext cx="3444949" cy="70788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Aptos Light" panose="020B0004020202020204" pitchFamily="34" charset="0"/>
              </a:rPr>
              <a:t>Buffered </a:t>
            </a:r>
            <a:r>
              <a:rPr lang="en-GB" sz="1000" dirty="0" err="1">
                <a:latin typeface="Aptos Light" panose="020B0004020202020204" pitchFamily="34" charset="0"/>
              </a:rPr>
              <a:t>Autocallables</a:t>
            </a:r>
            <a:r>
              <a:rPr lang="en-GB" sz="1000" dirty="0">
                <a:latin typeface="Aptos Light" panose="020B0004020202020204" pitchFamily="34" charset="0"/>
              </a:rPr>
              <a:t> reduce losses in down markets and outperform in flat to moderately up environments due to coupon and early call features. Upside is limited in strong bull markets.</a:t>
            </a:r>
            <a:endParaRPr lang="en-US" sz="1000" dirty="0"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F6C892-2D6E-7A83-1427-2A43FF448192}"/>
              </a:ext>
            </a:extLst>
          </p:cNvPr>
          <p:cNvSpPr txBox="1"/>
          <p:nvPr/>
        </p:nvSpPr>
        <p:spPr>
          <a:xfrm>
            <a:off x="5131981" y="5070596"/>
            <a:ext cx="3522921" cy="73799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50" dirty="0">
                <a:latin typeface="Aptos Light" panose="020B0004020202020204" pitchFamily="34" charset="0"/>
              </a:rPr>
              <a:t>Outperformance is highly likely in down and sideways markets. In moderate rallies, the note outperforms most of the time. In strong up markets, the underlying leads due to capped upside.</a:t>
            </a:r>
            <a:endParaRPr lang="en-US" sz="1050" dirty="0"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E5140A7-20EE-410E-2B62-B286A0C3804B}"/>
              </a:ext>
            </a:extLst>
          </p:cNvPr>
          <p:cNvGrpSpPr/>
          <p:nvPr/>
        </p:nvGrpSpPr>
        <p:grpSpPr>
          <a:xfrm>
            <a:off x="346383" y="1737785"/>
            <a:ext cx="8549524" cy="3082307"/>
            <a:chOff x="346383" y="1737785"/>
            <a:chExt cx="8549524" cy="3082307"/>
          </a:xfrm>
        </p:grpSpPr>
        <p:graphicFrame>
          <p:nvGraphicFramePr>
            <p:cNvPr id="13" name="Chart 12">
              <a:extLst>
                <a:ext uri="{FF2B5EF4-FFF2-40B4-BE49-F238E27FC236}">
                  <a16:creationId xmlns:a16="http://schemas.microsoft.com/office/drawing/2014/main" id="{D608DF9C-E163-295C-E769-BC45ABA664B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52362891"/>
                </p:ext>
              </p:extLst>
            </p:nvPr>
          </p:nvGraphicFramePr>
          <p:xfrm>
            <a:off x="4990215" y="1919997"/>
            <a:ext cx="3785190" cy="284336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30" name="Chart 29">
              <a:extLst>
                <a:ext uri="{FF2B5EF4-FFF2-40B4-BE49-F238E27FC236}">
                  <a16:creationId xmlns:a16="http://schemas.microsoft.com/office/drawing/2014/main" id="{2A3562E2-4D9A-33BB-8FCD-262CA82D099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614697755"/>
                </p:ext>
              </p:extLst>
            </p:nvPr>
          </p:nvGraphicFramePr>
          <p:xfrm>
            <a:off x="346383" y="1737785"/>
            <a:ext cx="8549524" cy="308230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9345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18725-5695-F855-3F27-BB35F2004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21E52EF7-AB68-3660-F989-DDCC176DF0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242027"/>
              </p:ext>
            </p:extLst>
          </p:nvPr>
        </p:nvGraphicFramePr>
        <p:xfrm>
          <a:off x="500243" y="1637549"/>
          <a:ext cx="3883048" cy="405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638800" imgH="5892800" progId="Excel.Sheet.12">
                  <p:embed/>
                </p:oleObj>
              </mc:Choice>
              <mc:Fallback>
                <p:oleObj name="Worksheet" r:id="rId2" imgW="5638800" imgH="5892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0243" y="1637549"/>
                        <a:ext cx="3883048" cy="4057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0D5D6C2-B8BF-A079-E63C-0A352280221C}"/>
              </a:ext>
            </a:extLst>
          </p:cNvPr>
          <p:cNvSpPr txBox="1"/>
          <p:nvPr/>
        </p:nvSpPr>
        <p:spPr>
          <a:xfrm>
            <a:off x="302497" y="249071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Modelling Structured Notes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0C5D2-5EE0-6319-04C1-4CEEE3D63579}"/>
              </a:ext>
            </a:extLst>
          </p:cNvPr>
          <p:cNvSpPr txBox="1"/>
          <p:nvPr/>
        </p:nvSpPr>
        <p:spPr>
          <a:xfrm>
            <a:off x="302497" y="1065891"/>
            <a:ext cx="4269504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Sample Portfolios with Autocallable Buffered Note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BAD8CA-4533-41E6-5177-6BC955C0F52A}"/>
              </a:ext>
            </a:extLst>
          </p:cNvPr>
          <p:cNvSpPr txBox="1"/>
          <p:nvPr/>
        </p:nvSpPr>
        <p:spPr>
          <a:xfrm>
            <a:off x="4710023" y="1062521"/>
            <a:ext cx="4131480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Simulated Terminal Payoff: Underlying &amp; Autocallable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B7E965-24DC-0AC9-7B75-0373C7DAF930}"/>
              </a:ext>
            </a:extLst>
          </p:cNvPr>
          <p:cNvSpPr txBox="1"/>
          <p:nvPr/>
        </p:nvSpPr>
        <p:spPr>
          <a:xfrm>
            <a:off x="302851" y="588604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Autocallable Coupon Buffered Notes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D497E-BD04-5715-DE3D-7D3CDB6134B9}"/>
              </a:ext>
            </a:extLst>
          </p:cNvPr>
          <p:cNvSpPr/>
          <p:nvPr/>
        </p:nvSpPr>
        <p:spPr>
          <a:xfrm>
            <a:off x="486147" y="2502223"/>
            <a:ext cx="3924644" cy="15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EDDB9496-846D-D6D2-4118-6DBCE0669E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159971"/>
              </p:ext>
            </p:extLst>
          </p:nvPr>
        </p:nvGraphicFramePr>
        <p:xfrm>
          <a:off x="4878425" y="1536437"/>
          <a:ext cx="3924644" cy="4159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79944B16-46C4-8201-8B76-9432211B1076}"/>
              </a:ext>
            </a:extLst>
          </p:cNvPr>
          <p:cNvSpPr txBox="1"/>
          <p:nvPr/>
        </p:nvSpPr>
        <p:spPr>
          <a:xfrm>
            <a:off x="377480" y="5990167"/>
            <a:ext cx="8389040" cy="40011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ptos Light" panose="020B0004020202020204" pitchFamily="34" charset="0"/>
                <a:cs typeface="Calibri Light" panose="020F0302020204030204" pitchFamily="34" charset="0"/>
              </a:rPr>
              <a:t>Buffered Autocallable notes give the benefit of reduced tail risk. However, this comes at the expense of lower upside participation then outright equity exposure</a:t>
            </a:r>
          </a:p>
        </p:txBody>
      </p:sp>
    </p:spTree>
    <p:extLst>
      <p:ext uri="{BB962C8B-B14F-4D97-AF65-F5344CB8AC3E}">
        <p14:creationId xmlns:p14="http://schemas.microsoft.com/office/powerpoint/2010/main" val="2380104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7F44-B395-D4EE-768D-36FDA1494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7AF20F-CB4B-D479-4266-25D1908BDA37}"/>
              </a:ext>
            </a:extLst>
          </p:cNvPr>
          <p:cNvSpPr txBox="1"/>
          <p:nvPr/>
        </p:nvSpPr>
        <p:spPr>
          <a:xfrm>
            <a:off x="366292" y="327043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Private Equity Commitment Pacing</a:t>
            </a:r>
          </a:p>
        </p:txBody>
      </p:sp>
    </p:spTree>
    <p:extLst>
      <p:ext uri="{BB962C8B-B14F-4D97-AF65-F5344CB8AC3E}">
        <p14:creationId xmlns:p14="http://schemas.microsoft.com/office/powerpoint/2010/main" val="80458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12007</TotalTime>
  <Words>1238</Words>
  <Application>Microsoft Macintosh PowerPoint</Application>
  <PresentationFormat>On-screen Show (4:3)</PresentationFormat>
  <Paragraphs>202</Paragraphs>
  <Slides>22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Aptos Light</vt:lpstr>
      <vt:lpstr>Arial</vt:lpstr>
      <vt:lpstr>Calibri</vt:lpstr>
      <vt:lpstr>Calibri Light</vt:lpstr>
      <vt:lpstr>Grotesque Light</vt:lpstr>
      <vt:lpstr>Office 2013 - 2022 Theme</vt:lpstr>
      <vt:lpstr>Microsoft Excel Worksheet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Francis Barker</dc:creator>
  <cp:lastModifiedBy>Francis Barker</cp:lastModifiedBy>
  <cp:revision>58</cp:revision>
  <dcterms:created xsi:type="dcterms:W3CDTF">2024-02-09T09:35:44Z</dcterms:created>
  <dcterms:modified xsi:type="dcterms:W3CDTF">2025-07-03T19:19:57Z</dcterms:modified>
</cp:coreProperties>
</file>