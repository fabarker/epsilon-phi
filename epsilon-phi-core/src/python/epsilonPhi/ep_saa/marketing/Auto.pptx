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notesSlides/notesSlide2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10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11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12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3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4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5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6.xml" ContentType="application/vnd.openxmlformats-officedocument.drawingml.chart+xml"/>
  <Override PartName="/ppt/drawings/drawing1.xml" ContentType="application/vnd.openxmlformats-officedocument.drawingml.chartshapes+xml"/>
  <Override PartName="/ppt/charts/chart17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8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9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charts/chart20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21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22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23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4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25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6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charts/chart27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charts/chart28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drawings/drawing2.xml" ContentType="application/vnd.openxmlformats-officedocument.drawingml.chartshap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0"/>
  </p:notesMasterIdLst>
  <p:sldIdLst>
    <p:sldId id="272" r:id="rId2"/>
    <p:sldId id="311" r:id="rId3"/>
    <p:sldId id="312" r:id="rId4"/>
    <p:sldId id="314" r:id="rId5"/>
    <p:sldId id="316" r:id="rId6"/>
    <p:sldId id="285" r:id="rId7"/>
    <p:sldId id="286" r:id="rId8"/>
    <p:sldId id="288" r:id="rId9"/>
    <p:sldId id="290" r:id="rId10"/>
    <p:sldId id="287" r:id="rId11"/>
    <p:sldId id="291" r:id="rId12"/>
    <p:sldId id="289" r:id="rId13"/>
    <p:sldId id="292" r:id="rId14"/>
    <p:sldId id="299" r:id="rId15"/>
    <p:sldId id="293" r:id="rId16"/>
    <p:sldId id="295" r:id="rId17"/>
    <p:sldId id="302" r:id="rId18"/>
    <p:sldId id="300" r:id="rId19"/>
    <p:sldId id="296" r:id="rId20"/>
    <p:sldId id="297" r:id="rId21"/>
    <p:sldId id="304" r:id="rId22"/>
    <p:sldId id="303" r:id="rId23"/>
    <p:sldId id="305" r:id="rId24"/>
    <p:sldId id="306" r:id="rId25"/>
    <p:sldId id="307" r:id="rId26"/>
    <p:sldId id="308" r:id="rId27"/>
    <p:sldId id="309" r:id="rId28"/>
    <p:sldId id="310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CC04D"/>
    <a:srgbClr val="151824"/>
    <a:srgbClr val="7F94BA"/>
    <a:srgbClr val="721624"/>
    <a:srgbClr val="70AD47"/>
    <a:srgbClr val="DAE3F3"/>
    <a:srgbClr val="0B0D37"/>
    <a:srgbClr val="000D67"/>
    <a:srgbClr val="7D9BD3"/>
    <a:srgbClr val="7395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499"/>
    <p:restoredTop sz="94626"/>
  </p:normalViewPr>
  <p:slideViewPr>
    <p:cSldViewPr snapToGrid="0">
      <p:cViewPr>
        <p:scale>
          <a:sx n="120" d="100"/>
          <a:sy n="120" d="100"/>
        </p:scale>
        <p:origin x="240" y="20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1.%20Portfolio%20Analysis/Simple%20Portfolio%20Report_new_pe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1.%20Portfolio%20Analysis/Simple%20Portfolio%20Report_new_pe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1.%20Portfolio%20Analysis/Simple%20Portfolio%20Report_new_pe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1.%20Portfolio%20Analysis/Simple%20Portfolio%20Report_new_pe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francisbarker/Repositories/Python/epsilon-phi/epsilon-phi-core/src/Scripts/Case%20Studies/1.%20Portfolio%20Analysis/Simple%20Portfolio%20Report_new_pe.xlsx" TargetMode="External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francisbarker/Repositories/Python/epsilon-phi/epsilon-phi-core/src/Scripts/Case%20Studies/1.%20Portfolio%20Analysis/Simple%20Portfolio%20Report%20Spending.xlsx" TargetMode="External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francisbarker/Repositories/Python/epsilon-phi/epsilon-phi-core/src/Scripts/Case%20Studies/1.%20Portfolio%20Analysis/Simple%20Portfolio%20Report%20Spending.xlsx" TargetMode="Externa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1.%20Portfolio%20Analysis/Simple%20Portfolio%20Report_new_pe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3.%20Single%20Stock%20Analysis/Single%20Stock%20Analysis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3.%20Single%20Stock%20Analysis/Single%20Stock%20Analysis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3.%20Single%20Stock%20Analysis/Single%20Stock%20Analysis.xlsx" TargetMode="External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3.%20Single%20Stock%20Analysis/Single%20Stock%20Analysis.xlsx" TargetMode="External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3.%20Single%20Stock%20Analysis/Single%20Stock%20Analysis.xlsx" TargetMode="External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3.%20Single%20Stock%20Analysis/Staged%20Sell%20Down.xlsx" TargetMode="External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6.xml.rels><?xml version="1.0" encoding="UTF-8" standalone="yes"?>
<Relationships xmlns="http://schemas.openxmlformats.org/package/2006/relationships"><Relationship Id="rId2" Type="http://schemas.openxmlformats.org/officeDocument/2006/relationships/chartUserShapes" Target="../drawings/drawing1.xml"/><Relationship Id="rId1" Type="http://schemas.openxmlformats.org/officeDocument/2006/relationships/oleObject" Target="file:////Users/francisbarker/Repositories/Python/epsilon-phi/epsilon-phi-core/src/Scripts/Case%20Studies/3.%20Single%20Stock%20Analysis/Single%20Stock%20Analysis.xlsx" TargetMode="Externa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4.%20Structured%20Notes/Autocallable/Strucutred%20Notes.xlsx" TargetMode="External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4.%20Structured%20Notes/Autocallable/Strucutred%20Notes%20Report.xlsx" TargetMode="External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4.%20Structured%20Notes/Autocallable/Strucutred%20Notes%20Report.xlsx" TargetMode="External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4.%20Structured%20Notes/Autocallable/Strucutred%20Notes%20Report.xlsx" TargetMode="External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4.%20Structured%20Notes/Autocallable/Strucutred%20Notes%20Report.xlsx" TargetMode="External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/epsilon-psi/epsilon-phi-core/src/Scripts/Case%20Studies/Private%20Assets/Private%20Assets%20Investing.xlsx" TargetMode="External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/epsilon-psi/epsilon-phi-core/src/Scripts/Case%20Studies/Private%20Assets/Private%20Assets%20Investing.xlsx" TargetMode="External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/epsilon-psi/epsilon-phi-core/src/Scripts/Case%20Studies/Private%20Assets/Private%20Assets%20Investing.xlsx" TargetMode="External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/epsilon-psi/epsilon-phi-core/src/Scripts/Case%20Studies/Private%20Assets/Private%20Assets%20Investing.xlsx" TargetMode="External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/epsilon-psi/epsilon-phi-core/src/Scripts/Case%20Studies/Private%20Assets/Commitment%20Pacing%20Analysis.xlsx" TargetMode="External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/epsilon-psi/epsilon-phi-core/src/Scripts/Case%20Studies/Private%20Assets/Commitment%20Pacing%20Analysis.xlsx" TargetMode="External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8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/epsilon-psi/epsilon-phi-core/src/Scripts/Case%20Studies/Private%20Assets/Commitment%20Pacing%20Analysis.xlsx" TargetMode="External"/><Relationship Id="rId2" Type="http://schemas.microsoft.com/office/2011/relationships/chartColorStyle" Target="colors24.xml"/><Relationship Id="rId1" Type="http://schemas.microsoft.com/office/2011/relationships/chartStyle" Target="style24.xml"/><Relationship Id="rId4" Type="http://schemas.openxmlformats.org/officeDocument/2006/relationships/chartUserShapes" Target="../drawings/drawing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7501228346456691"/>
          <c:y val="4.1509433962264149E-2"/>
          <c:w val="0.66847433070866147"/>
          <c:h val="0.87094993314514935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chemeClr val="tx2">
                <a:lumMod val="50000"/>
              </a:schemeClr>
            </a:solidFill>
            <a:ln w="6350">
              <a:solidFill>
                <a:schemeClr val="bg1">
                  <a:lumMod val="75000"/>
                </a:schemeClr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'Risk Decomposition'!$A$2:$A$23</c:f>
              <c:strCache>
                <c:ptCount val="19"/>
                <c:pt idx="0">
                  <c:v>US Dollar Debt</c:v>
                </c:pt>
                <c:pt idx="1">
                  <c:v>US High Yield</c:v>
                </c:pt>
                <c:pt idx="2">
                  <c:v>US Equity</c:v>
                </c:pt>
                <c:pt idx="3">
                  <c:v>Europe ex-UK Equity</c:v>
                </c:pt>
                <c:pt idx="4">
                  <c:v>UK Equity</c:v>
                </c:pt>
                <c:pt idx="5">
                  <c:v>Japanese Equity</c:v>
                </c:pt>
                <c:pt idx="6">
                  <c:v>Asia-Pacific Equity</c:v>
                </c:pt>
                <c:pt idx="7">
                  <c:v>Emerging Market Equity</c:v>
                </c:pt>
                <c:pt idx="8">
                  <c:v>Global REITs</c:v>
                </c:pt>
                <c:pt idx="9">
                  <c:v>Infrastructure Equity</c:v>
                </c:pt>
                <c:pt idx="10">
                  <c:v>Event Driven</c:v>
                </c:pt>
                <c:pt idx="11">
                  <c:v>Equity Long/Short</c:v>
                </c:pt>
                <c:pt idx="12">
                  <c:v>Tactical Trading</c:v>
                </c:pt>
                <c:pt idx="13">
                  <c:v>Buyout</c:v>
                </c:pt>
                <c:pt idx="14">
                  <c:v>Growth</c:v>
                </c:pt>
                <c:pt idx="15">
                  <c:v>Venture</c:v>
                </c:pt>
                <c:pt idx="16">
                  <c:v>Private Credit</c:v>
                </c:pt>
                <c:pt idx="17">
                  <c:v>Core Real Estate</c:v>
                </c:pt>
                <c:pt idx="18">
                  <c:v>Infrastructure</c:v>
                </c:pt>
              </c:strCache>
            </c:strRef>
          </c:cat>
          <c:val>
            <c:numRef>
              <c:f>'Risk Decomposition'!$B$2:$B$23</c:f>
              <c:numCache>
                <c:formatCode>0%</c:formatCode>
                <c:ptCount val="19"/>
                <c:pt idx="0">
                  <c:v>8.6024742893045791E-3</c:v>
                </c:pt>
                <c:pt idx="1">
                  <c:v>3.2801500345226997E-2</c:v>
                </c:pt>
                <c:pt idx="2">
                  <c:v>0.4582721463401897</c:v>
                </c:pt>
                <c:pt idx="3">
                  <c:v>7.3157780722153398E-2</c:v>
                </c:pt>
                <c:pt idx="4">
                  <c:v>1.87236840825202E-2</c:v>
                </c:pt>
                <c:pt idx="5">
                  <c:v>2.97933991652987E-2</c:v>
                </c:pt>
                <c:pt idx="6">
                  <c:v>1.54976214370223E-2</c:v>
                </c:pt>
                <c:pt idx="7">
                  <c:v>1.97275781635846E-2</c:v>
                </c:pt>
                <c:pt idx="8">
                  <c:v>1.01151456589024E-2</c:v>
                </c:pt>
                <c:pt idx="9">
                  <c:v>1.17981976649371E-2</c:v>
                </c:pt>
                <c:pt idx="10">
                  <c:v>5.1275847854916597E-3</c:v>
                </c:pt>
                <c:pt idx="11">
                  <c:v>1.5793800933559501E-2</c:v>
                </c:pt>
                <c:pt idx="12">
                  <c:v>3.4977493858902998E-3</c:v>
                </c:pt>
                <c:pt idx="13">
                  <c:v>0.15256482789336701</c:v>
                </c:pt>
                <c:pt idx="14">
                  <c:v>5.3093620137906E-2</c:v>
                </c:pt>
                <c:pt idx="15">
                  <c:v>1.5460685206523699E-2</c:v>
                </c:pt>
                <c:pt idx="16">
                  <c:v>3.23569923114434E-2</c:v>
                </c:pt>
                <c:pt idx="17">
                  <c:v>2.0805473063830501E-2</c:v>
                </c:pt>
                <c:pt idx="18">
                  <c:v>2.28097384128455E-2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583-B54D-ABC2-41ED282D4E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7"/>
        <c:axId val="241575423"/>
        <c:axId val="241577183"/>
      </c:barChart>
      <c:catAx>
        <c:axId val="241575423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chemeClr val="bg1">
                  <a:lumMod val="75000"/>
                </a:schemeClr>
              </a:solidFill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241577183"/>
        <c:crosses val="autoZero"/>
        <c:auto val="1"/>
        <c:lblAlgn val="ctr"/>
        <c:lblOffset val="100"/>
        <c:noMultiLvlLbl val="0"/>
      </c:catAx>
      <c:valAx>
        <c:axId val="241577183"/>
        <c:scaling>
          <c:orientation val="minMax"/>
        </c:scaling>
        <c:delete val="0"/>
        <c:axPos val="b"/>
        <c:numFmt formatCode="0%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24157542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800" b="0" i="0">
          <a:latin typeface="Aptos" panose="020B0004020202020204" pitchFamily="34" charset="0"/>
          <a:cs typeface="Arial" panose="020B0604020202020204" pitchFamily="34" charset="0"/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7501228346456691"/>
          <c:y val="4.1509433962264149E-2"/>
          <c:w val="0.66847433070866147"/>
          <c:h val="0.87094993314514935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rgbClr val="C00000"/>
            </a:solidFill>
            <a:ln w="6350">
              <a:solidFill>
                <a:schemeClr val="bg1">
                  <a:lumMod val="75000"/>
                </a:schemeClr>
              </a:solidFill>
            </a:ln>
            <a:effectLst/>
          </c:spPr>
          <c:invertIfNegative val="0"/>
          <c:cat>
            <c:strRef>
              <c:f>'Risk Decomposition'!$A$41:$A$45</c:f>
              <c:strCache>
                <c:ptCount val="5"/>
                <c:pt idx="0">
                  <c:v>EUR</c:v>
                </c:pt>
                <c:pt idx="1">
                  <c:v>GBP</c:v>
                </c:pt>
                <c:pt idx="2">
                  <c:v>JPY</c:v>
                </c:pt>
                <c:pt idx="3">
                  <c:v>Asia-Pacific Equity</c:v>
                </c:pt>
                <c:pt idx="4">
                  <c:v>EM</c:v>
                </c:pt>
              </c:strCache>
            </c:strRef>
          </c:cat>
          <c:val>
            <c:numRef>
              <c:f>'Risk Decomposition'!$B$41:$B$45</c:f>
              <c:numCache>
                <c:formatCode>0.0%</c:formatCode>
                <c:ptCount val="5"/>
                <c:pt idx="0">
                  <c:v>1.9086594707416901E-2</c:v>
                </c:pt>
                <c:pt idx="1">
                  <c:v>6.6725975927464697E-3</c:v>
                </c:pt>
                <c:pt idx="2">
                  <c:v>3.5395217114644602E-3</c:v>
                </c:pt>
                <c:pt idx="3">
                  <c:v>8.3038021272114002E-3</c:v>
                </c:pt>
                <c:pt idx="4">
                  <c:v>5.8650377463103599E-3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624-E147-AF47-307CEFCFE13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7"/>
        <c:axId val="241575423"/>
        <c:axId val="241577183"/>
      </c:barChart>
      <c:catAx>
        <c:axId val="241575423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241577183"/>
        <c:crosses val="autoZero"/>
        <c:auto val="1"/>
        <c:lblAlgn val="ctr"/>
        <c:lblOffset val="100"/>
        <c:noMultiLvlLbl val="0"/>
      </c:catAx>
      <c:valAx>
        <c:axId val="241577183"/>
        <c:scaling>
          <c:orientation val="minMax"/>
        </c:scaling>
        <c:delete val="0"/>
        <c:axPos val="b"/>
        <c:numFmt formatCode="0.0%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24157542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800" b="0" i="0">
          <a:latin typeface="Aptos" panose="020B0004020202020204" pitchFamily="34" charset="0"/>
          <a:cs typeface="Arial" panose="020B0604020202020204" pitchFamily="34" charset="0"/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8344231841796694E-2"/>
          <c:y val="5.011389521640091E-2"/>
          <c:w val="0.92331153631640661"/>
          <c:h val="0.69963830333842636"/>
        </c:manualLayout>
      </c:layout>
      <c:barChart>
        <c:barDir val="col"/>
        <c:grouping val="clustered"/>
        <c:varyColors val="0"/>
        <c:ser>
          <c:idx val="0"/>
          <c:order val="0"/>
          <c:spPr>
            <a:solidFill>
              <a:schemeClr val="accent6">
                <a:lumMod val="75000"/>
              </a:schemeClr>
            </a:solidFill>
            <a:ln w="6350">
              <a:solidFill>
                <a:schemeClr val="bg1">
                  <a:lumMod val="75000"/>
                </a:schemeClr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'Currency Hedging'!$B$3:$B$6</c:f>
              <c:numCache>
                <c:formatCode>0%</c:formatCode>
                <c:ptCount val="4"/>
                <c:pt idx="0">
                  <c:v>0</c:v>
                </c:pt>
                <c:pt idx="1">
                  <c:v>0.5</c:v>
                </c:pt>
                <c:pt idx="2">
                  <c:v>0.7</c:v>
                </c:pt>
                <c:pt idx="3">
                  <c:v>1</c:v>
                </c:pt>
              </c:numCache>
            </c:numRef>
          </c:cat>
          <c:val>
            <c:numRef>
              <c:f>'Currency Hedging'!$C$3:$C$6</c:f>
              <c:numCache>
                <c:formatCode>0.0%</c:formatCode>
                <c:ptCount val="4"/>
                <c:pt idx="0">
                  <c:v>7.61400749455894E-2</c:v>
                </c:pt>
                <c:pt idx="1">
                  <c:v>7.5265245665851105E-2</c:v>
                </c:pt>
                <c:pt idx="2">
                  <c:v>7.4936639097747296E-2</c:v>
                </c:pt>
                <c:pt idx="3">
                  <c:v>7.4466879106657904E-2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DCA-7A4E-96FE-893893E1504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3"/>
        <c:overlap val="-27"/>
        <c:axId val="1996417584"/>
        <c:axId val="1997040144"/>
      </c:barChart>
      <c:catAx>
        <c:axId val="199641758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ptos" panose="020B00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GB"/>
                  <a:t>Portfolio Currency Hegding Level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8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ptos" panose="020B00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GB"/>
            </a:p>
          </c:txPr>
        </c:title>
        <c:numFmt formatCode="0%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997040144"/>
        <c:crosses val="autoZero"/>
        <c:auto val="1"/>
        <c:lblAlgn val="ctr"/>
        <c:lblOffset val="100"/>
        <c:noMultiLvlLbl val="0"/>
      </c:catAx>
      <c:valAx>
        <c:axId val="1997040144"/>
        <c:scaling>
          <c:orientation val="minMax"/>
        </c:scaling>
        <c:delete val="1"/>
        <c:axPos val="l"/>
        <c:numFmt formatCode="0.0%" sourceLinked="1"/>
        <c:majorTickMark val="none"/>
        <c:minorTickMark val="none"/>
        <c:tickLblPos val="nextTo"/>
        <c:crossAx val="19964175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800" b="0" i="0">
          <a:latin typeface="Aptos" panose="020B0004020202020204" pitchFamily="34" charset="0"/>
          <a:cs typeface="Arial" panose="020B0604020202020204" pitchFamily="34" charset="0"/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tx2">
                <a:lumMod val="75000"/>
              </a:schemeClr>
            </a:solidFill>
            <a:ln w="3175">
              <a:solidFill>
                <a:schemeClr val="bg1">
                  <a:lumMod val="75000"/>
                </a:schemeClr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1">
                  <a:lumMod val="40000"/>
                  <a:lumOff val="60000"/>
                </a:schemeClr>
              </a:solidFill>
              <a:ln w="3175">
                <a:solidFill>
                  <a:schemeClr val="bg1">
                    <a:lumMod val="7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EE1-8C4F-B93F-E546FDDBB52F}"/>
              </c:ext>
            </c:extLst>
          </c:dPt>
          <c:dPt>
            <c:idx val="1"/>
            <c:invertIfNegative val="0"/>
            <c:bubble3D val="0"/>
            <c:spPr>
              <a:solidFill>
                <a:schemeClr val="tx2">
                  <a:lumMod val="75000"/>
                </a:schemeClr>
              </a:solidFill>
              <a:ln w="3175">
                <a:solidFill>
                  <a:schemeClr val="bg1">
                    <a:lumMod val="7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EE1-8C4F-B93F-E546FDDBB52F}"/>
              </c:ext>
            </c:extLst>
          </c:dPt>
          <c:dPt>
            <c:idx val="3"/>
            <c:invertIfNegative val="0"/>
            <c:bubble3D val="0"/>
            <c:spPr>
              <a:solidFill>
                <a:schemeClr val="tx2">
                  <a:lumMod val="75000"/>
                </a:schemeClr>
              </a:solidFill>
              <a:ln w="3175">
                <a:solidFill>
                  <a:schemeClr val="bg1">
                    <a:lumMod val="7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EE1-8C4F-B93F-E546FDDBB52F}"/>
              </c:ext>
            </c:extLst>
          </c:dPt>
          <c:dPt>
            <c:idx val="4"/>
            <c:invertIfNegative val="0"/>
            <c:bubble3D val="0"/>
            <c:spPr>
              <a:solidFill>
                <a:schemeClr val="tx2">
                  <a:lumMod val="75000"/>
                </a:schemeClr>
              </a:solidFill>
              <a:ln w="3175">
                <a:solidFill>
                  <a:schemeClr val="bg1">
                    <a:lumMod val="7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2EE1-8C4F-B93F-E546FDDBB52F}"/>
              </c:ext>
            </c:extLst>
          </c:dPt>
          <c:dPt>
            <c:idx val="5"/>
            <c:invertIfNegative val="0"/>
            <c:bubble3D val="0"/>
            <c:spPr>
              <a:solidFill>
                <a:schemeClr val="tx2">
                  <a:lumMod val="75000"/>
                </a:schemeClr>
              </a:solidFill>
              <a:ln w="3175">
                <a:solidFill>
                  <a:schemeClr val="bg1">
                    <a:lumMod val="7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2EE1-8C4F-B93F-E546FDDBB52F}"/>
              </c:ext>
            </c:extLst>
          </c:dPt>
          <c:dLbls>
            <c:numFmt formatCode="0.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ptos" panose="020B00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'Risk Premias'!$B$2:$B$8</c:f>
              <c:strCache>
                <c:ptCount val="7"/>
                <c:pt idx="0">
                  <c:v>Total</c:v>
                </c:pt>
                <c:pt idx="1">
                  <c:v>Emerging Market</c:v>
                </c:pt>
                <c:pt idx="2">
                  <c:v>Carry</c:v>
                </c:pt>
                <c:pt idx="3">
                  <c:v>Liquidity</c:v>
                </c:pt>
                <c:pt idx="4">
                  <c:v>Leverage</c:v>
                </c:pt>
                <c:pt idx="5">
                  <c:v>Term</c:v>
                </c:pt>
                <c:pt idx="6">
                  <c:v>Equity</c:v>
                </c:pt>
              </c:strCache>
            </c:strRef>
          </c:cat>
          <c:val>
            <c:numRef>
              <c:f>'Risk Premias'!$C$2:$C$8</c:f>
              <c:numCache>
                <c:formatCode>0.0%</c:formatCode>
                <c:ptCount val="7"/>
                <c:pt idx="0">
                  <c:v>3.9323104932666136E-2</c:v>
                </c:pt>
                <c:pt idx="1">
                  <c:v>7.0898094817600603E-4</c:v>
                </c:pt>
                <c:pt idx="2">
                  <c:v>-7.31425731588811E-5</c:v>
                </c:pt>
                <c:pt idx="3">
                  <c:v>5.2595580514326603E-3</c:v>
                </c:pt>
                <c:pt idx="4">
                  <c:v>3.2283957050202399E-3</c:v>
                </c:pt>
                <c:pt idx="5">
                  <c:v>5.9454343476038098E-3</c:v>
                </c:pt>
                <c:pt idx="6">
                  <c:v>2.4253878453592299E-2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2EE1-8C4F-B93F-E546FDDBB5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8"/>
        <c:overlap val="-2"/>
        <c:axId val="1996777520"/>
        <c:axId val="1997081584"/>
      </c:barChart>
      <c:catAx>
        <c:axId val="1996777520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chemeClr val="bg1">
                  <a:lumMod val="7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low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997081584"/>
        <c:crosses val="autoZero"/>
        <c:auto val="1"/>
        <c:lblAlgn val="ctr"/>
        <c:lblOffset val="100"/>
        <c:noMultiLvlLbl val="0"/>
      </c:catAx>
      <c:valAx>
        <c:axId val="1997081584"/>
        <c:scaling>
          <c:orientation val="minMax"/>
          <c:min val="0"/>
        </c:scaling>
        <c:delete val="1"/>
        <c:axPos val="b"/>
        <c:numFmt formatCode="0.0%" sourceLinked="1"/>
        <c:majorTickMark val="none"/>
        <c:minorTickMark val="none"/>
        <c:tickLblPos val="nextTo"/>
        <c:crossAx val="19967775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800" b="0" i="0">
          <a:solidFill>
            <a:schemeClr val="tx1">
              <a:lumMod val="95000"/>
              <a:lumOff val="5000"/>
            </a:schemeClr>
          </a:solidFill>
          <a:latin typeface="Aptos" panose="020B0004020202020204" pitchFamily="34" charset="0"/>
          <a:cs typeface="Arial" panose="020B0604020202020204" pitchFamily="34" charset="0"/>
        </a:defRPr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1"/>
          <c:order val="0"/>
          <c:tx>
            <c:strRef>
              <c:f>Sheet1!$D$3</c:f>
              <c:strCache>
                <c:ptCount val="1"/>
                <c:pt idx="0">
                  <c:v>Over 1 Month</c:v>
                </c:pt>
              </c:strCache>
            </c:strRef>
          </c:tx>
          <c:spPr>
            <a:solidFill>
              <a:srgbClr val="721624"/>
            </a:solidFill>
            <a:ln w="3175">
              <a:solidFill>
                <a:schemeClr val="bg1">
                  <a:lumMod val="75000"/>
                </a:schemeClr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Sheet1!$B$4:$B$9</c:f>
              <c:strCache>
                <c:ptCount val="6"/>
                <c:pt idx="0">
                  <c:v>Emerging Equity</c:v>
                </c:pt>
                <c:pt idx="1">
                  <c:v>Carry</c:v>
                </c:pt>
                <c:pt idx="2">
                  <c:v>Liquidity</c:v>
                </c:pt>
                <c:pt idx="3">
                  <c:v>Funding</c:v>
                </c:pt>
                <c:pt idx="4">
                  <c:v>Term</c:v>
                </c:pt>
                <c:pt idx="5">
                  <c:v>Equity</c:v>
                </c:pt>
              </c:strCache>
            </c:strRef>
          </c:cat>
          <c:val>
            <c:numRef>
              <c:f>Sheet1!$D$4:$D$9</c:f>
              <c:numCache>
                <c:formatCode>0.0%</c:formatCode>
                <c:ptCount val="6"/>
                <c:pt idx="0">
                  <c:v>2.0070188103500802E-3</c:v>
                </c:pt>
                <c:pt idx="1">
                  <c:v>1.1533191337533199E-2</c:v>
                </c:pt>
                <c:pt idx="2">
                  <c:v>1.9097868310067299E-2</c:v>
                </c:pt>
                <c:pt idx="3">
                  <c:v>2.9984788424161701E-2</c:v>
                </c:pt>
                <c:pt idx="4">
                  <c:v>2.1696266369707E-2</c:v>
                </c:pt>
                <c:pt idx="5">
                  <c:v>4.9845832259403103E-2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131-8D4B-A331-C96214022655}"/>
            </c:ext>
          </c:extLst>
        </c:ser>
        <c:ser>
          <c:idx val="0"/>
          <c:order val="1"/>
          <c:tx>
            <c:strRef>
              <c:f>Sheet1!$E$3</c:f>
              <c:strCache>
                <c:ptCount val="1"/>
                <c:pt idx="0">
                  <c:v>Over 3 Months</c:v>
                </c:pt>
              </c:strCache>
            </c:strRef>
          </c:tx>
          <c:spPr>
            <a:solidFill>
              <a:srgbClr val="C00000"/>
            </a:solidFill>
            <a:ln w="3175">
              <a:solidFill>
                <a:schemeClr val="bg1">
                  <a:lumMod val="75000"/>
                </a:schemeClr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Sheet1!$B$4:$B$9</c:f>
              <c:strCache>
                <c:ptCount val="6"/>
                <c:pt idx="0">
                  <c:v>Emerging Equity</c:v>
                </c:pt>
                <c:pt idx="1">
                  <c:v>Carry</c:v>
                </c:pt>
                <c:pt idx="2">
                  <c:v>Liquidity</c:v>
                </c:pt>
                <c:pt idx="3">
                  <c:v>Funding</c:v>
                </c:pt>
                <c:pt idx="4">
                  <c:v>Term</c:v>
                </c:pt>
                <c:pt idx="5">
                  <c:v>Equity</c:v>
                </c:pt>
              </c:strCache>
            </c:strRef>
          </c:cat>
          <c:val>
            <c:numRef>
              <c:f>Sheet1!$E$4:$E$9</c:f>
              <c:numCache>
                <c:formatCode>0.0%</c:formatCode>
                <c:ptCount val="6"/>
                <c:pt idx="0">
                  <c:v>2.4066967964924298E-2</c:v>
                </c:pt>
                <c:pt idx="1">
                  <c:v>2.0670152890742199E-2</c:v>
                </c:pt>
                <c:pt idx="2">
                  <c:v>2.64217996817603E-2</c:v>
                </c:pt>
                <c:pt idx="3">
                  <c:v>3.5749966067414297E-2</c:v>
                </c:pt>
                <c:pt idx="4">
                  <c:v>2.6817476466793801E-2</c:v>
                </c:pt>
                <c:pt idx="5">
                  <c:v>8.39509614821317E-2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131-8D4B-A331-C9621402265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405985375"/>
        <c:axId val="337447343"/>
      </c:barChart>
      <c:catAx>
        <c:axId val="405985375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chemeClr val="bg1">
                  <a:lumMod val="7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12700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337447343"/>
        <c:crosses val="autoZero"/>
        <c:auto val="1"/>
        <c:lblAlgn val="ctr"/>
        <c:lblOffset val="100"/>
        <c:noMultiLvlLbl val="0"/>
      </c:catAx>
      <c:valAx>
        <c:axId val="337447343"/>
        <c:scaling>
          <c:orientation val="minMax"/>
        </c:scaling>
        <c:delete val="1"/>
        <c:axPos val="b"/>
        <c:numFmt formatCode="0.0%" sourceLinked="1"/>
        <c:majorTickMark val="none"/>
        <c:minorTickMark val="none"/>
        <c:tickLblPos val="nextTo"/>
        <c:crossAx val="40598537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95000"/>
                  <a:lumOff val="5000"/>
                </a:schemeClr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1000" b="0" i="0">
          <a:solidFill>
            <a:schemeClr val="tx1">
              <a:lumMod val="95000"/>
              <a:lumOff val="5000"/>
            </a:schemeClr>
          </a:solidFill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10371394423791327"/>
          <c:y val="9.4532373527128344E-2"/>
          <c:w val="0.8625745071676858"/>
          <c:h val="0.76907794223024384"/>
        </c:manualLayout>
      </c:layout>
      <c:lineChart>
        <c:grouping val="standard"/>
        <c:varyColors val="0"/>
        <c:ser>
          <c:idx val="0"/>
          <c:order val="0"/>
          <c:tx>
            <c:strRef>
              <c:f>ws_Strategic_Asset_Allocation!$B$2</c:f>
              <c:strCache>
                <c:ptCount val="1"/>
                <c:pt idx="0">
                  <c:v>1st %ile</c:v>
                </c:pt>
              </c:strCache>
            </c:strRef>
          </c:tx>
          <c:spPr>
            <a:ln w="12700">
              <a:solidFill>
                <a:srgbClr val="C00000"/>
              </a:solidFill>
              <a:prstDash val="solid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3F0C-AB44-91AB-F35FD994F663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ws_Strategic_Asset_Allocation!$A$3:$A$23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ws_Strategic_Asset_Allocation!$B$3:$B$23</c:f>
              <c:numCache>
                <c:formatCode>General</c:formatCode>
                <c:ptCount val="21"/>
                <c:pt idx="0">
                  <c:v>100</c:v>
                </c:pt>
                <c:pt idx="1">
                  <c:v>89.11357616559873</c:v>
                </c:pt>
                <c:pt idx="2">
                  <c:v>91.60162953348572</c:v>
                </c:pt>
                <c:pt idx="3">
                  <c:v>93.815829158247922</c:v>
                </c:pt>
                <c:pt idx="4">
                  <c:v>94.79355662644069</c:v>
                </c:pt>
                <c:pt idx="5">
                  <c:v>96.786940383185495</c:v>
                </c:pt>
                <c:pt idx="6">
                  <c:v>99.596967260218321</c:v>
                </c:pt>
                <c:pt idx="7">
                  <c:v>100.39224283924069</c:v>
                </c:pt>
                <c:pt idx="8">
                  <c:v>102.0470254834844</c:v>
                </c:pt>
                <c:pt idx="9">
                  <c:v>102.1158985111246</c:v>
                </c:pt>
                <c:pt idx="10">
                  <c:v>104.08395598869581</c:v>
                </c:pt>
                <c:pt idx="11">
                  <c:v>107.0044382754448</c:v>
                </c:pt>
                <c:pt idx="12">
                  <c:v>108.8131712443323</c:v>
                </c:pt>
                <c:pt idx="13">
                  <c:v>111.6787628594856</c:v>
                </c:pt>
                <c:pt idx="14">
                  <c:v>114.1648306006793</c:v>
                </c:pt>
                <c:pt idx="15">
                  <c:v>116.94846470249441</c:v>
                </c:pt>
                <c:pt idx="16">
                  <c:v>120.6895388076103</c:v>
                </c:pt>
                <c:pt idx="17">
                  <c:v>124.5827568264387</c:v>
                </c:pt>
                <c:pt idx="18">
                  <c:v>130.08039162075499</c:v>
                </c:pt>
                <c:pt idx="19">
                  <c:v>135.07466130722719</c:v>
                </c:pt>
                <c:pt idx="20">
                  <c:v>138.38754880809691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F0C-AB44-91AB-F35FD994F663}"/>
            </c:ext>
          </c:extLst>
        </c:ser>
        <c:ser>
          <c:idx val="1"/>
          <c:order val="1"/>
          <c:tx>
            <c:strRef>
              <c:f>ws_Strategic_Asset_Allocation!$C$2</c:f>
              <c:strCache>
                <c:ptCount val="1"/>
                <c:pt idx="0">
                  <c:v>10th %ile</c:v>
                </c:pt>
              </c:strCache>
            </c:strRef>
          </c:tx>
          <c:spPr>
            <a:ln w="12700">
              <a:solidFill>
                <a:srgbClr val="8064A2"/>
              </a:solidFill>
              <a:prstDash val="solid"/>
            </a:ln>
          </c:spPr>
          <c:marker>
            <c:symbol val="none"/>
          </c:marker>
          <c:cat>
            <c:numRef>
              <c:f>ws_Strategic_Asset_Allocation!$A$3:$A$23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ws_Strategic_Asset_Allocation!$C$3:$C$23</c:f>
              <c:numCache>
                <c:formatCode>General</c:formatCode>
                <c:ptCount val="21"/>
                <c:pt idx="0">
                  <c:v>100</c:v>
                </c:pt>
                <c:pt idx="1">
                  <c:v>98.377106810551254</c:v>
                </c:pt>
                <c:pt idx="2">
                  <c:v>101.8607356065238</c:v>
                </c:pt>
                <c:pt idx="3">
                  <c:v>107.4832677914452</c:v>
                </c:pt>
                <c:pt idx="4">
                  <c:v>112.2630908977339</c:v>
                </c:pt>
                <c:pt idx="5">
                  <c:v>117.8643420081454</c:v>
                </c:pt>
                <c:pt idx="6">
                  <c:v>124.1799184920722</c:v>
                </c:pt>
                <c:pt idx="7">
                  <c:v>128.6287755349901</c:v>
                </c:pt>
                <c:pt idx="8">
                  <c:v>134.10051095898541</c:v>
                </c:pt>
                <c:pt idx="9">
                  <c:v>138.9213988405281</c:v>
                </c:pt>
                <c:pt idx="10">
                  <c:v>144.71403399354139</c:v>
                </c:pt>
                <c:pt idx="11">
                  <c:v>150.14126855313401</c:v>
                </c:pt>
                <c:pt idx="12">
                  <c:v>156.35042246148811</c:v>
                </c:pt>
                <c:pt idx="13">
                  <c:v>162.3720167266743</c:v>
                </c:pt>
                <c:pt idx="14">
                  <c:v>169.87041053254299</c:v>
                </c:pt>
                <c:pt idx="15">
                  <c:v>176.44797315684929</c:v>
                </c:pt>
                <c:pt idx="16">
                  <c:v>184.5582878586122</c:v>
                </c:pt>
                <c:pt idx="17">
                  <c:v>192.04470625572819</c:v>
                </c:pt>
                <c:pt idx="18">
                  <c:v>200.11230718843879</c:v>
                </c:pt>
                <c:pt idx="19">
                  <c:v>209.18238170025961</c:v>
                </c:pt>
                <c:pt idx="20">
                  <c:v>219.44408933557989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F0C-AB44-91AB-F35FD994F663}"/>
            </c:ext>
          </c:extLst>
        </c:ser>
        <c:ser>
          <c:idx val="2"/>
          <c:order val="2"/>
          <c:tx>
            <c:strRef>
              <c:f>ws_Strategic_Asset_Allocation!$D$2</c:f>
              <c:strCache>
                <c:ptCount val="1"/>
                <c:pt idx="0">
                  <c:v>50th %ile</c:v>
                </c:pt>
              </c:strCache>
            </c:strRef>
          </c:tx>
          <c:spPr>
            <a:ln w="12700">
              <a:solidFill>
                <a:srgbClr val="376092"/>
              </a:solidFill>
              <a:prstDash val="solid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F0C-AB44-91AB-F35FD994F663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ws_Strategic_Asset_Allocation!$A$3:$A$23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ws_Strategic_Asset_Allocation!$D$3:$D$23</c:f>
              <c:numCache>
                <c:formatCode>General</c:formatCode>
                <c:ptCount val="21"/>
                <c:pt idx="0">
                  <c:v>100</c:v>
                </c:pt>
                <c:pt idx="1">
                  <c:v>108.59586455235851</c:v>
                </c:pt>
                <c:pt idx="2">
                  <c:v>117.14981335783359</c:v>
                </c:pt>
                <c:pt idx="3">
                  <c:v>125.36579844410799</c:v>
                </c:pt>
                <c:pt idx="4">
                  <c:v>134.91119833162739</c:v>
                </c:pt>
                <c:pt idx="5">
                  <c:v>145.53600021109381</c:v>
                </c:pt>
                <c:pt idx="6">
                  <c:v>156.4400157783241</c:v>
                </c:pt>
                <c:pt idx="7">
                  <c:v>167.6614924555582</c:v>
                </c:pt>
                <c:pt idx="8">
                  <c:v>179.25308156343809</c:v>
                </c:pt>
                <c:pt idx="9">
                  <c:v>190.96096500480641</c:v>
                </c:pt>
                <c:pt idx="10">
                  <c:v>203.34764359664979</c:v>
                </c:pt>
                <c:pt idx="11">
                  <c:v>216.0159713047079</c:v>
                </c:pt>
                <c:pt idx="12">
                  <c:v>229.3666317573612</c:v>
                </c:pt>
                <c:pt idx="13">
                  <c:v>243.8584651128759</c:v>
                </c:pt>
                <c:pt idx="14">
                  <c:v>259.51652380798532</c:v>
                </c:pt>
                <c:pt idx="15">
                  <c:v>275.57435981139378</c:v>
                </c:pt>
                <c:pt idx="16">
                  <c:v>292.86879908284271</c:v>
                </c:pt>
                <c:pt idx="17">
                  <c:v>310.44299751964542</c:v>
                </c:pt>
                <c:pt idx="18">
                  <c:v>330.63599007274888</c:v>
                </c:pt>
                <c:pt idx="19">
                  <c:v>351.34384128399489</c:v>
                </c:pt>
                <c:pt idx="20">
                  <c:v>373.17103675181261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F0C-AB44-91AB-F35FD994F663}"/>
            </c:ext>
          </c:extLst>
        </c:ser>
        <c:ser>
          <c:idx val="3"/>
          <c:order val="3"/>
          <c:tx>
            <c:strRef>
              <c:f>ws_Strategic_Asset_Allocation!$E$2</c:f>
              <c:strCache>
                <c:ptCount val="1"/>
                <c:pt idx="0">
                  <c:v>90th %ile</c:v>
                </c:pt>
              </c:strCache>
            </c:strRef>
          </c:tx>
          <c:spPr>
            <a:ln w="12700">
              <a:solidFill>
                <a:srgbClr val="77933C"/>
              </a:solidFill>
              <a:prstDash val="solid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3F0C-AB44-91AB-F35FD994F663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ws_Strategic_Asset_Allocation!$A$3:$A$23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ws_Strategic_Asset_Allocation!$E$3:$E$23</c:f>
              <c:numCache>
                <c:formatCode>General</c:formatCode>
                <c:ptCount val="21"/>
                <c:pt idx="0">
                  <c:v>100</c:v>
                </c:pt>
                <c:pt idx="1">
                  <c:v>118.3350197366818</c:v>
                </c:pt>
                <c:pt idx="2">
                  <c:v>131.0753382616993</c:v>
                </c:pt>
                <c:pt idx="3">
                  <c:v>144.254048051712</c:v>
                </c:pt>
                <c:pt idx="4">
                  <c:v>159.54073836732519</c:v>
                </c:pt>
                <c:pt idx="5">
                  <c:v>176.23558047964991</c:v>
                </c:pt>
                <c:pt idx="6">
                  <c:v>193.44167042286151</c:v>
                </c:pt>
                <c:pt idx="7">
                  <c:v>212.1082464211369</c:v>
                </c:pt>
                <c:pt idx="8">
                  <c:v>232.20702757592409</c:v>
                </c:pt>
                <c:pt idx="9">
                  <c:v>253.28245819085791</c:v>
                </c:pt>
                <c:pt idx="10">
                  <c:v>276.25314088452672</c:v>
                </c:pt>
                <c:pt idx="11">
                  <c:v>299.92736851466429</c:v>
                </c:pt>
                <c:pt idx="12">
                  <c:v>326.72795378761089</c:v>
                </c:pt>
                <c:pt idx="13">
                  <c:v>353.93469583325208</c:v>
                </c:pt>
                <c:pt idx="14">
                  <c:v>385.32973347398939</c:v>
                </c:pt>
                <c:pt idx="15">
                  <c:v>415.47706928552731</c:v>
                </c:pt>
                <c:pt idx="16">
                  <c:v>449.87075797114511</c:v>
                </c:pt>
                <c:pt idx="17">
                  <c:v>487.7088127375024</c:v>
                </c:pt>
                <c:pt idx="18">
                  <c:v>527.08095101682204</c:v>
                </c:pt>
                <c:pt idx="19">
                  <c:v>567.21766387124046</c:v>
                </c:pt>
                <c:pt idx="20">
                  <c:v>615.12421059398446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3F0C-AB44-91AB-F35FD994F663}"/>
            </c:ext>
          </c:extLst>
        </c:ser>
        <c:ser>
          <c:idx val="4"/>
          <c:order val="4"/>
          <c:tx>
            <c:strRef>
              <c:f>ws_Strategic_Asset_Allocation!$F$2</c:f>
              <c:strCache>
                <c:ptCount val="1"/>
              </c:strCache>
            </c:strRef>
          </c:tx>
          <c:spPr>
            <a:ln w="12700">
              <a:solidFill>
                <a:schemeClr val="dk1">
                  <a:shade val="95000"/>
                  <a:satMod val="105000"/>
                </a:schemeClr>
              </a:solidFill>
              <a:prstDash val="sysDash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F0C-AB44-91AB-F35FD994F663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ws_Strategic_Asset_Allocation!$A$3:$A$23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ws_Strategic_Asset_Allocation!$F$3:$F$23</c:f>
              <c:numCache>
                <c:formatCode>General</c:formatCode>
                <c:ptCount val="21"/>
                <c:pt idx="0">
                  <c:v>100</c:v>
                </c:pt>
                <c:pt idx="1">
                  <c:v>107.2964246392673</c:v>
                </c:pt>
                <c:pt idx="2">
                  <c:v>113.7138018902814</c:v>
                </c:pt>
                <c:pt idx="3">
                  <c:v>120.26903593377649</c:v>
                </c:pt>
                <c:pt idx="4">
                  <c:v>127.9854010950353</c:v>
                </c:pt>
                <c:pt idx="5">
                  <c:v>136.3763430569168</c:v>
                </c:pt>
                <c:pt idx="6">
                  <c:v>144.99552644687711</c:v>
                </c:pt>
                <c:pt idx="7">
                  <c:v>153.97465830705951</c:v>
                </c:pt>
                <c:pt idx="8">
                  <c:v>162.42977116175831</c:v>
                </c:pt>
                <c:pt idx="9">
                  <c:v>171.63207254495529</c:v>
                </c:pt>
                <c:pt idx="10">
                  <c:v>180.52228230756191</c:v>
                </c:pt>
                <c:pt idx="11">
                  <c:v>190.33769459995139</c:v>
                </c:pt>
                <c:pt idx="12">
                  <c:v>200.03641835794909</c:v>
                </c:pt>
                <c:pt idx="13">
                  <c:v>210.30699708041709</c:v>
                </c:pt>
                <c:pt idx="14">
                  <c:v>221.33505062412209</c:v>
                </c:pt>
                <c:pt idx="15">
                  <c:v>232.53450843709851</c:v>
                </c:pt>
                <c:pt idx="16">
                  <c:v>244.89506125768489</c:v>
                </c:pt>
                <c:pt idx="17">
                  <c:v>257.31929415272668</c:v>
                </c:pt>
                <c:pt idx="18">
                  <c:v>270.40073261624838</c:v>
                </c:pt>
                <c:pt idx="19">
                  <c:v>284.41271952023618</c:v>
                </c:pt>
                <c:pt idx="20">
                  <c:v>298.96127257995357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3F0C-AB44-91AB-F35FD994F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/>
                </a:pPr>
                <a:r>
                  <a:rPr lang="en-GB" sz="900" b="0">
                    <a:latin typeface="Aptos"/>
                  </a:rPr>
                  <a:t>Year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txPr>
          <a:bodyPr/>
          <a:lstStyle/>
          <a:p>
            <a:pPr>
              <a:defRPr sz="900" b="0">
                <a:latin typeface="Aptos"/>
              </a:defRPr>
            </a:pPr>
            <a:endParaRPr lang="en-US"/>
          </a:p>
        </c:txPr>
        <c:crossAx val="100"/>
        <c:crosses val="autoZero"/>
        <c:auto val="0"/>
        <c:lblAlgn val="ctr"/>
        <c:lblOffset val="100"/>
        <c:tickLblSkip val="5"/>
        <c:tickMarkSkip val="5"/>
        <c:noMultiLvlLbl val="0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chemeClr val="bg1">
                  <a:lumMod val="85000"/>
                </a:schemeClr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/>
                </a:pPr>
                <a:r>
                  <a:rPr lang="en-GB" sz="900" b="0">
                    <a:latin typeface="Aptos"/>
                  </a:rPr>
                  <a:t>Nominal Portfolio Values ($)</a:t>
                </a:r>
              </a:p>
            </c:rich>
          </c:tx>
          <c:overlay val="0"/>
        </c:title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900" b="0">
                <a:latin typeface="Aptos"/>
              </a:defRPr>
            </a:pPr>
            <a:endParaRPr lang="en-US"/>
          </a:p>
        </c:txPr>
        <c:crossAx val="10"/>
        <c:crosses val="autoZero"/>
        <c:crossBetween val="between"/>
      </c:valAx>
    </c:plotArea>
    <c:legend>
      <c:legendPos val="t"/>
      <c:legendEntry>
        <c:idx val="4"/>
        <c:delete val="1"/>
      </c:legendEntry>
      <c:layout>
        <c:manualLayout>
          <c:xMode val="edge"/>
          <c:yMode val="edge"/>
          <c:x val="2.1069717871500603E-2"/>
          <c:y val="1.4066060120915477E-2"/>
          <c:w val="0.97893028212849942"/>
          <c:h val="7.4882625745152268E-2"/>
        </c:manualLayout>
      </c:layout>
      <c:overlay val="0"/>
      <c:txPr>
        <a:bodyPr/>
        <a:lstStyle/>
        <a:p>
          <a:pPr>
            <a:defRPr sz="900" b="0">
              <a:latin typeface="Apto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7.3210720354083242E-2"/>
          <c:y val="0.11529161370580265"/>
          <c:w val="0.37649122983709232"/>
          <c:h val="0.66313379850458087"/>
        </c:manualLayout>
      </c:layout>
      <c:lineChart>
        <c:grouping val="standard"/>
        <c:varyColors val="0"/>
        <c:ser>
          <c:idx val="0"/>
          <c:order val="0"/>
          <c:tx>
            <c:strRef>
              <c:f>'ws_SAA_6.0%'!$F$2</c:f>
              <c:strCache>
                <c:ptCount val="1"/>
                <c:pt idx="0">
                  <c:v>1st %ile</c:v>
                </c:pt>
              </c:strCache>
            </c:strRef>
          </c:tx>
          <c:spPr>
            <a:ln w="12700">
              <a:solidFill>
                <a:srgbClr val="C00000"/>
              </a:solidFill>
              <a:prstDash val="solid"/>
            </a:ln>
          </c:spPr>
          <c:marker>
            <c:symbol val="none"/>
          </c:marker>
          <c:cat>
            <c:numRef>
              <c:f>'ws_SAA_6.0%'!$A$3:$A$23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'ws_SAA_6.0%'!$F$3:$F$23</c:f>
              <c:numCache>
                <c:formatCode>General</c:formatCode>
                <c:ptCount val="21"/>
                <c:pt idx="0">
                  <c:v>100</c:v>
                </c:pt>
                <c:pt idx="1">
                  <c:v>80.881108386509325</c:v>
                </c:pt>
                <c:pt idx="2">
                  <c:v>75.875063562083866</c:v>
                </c:pt>
                <c:pt idx="3">
                  <c:v>71.049605028464256</c:v>
                </c:pt>
                <c:pt idx="4">
                  <c:v>65.614858238206864</c:v>
                </c:pt>
                <c:pt idx="5">
                  <c:v>61.293350654655526</c:v>
                </c:pt>
                <c:pt idx="6">
                  <c:v>57.055472873577393</c:v>
                </c:pt>
                <c:pt idx="7">
                  <c:v>51.668811690304139</c:v>
                </c:pt>
                <c:pt idx="8">
                  <c:v>46.54192958163452</c:v>
                </c:pt>
                <c:pt idx="9">
                  <c:v>41.594811858807518</c:v>
                </c:pt>
                <c:pt idx="10">
                  <c:v>36.385280680028103</c:v>
                </c:pt>
                <c:pt idx="11">
                  <c:v>31.551381586112981</c:v>
                </c:pt>
                <c:pt idx="12">
                  <c:v>26.549189548788959</c:v>
                </c:pt>
                <c:pt idx="13">
                  <c:v>21.7875474894687</c:v>
                </c:pt>
                <c:pt idx="14">
                  <c:v>16.671261012842528</c:v>
                </c:pt>
                <c:pt idx="15">
                  <c:v>11.60172975157665</c:v>
                </c:pt>
                <c:pt idx="16">
                  <c:v>6.673333797598981</c:v>
                </c:pt>
                <c:pt idx="17">
                  <c:v>1.383046262470867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5FE-FF4C-80C6-EF50D8326743}"/>
            </c:ext>
          </c:extLst>
        </c:ser>
        <c:ser>
          <c:idx val="1"/>
          <c:order val="1"/>
          <c:tx>
            <c:strRef>
              <c:f>'ws_SAA_6.0%'!$G$2</c:f>
              <c:strCache>
                <c:ptCount val="1"/>
                <c:pt idx="0">
                  <c:v>10th %ile</c:v>
                </c:pt>
              </c:strCache>
            </c:strRef>
          </c:tx>
          <c:spPr>
            <a:ln w="12700">
              <a:solidFill>
                <a:srgbClr val="8064A2"/>
              </a:solidFill>
              <a:prstDash val="solid"/>
            </a:ln>
          </c:spPr>
          <c:marker>
            <c:symbol val="none"/>
          </c:marker>
          <c:cat>
            <c:numRef>
              <c:f>'ws_SAA_6.0%'!$A$3:$A$23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'ws_SAA_6.0%'!$G$3:$G$23</c:f>
              <c:numCache>
                <c:formatCode>General</c:formatCode>
                <c:ptCount val="21"/>
                <c:pt idx="0">
                  <c:v>100</c:v>
                </c:pt>
                <c:pt idx="1">
                  <c:v>90.656623826287927</c:v>
                </c:pt>
                <c:pt idx="2">
                  <c:v>86.135404009133723</c:v>
                </c:pt>
                <c:pt idx="3">
                  <c:v>83.690249585605883</c:v>
                </c:pt>
                <c:pt idx="4">
                  <c:v>80.33979480091817</c:v>
                </c:pt>
                <c:pt idx="5">
                  <c:v>77.2697154812858</c:v>
                </c:pt>
                <c:pt idx="6">
                  <c:v>74.574054487448109</c:v>
                </c:pt>
                <c:pt idx="7">
                  <c:v>70.855689172568802</c:v>
                </c:pt>
                <c:pt idx="8">
                  <c:v>67.201499381749485</c:v>
                </c:pt>
                <c:pt idx="9">
                  <c:v>63.182661304099248</c:v>
                </c:pt>
                <c:pt idx="10">
                  <c:v>59.805368260078552</c:v>
                </c:pt>
                <c:pt idx="11">
                  <c:v>55.856579377394873</c:v>
                </c:pt>
                <c:pt idx="12">
                  <c:v>51.532612499001402</c:v>
                </c:pt>
                <c:pt idx="13">
                  <c:v>47.665604519093073</c:v>
                </c:pt>
                <c:pt idx="14">
                  <c:v>43.640675236164753</c:v>
                </c:pt>
                <c:pt idx="15">
                  <c:v>39.795895809931572</c:v>
                </c:pt>
                <c:pt idx="16">
                  <c:v>35.468983410151239</c:v>
                </c:pt>
                <c:pt idx="17">
                  <c:v>31.373125965412491</c:v>
                </c:pt>
                <c:pt idx="18">
                  <c:v>26.71427019483346</c:v>
                </c:pt>
                <c:pt idx="19">
                  <c:v>22.03041235473183</c:v>
                </c:pt>
                <c:pt idx="20">
                  <c:v>17.31424260592479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5FE-FF4C-80C6-EF50D8326743}"/>
            </c:ext>
          </c:extLst>
        </c:ser>
        <c:ser>
          <c:idx val="2"/>
          <c:order val="2"/>
          <c:tx>
            <c:strRef>
              <c:f>'ws_SAA_6.0%'!$H$2</c:f>
              <c:strCache>
                <c:ptCount val="1"/>
                <c:pt idx="0">
                  <c:v>50th %ile</c:v>
                </c:pt>
              </c:strCache>
            </c:strRef>
          </c:tx>
          <c:spPr>
            <a:ln w="12700">
              <a:solidFill>
                <a:srgbClr val="376092"/>
              </a:solidFill>
              <a:prstDash val="solid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B5FE-FF4C-80C6-EF50D8326743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'ws_SAA_6.0%'!$A$3:$A$23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'ws_SAA_6.0%'!$H$3:$H$23</c:f>
              <c:numCache>
                <c:formatCode>General</c:formatCode>
                <c:ptCount val="21"/>
                <c:pt idx="0">
                  <c:v>100</c:v>
                </c:pt>
                <c:pt idx="1">
                  <c:v>100.6701908618946</c:v>
                </c:pt>
                <c:pt idx="2">
                  <c:v>100.8847004991072</c:v>
                </c:pt>
                <c:pt idx="3">
                  <c:v>100.31721298800529</c:v>
                </c:pt>
                <c:pt idx="4">
                  <c:v>100.0966204184468</c:v>
                </c:pt>
                <c:pt idx="5">
                  <c:v>100.24301586024841</c:v>
                </c:pt>
                <c:pt idx="6">
                  <c:v>100.0959770230684</c:v>
                </c:pt>
                <c:pt idx="7">
                  <c:v>99.728073953715509</c:v>
                </c:pt>
                <c:pt idx="8">
                  <c:v>98.830059175420757</c:v>
                </c:pt>
                <c:pt idx="9">
                  <c:v>97.800158034979205</c:v>
                </c:pt>
                <c:pt idx="10">
                  <c:v>96.55471120124173</c:v>
                </c:pt>
                <c:pt idx="11">
                  <c:v>94.849486471141446</c:v>
                </c:pt>
                <c:pt idx="12">
                  <c:v>93.154436362870683</c:v>
                </c:pt>
                <c:pt idx="13">
                  <c:v>91.755879186972479</c:v>
                </c:pt>
                <c:pt idx="14">
                  <c:v>90.334040104371837</c:v>
                </c:pt>
                <c:pt idx="15">
                  <c:v>88.462010634309479</c:v>
                </c:pt>
                <c:pt idx="16">
                  <c:v>86.832615976326849</c:v>
                </c:pt>
                <c:pt idx="17">
                  <c:v>84.723926304902449</c:v>
                </c:pt>
                <c:pt idx="18">
                  <c:v>82.734930155012847</c:v>
                </c:pt>
                <c:pt idx="19">
                  <c:v>80.862223630725651</c:v>
                </c:pt>
                <c:pt idx="20">
                  <c:v>78.71416052227292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5FE-FF4C-80C6-EF50D8326743}"/>
            </c:ext>
          </c:extLst>
        </c:ser>
        <c:ser>
          <c:idx val="3"/>
          <c:order val="3"/>
          <c:tx>
            <c:strRef>
              <c:f>'ws_SAA_6.0%'!$I$2</c:f>
              <c:strCache>
                <c:ptCount val="1"/>
                <c:pt idx="0">
                  <c:v>90th %ile</c:v>
                </c:pt>
              </c:strCache>
            </c:strRef>
          </c:tx>
          <c:spPr>
            <a:ln w="12700">
              <a:solidFill>
                <a:srgbClr val="77933C"/>
              </a:solidFill>
              <a:prstDash val="solid"/>
            </a:ln>
          </c:spPr>
          <c:marker>
            <c:symbol val="none"/>
          </c:marker>
          <c:cat>
            <c:numRef>
              <c:f>'ws_SAA_6.0%'!$A$3:$A$23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'ws_SAA_6.0%'!$I$3:$I$23</c:f>
              <c:numCache>
                <c:formatCode>General</c:formatCode>
                <c:ptCount val="21"/>
                <c:pt idx="0">
                  <c:v>100</c:v>
                </c:pt>
                <c:pt idx="1">
                  <c:v>110.65351065355431</c:v>
                </c:pt>
                <c:pt idx="2">
                  <c:v>114.48726505919019</c:v>
                </c:pt>
                <c:pt idx="3">
                  <c:v>117.551049996096</c:v>
                </c:pt>
                <c:pt idx="4">
                  <c:v>121.86166248005659</c:v>
                </c:pt>
                <c:pt idx="5">
                  <c:v>125.9233775547105</c:v>
                </c:pt>
                <c:pt idx="6">
                  <c:v>129.66578687040919</c:v>
                </c:pt>
                <c:pt idx="7">
                  <c:v>133.4535924157779</c:v>
                </c:pt>
                <c:pt idx="8">
                  <c:v>137.22099082389701</c:v>
                </c:pt>
                <c:pt idx="9">
                  <c:v>140.95441957263051</c:v>
                </c:pt>
                <c:pt idx="10">
                  <c:v>145.10348725988109</c:v>
                </c:pt>
                <c:pt idx="11">
                  <c:v>147.92520681617219</c:v>
                </c:pt>
                <c:pt idx="12">
                  <c:v>151.85764617678581</c:v>
                </c:pt>
                <c:pt idx="13">
                  <c:v>155.07760419177981</c:v>
                </c:pt>
                <c:pt idx="14">
                  <c:v>159.01075820592251</c:v>
                </c:pt>
                <c:pt idx="15">
                  <c:v>161.8148330899273</c:v>
                </c:pt>
                <c:pt idx="16">
                  <c:v>165.87862694105431</c:v>
                </c:pt>
                <c:pt idx="17">
                  <c:v>170.36133204410339</c:v>
                </c:pt>
                <c:pt idx="18">
                  <c:v>173.55744963176031</c:v>
                </c:pt>
                <c:pt idx="19">
                  <c:v>176.72698547965101</c:v>
                </c:pt>
                <c:pt idx="20">
                  <c:v>180.3882978136858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5FE-FF4C-80C6-EF50D832674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/>
                </a:pPr>
                <a:r>
                  <a:rPr lang="en-GB" sz="900" b="0">
                    <a:latin typeface="Aptos"/>
                  </a:rPr>
                  <a:t>Year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txPr>
          <a:bodyPr/>
          <a:lstStyle/>
          <a:p>
            <a:pPr>
              <a:defRPr sz="900" b="0">
                <a:latin typeface="Aptos"/>
              </a:defRPr>
            </a:pPr>
            <a:endParaRPr lang="en-US"/>
          </a:p>
        </c:txPr>
        <c:crossAx val="100"/>
        <c:crosses val="autoZero"/>
        <c:auto val="0"/>
        <c:lblAlgn val="ctr"/>
        <c:lblOffset val="100"/>
        <c:tickLblSkip val="5"/>
        <c:tickMarkSkip val="5"/>
        <c:noMultiLvlLbl val="0"/>
      </c:catAx>
      <c:valAx>
        <c:axId val="100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/>
                </a:pPr>
                <a:r>
                  <a:rPr lang="en-GB" sz="900" b="0" dirty="0">
                    <a:latin typeface="Aptos"/>
                  </a:rPr>
                  <a:t>Real Portfolio Values ($mm)</a:t>
                </a:r>
              </a:p>
            </c:rich>
          </c:tx>
          <c:overlay val="0"/>
        </c:title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900" b="0">
                <a:latin typeface="Aptos"/>
              </a:defRPr>
            </a:pPr>
            <a:endParaRPr lang="en-US"/>
          </a:p>
        </c:txPr>
        <c:crossAx val="10"/>
        <c:crosses val="autoZero"/>
        <c:crossBetween val="between"/>
      </c:valAx>
    </c:plotArea>
    <c:legend>
      <c:legendPos val="t"/>
      <c:layout>
        <c:manualLayout>
          <c:xMode val="edge"/>
          <c:yMode val="edge"/>
          <c:x val="0.21565734384399876"/>
          <c:y val="0.93253998561983575"/>
          <c:w val="0.59396927676267819"/>
          <c:h val="6.5965720754146626E-2"/>
        </c:manualLayout>
      </c:layout>
      <c:overlay val="0"/>
      <c:spPr>
        <a:ln w="6350">
          <a:solidFill>
            <a:schemeClr val="bg1">
              <a:lumMod val="50000"/>
            </a:schemeClr>
          </a:solidFill>
        </a:ln>
      </c:spPr>
      <c:txPr>
        <a:bodyPr/>
        <a:lstStyle/>
        <a:p>
          <a:pPr>
            <a:defRPr sz="900" b="0">
              <a:latin typeface="Aptos"/>
            </a:defRPr>
          </a:pPr>
          <a:endParaRPr lang="en-US"/>
        </a:p>
      </c:txPr>
    </c:legend>
    <c:plotVisOnly val="1"/>
    <c:dispBlanksAs val="gap"/>
    <c:showDLblsOverMax val="0"/>
  </c:chart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14376128301937174"/>
          <c:y val="9.9348008885148095E-2"/>
          <c:w val="0.7956811486673997"/>
          <c:h val="0.67015351346589802"/>
        </c:manualLayout>
      </c:layout>
      <c:lineChart>
        <c:grouping val="standard"/>
        <c:varyColors val="0"/>
        <c:ser>
          <c:idx val="0"/>
          <c:order val="0"/>
          <c:tx>
            <c:strRef>
              <c:f>'ws_SAA_6.0%'!$J$2</c:f>
              <c:strCache>
                <c:ptCount val="1"/>
                <c:pt idx="0">
                  <c:v>1st %ile</c:v>
                </c:pt>
              </c:strCache>
            </c:strRef>
          </c:tx>
          <c:spPr>
            <a:ln w="12700">
              <a:solidFill>
                <a:srgbClr val="C00000"/>
              </a:solidFill>
              <a:prstDash val="solid"/>
            </a:ln>
          </c:spPr>
          <c:marker>
            <c:symbol val="none"/>
          </c:marker>
          <c:dLbls>
            <c:dLbl>
              <c:idx val="20"/>
              <c:numFmt formatCode="#,##0.0" sourceLinked="0"/>
              <c:spPr>
                <a:noFill/>
                <a:ln>
                  <a:noFill/>
                </a:ln>
                <a:effectLst/>
              </c:spPr>
              <c:txPr>
                <a:bodyPr wrap="square" lIns="38100" tIns="19050" rIns="38100" bIns="19050" anchor="ctr">
                  <a:spAutoFit/>
                </a:bodyPr>
                <a:lstStyle/>
                <a:p>
                  <a:pPr>
                    <a:defRPr/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D4C-8249-8F67-96F0357FC96B}"/>
                </c:ext>
              </c:extLst>
            </c:dLbl>
            <c:numFmt formatCode="#,##0.0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'ws_SAA_6.0%'!$A$3:$A$23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'ws_SAA_6.0%'!$J$3:$J$23</c:f>
              <c:numCache>
                <c:formatCode>General</c:formatCode>
                <c:ptCount val="21"/>
                <c:pt idx="0">
                  <c:v>#N/A</c:v>
                </c:pt>
                <c:pt idx="1">
                  <c:v>5.4999999999999991</c:v>
                </c:pt>
                <c:pt idx="2">
                  <c:v>5.721517128537589</c:v>
                </c:pt>
                <c:pt idx="3">
                  <c:v>5.8904300441037298</c:v>
                </c:pt>
                <c:pt idx="4">
                  <c:v>6.0453427380911782</c:v>
                </c:pt>
                <c:pt idx="5">
                  <c:v>6.2688480472024137</c:v>
                </c:pt>
                <c:pt idx="6">
                  <c:v>6.523438439591752</c:v>
                </c:pt>
                <c:pt idx="7">
                  <c:v>6.7491090862543066</c:v>
                </c:pt>
                <c:pt idx="8">
                  <c:v>6.9343052205253306</c:v>
                </c:pt>
                <c:pt idx="9">
                  <c:v>7.1634684064317478</c:v>
                </c:pt>
                <c:pt idx="10">
                  <c:v>7.3684346180972113</c:v>
                </c:pt>
                <c:pt idx="11">
                  <c:v>7.5771341906883816</c:v>
                </c:pt>
                <c:pt idx="12">
                  <c:v>7.7978115441727729</c:v>
                </c:pt>
                <c:pt idx="13">
                  <c:v>8.0253156198406241</c:v>
                </c:pt>
                <c:pt idx="14">
                  <c:v>8.2274191155727276</c:v>
                </c:pt>
                <c:pt idx="15">
                  <c:v>8.4512669524336221</c:v>
                </c:pt>
                <c:pt idx="16">
                  <c:v>8.6535543496732839</c:v>
                </c:pt>
                <c:pt idx="17">
                  <c:v>8.8794052513698549</c:v>
                </c:pt>
                <c:pt idx="18">
                  <c:v>9.1050428328520976</c:v>
                </c:pt>
                <c:pt idx="19">
                  <c:v>9.3700215807687233</c:v>
                </c:pt>
                <c:pt idx="20">
                  <c:v>9.5915964634707205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D4C-8249-8F67-96F0357FC96B}"/>
            </c:ext>
          </c:extLst>
        </c:ser>
        <c:ser>
          <c:idx val="1"/>
          <c:order val="1"/>
          <c:tx>
            <c:strRef>
              <c:f>'ws_SAA_6.0%'!$K$2</c:f>
              <c:strCache>
                <c:ptCount val="1"/>
                <c:pt idx="0">
                  <c:v>10th %ile</c:v>
                </c:pt>
              </c:strCache>
            </c:strRef>
          </c:tx>
          <c:spPr>
            <a:ln w="12700">
              <a:solidFill>
                <a:srgbClr val="8064A2"/>
              </a:solidFill>
              <a:prstDash val="solid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D4C-8249-8F67-96F0357FC96B}"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'ws_SAA_6.0%'!$A$3:$A$23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'ws_SAA_6.0%'!$K$3:$K$23</c:f>
              <c:numCache>
                <c:formatCode>General</c:formatCode>
                <c:ptCount val="21"/>
                <c:pt idx="0">
                  <c:v>#N/A</c:v>
                </c:pt>
                <c:pt idx="1">
                  <c:v>5.4999999999999991</c:v>
                </c:pt>
                <c:pt idx="2">
                  <c:v>5.6725907460240412</c:v>
                </c:pt>
                <c:pt idx="3">
                  <c:v>5.8251220585055803</c:v>
                </c:pt>
                <c:pt idx="4">
                  <c:v>5.9653124986822261</c:v>
                </c:pt>
                <c:pt idx="5">
                  <c:v>6.1311286428921079</c:v>
                </c:pt>
                <c:pt idx="6">
                  <c:v>6.3002141273595571</c:v>
                </c:pt>
                <c:pt idx="7">
                  <c:v>6.464812325254524</c:v>
                </c:pt>
                <c:pt idx="8">
                  <c:v>6.6402079924613453</c:v>
                </c:pt>
                <c:pt idx="9">
                  <c:v>6.8212590709781962</c:v>
                </c:pt>
                <c:pt idx="10">
                  <c:v>7.0032279090854326</c:v>
                </c:pt>
                <c:pt idx="11">
                  <c:v>7.1863249698691547</c:v>
                </c:pt>
                <c:pt idx="12">
                  <c:v>7.3625664133636377</c:v>
                </c:pt>
                <c:pt idx="13">
                  <c:v>7.5401835131755712</c:v>
                </c:pt>
                <c:pt idx="14">
                  <c:v>7.7249776889592443</c:v>
                </c:pt>
                <c:pt idx="15">
                  <c:v>7.9134729394014434</c:v>
                </c:pt>
                <c:pt idx="16">
                  <c:v>8.0988105212672732</c:v>
                </c:pt>
                <c:pt idx="17">
                  <c:v>8.284824749298128</c:v>
                </c:pt>
                <c:pt idx="18">
                  <c:v>8.4775595339985674</c:v>
                </c:pt>
                <c:pt idx="19">
                  <c:v>8.6717125236727526</c:v>
                </c:pt>
                <c:pt idx="20">
                  <c:v>8.8773034842119891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D4C-8249-8F67-96F0357FC96B}"/>
            </c:ext>
          </c:extLst>
        </c:ser>
        <c:ser>
          <c:idx val="2"/>
          <c:order val="2"/>
          <c:tx>
            <c:strRef>
              <c:f>'ws_SAA_6.0%'!$L$2</c:f>
              <c:strCache>
                <c:ptCount val="1"/>
                <c:pt idx="0">
                  <c:v>50th %ile</c:v>
                </c:pt>
              </c:strCache>
            </c:strRef>
          </c:tx>
          <c:spPr>
            <a:ln w="12700">
              <a:solidFill>
                <a:srgbClr val="376092"/>
              </a:solidFill>
              <a:prstDash val="solid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D4C-8249-8F67-96F0357FC96B}"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'ws_SAA_6.0%'!$A$3:$A$23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'ws_SAA_6.0%'!$L$3:$L$23</c:f>
              <c:numCache>
                <c:formatCode>General</c:formatCode>
                <c:ptCount val="21"/>
                <c:pt idx="0">
                  <c:v>#N/A</c:v>
                </c:pt>
                <c:pt idx="1">
                  <c:v>5.4999999999999991</c:v>
                </c:pt>
                <c:pt idx="2">
                  <c:v>5.624666962335735</c:v>
                </c:pt>
                <c:pt idx="3">
                  <c:v>5.7589219730703176</c:v>
                </c:pt>
                <c:pt idx="4">
                  <c:v>5.8832320398655931</c:v>
                </c:pt>
                <c:pt idx="5">
                  <c:v>6.0095405264334758</c:v>
                </c:pt>
                <c:pt idx="6">
                  <c:v>6.13509046183888</c:v>
                </c:pt>
                <c:pt idx="7">
                  <c:v>6.2594720699713973</c:v>
                </c:pt>
                <c:pt idx="8">
                  <c:v>6.3900136494039854</c:v>
                </c:pt>
                <c:pt idx="9">
                  <c:v>6.517811082654644</c:v>
                </c:pt>
                <c:pt idx="10">
                  <c:v>6.6442208328249794</c:v>
                </c:pt>
                <c:pt idx="11">
                  <c:v>6.7773320780336679</c:v>
                </c:pt>
                <c:pt idx="12">
                  <c:v>6.913039040200978</c:v>
                </c:pt>
                <c:pt idx="13">
                  <c:v>7.0479473344761718</c:v>
                </c:pt>
                <c:pt idx="14">
                  <c:v>7.1912476031979757</c:v>
                </c:pt>
                <c:pt idx="15">
                  <c:v>7.3349368283746532</c:v>
                </c:pt>
                <c:pt idx="16">
                  <c:v>7.4805137733576892</c:v>
                </c:pt>
                <c:pt idx="17">
                  <c:v>7.6308743331755489</c:v>
                </c:pt>
                <c:pt idx="18">
                  <c:v>7.7826942161794914</c:v>
                </c:pt>
                <c:pt idx="19">
                  <c:v>7.9372343249275543</c:v>
                </c:pt>
                <c:pt idx="20">
                  <c:v>8.0977893310743934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D4C-8249-8F67-96F0357FC96B}"/>
            </c:ext>
          </c:extLst>
        </c:ser>
        <c:ser>
          <c:idx val="3"/>
          <c:order val="3"/>
          <c:tx>
            <c:strRef>
              <c:f>'ws_SAA_6.0%'!$M$2</c:f>
              <c:strCache>
                <c:ptCount val="1"/>
                <c:pt idx="0">
                  <c:v>90th %ile</c:v>
                </c:pt>
              </c:strCache>
            </c:strRef>
          </c:tx>
          <c:spPr>
            <a:ln w="12700">
              <a:solidFill>
                <a:srgbClr val="77933C"/>
              </a:solidFill>
              <a:prstDash val="solid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D4C-8249-8F67-96F0357FC96B}"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'ws_SAA_6.0%'!$A$3:$A$23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'ws_SAA_6.0%'!$M$3:$M$23</c:f>
              <c:numCache>
                <c:formatCode>General</c:formatCode>
                <c:ptCount val="21"/>
                <c:pt idx="0">
                  <c:v>#N/A</c:v>
                </c:pt>
                <c:pt idx="1">
                  <c:v>5.4999999999999991</c:v>
                </c:pt>
                <c:pt idx="2">
                  <c:v>5.5846164124535926</c:v>
                </c:pt>
                <c:pt idx="3">
                  <c:v>5.6947159928254338</c:v>
                </c:pt>
                <c:pt idx="4">
                  <c:v>5.8073685327793614</c:v>
                </c:pt>
                <c:pt idx="5">
                  <c:v>5.8994414001413276</c:v>
                </c:pt>
                <c:pt idx="6">
                  <c:v>5.9988270672511659</c:v>
                </c:pt>
                <c:pt idx="7">
                  <c:v>6.0976447509514662</c:v>
                </c:pt>
                <c:pt idx="8">
                  <c:v>6.1832978707848714</c:v>
                </c:pt>
                <c:pt idx="9">
                  <c:v>6.272245223941721</c:v>
                </c:pt>
                <c:pt idx="10">
                  <c:v>6.3637105803935743</c:v>
                </c:pt>
                <c:pt idx="11">
                  <c:v>6.4586305848701304</c:v>
                </c:pt>
                <c:pt idx="12">
                  <c:v>6.5551185946427051</c:v>
                </c:pt>
                <c:pt idx="13">
                  <c:v>6.6579993484041813</c:v>
                </c:pt>
                <c:pt idx="14">
                  <c:v>6.7590723984197441</c:v>
                </c:pt>
                <c:pt idx="15">
                  <c:v>6.8693876065385604</c:v>
                </c:pt>
                <c:pt idx="16">
                  <c:v>6.9817053491498928</c:v>
                </c:pt>
                <c:pt idx="17">
                  <c:v>7.0925513038358314</c:v>
                </c:pt>
                <c:pt idx="18">
                  <c:v>7.2072909247299348</c:v>
                </c:pt>
                <c:pt idx="19">
                  <c:v>7.3289497481818584</c:v>
                </c:pt>
                <c:pt idx="20">
                  <c:v>7.4524684019050067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D4C-8249-8F67-96F0357FC96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/>
                </a:pPr>
                <a:r>
                  <a:rPr lang="en-GB" sz="900" b="0">
                    <a:latin typeface="Aptos"/>
                  </a:rPr>
                  <a:t>Year</a:t>
                </a:r>
              </a:p>
            </c:rich>
          </c:tx>
          <c:layout>
            <c:manualLayout>
              <c:xMode val="edge"/>
              <c:yMode val="edge"/>
              <c:x val="0.5046843901662138"/>
              <c:y val="0.82588799782571154"/>
            </c:manualLayout>
          </c:layout>
          <c:overlay val="0"/>
        </c:title>
        <c:numFmt formatCode="General" sourceLinked="1"/>
        <c:majorTickMark val="none"/>
        <c:minorTickMark val="none"/>
        <c:tickLblPos val="low"/>
        <c:txPr>
          <a:bodyPr/>
          <a:lstStyle/>
          <a:p>
            <a:pPr>
              <a:defRPr sz="900" b="0">
                <a:latin typeface="Aptos"/>
              </a:defRPr>
            </a:pPr>
            <a:endParaRPr lang="en-US"/>
          </a:p>
        </c:txPr>
        <c:crossAx val="100"/>
        <c:crosses val="autoZero"/>
        <c:auto val="0"/>
        <c:lblAlgn val="ctr"/>
        <c:lblOffset val="100"/>
        <c:tickLblSkip val="5"/>
        <c:tickMarkSkip val="5"/>
        <c:noMultiLvlLbl val="0"/>
      </c:catAx>
      <c:valAx>
        <c:axId val="100"/>
        <c:scaling>
          <c:orientation val="minMax"/>
          <c:max val="10"/>
        </c:scaling>
        <c:delete val="0"/>
        <c:axPos val="l"/>
        <c:title>
          <c:tx>
            <c:rich>
              <a:bodyPr/>
              <a:lstStyle/>
              <a:p>
                <a:pPr>
                  <a:defRPr/>
                </a:pPr>
                <a:r>
                  <a:rPr lang="en-GB" sz="900" b="0" dirty="0">
                    <a:latin typeface="Aptos"/>
                  </a:rPr>
                  <a:t>Net Flows ($mm)</a:t>
                </a:r>
              </a:p>
            </c:rich>
          </c:tx>
          <c:overlay val="0"/>
        </c:title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900" b="0">
                <a:latin typeface="Aptos"/>
              </a:defRPr>
            </a:pPr>
            <a:endParaRPr lang="en-US"/>
          </a:p>
        </c:txPr>
        <c:crossAx val="10"/>
        <c:crosses val="autoZero"/>
        <c:crossBetween val="between"/>
      </c:valAx>
    </c:plotArea>
    <c:plotVisOnly val="1"/>
    <c:dispBlanksAs val="gap"/>
    <c:showDLblsOverMax val="0"/>
  </c:chart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8624481311769292E-2"/>
          <c:y val="8.1866191560268878E-2"/>
          <c:w val="0.9097857247726272"/>
          <c:h val="0.77005916513030692"/>
        </c:manualLayout>
      </c:layout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Sheet2!$B$4:$L$4</c:f>
            </c:numRef>
          </c:val>
          <c:smooth val="0"/>
          <c:extLst>
            <c:ext xmlns:c16="http://schemas.microsoft.com/office/drawing/2014/chart" uri="{C3380CC4-5D6E-409C-BE32-E72D297353CC}">
              <c16:uniqueId val="{00000000-37DA-F349-AECD-4B25D58A8893}"/>
            </c:ext>
          </c:extLst>
        </c:ser>
        <c:ser>
          <c:idx val="1"/>
          <c:order val="1"/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Sheet2!$B$5:$L$5</c:f>
            </c:numRef>
          </c:val>
          <c:smooth val="0"/>
          <c:extLst>
            <c:ext xmlns:c16="http://schemas.microsoft.com/office/drawing/2014/chart" uri="{C3380CC4-5D6E-409C-BE32-E72D297353CC}">
              <c16:uniqueId val="{00000001-37DA-F349-AECD-4B25D58A8893}"/>
            </c:ext>
          </c:extLst>
        </c:ser>
        <c:ser>
          <c:idx val="2"/>
          <c:order val="2"/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Sheet2!$B$6:$L$6</c:f>
            </c:numRef>
          </c:val>
          <c:smooth val="0"/>
          <c:extLst>
            <c:ext xmlns:c16="http://schemas.microsoft.com/office/drawing/2014/chart" uri="{C3380CC4-5D6E-409C-BE32-E72D297353CC}">
              <c16:uniqueId val="{00000002-37DA-F349-AECD-4B25D58A8893}"/>
            </c:ext>
          </c:extLst>
        </c:ser>
        <c:ser>
          <c:idx val="3"/>
          <c:order val="3"/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Sheet2!$B$7:$L$7</c:f>
            </c:numRef>
          </c:val>
          <c:smooth val="0"/>
          <c:extLst>
            <c:ext xmlns:c16="http://schemas.microsoft.com/office/drawing/2014/chart" uri="{C3380CC4-5D6E-409C-BE32-E72D297353CC}">
              <c16:uniqueId val="{00000003-37DA-F349-AECD-4B25D58A8893}"/>
            </c:ext>
          </c:extLst>
        </c:ser>
        <c:ser>
          <c:idx val="4"/>
          <c:order val="4"/>
          <c:tx>
            <c:v>Over 5 Years</c:v>
          </c:tx>
          <c:spPr>
            <a:ln w="28575" cap="rnd">
              <a:solidFill>
                <a:schemeClr val="tx2">
                  <a:lumMod val="5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Sheet2!$B$8:$L$8</c:f>
              <c:numCache>
                <c:formatCode>0%</c:formatCode>
                <c:ptCount val="11"/>
                <c:pt idx="0">
                  <c:v>0.89715</c:v>
                </c:pt>
                <c:pt idx="1">
                  <c:v>0.87119999999999997</c:v>
                </c:pt>
                <c:pt idx="2">
                  <c:v>0.84065000000000001</c:v>
                </c:pt>
                <c:pt idx="3">
                  <c:v>0.80395000000000005</c:v>
                </c:pt>
                <c:pt idx="4">
                  <c:v>0.76329999999999998</c:v>
                </c:pt>
                <c:pt idx="5">
                  <c:v>0.72004999999999997</c:v>
                </c:pt>
                <c:pt idx="6">
                  <c:v>0.67290000000000005</c:v>
                </c:pt>
                <c:pt idx="7">
                  <c:v>0.61814999999999998</c:v>
                </c:pt>
                <c:pt idx="8">
                  <c:v>0.56084999999999996</c:v>
                </c:pt>
                <c:pt idx="9">
                  <c:v>0.50544999999999995</c:v>
                </c:pt>
                <c:pt idx="10">
                  <c:v>0.4451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37DA-F349-AECD-4B25D58A8893}"/>
            </c:ext>
          </c:extLst>
        </c:ser>
        <c:ser>
          <c:idx val="5"/>
          <c:order val="5"/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Sheet2!$B$9:$L$9</c:f>
            </c:numRef>
          </c:val>
          <c:smooth val="0"/>
          <c:extLst>
            <c:ext xmlns:c16="http://schemas.microsoft.com/office/drawing/2014/chart" uri="{C3380CC4-5D6E-409C-BE32-E72D297353CC}">
              <c16:uniqueId val="{00000005-37DA-F349-AECD-4B25D58A8893}"/>
            </c:ext>
          </c:extLst>
        </c:ser>
        <c:ser>
          <c:idx val="6"/>
          <c:order val="6"/>
          <c:spPr>
            <a:ln w="28575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Sheet2!$B$10:$L$10</c:f>
            </c:numRef>
          </c:val>
          <c:smooth val="0"/>
          <c:extLst>
            <c:ext xmlns:c16="http://schemas.microsoft.com/office/drawing/2014/chart" uri="{C3380CC4-5D6E-409C-BE32-E72D297353CC}">
              <c16:uniqueId val="{00000006-37DA-F349-AECD-4B25D58A8893}"/>
            </c:ext>
          </c:extLst>
        </c:ser>
        <c:ser>
          <c:idx val="7"/>
          <c:order val="7"/>
          <c:spPr>
            <a:ln w="28575" cap="rnd">
              <a:solidFill>
                <a:schemeClr val="accent2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Sheet2!$B$11:$L$11</c:f>
            </c:numRef>
          </c:val>
          <c:smooth val="0"/>
          <c:extLst>
            <c:ext xmlns:c16="http://schemas.microsoft.com/office/drawing/2014/chart" uri="{C3380CC4-5D6E-409C-BE32-E72D297353CC}">
              <c16:uniqueId val="{00000007-37DA-F349-AECD-4B25D58A8893}"/>
            </c:ext>
          </c:extLst>
        </c:ser>
        <c:ser>
          <c:idx val="8"/>
          <c:order val="8"/>
          <c:spPr>
            <a:ln w="28575" cap="rnd">
              <a:solidFill>
                <a:schemeClr val="accent3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Sheet2!$B$12:$L$12</c:f>
            </c:numRef>
          </c:val>
          <c:smooth val="0"/>
          <c:extLst>
            <c:ext xmlns:c16="http://schemas.microsoft.com/office/drawing/2014/chart" uri="{C3380CC4-5D6E-409C-BE32-E72D297353CC}">
              <c16:uniqueId val="{00000008-37DA-F349-AECD-4B25D58A8893}"/>
            </c:ext>
          </c:extLst>
        </c:ser>
        <c:ser>
          <c:idx val="9"/>
          <c:order val="9"/>
          <c:tx>
            <c:v>Over 10 Years</c:v>
          </c:tx>
          <c:spPr>
            <a:ln w="28575" cap="rnd">
              <a:solidFill>
                <a:schemeClr val="tx2">
                  <a:lumMod val="60000"/>
                  <a:lumOff val="4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Sheet2!$B$13:$L$13</c:f>
              <c:numCache>
                <c:formatCode>0%</c:formatCode>
                <c:ptCount val="11"/>
                <c:pt idx="0">
                  <c:v>0.93115000000000003</c:v>
                </c:pt>
                <c:pt idx="1">
                  <c:v>0.90690000000000004</c:v>
                </c:pt>
                <c:pt idx="2">
                  <c:v>0.87309999999999999</c:v>
                </c:pt>
                <c:pt idx="3">
                  <c:v>0.83379999999999999</c:v>
                </c:pt>
                <c:pt idx="4">
                  <c:v>0.78664999999999996</c:v>
                </c:pt>
                <c:pt idx="5">
                  <c:v>0.73399999999999999</c:v>
                </c:pt>
                <c:pt idx="6">
                  <c:v>0.67225000000000001</c:v>
                </c:pt>
                <c:pt idx="7">
                  <c:v>0.60235000000000005</c:v>
                </c:pt>
                <c:pt idx="8">
                  <c:v>0.53005000000000002</c:v>
                </c:pt>
                <c:pt idx="9">
                  <c:v>0.45765</c:v>
                </c:pt>
                <c:pt idx="10">
                  <c:v>0.38114999999999999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9-37DA-F349-AECD-4B25D58A8893}"/>
            </c:ext>
          </c:extLst>
        </c:ser>
        <c:ser>
          <c:idx val="10"/>
          <c:order val="10"/>
          <c:spPr>
            <a:ln w="28575" cap="rnd">
              <a:solidFill>
                <a:schemeClr val="accent5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Sheet2!$B$14:$L$14</c:f>
            </c:numRef>
          </c:val>
          <c:smooth val="0"/>
          <c:extLst>
            <c:ext xmlns:c16="http://schemas.microsoft.com/office/drawing/2014/chart" uri="{C3380CC4-5D6E-409C-BE32-E72D297353CC}">
              <c16:uniqueId val="{0000000A-37DA-F349-AECD-4B25D58A8893}"/>
            </c:ext>
          </c:extLst>
        </c:ser>
        <c:ser>
          <c:idx val="11"/>
          <c:order val="11"/>
          <c:spPr>
            <a:ln w="28575" cap="rnd">
              <a:solidFill>
                <a:schemeClr val="accent6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Sheet2!$B$15:$L$15</c:f>
            </c:numRef>
          </c:val>
          <c:smooth val="0"/>
          <c:extLst>
            <c:ext xmlns:c16="http://schemas.microsoft.com/office/drawing/2014/chart" uri="{C3380CC4-5D6E-409C-BE32-E72D297353CC}">
              <c16:uniqueId val="{0000000B-37DA-F349-AECD-4B25D58A8893}"/>
            </c:ext>
          </c:extLst>
        </c:ser>
        <c:ser>
          <c:idx val="12"/>
          <c:order val="12"/>
          <c:spPr>
            <a:ln w="28575" cap="rnd">
              <a:solidFill>
                <a:schemeClr val="accent1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Sheet2!$B$16:$L$16</c:f>
            </c:numRef>
          </c:val>
          <c:smooth val="0"/>
          <c:extLst>
            <c:ext xmlns:c16="http://schemas.microsoft.com/office/drawing/2014/chart" uri="{C3380CC4-5D6E-409C-BE32-E72D297353CC}">
              <c16:uniqueId val="{0000000C-37DA-F349-AECD-4B25D58A8893}"/>
            </c:ext>
          </c:extLst>
        </c:ser>
        <c:ser>
          <c:idx val="13"/>
          <c:order val="13"/>
          <c:spPr>
            <a:ln w="28575" cap="rnd">
              <a:solidFill>
                <a:schemeClr val="accent2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Sheet2!$B$17:$L$17</c:f>
            </c:numRef>
          </c:val>
          <c:smooth val="0"/>
          <c:extLst>
            <c:ext xmlns:c16="http://schemas.microsoft.com/office/drawing/2014/chart" uri="{C3380CC4-5D6E-409C-BE32-E72D297353CC}">
              <c16:uniqueId val="{0000000D-37DA-F349-AECD-4B25D58A8893}"/>
            </c:ext>
          </c:extLst>
        </c:ser>
        <c:ser>
          <c:idx val="14"/>
          <c:order val="14"/>
          <c:tx>
            <c:v>Over 15 Years</c:v>
          </c:tx>
          <c:spPr>
            <a:ln w="28575" cap="rnd">
              <a:solidFill>
                <a:schemeClr val="accent1">
                  <a:lumMod val="60000"/>
                  <a:lumOff val="4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Sheet2!$B$18:$L$18</c:f>
              <c:numCache>
                <c:formatCode>0%</c:formatCode>
                <c:ptCount val="11"/>
                <c:pt idx="0">
                  <c:v>0.94489999999999996</c:v>
                </c:pt>
                <c:pt idx="1">
                  <c:v>0.91930000000000001</c:v>
                </c:pt>
                <c:pt idx="2">
                  <c:v>0.88639999999999997</c:v>
                </c:pt>
                <c:pt idx="3">
                  <c:v>0.84330000000000005</c:v>
                </c:pt>
                <c:pt idx="4">
                  <c:v>0.78985000000000005</c:v>
                </c:pt>
                <c:pt idx="5">
                  <c:v>0.72499999999999998</c:v>
                </c:pt>
                <c:pt idx="6">
                  <c:v>0.65359999999999996</c:v>
                </c:pt>
                <c:pt idx="7">
                  <c:v>0.57694999999999996</c:v>
                </c:pt>
                <c:pt idx="8">
                  <c:v>0.48845</c:v>
                </c:pt>
                <c:pt idx="9">
                  <c:v>0.40200000000000002</c:v>
                </c:pt>
                <c:pt idx="10">
                  <c:v>0.32450000000000001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E-37DA-F349-AECD-4B25D58A8893}"/>
            </c:ext>
          </c:extLst>
        </c:ser>
        <c:ser>
          <c:idx val="15"/>
          <c:order val="15"/>
          <c:spPr>
            <a:ln w="28575" cap="rnd">
              <a:solidFill>
                <a:schemeClr val="accent4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Sheet2!$B$19:$L$19</c:f>
            </c:numRef>
          </c:val>
          <c:smooth val="0"/>
          <c:extLst>
            <c:ext xmlns:c16="http://schemas.microsoft.com/office/drawing/2014/chart" uri="{C3380CC4-5D6E-409C-BE32-E72D297353CC}">
              <c16:uniqueId val="{0000000F-37DA-F349-AECD-4B25D58A8893}"/>
            </c:ext>
          </c:extLst>
        </c:ser>
        <c:ser>
          <c:idx val="16"/>
          <c:order val="16"/>
          <c:spPr>
            <a:ln w="28575" cap="rnd">
              <a:solidFill>
                <a:schemeClr val="accent5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Sheet2!$B$20:$L$20</c:f>
            </c:numRef>
          </c:val>
          <c:smooth val="0"/>
          <c:extLst>
            <c:ext xmlns:c16="http://schemas.microsoft.com/office/drawing/2014/chart" uri="{C3380CC4-5D6E-409C-BE32-E72D297353CC}">
              <c16:uniqueId val="{00000010-37DA-F349-AECD-4B25D58A8893}"/>
            </c:ext>
          </c:extLst>
        </c:ser>
        <c:ser>
          <c:idx val="17"/>
          <c:order val="17"/>
          <c:spPr>
            <a:ln w="28575" cap="rnd">
              <a:solidFill>
                <a:schemeClr val="accent6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Sheet2!$B$21:$L$21</c:f>
            </c:numRef>
          </c:val>
          <c:smooth val="0"/>
          <c:extLst>
            <c:ext xmlns:c16="http://schemas.microsoft.com/office/drawing/2014/chart" uri="{C3380CC4-5D6E-409C-BE32-E72D297353CC}">
              <c16:uniqueId val="{00000011-37DA-F349-AECD-4B25D58A8893}"/>
            </c:ext>
          </c:extLst>
        </c:ser>
        <c:ser>
          <c:idx val="18"/>
          <c:order val="18"/>
          <c:spPr>
            <a:ln w="28575" cap="rnd">
              <a:solidFill>
                <a:schemeClr val="accent1">
                  <a:lumMod val="8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Sheet2!$B$22:$L$22</c:f>
            </c:numRef>
          </c:val>
          <c:smooth val="0"/>
          <c:extLst>
            <c:ext xmlns:c16="http://schemas.microsoft.com/office/drawing/2014/chart" uri="{C3380CC4-5D6E-409C-BE32-E72D297353CC}">
              <c16:uniqueId val="{00000012-37DA-F349-AECD-4B25D58A8893}"/>
            </c:ext>
          </c:extLst>
        </c:ser>
        <c:ser>
          <c:idx val="19"/>
          <c:order val="19"/>
          <c:tx>
            <c:v>Over 20 Years</c:v>
          </c:tx>
          <c:spPr>
            <a:ln w="28575" cap="rnd">
              <a:solidFill>
                <a:schemeClr val="tx2">
                  <a:lumMod val="20000"/>
                  <a:lumOff val="8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Sheet2!$B$23:$L$23</c:f>
              <c:numCache>
                <c:formatCode>0%</c:formatCode>
                <c:ptCount val="11"/>
                <c:pt idx="0">
                  <c:v>0.95694999999999997</c:v>
                </c:pt>
                <c:pt idx="1">
                  <c:v>0.93169999999999997</c:v>
                </c:pt>
                <c:pt idx="2">
                  <c:v>0.89949999999999997</c:v>
                </c:pt>
                <c:pt idx="3">
                  <c:v>0.85399999999999998</c:v>
                </c:pt>
                <c:pt idx="4">
                  <c:v>0.79774999999999996</c:v>
                </c:pt>
                <c:pt idx="5">
                  <c:v>0.72529999999999994</c:v>
                </c:pt>
                <c:pt idx="6">
                  <c:v>0.64480000000000004</c:v>
                </c:pt>
                <c:pt idx="7">
                  <c:v>0.55700000000000005</c:v>
                </c:pt>
                <c:pt idx="8">
                  <c:v>0.46465000000000001</c:v>
                </c:pt>
                <c:pt idx="9">
                  <c:v>0.373</c:v>
                </c:pt>
                <c:pt idx="10">
                  <c:v>0.28820000000000001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3-37DA-F349-AECD-4B25D58A889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561759248"/>
        <c:axId val="1776207024"/>
      </c:lineChart>
      <c:catAx>
        <c:axId val="1561759248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GB"/>
                  <a:t>Assumed Yearly Spend</a:t>
                </a:r>
                <a:r>
                  <a:rPr lang="en-GB" baseline="0"/>
                  <a:t> (% of Initial Portfolio Value, Adjusted for Inflation)</a:t>
                </a:r>
                <a:endParaRPr lang="en-GB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GB"/>
            </a:p>
          </c:txPr>
        </c:title>
        <c:numFmt formatCode="0.0%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776207024"/>
        <c:crosses val="autoZero"/>
        <c:auto val="1"/>
        <c:lblAlgn val="ctr"/>
        <c:lblOffset val="100"/>
        <c:noMultiLvlLbl val="0"/>
      </c:catAx>
      <c:valAx>
        <c:axId val="177620702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5617592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b="0" i="0">
          <a:latin typeface="Arial" panose="020B0604020202020204" pitchFamily="34" charset="0"/>
          <a:cs typeface="Arial" panose="020B0604020202020204" pitchFamily="34" charset="0"/>
        </a:defRPr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risk_dashboard!$B$38</c:f>
              <c:strCache>
                <c:ptCount val="1"/>
                <c:pt idx="0">
                  <c:v>Exc. Single Stock</c:v>
                </c:pt>
              </c:strCache>
            </c:strRef>
          </c:tx>
          <c:spPr>
            <a:solidFill>
              <a:schemeClr val="tx2">
                <a:lumMod val="75000"/>
              </a:schemeClr>
            </a:solidFill>
            <a:ln w="6350">
              <a:solidFill>
                <a:schemeClr val="bg1">
                  <a:lumMod val="85000"/>
                </a:schemeClr>
              </a:solidFill>
            </a:ln>
            <a:effectLst/>
          </c:spPr>
          <c:invertIfNegative val="0"/>
          <c:dLbls>
            <c:dLbl>
              <c:idx val="0"/>
              <c:layout>
                <c:manualLayout>
                  <c:x val="2.6191113817624411E-2"/>
                  <c:y val="0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F92-EB40-81C9-1A53F17B2406}"/>
                </c:ext>
              </c:extLst>
            </c:dLbl>
            <c:dLbl>
              <c:idx val="1"/>
              <c:layout>
                <c:manualLayout>
                  <c:x val="-7.4831753764641167E-3"/>
                  <c:y val="0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8F92-EB40-81C9-1A53F17B240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bg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risk_dashboard!$A$39:$A$41</c:f>
              <c:strCache>
                <c:ptCount val="3"/>
                <c:pt idx="0">
                  <c:v>Over 1 Month</c:v>
                </c:pt>
                <c:pt idx="1">
                  <c:v>Over 1 Year</c:v>
                </c:pt>
                <c:pt idx="2">
                  <c:v>Over 3 Years</c:v>
                </c:pt>
              </c:strCache>
            </c:strRef>
          </c:cat>
          <c:val>
            <c:numRef>
              <c:f>risk_dashboard!$B$39:$B$41</c:f>
              <c:numCache>
                <c:formatCode>0.0%</c:formatCode>
                <c:ptCount val="3"/>
                <c:pt idx="0">
                  <c:v>4.1420284237808191E-2</c:v>
                </c:pt>
                <c:pt idx="1">
                  <c:v>0.11542478822860409</c:v>
                </c:pt>
                <c:pt idx="2">
                  <c:v>0.12168605450324201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F92-EB40-81C9-1A53F17B2406}"/>
            </c:ext>
          </c:extLst>
        </c:ser>
        <c:ser>
          <c:idx val="1"/>
          <c:order val="1"/>
          <c:tx>
            <c:strRef>
              <c:f>risk_dashboard!$C$38</c:f>
              <c:strCache>
                <c:ptCount val="1"/>
                <c:pt idx="0">
                  <c:v>Inc. Single Stock</c:v>
                </c:pt>
              </c:strCache>
            </c:strRef>
          </c:tx>
          <c:spPr>
            <a:solidFill>
              <a:schemeClr val="accent1">
                <a:lumMod val="40000"/>
                <a:lumOff val="60000"/>
              </a:schemeClr>
            </a:solidFill>
            <a:ln w="6350"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risk_dashboard!$A$39:$A$41</c:f>
              <c:strCache>
                <c:ptCount val="3"/>
                <c:pt idx="0">
                  <c:v>Over 1 Month</c:v>
                </c:pt>
                <c:pt idx="1">
                  <c:v>Over 1 Year</c:v>
                </c:pt>
                <c:pt idx="2">
                  <c:v>Over 3 Years</c:v>
                </c:pt>
              </c:strCache>
            </c:strRef>
          </c:cat>
          <c:val>
            <c:numRef>
              <c:f>risk_dashboard!$C$39:$C$41</c:f>
              <c:numCache>
                <c:formatCode>0.0%</c:formatCode>
                <c:ptCount val="3"/>
                <c:pt idx="0">
                  <c:v>0.56914782945731501</c:v>
                </c:pt>
                <c:pt idx="1">
                  <c:v>0.52474512706283738</c:v>
                </c:pt>
                <c:pt idx="2">
                  <c:v>0.52098836729805487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F92-EB40-81C9-1A53F17B2406}"/>
            </c:ext>
          </c:extLst>
        </c:ser>
        <c:ser>
          <c:idx val="2"/>
          <c:order val="2"/>
          <c:tx>
            <c:strRef>
              <c:f>risk_dashboard!$D$38</c:f>
              <c:strCache>
                <c:ptCount val="1"/>
              </c:strCache>
            </c:strRef>
          </c:tx>
          <c:spPr>
            <a:noFill/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risk_dashboard!$A$39:$A$41</c:f>
              <c:strCache>
                <c:ptCount val="3"/>
                <c:pt idx="0">
                  <c:v>Over 1 Month</c:v>
                </c:pt>
                <c:pt idx="1">
                  <c:v>Over 1 Year</c:v>
                </c:pt>
                <c:pt idx="2">
                  <c:v>Over 3 Years</c:v>
                </c:pt>
              </c:strCache>
            </c:strRef>
          </c:cat>
          <c:val>
            <c:numRef>
              <c:f>risk_dashboard!$D$39:$D$41</c:f>
              <c:numCache>
                <c:formatCode>0.0%</c:formatCode>
                <c:ptCount val="3"/>
                <c:pt idx="0">
                  <c:v>0.6105681136951232</c:v>
                </c:pt>
                <c:pt idx="1">
                  <c:v>0.64016991529144152</c:v>
                </c:pt>
                <c:pt idx="2">
                  <c:v>0.64267442180129686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F92-EB40-81C9-1A53F17B240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41"/>
        <c:overlap val="100"/>
        <c:axId val="1645031424"/>
        <c:axId val="1567600816"/>
      </c:barChart>
      <c:catAx>
        <c:axId val="164503142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567600816"/>
        <c:crosses val="autoZero"/>
        <c:auto val="1"/>
        <c:lblAlgn val="ctr"/>
        <c:lblOffset val="100"/>
        <c:noMultiLvlLbl val="0"/>
      </c:catAx>
      <c:valAx>
        <c:axId val="1567600816"/>
        <c:scaling>
          <c:orientation val="minMax"/>
          <c:max val="0.8"/>
          <c:min val="0"/>
        </c:scaling>
        <c:delete val="1"/>
        <c:axPos val="b"/>
        <c:numFmt formatCode="0.0%" sourceLinked="1"/>
        <c:majorTickMark val="out"/>
        <c:minorTickMark val="none"/>
        <c:tickLblPos val="nextTo"/>
        <c:crossAx val="164503142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800" b="0" i="0"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2438517338995045"/>
          <c:y val="7.7611111111111117E-2"/>
          <c:w val="0.69374941023826375"/>
          <c:h val="0.6899861111111110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risk_dashboard!$B$38</c:f>
              <c:strCache>
                <c:ptCount val="1"/>
                <c:pt idx="0">
                  <c:v>Exc. Single Stock</c:v>
                </c:pt>
              </c:strCache>
            </c:strRef>
          </c:tx>
          <c:spPr>
            <a:solidFill>
              <a:schemeClr val="tx2">
                <a:lumMod val="75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bg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risk_dashboard!$A$42:$A$44</c:f>
              <c:strCache>
                <c:ptCount val="3"/>
                <c:pt idx="0">
                  <c:v>Over 1 Month</c:v>
                </c:pt>
                <c:pt idx="1">
                  <c:v>Over 1 Year</c:v>
                </c:pt>
                <c:pt idx="2">
                  <c:v>Over 3 Years</c:v>
                </c:pt>
              </c:strCache>
            </c:strRef>
          </c:cat>
          <c:val>
            <c:numRef>
              <c:f>risk_dashboard!$B$42:$B$44</c:f>
              <c:numCache>
                <c:formatCode>0.0%</c:formatCode>
                <c:ptCount val="3"/>
                <c:pt idx="0">
                  <c:v>0.32540000000000002</c:v>
                </c:pt>
                <c:pt idx="1">
                  <c:v>0.14615</c:v>
                </c:pt>
                <c:pt idx="2">
                  <c:v>7.4300000000000005E-2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4B5-DA45-B62A-70241AA7DB25}"/>
            </c:ext>
          </c:extLst>
        </c:ser>
        <c:ser>
          <c:idx val="1"/>
          <c:order val="1"/>
          <c:tx>
            <c:strRef>
              <c:f>risk_dashboard!$C$38</c:f>
              <c:strCache>
                <c:ptCount val="1"/>
                <c:pt idx="0">
                  <c:v>Inc. Single Stock</c:v>
                </c:pt>
              </c:strCache>
            </c:strRef>
          </c:tx>
          <c:spPr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risk_dashboard!$A$42:$A$44</c:f>
              <c:strCache>
                <c:ptCount val="3"/>
                <c:pt idx="0">
                  <c:v>Over 1 Month</c:v>
                </c:pt>
                <c:pt idx="1">
                  <c:v>Over 1 Year</c:v>
                </c:pt>
                <c:pt idx="2">
                  <c:v>Over 3 Years</c:v>
                </c:pt>
              </c:strCache>
            </c:strRef>
          </c:cat>
          <c:val>
            <c:numRef>
              <c:f>risk_dashboard!$C$42:$C$44</c:f>
              <c:numCache>
                <c:formatCode>0.0%</c:formatCode>
                <c:ptCount val="3"/>
                <c:pt idx="0">
                  <c:v>0.12484999999999996</c:v>
                </c:pt>
                <c:pt idx="1">
                  <c:v>0.25235000000000002</c:v>
                </c:pt>
                <c:pt idx="2">
                  <c:v>0.28120000000000001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4B5-DA45-B62A-70241AA7DB25}"/>
            </c:ext>
          </c:extLst>
        </c:ser>
        <c:ser>
          <c:idx val="2"/>
          <c:order val="2"/>
          <c:tx>
            <c:strRef>
              <c:f>risk_dashboard!$D$38</c:f>
              <c:strCache>
                <c:ptCount val="1"/>
              </c:strCache>
            </c:strRef>
          </c:tx>
          <c:spPr>
            <a:noFill/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risk_dashboard!$A$42:$A$44</c:f>
              <c:strCache>
                <c:ptCount val="3"/>
                <c:pt idx="0">
                  <c:v>Over 1 Month</c:v>
                </c:pt>
                <c:pt idx="1">
                  <c:v>Over 1 Year</c:v>
                </c:pt>
                <c:pt idx="2">
                  <c:v>Over 3 Years</c:v>
                </c:pt>
              </c:strCache>
            </c:strRef>
          </c:cat>
          <c:val>
            <c:numRef>
              <c:f>risk_dashboard!$D$42:$D$44</c:f>
              <c:numCache>
                <c:formatCode>0.0%</c:formatCode>
                <c:ptCount val="3"/>
                <c:pt idx="0">
                  <c:v>0.45024999999999998</c:v>
                </c:pt>
                <c:pt idx="1">
                  <c:v>0.39850000000000002</c:v>
                </c:pt>
                <c:pt idx="2">
                  <c:v>0.35550000000000004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4B5-DA45-B62A-70241AA7DB2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41"/>
        <c:overlap val="100"/>
        <c:axId val="1645031424"/>
        <c:axId val="1567600816"/>
      </c:barChart>
      <c:catAx>
        <c:axId val="164503142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567600816"/>
        <c:crosses val="autoZero"/>
        <c:auto val="1"/>
        <c:lblAlgn val="ctr"/>
        <c:lblOffset val="100"/>
        <c:noMultiLvlLbl val="0"/>
      </c:catAx>
      <c:valAx>
        <c:axId val="1567600816"/>
        <c:scaling>
          <c:orientation val="minMax"/>
          <c:max val="0.5"/>
          <c:min val="0"/>
        </c:scaling>
        <c:delete val="0"/>
        <c:axPos val="b"/>
        <c:numFmt formatCode="0.0%" sourceLinked="1"/>
        <c:majorTickMark val="out"/>
        <c:minorTickMark val="none"/>
        <c:tickLblPos val="nextTo"/>
        <c:spPr>
          <a:solidFill>
            <a:schemeClr val="bg1"/>
          </a:solidFill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bg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64503142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4395026116784907"/>
          <c:y val="0.90640885406565574"/>
          <c:w val="0.63091135885242067"/>
          <c:h val="6.7318567937628485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800" b="0" i="0"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tx2">
                  <a:lumMod val="50000"/>
                </a:schemeClr>
              </a:solidFill>
              <a:ln w="6350">
                <a:solidFill>
                  <a:schemeClr val="bg1">
                    <a:lumMod val="7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C8C-1949-84FB-F3B6584BCAA7}"/>
              </c:ext>
            </c:extLst>
          </c:dPt>
          <c:dPt>
            <c:idx val="1"/>
            <c:invertIfNegative val="0"/>
            <c:bubble3D val="0"/>
            <c:spPr>
              <a:noFill/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0C8C-1949-84FB-F3B6584BCAA7}"/>
              </c:ext>
            </c:extLst>
          </c:dPt>
          <c:dPt>
            <c:idx val="2"/>
            <c:invertIfNegative val="0"/>
            <c:bubble3D val="0"/>
            <c:spPr>
              <a:pattFill prst="dkDnDiag">
                <a:fgClr>
                  <a:srgbClr val="C00000"/>
                </a:fgClr>
                <a:bgClr>
                  <a:schemeClr val="bg1"/>
                </a:bgClr>
              </a:pattFill>
              <a:ln w="6350">
                <a:solidFill>
                  <a:schemeClr val="bg1">
                    <a:lumMod val="7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C8C-1949-84FB-F3B6584BCAA7}"/>
              </c:ext>
            </c:extLst>
          </c:dPt>
          <c:dLbls>
            <c:dLbl>
              <c:idx val="0"/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C8C-1949-84FB-F3B6584BCAA7}"/>
                </c:ext>
              </c:extLst>
            </c:dLbl>
            <c:dLbl>
              <c:idx val="2"/>
              <c:layout>
                <c:manualLayout>
                  <c:x val="0"/>
                  <c:y val="-0.32247286763713429"/>
                </c:manualLayout>
              </c:layout>
              <c:tx>
                <c:rich>
                  <a:bodyPr/>
                  <a:lstStyle/>
                  <a:p>
                    <a:fld id="{4C2890AE-E757-BF45-8D5F-F41ABA9F5704}" type="VALUE">
                      <a:rPr lang="en-US">
                        <a:solidFill>
                          <a:schemeClr val="tx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5-0C8C-1949-84FB-F3B6584BCAA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700" b="0" i="0" u="none" strike="noStrike" kern="1200" baseline="0">
                    <a:solidFill>
                      <a:schemeClr val="bg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risk_dashboard!$F$80:$F$82</c:f>
              <c:strCache>
                <c:ptCount val="3"/>
                <c:pt idx="0">
                  <c:v>Implied Return1</c:v>
                </c:pt>
                <c:pt idx="1">
                  <c:v>Risk Premia</c:v>
                </c:pt>
                <c:pt idx="2">
                  <c:v>Implied Alpha</c:v>
                </c:pt>
              </c:strCache>
            </c:strRef>
          </c:cat>
          <c:val>
            <c:numRef>
              <c:f>risk_dashboard!$G$80:$G$82</c:f>
              <c:numCache>
                <c:formatCode>0%</c:formatCode>
                <c:ptCount val="3"/>
                <c:pt idx="0">
                  <c:v>0.54768797000000002</c:v>
                </c:pt>
                <c:pt idx="1">
                  <c:v>0.50268796999999998</c:v>
                </c:pt>
                <c:pt idx="2">
                  <c:v>0.50268796999999998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C8C-1949-84FB-F3B6584BCAA7}"/>
            </c:ext>
          </c:extLst>
        </c:ser>
        <c:ser>
          <c:idx val="1"/>
          <c:order val="1"/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chemeClr val="tx2">
                  <a:lumMod val="60000"/>
                  <a:lumOff val="40000"/>
                </a:schemeClr>
              </a:solidFill>
              <a:ln w="6350">
                <a:solidFill>
                  <a:schemeClr val="bg1">
                    <a:lumMod val="7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8-0C8C-1949-84FB-F3B6584BCAA7}"/>
              </c:ext>
            </c:extLst>
          </c:dPt>
          <c:dPt>
            <c:idx val="2"/>
            <c:invertIfNegative val="0"/>
            <c:bubble3D val="0"/>
            <c:spPr>
              <a:noFill/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A-0C8C-1949-84FB-F3B6584BCAA7}"/>
              </c:ext>
            </c:extLst>
          </c:dPt>
          <c:dLbls>
            <c:dLbl>
              <c:idx val="1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0C8C-1949-84FB-F3B6584BCAA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700" b="0" i="0" u="none" strike="noStrike" kern="1200" baseline="0">
                    <a:solidFill>
                      <a:schemeClr val="bg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risk_dashboard!$F$80:$F$82</c:f>
              <c:strCache>
                <c:ptCount val="3"/>
                <c:pt idx="0">
                  <c:v>Implied Return1</c:v>
                </c:pt>
                <c:pt idx="1">
                  <c:v>Risk Premia</c:v>
                </c:pt>
                <c:pt idx="2">
                  <c:v>Implied Alpha</c:v>
                </c:pt>
              </c:strCache>
            </c:strRef>
          </c:cat>
          <c:val>
            <c:numRef>
              <c:f>risk_dashboard!$H$80:$H$82</c:f>
              <c:numCache>
                <c:formatCode>0%</c:formatCode>
                <c:ptCount val="3"/>
                <c:pt idx="0">
                  <c:v>0</c:v>
                </c:pt>
                <c:pt idx="1">
                  <c:v>4.4999999999999998E-2</c:v>
                </c:pt>
                <c:pt idx="2">
                  <c:v>4.500000000000004E-2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0C8C-1949-84FB-F3B6584BCAA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486061296"/>
        <c:axId val="1401510192"/>
      </c:barChart>
      <c:catAx>
        <c:axId val="14860612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401510192"/>
        <c:crosses val="autoZero"/>
        <c:auto val="1"/>
        <c:lblAlgn val="ctr"/>
        <c:lblOffset val="100"/>
        <c:noMultiLvlLbl val="0"/>
      </c:catAx>
      <c:valAx>
        <c:axId val="1401510192"/>
        <c:scaling>
          <c:orientation val="minMax"/>
          <c:min val="0.3"/>
        </c:scaling>
        <c:delete val="0"/>
        <c:axPos val="l"/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bg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48606129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700" b="0" i="0"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8055555555555556"/>
          <c:y val="0.19444444444444445"/>
          <c:w val="0.45555555555555555"/>
          <c:h val="0.7592592592592593"/>
        </c:manualLayout>
      </c:layout>
      <c:pieChart>
        <c:varyColors val="1"/>
        <c:ser>
          <c:idx val="0"/>
          <c:order val="0"/>
          <c:spPr>
            <a:solidFill>
              <a:schemeClr val="tx2">
                <a:lumMod val="75000"/>
              </a:schemeClr>
            </a:solidFill>
          </c:spPr>
          <c:dPt>
            <c:idx val="0"/>
            <c:bubble3D val="0"/>
            <c:spPr>
              <a:solidFill>
                <a:srgbClr val="C0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3CA2-1E44-ADDA-A7ABA4E423C1}"/>
              </c:ext>
            </c:extLst>
          </c:dPt>
          <c:dPt>
            <c:idx val="1"/>
            <c:bubble3D val="0"/>
            <c:spPr>
              <a:solidFill>
                <a:schemeClr val="tx2">
                  <a:lumMod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3CA2-1E44-ADDA-A7ABA4E423C1}"/>
              </c:ext>
            </c:extLst>
          </c:dPt>
          <c:dLbls>
            <c:dLbl>
              <c:idx val="0"/>
              <c:layout>
                <c:manualLayout>
                  <c:x val="-0.13231067012097525"/>
                  <c:y val="-0.17889110417801016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800" b="0" i="0" u="none" strike="noStrike" kern="1200" baseline="0">
                      <a:solidFill>
                        <a:schemeClr val="bg1"/>
                      </a:solidFill>
                      <a:latin typeface="Aptos" panose="020B0004020202020204" pitchFamily="34" charset="0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CA2-1E44-ADDA-A7ABA4E423C1}"/>
                </c:ext>
              </c:extLst>
            </c:dLbl>
            <c:dLbl>
              <c:idx val="1"/>
              <c:layout>
                <c:manualLayout>
                  <c:x val="0.11774948252994029"/>
                  <c:y val="0.1311390122646951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800" b="0" i="0" u="none" strike="noStrike" kern="1200" baseline="0">
                      <a:solidFill>
                        <a:schemeClr val="bg1"/>
                      </a:solidFill>
                      <a:latin typeface="Aptos" panose="020B0004020202020204" pitchFamily="34" charset="0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CA2-1E44-ADDA-A7ABA4E423C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risk_dashboard!$C$65:$C$66</c:f>
              <c:strCache>
                <c:ptCount val="2"/>
                <c:pt idx="0">
                  <c:v>Idiosyncratic Risk 
(Unhedgable)</c:v>
                </c:pt>
                <c:pt idx="1">
                  <c:v>Systematic Risk 
(Undiversifiable)</c:v>
                </c:pt>
              </c:strCache>
            </c:strRef>
          </c:cat>
          <c:val>
            <c:numRef>
              <c:f>risk_dashboard!$D$65:$D$66</c:f>
              <c:numCache>
                <c:formatCode>0%</c:formatCode>
                <c:ptCount val="2"/>
                <c:pt idx="0">
                  <c:v>0.73</c:v>
                </c:pt>
                <c:pt idx="1">
                  <c:v>0.27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CA2-1E44-ADDA-A7ABA4E423C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9.6460411198600188E-2"/>
          <c:y val="2.4E-2"/>
          <c:w val="0.84596806649168843"/>
          <c:h val="0.12545511811023621"/>
        </c:manualLayout>
      </c:layout>
      <c:overlay val="1"/>
      <c:spPr>
        <a:noFill/>
        <a:ln>
          <a:solidFill>
            <a:schemeClr val="bg1">
              <a:lumMod val="75000"/>
            </a:schemeClr>
          </a:solidFill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800"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2873779992741975E-2"/>
          <c:y val="9.1732712971578104E-2"/>
          <c:w val="0.87250936112214839"/>
          <c:h val="0.79235020334218464"/>
        </c:manualLayout>
      </c:layout>
      <c:scatterChart>
        <c:scatterStyle val="lineMarker"/>
        <c:varyColors val="0"/>
        <c:ser>
          <c:idx val="0"/>
          <c:order val="0"/>
          <c:tx>
            <c:v>Fixed Income</c:v>
          </c:tx>
          <c:spPr>
            <a:ln w="28575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3">
                  <a:lumMod val="75000"/>
                </a:schemeClr>
              </a:solidFill>
              <a:ln w="9525">
                <a:solidFill>
                  <a:schemeClr val="accent3"/>
                </a:solidFill>
              </a:ln>
              <a:effectLst/>
            </c:spPr>
          </c:marker>
          <c:dPt>
            <c:idx val="26"/>
            <c:marker>
              <c:symbol val="circle"/>
              <c:size val="5"/>
              <c:spPr>
                <a:solidFill>
                  <a:schemeClr val="accent3">
                    <a:lumMod val="75000"/>
                  </a:schemeClr>
                </a:solidFill>
                <a:ln w="19050">
                  <a:solidFill>
                    <a:schemeClr val="accent3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6632-7244-B13C-D2B0CF175948}"/>
              </c:ext>
            </c:extLst>
          </c:dPt>
          <c:dLbls>
            <c:dLbl>
              <c:idx val="0"/>
              <c:layout>
                <c:manualLayout>
                  <c:x val="-5.9124256041946981E-2"/>
                  <c:y val="2.3848119402088214E-2"/>
                </c:manualLayout>
              </c:layout>
              <c:tx>
                <c:rich>
                  <a:bodyPr/>
                  <a:lstStyle/>
                  <a:p>
                    <a:fld id="{5D81BDEF-29BC-5F4C-B717-42A50F37C21C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6632-7244-B13C-D2B0CF175948}"/>
                </c:ext>
              </c:extLst>
            </c:dLbl>
            <c:dLbl>
              <c:idx val="1"/>
              <c:layout>
                <c:manualLayout>
                  <c:x val="-3.3649615958361626E-3"/>
                  <c:y val="9.1068832338801024E-3"/>
                </c:manualLayout>
              </c:layout>
              <c:tx>
                <c:rich>
                  <a:bodyPr/>
                  <a:lstStyle/>
                  <a:p>
                    <a:fld id="{936297FF-0DD0-AE4B-9102-07937EF45B79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2-6632-7244-B13C-D2B0CF175948}"/>
                </c:ext>
              </c:extLst>
            </c:dLbl>
            <c:dLbl>
              <c:idx val="2"/>
              <c:layout>
                <c:manualLayout>
                  <c:x val="-0.12416093768808863"/>
                  <c:y val="7.4525373131525668E-3"/>
                </c:manualLayout>
              </c:layout>
              <c:tx>
                <c:rich>
                  <a:bodyPr rot="0" spcFirstLastPara="1" vertOverflow="ellipsis" vert="horz" wrap="square" lIns="38100" tIns="19050" rIns="38100" bIns="19050" anchor="ctr" anchorCtr="1">
                    <a:noAutofit/>
                  </a:bodyPr>
                  <a:lstStyle/>
                  <a:p>
                    <a:pPr>
                      <a:defRPr sz="9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Aptos" panose="020B0004020202020204" pitchFamily="34" charset="0"/>
                        <a:ea typeface="+mn-ea"/>
                        <a:cs typeface="+mn-cs"/>
                      </a:defRPr>
                    </a:pPr>
                    <a:fld id="{1BBF2A72-4F85-5C4E-A5F5-7CA81357C98B}" type="CELLRANGE">
                      <a:rPr lang="en-US"/>
                      <a:pPr>
                        <a:defRPr/>
                      </a:pPr>
                      <a:t>[CELLRANGE]</a:t>
                    </a:fld>
                    <a:endParaRPr lang="en-US"/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9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ptos" panose="020B0004020202020204" pitchFamily="34" charset="0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2220139091641269"/>
                      <c:h val="8.0442805120961136E-2"/>
                    </c:manualLayout>
                  </c15:layout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3-6632-7244-B13C-D2B0CF175948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6632-7244-B13C-D2B0CF175948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6632-7244-B13C-D2B0CF175948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6632-7244-B13C-D2B0CF175948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6632-7244-B13C-D2B0CF175948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8-6632-7244-B13C-D2B0CF175948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9-6632-7244-B13C-D2B0CF175948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A-6632-7244-B13C-D2B0CF175948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B-6632-7244-B13C-D2B0CF175948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C-6632-7244-B13C-D2B0CF175948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D-6632-7244-B13C-D2B0CF175948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E-6632-7244-B13C-D2B0CF175948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F-6632-7244-B13C-D2B0CF175948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0-6632-7244-B13C-D2B0CF175948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1-6632-7244-B13C-D2B0CF175948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2-6632-7244-B13C-D2B0CF175948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3-6632-7244-B13C-D2B0CF175948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4-6632-7244-B13C-D2B0CF175948}"/>
                </c:ext>
              </c:extLst>
            </c:dLbl>
            <c:dLbl>
              <c:idx val="20"/>
              <c:layout>
                <c:manualLayout>
                  <c:x val="-1.0135586750048052E-2"/>
                  <c:y val="2.3848119402088214E-2"/>
                </c:manualLayout>
              </c:layout>
              <c:tx>
                <c:rich>
                  <a:bodyPr/>
                  <a:lstStyle/>
                  <a:p>
                    <a:fld id="{34E29E00-9E88-1042-8492-0A76033981B7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15-6632-7244-B13C-D2B0CF175948}"/>
                </c:ext>
              </c:extLst>
            </c:dLbl>
            <c:dLbl>
              <c:idx val="21"/>
              <c:layout>
                <c:manualLayout>
                  <c:x val="-0.17061571029247552"/>
                  <c:y val="-1.7886089551566269E-2"/>
                </c:manualLayout>
              </c:layout>
              <c:tx>
                <c:rich>
                  <a:bodyPr/>
                  <a:lstStyle/>
                  <a:p>
                    <a:fld id="{8BABD2B0-8397-6A48-83CA-B453FC9A0204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16-6632-7244-B13C-D2B0CF175948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7-6632-7244-B13C-D2B0CF175948}"/>
                </c:ext>
              </c:extLst>
            </c:dLbl>
            <c:dLbl>
              <c:idx val="26"/>
              <c:layout>
                <c:manualLayout>
                  <c:x val="-0.16371310192539312"/>
                  <c:y val="-2.3738866856967019E-2"/>
                </c:manualLayout>
              </c:layout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6632-7244-B13C-D2B0CF17594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DataLabelsRange val="1"/>
                <c15:showLeaderLines val="0"/>
              </c:ext>
            </c:extLst>
          </c:dLbls>
          <c:xVal>
            <c:numRef>
              <c:f>Sheet1!$D$2:$D$29</c:f>
              <c:numCache>
                <c:formatCode>0.0%</c:formatCode>
                <c:ptCount val="23"/>
                <c:pt idx="0">
                  <c:v>-8.6508068786803505E-2</c:v>
                </c:pt>
                <c:pt idx="1">
                  <c:v>0.104936374495794</c:v>
                </c:pt>
                <c:pt idx="2">
                  <c:v>0.30912633819222501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#N/A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  <c:pt idx="13">
                  <c:v>#N/A</c:v>
                </c:pt>
                <c:pt idx="14">
                  <c:v>#N/A</c:v>
                </c:pt>
                <c:pt idx="15">
                  <c:v>#N/A</c:v>
                </c:pt>
                <c:pt idx="16">
                  <c:v>#N/A</c:v>
                </c:pt>
                <c:pt idx="17">
                  <c:v>#N/A</c:v>
                </c:pt>
                <c:pt idx="18">
                  <c:v>#N/A</c:v>
                </c:pt>
                <c:pt idx="19">
                  <c:v>#N/A</c:v>
                </c:pt>
                <c:pt idx="20">
                  <c:v>0.268853172802058</c:v>
                </c:pt>
                <c:pt idx="21">
                  <c:v>5.51567025897318E-2</c:v>
                </c:pt>
                <c:pt idx="22">
                  <c:v>#N/A</c:v>
                </c:pt>
              </c:numCache>
            </c:numRef>
          </c:xVal>
          <c:yVal>
            <c:numRef>
              <c:f>Sheet1!$C$2:$C$29</c:f>
              <c:numCache>
                <c:formatCode>0%</c:formatCode>
                <c:ptCount val="23"/>
                <c:pt idx="0">
                  <c:v>3.2110810353131201E-2</c:v>
                </c:pt>
                <c:pt idx="1">
                  <c:v>4.2238342638410503E-2</c:v>
                </c:pt>
                <c:pt idx="2">
                  <c:v>8.2058406335332804E-2</c:v>
                </c:pt>
                <c:pt idx="3">
                  <c:v>0.14950308831877701</c:v>
                </c:pt>
                <c:pt idx="4">
                  <c:v>0.14474187855499701</c:v>
                </c:pt>
                <c:pt idx="5">
                  <c:v>0.192237867976849</c:v>
                </c:pt>
                <c:pt idx="6">
                  <c:v>0.182085912415376</c:v>
                </c:pt>
                <c:pt idx="7">
                  <c:v>0.201626510653036</c:v>
                </c:pt>
                <c:pt idx="8">
                  <c:v>0.232770455211537</c:v>
                </c:pt>
                <c:pt idx="9">
                  <c:v>0.13562199119584201</c:v>
                </c:pt>
                <c:pt idx="10">
                  <c:v>6.1838706545769902E-2</c:v>
                </c:pt>
                <c:pt idx="11">
                  <c:v>8.8325647168886703E-2</c:v>
                </c:pt>
                <c:pt idx="12">
                  <c:v>7.3138510600272905E-2</c:v>
                </c:pt>
                <c:pt idx="13">
                  <c:v>0.35654736283202199</c:v>
                </c:pt>
                <c:pt idx="14">
                  <c:v>0.13777198464128801</c:v>
                </c:pt>
                <c:pt idx="15">
                  <c:v>0.15640735725123101</c:v>
                </c:pt>
                <c:pt idx="16">
                  <c:v>0.167252179960899</c:v>
                </c:pt>
                <c:pt idx="17">
                  <c:v>0.113600285320638</c:v>
                </c:pt>
                <c:pt idx="18">
                  <c:v>0.14474239435031699</c:v>
                </c:pt>
                <c:pt idx="19">
                  <c:v>0.14614645332248</c:v>
                </c:pt>
                <c:pt idx="20">
                  <c:v>0.122019620848281</c:v>
                </c:pt>
                <c:pt idx="21">
                  <c:v>4.6212231292721499E-2</c:v>
                </c:pt>
                <c:pt idx="22" formatCode="0.0%">
                  <c:v>7.4615293576842906E-2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Sheet1!$A$2:$A$29</c15:f>
                <c15:dlblRangeCache>
                  <c:ptCount val="23"/>
                  <c:pt idx="0">
                    <c:v>US Treasury Bonds</c:v>
                  </c:pt>
                  <c:pt idx="1">
                    <c:v>US Corporate Credit</c:v>
                  </c:pt>
                  <c:pt idx="2">
                    <c:v>US Corporate High Yield</c:v>
                  </c:pt>
                  <c:pt idx="3">
                    <c:v>Global Equity</c:v>
                  </c:pt>
                  <c:pt idx="4">
                    <c:v>US Large Cap</c:v>
                  </c:pt>
                  <c:pt idx="5">
                    <c:v>US Small Caps</c:v>
                  </c:pt>
                  <c:pt idx="6">
                    <c:v>European</c:v>
                  </c:pt>
                  <c:pt idx="7">
                    <c:v>Japan</c:v>
                  </c:pt>
                  <c:pt idx="8">
                    <c:v>Emerging Markets</c:v>
                  </c:pt>
                  <c:pt idx="9">
                    <c:v>Global REITs</c:v>
                  </c:pt>
                  <c:pt idx="10">
                    <c:v>Event Driven</c:v>
                  </c:pt>
                  <c:pt idx="11">
                    <c:v>Equity Long/Short</c:v>
                  </c:pt>
                  <c:pt idx="12">
                    <c:v>Tactical Trading</c:v>
                  </c:pt>
                  <c:pt idx="13">
                    <c:v>Intel Stock Proxy</c:v>
                  </c:pt>
                  <c:pt idx="14">
                    <c:v>Buyout</c:v>
                  </c:pt>
                  <c:pt idx="15">
                    <c:v>Growth</c:v>
                  </c:pt>
                  <c:pt idx="16">
                    <c:v>Venture</c:v>
                  </c:pt>
                  <c:pt idx="17">
                    <c:v>Private Credit</c:v>
                  </c:pt>
                  <c:pt idx="18">
                    <c:v>Private Real Estate</c:v>
                  </c:pt>
                  <c:pt idx="19">
                    <c:v>Infrastructure</c:v>
                  </c:pt>
                  <c:pt idx="20">
                    <c:v>Emerging Markets</c:v>
                  </c:pt>
                  <c:pt idx="21">
                    <c:v>US Inflation Protected</c:v>
                  </c:pt>
                  <c:pt idx="22">
                    <c:v>Moderate Portfolio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18-6632-7244-B13C-D2B0CF175948}"/>
            </c:ext>
          </c:extLst>
        </c:ser>
        <c:ser>
          <c:idx val="1"/>
          <c:order val="1"/>
          <c:tx>
            <c:v>Public Equity</c:v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tx2">
                  <a:lumMod val="75000"/>
                </a:schemeClr>
              </a:solidFill>
              <a:ln w="9525">
                <a:solidFill>
                  <a:schemeClr val="tx2"/>
                </a:solidFill>
              </a:ln>
              <a:effectLst/>
            </c:spPr>
          </c:marker>
          <c:dLbls>
            <c:dLbl>
              <c:idx val="0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9-6632-7244-B13C-D2B0CF175948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A-6632-7244-B13C-D2B0CF175948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B-6632-7244-B13C-D2B0CF175948}"/>
                </c:ext>
              </c:extLst>
            </c:dLbl>
            <c:dLbl>
              <c:idx val="3"/>
              <c:layout>
                <c:manualLayout>
                  <c:x val="1.0135586750048052E-2"/>
                  <c:y val="-5.9620298505220536E-3"/>
                </c:manualLayout>
              </c:layout>
              <c:tx>
                <c:rich>
                  <a:bodyPr/>
                  <a:lstStyle/>
                  <a:p>
                    <a:fld id="{9048BE8C-B74B-0C4B-9E7C-0CDF07FEC84F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1C-6632-7244-B13C-D2B0CF175948}"/>
                </c:ext>
              </c:extLst>
            </c:dLbl>
            <c:dLbl>
              <c:idx val="4"/>
              <c:layout>
                <c:manualLayout>
                  <c:x val="1.098028548569346E-2"/>
                  <c:y val="8.9429274129907473E-3"/>
                </c:manualLayout>
              </c:layout>
              <c:tx>
                <c:rich>
                  <a:bodyPr/>
                  <a:lstStyle/>
                  <a:p>
                    <a:fld id="{A15786BC-8435-BF4D-8A46-3044C64DEF76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0360258923007448"/>
                      <c:h val="4.1689611092567781E-2"/>
                    </c:manualLayout>
                  </c15:layout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1D-6632-7244-B13C-D2B0CF175948}"/>
                </c:ext>
              </c:extLst>
            </c:dLbl>
            <c:dLbl>
              <c:idx val="5"/>
              <c:layout>
                <c:manualLayout>
                  <c:x val="-1.5203380125072139E-2"/>
                  <c:y val="-3.2791164177871292E-2"/>
                </c:manualLayout>
              </c:layout>
              <c:tx>
                <c:rich>
                  <a:bodyPr/>
                  <a:lstStyle/>
                  <a:p>
                    <a:fld id="{D8FA872F-DB76-094A-A195-4A8D319B0787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1E-6632-7244-B13C-D2B0CF175948}"/>
                </c:ext>
              </c:extLst>
            </c:dLbl>
            <c:dLbl>
              <c:idx val="6"/>
              <c:layout>
                <c:manualLayout>
                  <c:x val="-8.6152487375408426E-2"/>
                  <c:y val="8.9430447757830791E-3"/>
                </c:manualLayout>
              </c:layout>
              <c:tx>
                <c:rich>
                  <a:bodyPr/>
                  <a:lstStyle/>
                  <a:p>
                    <a:fld id="{FE7F5C34-E721-EB43-8C48-814081C57801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1F-6632-7244-B13C-D2B0CF175948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fld id="{960B3411-23EF-6941-AE3E-6DAFE08EB6BC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0-6632-7244-B13C-D2B0CF175948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fld id="{DBF2D60A-BC7B-E647-B006-FFDA7F8975AA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1-6632-7244-B13C-D2B0CF175948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fld id="{C6A7ABD2-91ED-FF49-9CDB-330F21AA5CF0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2-6632-7244-B13C-D2B0CF175948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3-6632-7244-B13C-D2B0CF175948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4-6632-7244-B13C-D2B0CF175948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5-6632-7244-B13C-D2B0CF175948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6-6632-7244-B13C-D2B0CF175948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7-6632-7244-B13C-D2B0CF175948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8-6632-7244-B13C-D2B0CF175948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9-6632-7244-B13C-D2B0CF175948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A-6632-7244-B13C-D2B0CF175948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B-6632-7244-B13C-D2B0CF175948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C-6632-7244-B13C-D2B0CF175948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D-6632-7244-B13C-D2B0CF175948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E-6632-7244-B13C-D2B0CF175948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F-6632-7244-B13C-D2B0CF17594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DataLabelsRange val="1"/>
                <c15:showLeaderLines val="0"/>
              </c:ext>
            </c:extLst>
          </c:dLbls>
          <c:xVal>
            <c:numRef>
              <c:f>Sheet1!$E$2:$E$29</c:f>
              <c:numCache>
                <c:formatCode>0.0%</c:formatCode>
                <c:ptCount val="23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0.498437121945842</c:v>
                </c:pt>
                <c:pt idx="4">
                  <c:v>0.41624082831193099</c:v>
                </c:pt>
                <c:pt idx="5">
                  <c:v>0.44451658727186899</c:v>
                </c:pt>
                <c:pt idx="6">
                  <c:v>0.41798915817555299</c:v>
                </c:pt>
                <c:pt idx="7">
                  <c:v>0.32960273632869302</c:v>
                </c:pt>
                <c:pt idx="8">
                  <c:v>0.37505895361635799</c:v>
                </c:pt>
                <c:pt idx="9">
                  <c:v>0.21822090763501001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  <c:pt idx="13">
                  <c:v>#N/A</c:v>
                </c:pt>
                <c:pt idx="14">
                  <c:v>#N/A</c:v>
                </c:pt>
                <c:pt idx="15">
                  <c:v>#N/A</c:v>
                </c:pt>
                <c:pt idx="16">
                  <c:v>#N/A</c:v>
                </c:pt>
                <c:pt idx="17">
                  <c:v>#N/A</c:v>
                </c:pt>
                <c:pt idx="18">
                  <c:v>#N/A</c:v>
                </c:pt>
                <c:pt idx="19">
                  <c:v>#N/A</c:v>
                </c:pt>
                <c:pt idx="20">
                  <c:v>#N/A</c:v>
                </c:pt>
                <c:pt idx="21">
                  <c:v>#N/A</c:v>
                </c:pt>
                <c:pt idx="22">
                  <c:v>#N/A</c:v>
                </c:pt>
              </c:numCache>
            </c:numRef>
          </c:xVal>
          <c:yVal>
            <c:numRef>
              <c:f>Sheet1!$C$2:$C$29</c:f>
              <c:numCache>
                <c:formatCode>0%</c:formatCode>
                <c:ptCount val="23"/>
                <c:pt idx="0">
                  <c:v>3.2110810353131201E-2</c:v>
                </c:pt>
                <c:pt idx="1">
                  <c:v>4.2238342638410503E-2</c:v>
                </c:pt>
                <c:pt idx="2">
                  <c:v>8.2058406335332804E-2</c:v>
                </c:pt>
                <c:pt idx="3">
                  <c:v>0.14950308831877701</c:v>
                </c:pt>
                <c:pt idx="4">
                  <c:v>0.14474187855499701</c:v>
                </c:pt>
                <c:pt idx="5">
                  <c:v>0.192237867976849</c:v>
                </c:pt>
                <c:pt idx="6">
                  <c:v>0.182085912415376</c:v>
                </c:pt>
                <c:pt idx="7">
                  <c:v>0.201626510653036</c:v>
                </c:pt>
                <c:pt idx="8">
                  <c:v>0.232770455211537</c:v>
                </c:pt>
                <c:pt idx="9">
                  <c:v>0.13562199119584201</c:v>
                </c:pt>
                <c:pt idx="10">
                  <c:v>6.1838706545769902E-2</c:v>
                </c:pt>
                <c:pt idx="11">
                  <c:v>8.8325647168886703E-2</c:v>
                </c:pt>
                <c:pt idx="12">
                  <c:v>7.3138510600272905E-2</c:v>
                </c:pt>
                <c:pt idx="13">
                  <c:v>0.35654736283202199</c:v>
                </c:pt>
                <c:pt idx="14">
                  <c:v>0.13777198464128801</c:v>
                </c:pt>
                <c:pt idx="15">
                  <c:v>0.15640735725123101</c:v>
                </c:pt>
                <c:pt idx="16">
                  <c:v>0.167252179960899</c:v>
                </c:pt>
                <c:pt idx="17">
                  <c:v>0.113600285320638</c:v>
                </c:pt>
                <c:pt idx="18">
                  <c:v>0.14474239435031699</c:v>
                </c:pt>
                <c:pt idx="19">
                  <c:v>0.14614645332248</c:v>
                </c:pt>
                <c:pt idx="20">
                  <c:v>0.122019620848281</c:v>
                </c:pt>
                <c:pt idx="21">
                  <c:v>4.6212231292721499E-2</c:v>
                </c:pt>
                <c:pt idx="22" formatCode="0.0%">
                  <c:v>7.4615293576842906E-2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Sheet1!$A$2:$A$29</c15:f>
                <c15:dlblRangeCache>
                  <c:ptCount val="23"/>
                  <c:pt idx="0">
                    <c:v>US Treasury Bonds</c:v>
                  </c:pt>
                  <c:pt idx="1">
                    <c:v>US Corporate Credit</c:v>
                  </c:pt>
                  <c:pt idx="2">
                    <c:v>US Corporate High Yield</c:v>
                  </c:pt>
                  <c:pt idx="3">
                    <c:v>Global Equity</c:v>
                  </c:pt>
                  <c:pt idx="4">
                    <c:v>US Large Cap</c:v>
                  </c:pt>
                  <c:pt idx="5">
                    <c:v>US Small Caps</c:v>
                  </c:pt>
                  <c:pt idx="6">
                    <c:v>European</c:v>
                  </c:pt>
                  <c:pt idx="7">
                    <c:v>Japan</c:v>
                  </c:pt>
                  <c:pt idx="8">
                    <c:v>Emerging Markets</c:v>
                  </c:pt>
                  <c:pt idx="9">
                    <c:v>Global REITs</c:v>
                  </c:pt>
                  <c:pt idx="10">
                    <c:v>Event Driven</c:v>
                  </c:pt>
                  <c:pt idx="11">
                    <c:v>Equity Long/Short</c:v>
                  </c:pt>
                  <c:pt idx="12">
                    <c:v>Tactical Trading</c:v>
                  </c:pt>
                  <c:pt idx="13">
                    <c:v>Intel Stock Proxy</c:v>
                  </c:pt>
                  <c:pt idx="14">
                    <c:v>Buyout</c:v>
                  </c:pt>
                  <c:pt idx="15">
                    <c:v>Growth</c:v>
                  </c:pt>
                  <c:pt idx="16">
                    <c:v>Venture</c:v>
                  </c:pt>
                  <c:pt idx="17">
                    <c:v>Private Credit</c:v>
                  </c:pt>
                  <c:pt idx="18">
                    <c:v>Private Real Estate</c:v>
                  </c:pt>
                  <c:pt idx="19">
                    <c:v>Infrastructure</c:v>
                  </c:pt>
                  <c:pt idx="20">
                    <c:v>Emerging Markets</c:v>
                  </c:pt>
                  <c:pt idx="21">
                    <c:v>US Inflation Protected</c:v>
                  </c:pt>
                  <c:pt idx="22">
                    <c:v>Moderate Portfolio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30-6632-7244-B13C-D2B0CF175948}"/>
            </c:ext>
          </c:extLst>
        </c:ser>
        <c:ser>
          <c:idx val="2"/>
          <c:order val="2"/>
          <c:tx>
            <c:v>Alternatives</c:v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>
                  <a:lumMod val="40000"/>
                  <a:lumOff val="60000"/>
                </a:schemeClr>
              </a:solidFill>
              <a:ln w="9525">
                <a:solidFill>
                  <a:schemeClr val="accent1">
                    <a:lumMod val="60000"/>
                    <a:lumOff val="40000"/>
                  </a:schemeClr>
                </a:solidFill>
              </a:ln>
              <a:effectLst/>
            </c:spPr>
          </c:marker>
          <c:dLbls>
            <c:dLbl>
              <c:idx val="0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31-6632-7244-B13C-D2B0CF175948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32-6632-7244-B13C-D2B0CF175948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33-6632-7244-B13C-D2B0CF175948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34-6632-7244-B13C-D2B0CF175948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35-6632-7244-B13C-D2B0CF175948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36-6632-7244-B13C-D2B0CF175948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37-6632-7244-B13C-D2B0CF175948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38-6632-7244-B13C-D2B0CF175948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39-6632-7244-B13C-D2B0CF175948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3A-6632-7244-B13C-D2B0CF175948}"/>
                </c:ext>
              </c:extLst>
            </c:dLbl>
            <c:dLbl>
              <c:idx val="10"/>
              <c:layout>
                <c:manualLayout>
                  <c:x val="-8.4463222917067707E-3"/>
                  <c:y val="2.9810149252610267E-2"/>
                </c:manualLayout>
              </c:layout>
              <c:tx>
                <c:rich>
                  <a:bodyPr/>
                  <a:lstStyle/>
                  <a:p>
                    <a:fld id="{9083AF5F-2564-334F-99E7-FB28BD042603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3B-6632-7244-B13C-D2B0CF175948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fld id="{C7A4276C-B9CD-AA48-9BF3-165AB0689B05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3C-6632-7244-B13C-D2B0CF175948}"/>
                </c:ext>
              </c:extLst>
            </c:dLbl>
            <c:dLbl>
              <c:idx val="12"/>
              <c:layout>
                <c:manualLayout>
                  <c:x val="-5.0677933750240288E-2"/>
                  <c:y val="-2.9810149252610375E-2"/>
                </c:manualLayout>
              </c:layout>
              <c:tx>
                <c:rich>
                  <a:bodyPr/>
                  <a:lstStyle/>
                  <a:p>
                    <a:fld id="{2F56731E-CB60-E54D-820C-B9F9E35CB9D7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3D-6632-7244-B13C-D2B0CF175948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3E-6632-7244-B13C-D2B0CF175948}"/>
                </c:ext>
              </c:extLst>
            </c:dLbl>
            <c:dLbl>
              <c:idx val="14"/>
              <c:layout>
                <c:manualLayout>
                  <c:x val="-2.1960437958437443E-2"/>
                  <c:y val="2.6829134327349239E-2"/>
                </c:manualLayout>
              </c:layout>
              <c:tx>
                <c:rich>
                  <a:bodyPr/>
                  <a:lstStyle/>
                  <a:p>
                    <a:fld id="{4AA33AB8-0E0E-0E45-97B9-892F25BE4D01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3F-6632-7244-B13C-D2B0CF175948}"/>
                </c:ext>
              </c:extLst>
            </c:dLbl>
            <c:dLbl>
              <c:idx val="15"/>
              <c:layout>
                <c:manualLayout>
                  <c:x val="0"/>
                  <c:y val="-1.1924059701044216E-2"/>
                </c:manualLayout>
              </c:layout>
              <c:tx>
                <c:rich>
                  <a:bodyPr/>
                  <a:lstStyle/>
                  <a:p>
                    <a:fld id="{3464119B-E6FE-1D49-84E0-CE647DB73B46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40-6632-7244-B13C-D2B0CF175948}"/>
                </c:ext>
              </c:extLst>
            </c:dLbl>
            <c:dLbl>
              <c:idx val="16"/>
              <c:layout>
                <c:manualLayout>
                  <c:x val="-8.3383157767325678E-3"/>
                  <c:y val="-2.0716880102640802E-2"/>
                </c:manualLayout>
              </c:layout>
              <c:tx>
                <c:rich>
                  <a:bodyPr/>
                  <a:lstStyle/>
                  <a:p>
                    <a:fld id="{61FCE1BD-01D7-474A-978E-057F988EF448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41-6632-7244-B13C-D2B0CF175948}"/>
                </c:ext>
              </c:extLst>
            </c:dLbl>
            <c:dLbl>
              <c:idx val="17"/>
              <c:layout>
                <c:manualLayout>
                  <c:x val="-0.11824851208389393"/>
                  <c:y val="0"/>
                </c:manualLayout>
              </c:layout>
              <c:tx>
                <c:rich>
                  <a:bodyPr/>
                  <a:lstStyle/>
                  <a:p>
                    <a:fld id="{49DE6742-6EEE-8947-8A85-E1D09151D5B3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42-6632-7244-B13C-D2B0CF175948}"/>
                </c:ext>
              </c:extLst>
            </c:dLbl>
            <c:dLbl>
              <c:idx val="18"/>
              <c:layout>
                <c:manualLayout>
                  <c:x val="-0.13683042112564869"/>
                  <c:y val="-2.9810149252610375E-2"/>
                </c:manualLayout>
              </c:layout>
              <c:tx>
                <c:rich>
                  <a:bodyPr/>
                  <a:lstStyle/>
                  <a:p>
                    <a:fld id="{38EFB230-F223-E04C-9906-FD968E3B541B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43-6632-7244-B13C-D2B0CF175948}"/>
                </c:ext>
              </c:extLst>
            </c:dLbl>
            <c:dLbl>
              <c:idx val="19"/>
              <c:layout>
                <c:manualLayout>
                  <c:x val="-2.702823133346147E-2"/>
                  <c:y val="-2.6829134327349239E-2"/>
                </c:manualLayout>
              </c:layout>
              <c:tx>
                <c:rich>
                  <a:bodyPr/>
                  <a:lstStyle/>
                  <a:p>
                    <a:fld id="{6364E8D0-D680-1B40-B794-91012B3680B4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44-6632-7244-B13C-D2B0CF175948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45-6632-7244-B13C-D2B0CF175948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46-6632-7244-B13C-D2B0CF175948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47-6632-7244-B13C-D2B0CF175948}"/>
                </c:ext>
              </c:extLst>
            </c:dLbl>
            <c:dLbl>
              <c:idx val="25"/>
              <c:layout>
                <c:manualLayout>
                  <c:x val="-5.4008445996006044E-2"/>
                  <c:y val="3.2640941928329545E-2"/>
                </c:manualLayout>
              </c:layout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48-6632-7244-B13C-D2B0CF17594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DataLabelsRange val="1"/>
                <c15:showLeaderLines val="0"/>
              </c:ext>
            </c:extLst>
          </c:dLbls>
          <c:xVal>
            <c:numRef>
              <c:f>Sheet1!$F$2:$F$29</c:f>
              <c:numCache>
                <c:formatCode>0.0%</c:formatCode>
                <c:ptCount val="23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#N/A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0.33942919613279199</c:v>
                </c:pt>
                <c:pt idx="11">
                  <c:v>0.40004036205398502</c:v>
                </c:pt>
                <c:pt idx="12">
                  <c:v>6.4442015134589498E-2</c:v>
                </c:pt>
                <c:pt idx="13">
                  <c:v>#N/A</c:v>
                </c:pt>
                <c:pt idx="14">
                  <c:v>0.434164729573422</c:v>
                </c:pt>
                <c:pt idx="15">
                  <c:v>0.46072914500845302</c:v>
                </c:pt>
                <c:pt idx="16">
                  <c:v>0.46336217430964899</c:v>
                </c:pt>
                <c:pt idx="17">
                  <c:v>0.24213339009756599</c:v>
                </c:pt>
                <c:pt idx="18">
                  <c:v>0.17135998659937901</c:v>
                </c:pt>
                <c:pt idx="19">
                  <c:v>0.241329373363662</c:v>
                </c:pt>
                <c:pt idx="20">
                  <c:v>#N/A</c:v>
                </c:pt>
                <c:pt idx="21">
                  <c:v>#N/A</c:v>
                </c:pt>
                <c:pt idx="22">
                  <c:v>#N/A</c:v>
                </c:pt>
              </c:numCache>
            </c:numRef>
          </c:xVal>
          <c:yVal>
            <c:numRef>
              <c:f>Sheet1!$C$2:$C$29</c:f>
              <c:numCache>
                <c:formatCode>0%</c:formatCode>
                <c:ptCount val="23"/>
                <c:pt idx="0">
                  <c:v>3.2110810353131201E-2</c:v>
                </c:pt>
                <c:pt idx="1">
                  <c:v>4.2238342638410503E-2</c:v>
                </c:pt>
                <c:pt idx="2">
                  <c:v>8.2058406335332804E-2</c:v>
                </c:pt>
                <c:pt idx="3">
                  <c:v>0.14950308831877701</c:v>
                </c:pt>
                <c:pt idx="4">
                  <c:v>0.14474187855499701</c:v>
                </c:pt>
                <c:pt idx="5">
                  <c:v>0.192237867976849</c:v>
                </c:pt>
                <c:pt idx="6">
                  <c:v>0.182085912415376</c:v>
                </c:pt>
                <c:pt idx="7">
                  <c:v>0.201626510653036</c:v>
                </c:pt>
                <c:pt idx="8">
                  <c:v>0.232770455211537</c:v>
                </c:pt>
                <c:pt idx="9">
                  <c:v>0.13562199119584201</c:v>
                </c:pt>
                <c:pt idx="10">
                  <c:v>6.1838706545769902E-2</c:v>
                </c:pt>
                <c:pt idx="11">
                  <c:v>8.8325647168886703E-2</c:v>
                </c:pt>
                <c:pt idx="12">
                  <c:v>7.3138510600272905E-2</c:v>
                </c:pt>
                <c:pt idx="13">
                  <c:v>0.35654736283202199</c:v>
                </c:pt>
                <c:pt idx="14">
                  <c:v>0.13777198464128801</c:v>
                </c:pt>
                <c:pt idx="15">
                  <c:v>0.15640735725123101</c:v>
                </c:pt>
                <c:pt idx="16">
                  <c:v>0.167252179960899</c:v>
                </c:pt>
                <c:pt idx="17">
                  <c:v>0.113600285320638</c:v>
                </c:pt>
                <c:pt idx="18">
                  <c:v>0.14474239435031699</c:v>
                </c:pt>
                <c:pt idx="19">
                  <c:v>0.14614645332248</c:v>
                </c:pt>
                <c:pt idx="20">
                  <c:v>0.122019620848281</c:v>
                </c:pt>
                <c:pt idx="21">
                  <c:v>4.6212231292721499E-2</c:v>
                </c:pt>
                <c:pt idx="22" formatCode="0.0%">
                  <c:v>7.4615293576842906E-2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Sheet1!$A$2:$A$29</c15:f>
                <c15:dlblRangeCache>
                  <c:ptCount val="23"/>
                  <c:pt idx="0">
                    <c:v>US Treasury Bonds</c:v>
                  </c:pt>
                  <c:pt idx="1">
                    <c:v>US Corporate Credit</c:v>
                  </c:pt>
                  <c:pt idx="2">
                    <c:v>US Corporate High Yield</c:v>
                  </c:pt>
                  <c:pt idx="3">
                    <c:v>Global Equity</c:v>
                  </c:pt>
                  <c:pt idx="4">
                    <c:v>US Large Cap</c:v>
                  </c:pt>
                  <c:pt idx="5">
                    <c:v>US Small Caps</c:v>
                  </c:pt>
                  <c:pt idx="6">
                    <c:v>European</c:v>
                  </c:pt>
                  <c:pt idx="7">
                    <c:v>Japan</c:v>
                  </c:pt>
                  <c:pt idx="8">
                    <c:v>Emerging Markets</c:v>
                  </c:pt>
                  <c:pt idx="9">
                    <c:v>Global REITs</c:v>
                  </c:pt>
                  <c:pt idx="10">
                    <c:v>Event Driven</c:v>
                  </c:pt>
                  <c:pt idx="11">
                    <c:v>Equity Long/Short</c:v>
                  </c:pt>
                  <c:pt idx="12">
                    <c:v>Tactical Trading</c:v>
                  </c:pt>
                  <c:pt idx="13">
                    <c:v>Intel Stock Proxy</c:v>
                  </c:pt>
                  <c:pt idx="14">
                    <c:v>Buyout</c:v>
                  </c:pt>
                  <c:pt idx="15">
                    <c:v>Growth</c:v>
                  </c:pt>
                  <c:pt idx="16">
                    <c:v>Venture</c:v>
                  </c:pt>
                  <c:pt idx="17">
                    <c:v>Private Credit</c:v>
                  </c:pt>
                  <c:pt idx="18">
                    <c:v>Private Real Estate</c:v>
                  </c:pt>
                  <c:pt idx="19">
                    <c:v>Infrastructure</c:v>
                  </c:pt>
                  <c:pt idx="20">
                    <c:v>Emerging Markets</c:v>
                  </c:pt>
                  <c:pt idx="21">
                    <c:v>US Inflation Protected</c:v>
                  </c:pt>
                  <c:pt idx="22">
                    <c:v>Moderate Portfolio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49-6632-7244-B13C-D2B0CF175948}"/>
            </c:ext>
          </c:extLst>
        </c:ser>
        <c:ser>
          <c:idx val="3"/>
          <c:order val="3"/>
          <c:tx>
            <c:v>Diversified Portfolio</c:v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rgbClr val="FFFF00"/>
              </a:solidFill>
              <a:ln w="9525">
                <a:solidFill>
                  <a:schemeClr val="accent4"/>
                </a:solidFill>
              </a:ln>
              <a:effectLst/>
            </c:spPr>
          </c:marker>
          <c:dPt>
            <c:idx val="27"/>
            <c:marker>
              <c:symbol val="circle"/>
              <c:size val="5"/>
              <c:spPr>
                <a:solidFill>
                  <a:srgbClr val="FFFF00"/>
                </a:solidFill>
                <a:ln w="9525">
                  <a:solidFill>
                    <a:schemeClr val="tx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4A-6632-7244-B13C-D2B0CF175948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4B-6632-7244-B13C-D2B0CF175948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4C-6632-7244-B13C-D2B0CF175948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4D-6632-7244-B13C-D2B0CF175948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4E-6632-7244-B13C-D2B0CF175948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4F-6632-7244-B13C-D2B0CF175948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0-6632-7244-B13C-D2B0CF175948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1-6632-7244-B13C-D2B0CF175948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2-6632-7244-B13C-D2B0CF175948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3-6632-7244-B13C-D2B0CF175948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4-6632-7244-B13C-D2B0CF175948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5-6632-7244-B13C-D2B0CF175948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6-6632-7244-B13C-D2B0CF175948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7-6632-7244-B13C-D2B0CF175948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8-6632-7244-B13C-D2B0CF175948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9-6632-7244-B13C-D2B0CF175948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A-6632-7244-B13C-D2B0CF175948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B-6632-7244-B13C-D2B0CF175948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C-6632-7244-B13C-D2B0CF175948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D-6632-7244-B13C-D2B0CF175948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E-6632-7244-B13C-D2B0CF175948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F-6632-7244-B13C-D2B0CF175948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0-6632-7244-B13C-D2B0CF175948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fld id="{967DDB61-B8FF-2A46-96B7-EA9E4B8EC671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61-6632-7244-B13C-D2B0CF17594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DataLabelsRange val="1"/>
                <c15:showLeaderLines val="0"/>
              </c:ext>
            </c:extLst>
          </c:dLbls>
          <c:xVal>
            <c:numRef>
              <c:f>Sheet1!$G$2:$G$29</c:f>
              <c:numCache>
                <c:formatCode>0.0%</c:formatCode>
                <c:ptCount val="23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#N/A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  <c:pt idx="13">
                  <c:v>#N/A</c:v>
                </c:pt>
                <c:pt idx="14">
                  <c:v>#N/A</c:v>
                </c:pt>
                <c:pt idx="15">
                  <c:v>#N/A</c:v>
                </c:pt>
                <c:pt idx="16">
                  <c:v>#N/A</c:v>
                </c:pt>
                <c:pt idx="17">
                  <c:v>#N/A</c:v>
                </c:pt>
                <c:pt idx="18">
                  <c:v>#N/A</c:v>
                </c:pt>
                <c:pt idx="19">
                  <c:v>#N/A</c:v>
                </c:pt>
                <c:pt idx="20">
                  <c:v>#N/A</c:v>
                </c:pt>
                <c:pt idx="21">
                  <c:v>#N/A</c:v>
                </c:pt>
                <c:pt idx="22">
                  <c:v>0.48673978777768101</c:v>
                </c:pt>
              </c:numCache>
            </c:numRef>
          </c:xVal>
          <c:yVal>
            <c:numRef>
              <c:f>Sheet1!$C$2:$C$29</c:f>
              <c:numCache>
                <c:formatCode>0%</c:formatCode>
                <c:ptCount val="23"/>
                <c:pt idx="0">
                  <c:v>3.2110810353131201E-2</c:v>
                </c:pt>
                <c:pt idx="1">
                  <c:v>4.2238342638410503E-2</c:v>
                </c:pt>
                <c:pt idx="2">
                  <c:v>8.2058406335332804E-2</c:v>
                </c:pt>
                <c:pt idx="3">
                  <c:v>0.14950308831877701</c:v>
                </c:pt>
                <c:pt idx="4">
                  <c:v>0.14474187855499701</c:v>
                </c:pt>
                <c:pt idx="5">
                  <c:v>0.192237867976849</c:v>
                </c:pt>
                <c:pt idx="6">
                  <c:v>0.182085912415376</c:v>
                </c:pt>
                <c:pt idx="7">
                  <c:v>0.201626510653036</c:v>
                </c:pt>
                <c:pt idx="8">
                  <c:v>0.232770455211537</c:v>
                </c:pt>
                <c:pt idx="9">
                  <c:v>0.13562199119584201</c:v>
                </c:pt>
                <c:pt idx="10">
                  <c:v>6.1838706545769902E-2</c:v>
                </c:pt>
                <c:pt idx="11">
                  <c:v>8.8325647168886703E-2</c:v>
                </c:pt>
                <c:pt idx="12">
                  <c:v>7.3138510600272905E-2</c:v>
                </c:pt>
                <c:pt idx="13">
                  <c:v>0.35654736283202199</c:v>
                </c:pt>
                <c:pt idx="14">
                  <c:v>0.13777198464128801</c:v>
                </c:pt>
                <c:pt idx="15">
                  <c:v>0.15640735725123101</c:v>
                </c:pt>
                <c:pt idx="16">
                  <c:v>0.167252179960899</c:v>
                </c:pt>
                <c:pt idx="17">
                  <c:v>0.113600285320638</c:v>
                </c:pt>
                <c:pt idx="18">
                  <c:v>0.14474239435031699</c:v>
                </c:pt>
                <c:pt idx="19">
                  <c:v>0.14614645332248</c:v>
                </c:pt>
                <c:pt idx="20">
                  <c:v>0.122019620848281</c:v>
                </c:pt>
                <c:pt idx="21">
                  <c:v>4.6212231292721499E-2</c:v>
                </c:pt>
                <c:pt idx="22" formatCode="0.0%">
                  <c:v>7.4615293576842906E-2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Sheet1!$A$2:$A$29</c15:f>
                <c15:dlblRangeCache>
                  <c:ptCount val="23"/>
                  <c:pt idx="0">
                    <c:v>US Treasury Bonds</c:v>
                  </c:pt>
                  <c:pt idx="1">
                    <c:v>US Corporate Credit</c:v>
                  </c:pt>
                  <c:pt idx="2">
                    <c:v>US Corporate High Yield</c:v>
                  </c:pt>
                  <c:pt idx="3">
                    <c:v>Global Equity</c:v>
                  </c:pt>
                  <c:pt idx="4">
                    <c:v>US Large Cap</c:v>
                  </c:pt>
                  <c:pt idx="5">
                    <c:v>US Small Caps</c:v>
                  </c:pt>
                  <c:pt idx="6">
                    <c:v>European</c:v>
                  </c:pt>
                  <c:pt idx="7">
                    <c:v>Japan</c:v>
                  </c:pt>
                  <c:pt idx="8">
                    <c:v>Emerging Markets</c:v>
                  </c:pt>
                  <c:pt idx="9">
                    <c:v>Global REITs</c:v>
                  </c:pt>
                  <c:pt idx="10">
                    <c:v>Event Driven</c:v>
                  </c:pt>
                  <c:pt idx="11">
                    <c:v>Equity Long/Short</c:v>
                  </c:pt>
                  <c:pt idx="12">
                    <c:v>Tactical Trading</c:v>
                  </c:pt>
                  <c:pt idx="13">
                    <c:v>Intel Stock Proxy</c:v>
                  </c:pt>
                  <c:pt idx="14">
                    <c:v>Buyout</c:v>
                  </c:pt>
                  <c:pt idx="15">
                    <c:v>Growth</c:v>
                  </c:pt>
                  <c:pt idx="16">
                    <c:v>Venture</c:v>
                  </c:pt>
                  <c:pt idx="17">
                    <c:v>Private Credit</c:v>
                  </c:pt>
                  <c:pt idx="18">
                    <c:v>Private Real Estate</c:v>
                  </c:pt>
                  <c:pt idx="19">
                    <c:v>Infrastructure</c:v>
                  </c:pt>
                  <c:pt idx="20">
                    <c:v>Emerging Markets</c:v>
                  </c:pt>
                  <c:pt idx="21">
                    <c:v>US Inflation Protected</c:v>
                  </c:pt>
                  <c:pt idx="22">
                    <c:v>Moderate Portfolio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62-6632-7244-B13C-D2B0CF175948}"/>
            </c:ext>
          </c:extLst>
        </c:ser>
        <c:ser>
          <c:idx val="4"/>
          <c:order val="4"/>
          <c:tx>
            <c:v>Intel Stock Proxy</c:v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rgbClr val="FF0000"/>
              </a:solidFill>
              <a:ln w="9525">
                <a:solidFill>
                  <a:srgbClr val="FF0000"/>
                </a:solidFill>
              </a:ln>
              <a:effectLst/>
            </c:spPr>
          </c:marker>
          <c:dLbls>
            <c:dLbl>
              <c:idx val="0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3-6632-7244-B13C-D2B0CF175948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4-6632-7244-B13C-D2B0CF175948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5-6632-7244-B13C-D2B0CF175948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6-6632-7244-B13C-D2B0CF175948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7-6632-7244-B13C-D2B0CF175948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8-6632-7244-B13C-D2B0CF175948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9-6632-7244-B13C-D2B0CF175948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A-6632-7244-B13C-D2B0CF175948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B-6632-7244-B13C-D2B0CF175948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C-6632-7244-B13C-D2B0CF175948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D-6632-7244-B13C-D2B0CF175948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E-6632-7244-B13C-D2B0CF175948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F-6632-7244-B13C-D2B0CF175948}"/>
                </c:ext>
              </c:extLst>
            </c:dLbl>
            <c:dLbl>
              <c:idx val="13"/>
              <c:layout>
                <c:manualLayout>
                  <c:x val="-4.3920875916875012E-2"/>
                  <c:y val="-2.3848119402088214E-2"/>
                </c:manualLayout>
              </c:layout>
              <c:tx>
                <c:rich>
                  <a:bodyPr/>
                  <a:lstStyle/>
                  <a:p>
                    <a:fld id="{BAB7F02B-2FBA-4541-8D2D-154A7FAD93C3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70-6632-7244-B13C-D2B0CF175948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71-6632-7244-B13C-D2B0CF175948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72-6632-7244-B13C-D2B0CF175948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73-6632-7244-B13C-D2B0CF175948}"/>
                </c:ext>
              </c:extLst>
            </c:dLbl>
            <c:dLbl>
              <c:idx val="17"/>
              <c:layout>
                <c:manualLayout>
                  <c:x val="-3.2067514810128671E-2"/>
                  <c:y val="-3.5608300285450541E-2"/>
                </c:manualLayout>
              </c:layout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74-6632-7244-B13C-D2B0CF175948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75-6632-7244-B13C-D2B0CF175948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76-6632-7244-B13C-D2B0CF175948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77-6632-7244-B13C-D2B0CF175948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78-6632-7244-B13C-D2B0CF175948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79-6632-7244-B13C-D2B0CF17594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DataLabelsRange val="1"/>
                <c15:showLeaderLines val="0"/>
              </c:ext>
            </c:extLst>
          </c:dLbls>
          <c:xVal>
            <c:numRef>
              <c:f>Sheet1!$H$2:$H$29</c:f>
              <c:numCache>
                <c:formatCode>0.0%</c:formatCode>
                <c:ptCount val="23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#N/A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  <c:pt idx="13">
                  <c:v>1</c:v>
                </c:pt>
                <c:pt idx="14">
                  <c:v>#N/A</c:v>
                </c:pt>
                <c:pt idx="15">
                  <c:v>#N/A</c:v>
                </c:pt>
                <c:pt idx="16">
                  <c:v>#N/A</c:v>
                </c:pt>
                <c:pt idx="17">
                  <c:v>#N/A</c:v>
                </c:pt>
                <c:pt idx="18">
                  <c:v>#N/A</c:v>
                </c:pt>
                <c:pt idx="19">
                  <c:v>#N/A</c:v>
                </c:pt>
                <c:pt idx="20">
                  <c:v>#N/A</c:v>
                </c:pt>
                <c:pt idx="21">
                  <c:v>#N/A</c:v>
                </c:pt>
                <c:pt idx="22">
                  <c:v>#N/A</c:v>
                </c:pt>
              </c:numCache>
            </c:numRef>
          </c:xVal>
          <c:yVal>
            <c:numRef>
              <c:f>Sheet1!$C$2:$C$29</c:f>
              <c:numCache>
                <c:formatCode>0%</c:formatCode>
                <c:ptCount val="23"/>
                <c:pt idx="0">
                  <c:v>3.2110810353131201E-2</c:v>
                </c:pt>
                <c:pt idx="1">
                  <c:v>4.2238342638410503E-2</c:v>
                </c:pt>
                <c:pt idx="2">
                  <c:v>8.2058406335332804E-2</c:v>
                </c:pt>
                <c:pt idx="3">
                  <c:v>0.14950308831877701</c:v>
                </c:pt>
                <c:pt idx="4">
                  <c:v>0.14474187855499701</c:v>
                </c:pt>
                <c:pt idx="5">
                  <c:v>0.192237867976849</c:v>
                </c:pt>
                <c:pt idx="6">
                  <c:v>0.182085912415376</c:v>
                </c:pt>
                <c:pt idx="7">
                  <c:v>0.201626510653036</c:v>
                </c:pt>
                <c:pt idx="8">
                  <c:v>0.232770455211537</c:v>
                </c:pt>
                <c:pt idx="9">
                  <c:v>0.13562199119584201</c:v>
                </c:pt>
                <c:pt idx="10">
                  <c:v>6.1838706545769902E-2</c:v>
                </c:pt>
                <c:pt idx="11">
                  <c:v>8.8325647168886703E-2</c:v>
                </c:pt>
                <c:pt idx="12">
                  <c:v>7.3138510600272905E-2</c:v>
                </c:pt>
                <c:pt idx="13">
                  <c:v>0.35654736283202199</c:v>
                </c:pt>
                <c:pt idx="14">
                  <c:v>0.13777198464128801</c:v>
                </c:pt>
                <c:pt idx="15">
                  <c:v>0.15640735725123101</c:v>
                </c:pt>
                <c:pt idx="16">
                  <c:v>0.167252179960899</c:v>
                </c:pt>
                <c:pt idx="17">
                  <c:v>0.113600285320638</c:v>
                </c:pt>
                <c:pt idx="18">
                  <c:v>0.14474239435031699</c:v>
                </c:pt>
                <c:pt idx="19">
                  <c:v>0.14614645332248</c:v>
                </c:pt>
                <c:pt idx="20">
                  <c:v>0.122019620848281</c:v>
                </c:pt>
                <c:pt idx="21">
                  <c:v>4.6212231292721499E-2</c:v>
                </c:pt>
                <c:pt idx="22" formatCode="0.0%">
                  <c:v>7.4615293576842906E-2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Sheet1!$A$2:$A$29</c15:f>
                <c15:dlblRangeCache>
                  <c:ptCount val="23"/>
                  <c:pt idx="0">
                    <c:v>US Treasury Bonds</c:v>
                  </c:pt>
                  <c:pt idx="1">
                    <c:v>US Corporate Credit</c:v>
                  </c:pt>
                  <c:pt idx="2">
                    <c:v>US Corporate High Yield</c:v>
                  </c:pt>
                  <c:pt idx="3">
                    <c:v>Global Equity</c:v>
                  </c:pt>
                  <c:pt idx="4">
                    <c:v>US Large Cap</c:v>
                  </c:pt>
                  <c:pt idx="5">
                    <c:v>US Small Caps</c:v>
                  </c:pt>
                  <c:pt idx="6">
                    <c:v>European</c:v>
                  </c:pt>
                  <c:pt idx="7">
                    <c:v>Japan</c:v>
                  </c:pt>
                  <c:pt idx="8">
                    <c:v>Emerging Markets</c:v>
                  </c:pt>
                  <c:pt idx="9">
                    <c:v>Global REITs</c:v>
                  </c:pt>
                  <c:pt idx="10">
                    <c:v>Event Driven</c:v>
                  </c:pt>
                  <c:pt idx="11">
                    <c:v>Equity Long/Short</c:v>
                  </c:pt>
                  <c:pt idx="12">
                    <c:v>Tactical Trading</c:v>
                  </c:pt>
                  <c:pt idx="13">
                    <c:v>Intel Stock Proxy</c:v>
                  </c:pt>
                  <c:pt idx="14">
                    <c:v>Buyout</c:v>
                  </c:pt>
                  <c:pt idx="15">
                    <c:v>Growth</c:v>
                  </c:pt>
                  <c:pt idx="16">
                    <c:v>Venture</c:v>
                  </c:pt>
                  <c:pt idx="17">
                    <c:v>Private Credit</c:v>
                  </c:pt>
                  <c:pt idx="18">
                    <c:v>Private Real Estate</c:v>
                  </c:pt>
                  <c:pt idx="19">
                    <c:v>Infrastructure</c:v>
                  </c:pt>
                  <c:pt idx="20">
                    <c:v>Emerging Markets</c:v>
                  </c:pt>
                  <c:pt idx="21">
                    <c:v>US Inflation Protected</c:v>
                  </c:pt>
                  <c:pt idx="22">
                    <c:v>Moderate Portfolio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7A-6632-7244-B13C-D2B0CF17594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929537760"/>
        <c:axId val="929539472"/>
      </c:scatterChart>
      <c:valAx>
        <c:axId val="929537760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r>
                  <a:rPr lang="en-GB"/>
                  <a:t>Correlation to Intel Stock Proxy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ptos" panose="020B0004020202020204" pitchFamily="34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0.0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929539472"/>
        <c:crosses val="autoZero"/>
        <c:crossBetween val="midCat"/>
      </c:valAx>
      <c:valAx>
        <c:axId val="9295394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r>
                  <a:rPr lang="en-GB"/>
                  <a:t>Volatility (% Annualized)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ptos" panose="020B0004020202020204" pitchFamily="34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0%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929537760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b="0" i="0"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1"/>
          <c:order val="1"/>
          <c:tx>
            <c:strRef>
              <c:f>portfolios!$A$39</c:f>
              <c:strCache>
                <c:ptCount val="1"/>
                <c:pt idx="0">
                  <c:v>Sharpe Ratio (LHS)</c:v>
                </c:pt>
              </c:strCache>
            </c:strRef>
          </c:tx>
          <c:spPr>
            <a:solidFill>
              <a:schemeClr val="tx2">
                <a:lumMod val="50000"/>
              </a:schemeClr>
            </a:solidFill>
            <a:ln w="6350">
              <a:solidFill>
                <a:schemeClr val="bg1">
                  <a:lumMod val="50000"/>
                </a:schemeClr>
              </a:solidFill>
            </a:ln>
            <a:effectLst/>
          </c:spPr>
          <c:invertIfNegative val="0"/>
          <c:cat>
            <c:strRef>
              <c:f>portfolios!$B$37:$H$37</c:f>
              <c:strCache>
                <c:ptCount val="7"/>
                <c:pt idx="0">
                  <c:v>Current Portfolio</c:v>
                </c:pt>
                <c:pt idx="1">
                  <c:v>Stage 1</c:v>
                </c:pt>
                <c:pt idx="2">
                  <c:v>Stage 2</c:v>
                </c:pt>
                <c:pt idx="3">
                  <c:v>Stage 3</c:v>
                </c:pt>
                <c:pt idx="4">
                  <c:v>Stage 4</c:v>
                </c:pt>
                <c:pt idx="5">
                  <c:v>Stage 5</c:v>
                </c:pt>
                <c:pt idx="6">
                  <c:v>Diversified Portfolio</c:v>
                </c:pt>
              </c:strCache>
            </c:strRef>
          </c:cat>
          <c:val>
            <c:numRef>
              <c:f>portfolios!$B$39:$H$39</c:f>
              <c:numCache>
                <c:formatCode>0.00</c:formatCode>
                <c:ptCount val="7"/>
                <c:pt idx="0">
                  <c:v>0.16346605152076499</c:v>
                </c:pt>
                <c:pt idx="1">
                  <c:v>0.17777472875906619</c:v>
                </c:pt>
                <c:pt idx="2">
                  <c:v>0.20544213007950371</c:v>
                </c:pt>
                <c:pt idx="3">
                  <c:v>0.25546214852690152</c:v>
                </c:pt>
                <c:pt idx="4">
                  <c:v>0.32069113754206768</c:v>
                </c:pt>
                <c:pt idx="5">
                  <c:v>0.40029898869580433</c:v>
                </c:pt>
                <c:pt idx="6">
                  <c:v>0.46413636396119312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1FB-AD4D-9EC0-1C5719E73EDC}"/>
            </c:ext>
          </c:extLst>
        </c:ser>
        <c:ser>
          <c:idx val="2"/>
          <c:order val="2"/>
          <c:tx>
            <c:strRef>
              <c:f>portfolios!$A$40</c:f>
              <c:strCache>
                <c:ptCount val="1"/>
                <c:pt idx="0">
                  <c:v>Implied Return</c:v>
                </c:pt>
              </c:strCache>
            </c:strRef>
          </c:tx>
          <c:spPr>
            <a:solidFill>
              <a:schemeClr val="tx2">
                <a:lumMod val="40000"/>
                <a:lumOff val="60000"/>
              </a:schemeClr>
            </a:solidFill>
            <a:ln w="6350">
              <a:solidFill>
                <a:schemeClr val="bg1">
                  <a:lumMod val="50000"/>
                </a:schemeClr>
              </a:solidFill>
            </a:ln>
            <a:effectLst/>
          </c:spPr>
          <c:invertIfNegative val="0"/>
          <c:dLbls>
            <c:dLbl>
              <c:idx val="5"/>
              <c:layout>
                <c:manualLayout>
                  <c:x val="1.5590783907070088E-3"/>
                  <c:y val="-2.667159496137881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A792-F14F-A747-68D1438D842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portfolios!$B$37:$H$37</c:f>
              <c:strCache>
                <c:ptCount val="7"/>
                <c:pt idx="0">
                  <c:v>Current Portfolio</c:v>
                </c:pt>
                <c:pt idx="1">
                  <c:v>Stage 1</c:v>
                </c:pt>
                <c:pt idx="2">
                  <c:v>Stage 2</c:v>
                </c:pt>
                <c:pt idx="3">
                  <c:v>Stage 3</c:v>
                </c:pt>
                <c:pt idx="4">
                  <c:v>Stage 4</c:v>
                </c:pt>
                <c:pt idx="5">
                  <c:v>Stage 5</c:v>
                </c:pt>
                <c:pt idx="6">
                  <c:v>Diversified Portfolio</c:v>
                </c:pt>
              </c:strCache>
            </c:strRef>
          </c:cat>
          <c:val>
            <c:numRef>
              <c:f>portfolios!$B$40:$H$40</c:f>
              <c:numCache>
                <c:formatCode>0%</c:formatCode>
                <c:ptCount val="7"/>
                <c:pt idx="0">
                  <c:v>0.49764320248685601</c:v>
                </c:pt>
                <c:pt idx="1">
                  <c:v>0.418509439515031</c:v>
                </c:pt>
                <c:pt idx="2">
                  <c:v>0.33882667672427502</c:v>
                </c:pt>
                <c:pt idx="3">
                  <c:v>0.273768522510416</c:v>
                </c:pt>
                <c:pt idx="4">
                  <c:v>0.20936198530427899</c:v>
                </c:pt>
                <c:pt idx="5">
                  <c:v>0.14495544809814201</c:v>
                </c:pt>
                <c:pt idx="6">
                  <c:v>8.0548910892004999E-2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1FB-AD4D-9EC0-1C5719E73ED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566199712"/>
        <c:axId val="1566186688"/>
      </c:barChart>
      <c:lineChart>
        <c:grouping val="standard"/>
        <c:varyColors val="0"/>
        <c:ser>
          <c:idx val="0"/>
          <c:order val="0"/>
          <c:tx>
            <c:strRef>
              <c:f>portfolios!$A$38</c:f>
              <c:strCache>
                <c:ptCount val="1"/>
                <c:pt idx="0">
                  <c:v>Volatility (RHS)</c:v>
                </c:pt>
              </c:strCache>
            </c:strRef>
          </c:tx>
          <c:spPr>
            <a:ln w="28575" cap="rnd">
              <a:solidFill>
                <a:srgbClr val="C00000"/>
              </a:solidFill>
              <a:prstDash val="sysDot"/>
              <a:round/>
            </a:ln>
            <a:effectLst/>
          </c:spPr>
          <c:marker>
            <c:symbol val="none"/>
          </c:marker>
          <c:cat>
            <c:strRef>
              <c:f>portfolios!$B$37:$H$37</c:f>
              <c:strCache>
                <c:ptCount val="7"/>
                <c:pt idx="0">
                  <c:v>Current Portfolio</c:v>
                </c:pt>
                <c:pt idx="1">
                  <c:v>Stage 1</c:v>
                </c:pt>
                <c:pt idx="2">
                  <c:v>Stage 2</c:v>
                </c:pt>
                <c:pt idx="3">
                  <c:v>Stage 3</c:v>
                </c:pt>
                <c:pt idx="4">
                  <c:v>Stage 4</c:v>
                </c:pt>
                <c:pt idx="5">
                  <c:v>Stage 5</c:v>
                </c:pt>
                <c:pt idx="6">
                  <c:v>Diversified Portfolio</c:v>
                </c:pt>
              </c:strCache>
            </c:strRef>
          </c:cat>
          <c:val>
            <c:numRef>
              <c:f>portfolios!$B$38:$H$38</c:f>
              <c:numCache>
                <c:formatCode>0.0%</c:formatCode>
                <c:ptCount val="7"/>
                <c:pt idx="0">
                  <c:v>0.22530577018721809</c:v>
                </c:pt>
                <c:pt idx="1">
                  <c:v>0.1899614796197118</c:v>
                </c:pt>
                <c:pt idx="2">
                  <c:v>0.15456215722214331</c:v>
                </c:pt>
                <c:pt idx="3">
                  <c:v>0.12763851286607961</c:v>
                </c:pt>
                <c:pt idx="4">
                  <c:v>0.10378136139028769</c:v>
                </c:pt>
                <c:pt idx="5">
                  <c:v>8.4828385549804028E-2</c:v>
                </c:pt>
                <c:pt idx="6">
                  <c:v>7.4615293576842989E-2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1FB-AD4D-9EC0-1C5719E73ED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241053344"/>
        <c:axId val="1566571584"/>
      </c:lineChart>
      <c:catAx>
        <c:axId val="1566199712"/>
        <c:scaling>
          <c:orientation val="minMax"/>
        </c:scaling>
        <c:delete val="0"/>
        <c:axPos val="b"/>
        <c:numFmt formatCode="General" sourceLinked="1"/>
        <c:majorTickMark val="none"/>
        <c:minorTickMark val="cross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566186688"/>
        <c:crosses val="autoZero"/>
        <c:auto val="1"/>
        <c:lblAlgn val="ctr"/>
        <c:lblOffset val="100"/>
        <c:noMultiLvlLbl val="0"/>
      </c:catAx>
      <c:valAx>
        <c:axId val="15661866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566199712"/>
        <c:crosses val="autoZero"/>
        <c:crossBetween val="between"/>
      </c:valAx>
      <c:valAx>
        <c:axId val="1566571584"/>
        <c:scaling>
          <c:orientation val="minMax"/>
          <c:max val="0.3"/>
        </c:scaling>
        <c:delete val="0"/>
        <c:axPos val="r"/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241053344"/>
        <c:crosses val="max"/>
        <c:crossBetween val="between"/>
      </c:valAx>
      <c:catAx>
        <c:axId val="124105334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566571584"/>
        <c:crosses val="autoZero"/>
        <c:auto val="1"/>
        <c:lblAlgn val="ctr"/>
        <c:lblOffset val="100"/>
        <c:noMultiLvlLbl val="0"/>
      </c:catAx>
      <c:spPr>
        <a:noFill/>
        <a:ln w="6350">
          <a:solidFill>
            <a:schemeClr val="bg1">
              <a:lumMod val="65000"/>
            </a:schemeClr>
          </a:solidFill>
        </a:ln>
        <a:effectLst/>
      </c:spPr>
    </c:plotArea>
    <c:legend>
      <c:legendPos val="t"/>
      <c:overlay val="0"/>
      <c:spPr>
        <a:noFill/>
        <a:ln w="6350">
          <a:solidFill>
            <a:schemeClr val="bg1">
              <a:lumMod val="65000"/>
            </a:schemeClr>
          </a:solidFill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b="0" i="0"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10195317551866062"/>
          <c:y val="0.11170420484357765"/>
          <c:w val="0.81728896369910176"/>
          <c:h val="0.74616136396210386"/>
        </c:manualLayout>
      </c:layout>
      <c:lineChart>
        <c:grouping val="standard"/>
        <c:varyColors val="0"/>
        <c:ser>
          <c:idx val="0"/>
          <c:order val="0"/>
          <c:tx>
            <c:strRef>
              <c:f>ws_Current_Portfolio_X_SS!$B$2</c:f>
              <c:strCache>
                <c:ptCount val="1"/>
                <c:pt idx="0">
                  <c:v>1st %ile</c:v>
                </c:pt>
              </c:strCache>
            </c:strRef>
          </c:tx>
          <c:spPr>
            <a:ln w="22225">
              <a:solidFill>
                <a:srgbClr val="C00000"/>
              </a:solidFill>
              <a:prstDash val="solid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0E3-7D42-B961-4E40C84E3CBC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ws_Current_Portfolio_X_SS!$A$3:$A$23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ws_Current_Portfolio_X_SS!$B$3:$B$23</c:f>
              <c:numCache>
                <c:formatCode>General</c:formatCode>
                <c:ptCount val="21"/>
                <c:pt idx="0">
                  <c:v>100</c:v>
                </c:pt>
                <c:pt idx="1">
                  <c:v>61.818528838662601</c:v>
                </c:pt>
                <c:pt idx="2">
                  <c:v>55.200758171759503</c:v>
                </c:pt>
                <c:pt idx="3">
                  <c:v>54.046708671563898</c:v>
                </c:pt>
                <c:pt idx="4">
                  <c:v>53.151987354922397</c:v>
                </c:pt>
                <c:pt idx="5">
                  <c:v>54.350204240926701</c:v>
                </c:pt>
                <c:pt idx="6">
                  <c:v>56.231422513518801</c:v>
                </c:pt>
                <c:pt idx="7">
                  <c:v>58.433784948301302</c:v>
                </c:pt>
                <c:pt idx="8">
                  <c:v>60.294843373492697</c:v>
                </c:pt>
                <c:pt idx="9">
                  <c:v>62.923042156022198</c:v>
                </c:pt>
                <c:pt idx="10">
                  <c:v>63.799650682808903</c:v>
                </c:pt>
                <c:pt idx="11">
                  <c:v>66.629744601300402</c:v>
                </c:pt>
                <c:pt idx="12">
                  <c:v>68.3061196459347</c:v>
                </c:pt>
                <c:pt idx="13">
                  <c:v>70.223431904647398</c:v>
                </c:pt>
                <c:pt idx="14">
                  <c:v>72.849162870555404</c:v>
                </c:pt>
                <c:pt idx="15">
                  <c:v>74.716550443194507</c:v>
                </c:pt>
                <c:pt idx="16">
                  <c:v>77.288988100974507</c:v>
                </c:pt>
                <c:pt idx="17">
                  <c:v>80.252617127606896</c:v>
                </c:pt>
                <c:pt idx="18">
                  <c:v>82.508864961329195</c:v>
                </c:pt>
                <c:pt idx="19">
                  <c:v>85.728216730682107</c:v>
                </c:pt>
                <c:pt idx="20">
                  <c:v>88.296331281356998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E3-7D42-B961-4E40C84E3CBC}"/>
            </c:ext>
          </c:extLst>
        </c:ser>
        <c:ser>
          <c:idx val="2"/>
          <c:order val="1"/>
          <c:tx>
            <c:strRef>
              <c:f>ws_Current_Portfolio_X_SS!$D$2</c:f>
              <c:strCache>
                <c:ptCount val="1"/>
                <c:pt idx="0">
                  <c:v>50th %ile</c:v>
                </c:pt>
              </c:strCache>
            </c:strRef>
          </c:tx>
          <c:spPr>
            <a:ln w="22225">
              <a:solidFill>
                <a:schemeClr val="accent1">
                  <a:lumMod val="50000"/>
                </a:schemeClr>
              </a:solidFill>
              <a:prstDash val="solid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0E3-7D42-B961-4E40C84E3CBC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ws_Current_Portfolio_X_SS!$A$3:$A$23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ws_Current_Portfolio_X_SS!$D$3:$D$23</c:f>
              <c:numCache>
                <c:formatCode>General</c:formatCode>
                <c:ptCount val="21"/>
                <c:pt idx="0">
                  <c:v>100</c:v>
                </c:pt>
                <c:pt idx="1">
                  <c:v>103.956799090877</c:v>
                </c:pt>
                <c:pt idx="2">
                  <c:v>107.91924850371601</c:v>
                </c:pt>
                <c:pt idx="3">
                  <c:v>113.212512555678</c:v>
                </c:pt>
                <c:pt idx="4">
                  <c:v>120.350523357786</c:v>
                </c:pt>
                <c:pt idx="5">
                  <c:v>128.57281589263701</c:v>
                </c:pt>
                <c:pt idx="6">
                  <c:v>136.769381145675</c:v>
                </c:pt>
                <c:pt idx="7">
                  <c:v>145.95674727191499</c:v>
                </c:pt>
                <c:pt idx="8">
                  <c:v>155.52578084270499</c:v>
                </c:pt>
                <c:pt idx="9">
                  <c:v>164.87606578687399</c:v>
                </c:pt>
                <c:pt idx="10">
                  <c:v>174.45705060933199</c:v>
                </c:pt>
                <c:pt idx="11">
                  <c:v>184.80230439486701</c:v>
                </c:pt>
                <c:pt idx="12">
                  <c:v>195.66847941514001</c:v>
                </c:pt>
                <c:pt idx="13">
                  <c:v>206.978184522188</c:v>
                </c:pt>
                <c:pt idx="14">
                  <c:v>219.70895429414301</c:v>
                </c:pt>
                <c:pt idx="15">
                  <c:v>232.014203418383</c:v>
                </c:pt>
                <c:pt idx="16">
                  <c:v>245.701689701503</c:v>
                </c:pt>
                <c:pt idx="17">
                  <c:v>258.44136710227798</c:v>
                </c:pt>
                <c:pt idx="18">
                  <c:v>274.02181471580099</c:v>
                </c:pt>
                <c:pt idx="19">
                  <c:v>290.70665369525</c:v>
                </c:pt>
                <c:pt idx="20">
                  <c:v>307.07395204053302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E3-7D42-B961-4E40C84E3CBC}"/>
            </c:ext>
          </c:extLst>
        </c:ser>
        <c:ser>
          <c:idx val="3"/>
          <c:order val="2"/>
          <c:tx>
            <c:strRef>
              <c:f>ws_Current_Portfolio_X_SS!$E$2</c:f>
              <c:strCache>
                <c:ptCount val="1"/>
                <c:pt idx="0">
                  <c:v>90th %ile</c:v>
                </c:pt>
              </c:strCache>
            </c:strRef>
          </c:tx>
          <c:spPr>
            <a:ln w="22225">
              <a:solidFill>
                <a:srgbClr val="77933C"/>
              </a:solidFill>
              <a:prstDash val="solid"/>
            </a:ln>
          </c:spPr>
          <c:marker>
            <c:symbol val="none"/>
          </c:marker>
          <c:cat>
            <c:numRef>
              <c:f>ws_Current_Portfolio_X_SS!$A$3:$A$23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ws_Current_Portfolio_X_SS!$E$3:$E$23</c:f>
              <c:numCache>
                <c:formatCode>General</c:formatCode>
                <c:ptCount val="21"/>
                <c:pt idx="0">
                  <c:v>100</c:v>
                </c:pt>
                <c:pt idx="1">
                  <c:v>136.745002350367</c:v>
                </c:pt>
                <c:pt idx="2">
                  <c:v>155.16160828295199</c:v>
                </c:pt>
                <c:pt idx="3">
                  <c:v>169.54404145550501</c:v>
                </c:pt>
                <c:pt idx="4">
                  <c:v>186.13607471679501</c:v>
                </c:pt>
                <c:pt idx="5">
                  <c:v>202.60055798873401</c:v>
                </c:pt>
                <c:pt idx="6">
                  <c:v>218.98154697701301</c:v>
                </c:pt>
                <c:pt idx="7">
                  <c:v>235.75612505238101</c:v>
                </c:pt>
                <c:pt idx="8">
                  <c:v>253.980527569391</c:v>
                </c:pt>
                <c:pt idx="9">
                  <c:v>272.06105598880799</c:v>
                </c:pt>
                <c:pt idx="10">
                  <c:v>292.441952562484</c:v>
                </c:pt>
                <c:pt idx="11">
                  <c:v>314.219912416824</c:v>
                </c:pt>
                <c:pt idx="12">
                  <c:v>336.95687800720299</c:v>
                </c:pt>
                <c:pt idx="13">
                  <c:v>360.60196476393702</c:v>
                </c:pt>
                <c:pt idx="14">
                  <c:v>387.99667945016</c:v>
                </c:pt>
                <c:pt idx="15">
                  <c:v>416.69455681968799</c:v>
                </c:pt>
                <c:pt idx="16">
                  <c:v>446.089983549941</c:v>
                </c:pt>
                <c:pt idx="17">
                  <c:v>476.83271223189001</c:v>
                </c:pt>
                <c:pt idx="18">
                  <c:v>510.30873167653101</c:v>
                </c:pt>
                <c:pt idx="19">
                  <c:v>546.90512117672995</c:v>
                </c:pt>
                <c:pt idx="20">
                  <c:v>584.45758325677195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E3-7D42-B961-4E40C84E3CBC}"/>
            </c:ext>
          </c:extLst>
        </c:ser>
        <c:ser>
          <c:idx val="4"/>
          <c:order val="3"/>
          <c:tx>
            <c:strRef>
              <c:f>ws_Current_Portfolio_X_SS!$F$2</c:f>
              <c:strCache>
                <c:ptCount val="1"/>
              </c:strCache>
            </c:strRef>
          </c:tx>
          <c:spPr>
            <a:ln>
              <a:solidFill>
                <a:srgbClr val="C00000"/>
              </a:solidFill>
              <a:prstDash val="sysDot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10E3-7D42-B961-4E40C84E3CBC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ws_Current_Portfolio_X_SS!$A$3:$A$23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ws_Current_Portfolio_X_SS!$F$3:$F$23</c:f>
              <c:numCache>
                <c:formatCode>General</c:formatCode>
                <c:ptCount val="21"/>
                <c:pt idx="0">
                  <c:v>100</c:v>
                </c:pt>
                <c:pt idx="1">
                  <c:v>61.818528838662637</c:v>
                </c:pt>
                <c:pt idx="2">
                  <c:v>51.418656500318328</c:v>
                </c:pt>
                <c:pt idx="3">
                  <c:v>45.515505915479586</c:v>
                </c:pt>
                <c:pt idx="4">
                  <c:v>40.816035405245337</c:v>
                </c:pt>
                <c:pt idx="5">
                  <c:v>37.252532271232418</c:v>
                </c:pt>
                <c:pt idx="6">
                  <c:v>33.977457604959049</c:v>
                </c:pt>
                <c:pt idx="7">
                  <c:v>31.43333440582979</c:v>
                </c:pt>
                <c:pt idx="8">
                  <c:v>29.72697440006397</c:v>
                </c:pt>
                <c:pt idx="9">
                  <c:v>27.49419457135048</c:v>
                </c:pt>
                <c:pt idx="10">
                  <c:v>25.547402480417329</c:v>
                </c:pt>
                <c:pt idx="11">
                  <c:v>24.65521735934928</c:v>
                </c:pt>
                <c:pt idx="12">
                  <c:v>22.89769230170635</c:v>
                </c:pt>
                <c:pt idx="13">
                  <c:v>21.3976645070789</c:v>
                </c:pt>
                <c:pt idx="14">
                  <c:v>20.223944984707661</c:v>
                </c:pt>
                <c:pt idx="15">
                  <c:v>19.467366201475681</c:v>
                </c:pt>
                <c:pt idx="16">
                  <c:v>18.282824627442761</c:v>
                </c:pt>
                <c:pt idx="17">
                  <c:v>17.510807624358911</c:v>
                </c:pt>
                <c:pt idx="18">
                  <c:v>17.256404715054199</c:v>
                </c:pt>
                <c:pt idx="19">
                  <c:v>16.567829987066581</c:v>
                </c:pt>
                <c:pt idx="20">
                  <c:v>15.951519416199419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E3-7D42-B961-4E40C84E3CBC}"/>
            </c:ext>
          </c:extLst>
        </c:ser>
        <c:ser>
          <c:idx val="5"/>
          <c:order val="4"/>
          <c:tx>
            <c:strRef>
              <c:f>ws_Current_Portfolio_X_SS!$G$2</c:f>
              <c:strCache>
                <c:ptCount val="1"/>
              </c:strCache>
            </c:strRef>
          </c:tx>
          <c:marker>
            <c:symbol val="none"/>
          </c:marker>
          <c:cat>
            <c:numRef>
              <c:f>ws_Current_Portfolio_X_SS!$A$3:$A$23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ws_Current_Portfolio_X_SS!$G$3:$G$23</c:f>
            </c:numRef>
          </c:val>
          <c:smooth val="0"/>
          <c:extLst>
            <c:ext xmlns:c16="http://schemas.microsoft.com/office/drawing/2014/chart" uri="{C3380CC4-5D6E-409C-BE32-E72D297353CC}">
              <c16:uniqueId val="{00000005-10E3-7D42-B961-4E40C84E3CBC}"/>
            </c:ext>
          </c:extLst>
        </c:ser>
        <c:ser>
          <c:idx val="6"/>
          <c:order val="5"/>
          <c:tx>
            <c:strRef>
              <c:f>ws_Current_Portfolio_X_SS!$H$2</c:f>
              <c:strCache>
                <c:ptCount val="1"/>
              </c:strCache>
            </c:strRef>
          </c:tx>
          <c:spPr>
            <a:ln>
              <a:solidFill>
                <a:schemeClr val="accent1">
                  <a:lumMod val="50000"/>
                </a:schemeClr>
              </a:solidFill>
              <a:prstDash val="sysDot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0E3-7D42-B961-4E40C84E3CBC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ws_Current_Portfolio_X_SS!$A$3:$A$23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ws_Current_Portfolio_X_SS!$H$3:$H$23</c:f>
              <c:numCache>
                <c:formatCode>General</c:formatCode>
                <c:ptCount val="21"/>
                <c:pt idx="0">
                  <c:v>100</c:v>
                </c:pt>
                <c:pt idx="1">
                  <c:v>103.9567990908773</c:v>
                </c:pt>
                <c:pt idx="2">
                  <c:v>107.1145847452551</c:v>
                </c:pt>
                <c:pt idx="3">
                  <c:v>110.57685165845029</c:v>
                </c:pt>
                <c:pt idx="4">
                  <c:v>115.32868879014249</c:v>
                </c:pt>
                <c:pt idx="5">
                  <c:v>120.4385732873385</c:v>
                </c:pt>
                <c:pt idx="6">
                  <c:v>125.4654397278165</c:v>
                </c:pt>
                <c:pt idx="7">
                  <c:v>130.79973378454159</c:v>
                </c:pt>
                <c:pt idx="8">
                  <c:v>137.00040420597799</c:v>
                </c:pt>
                <c:pt idx="9">
                  <c:v>142.0502612187002</c:v>
                </c:pt>
                <c:pt idx="10">
                  <c:v>147.9146147353776</c:v>
                </c:pt>
                <c:pt idx="11">
                  <c:v>153.00997119381989</c:v>
                </c:pt>
                <c:pt idx="12">
                  <c:v>158.58830033045149</c:v>
                </c:pt>
                <c:pt idx="13">
                  <c:v>164.4284467923647</c:v>
                </c:pt>
                <c:pt idx="14">
                  <c:v>171.35597381936091</c:v>
                </c:pt>
                <c:pt idx="15">
                  <c:v>177.74567701918389</c:v>
                </c:pt>
                <c:pt idx="16">
                  <c:v>184.32824926859749</c:v>
                </c:pt>
                <c:pt idx="17">
                  <c:v>189.92205068720139</c:v>
                </c:pt>
                <c:pt idx="18">
                  <c:v>197.52060918620421</c:v>
                </c:pt>
                <c:pt idx="19">
                  <c:v>202.3004067788583</c:v>
                </c:pt>
                <c:pt idx="20">
                  <c:v>209.83315740661129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0E3-7D42-B961-4E40C84E3CB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/>
                </a:pPr>
                <a:r>
                  <a:rPr lang="en-GB" sz="900" b="0">
                    <a:latin typeface="Aptos"/>
                  </a:rPr>
                  <a:t>Year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/>
        </c:spPr>
        <c:txPr>
          <a:bodyPr/>
          <a:lstStyle/>
          <a:p>
            <a:pPr>
              <a:defRPr sz="900" b="0">
                <a:latin typeface="Aptos"/>
              </a:defRPr>
            </a:pPr>
            <a:endParaRPr lang="en-US"/>
          </a:p>
        </c:txPr>
        <c:crossAx val="100"/>
        <c:crosses val="autoZero"/>
        <c:auto val="0"/>
        <c:lblAlgn val="ctr"/>
        <c:lblOffset val="100"/>
        <c:tickLblSkip val="1"/>
        <c:tickMarkSkip val="1"/>
        <c:noMultiLvlLbl val="0"/>
      </c:catAx>
      <c:valAx>
        <c:axId val="100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/>
                </a:pPr>
                <a:r>
                  <a:rPr lang="en-GB" sz="900" b="0" dirty="0">
                    <a:latin typeface="Aptos"/>
                  </a:rPr>
                  <a:t>Nominal Portfolio Values ($mm)</a:t>
                </a:r>
              </a:p>
            </c:rich>
          </c:tx>
          <c:overlay val="0"/>
        </c:title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900" b="0">
                <a:latin typeface="Aptos"/>
              </a:defRPr>
            </a:pPr>
            <a:endParaRPr lang="en-US"/>
          </a:p>
        </c:txPr>
        <c:crossAx val="10"/>
        <c:crosses val="autoZero"/>
        <c:crossBetween val="midCat"/>
      </c:valAx>
    </c:plotArea>
    <c:legend>
      <c:legendPos val="t"/>
      <c:legendEntry>
        <c:idx val="3"/>
        <c:delete val="1"/>
      </c:legendEntry>
      <c:legendEntry>
        <c:idx val="4"/>
        <c:delete val="1"/>
      </c:legendEntry>
      <c:layout>
        <c:manualLayout>
          <c:xMode val="edge"/>
          <c:yMode val="edge"/>
          <c:x val="9.8802340033533886E-2"/>
          <c:y val="1.4066170773605639E-2"/>
          <c:w val="0.84250223667745006"/>
          <c:h val="5.0336898408641223E-2"/>
        </c:manualLayout>
      </c:layout>
      <c:overlay val="0"/>
      <c:spPr>
        <a:ln w="6350">
          <a:solidFill>
            <a:schemeClr val="bg1">
              <a:lumMod val="75000"/>
            </a:schemeClr>
          </a:solidFill>
        </a:ln>
      </c:spPr>
      <c:txPr>
        <a:bodyPr/>
        <a:lstStyle/>
        <a:p>
          <a:pPr>
            <a:defRPr sz="900" b="0">
              <a:latin typeface="Aptos"/>
            </a:defRPr>
          </a:pPr>
          <a:endParaRPr lang="en-US"/>
        </a:p>
      </c:txPr>
    </c:legend>
    <c:plotVisOnly val="1"/>
    <c:dispBlanksAs val="gap"/>
    <c:showDLblsOverMax val="0"/>
  </c:chart>
  <c:externalData r:id="rId1">
    <c:autoUpdate val="0"/>
  </c:externalData>
  <c:userShapes r:id="rId2"/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0780107747019936"/>
          <c:y val="2.9006929828466255E-2"/>
          <c:w val="0.84610659195879412"/>
          <c:h val="0.80713669071905036"/>
        </c:manualLayout>
      </c:layout>
      <c:lineChart>
        <c:grouping val="standard"/>
        <c:varyColors val="0"/>
        <c:ser>
          <c:idx val="0"/>
          <c:order val="0"/>
          <c:spPr>
            <a:ln w="25400" cap="rnd">
              <a:solidFill>
                <a:schemeClr val="tx1"/>
              </a:solidFill>
              <a:prstDash val="solid"/>
              <a:round/>
            </a:ln>
            <a:effectLst/>
          </c:spPr>
          <c:marker>
            <c:symbol val="none"/>
          </c:marker>
          <c:cat>
            <c:numRef>
              <c:f>Sheet1!$B$7:$B$19</c:f>
              <c:numCache>
                <c:formatCode>0%</c:formatCode>
                <c:ptCount val="13"/>
                <c:pt idx="0">
                  <c:v>-0.3</c:v>
                </c:pt>
                <c:pt idx="1">
                  <c:v>-0.25</c:v>
                </c:pt>
                <c:pt idx="2">
                  <c:v>-0.2</c:v>
                </c:pt>
                <c:pt idx="3">
                  <c:v>-0.15000000000000002</c:v>
                </c:pt>
                <c:pt idx="4">
                  <c:v>-0.10000000000000002</c:v>
                </c:pt>
                <c:pt idx="5">
                  <c:v>-5.0000000000000017E-2</c:v>
                </c:pt>
                <c:pt idx="6">
                  <c:v>0</c:v>
                </c:pt>
                <c:pt idx="7">
                  <c:v>0.05</c:v>
                </c:pt>
                <c:pt idx="8">
                  <c:v>0.1</c:v>
                </c:pt>
                <c:pt idx="9">
                  <c:v>0.15000000000000002</c:v>
                </c:pt>
                <c:pt idx="10">
                  <c:v>0.2</c:v>
                </c:pt>
                <c:pt idx="11">
                  <c:v>0.25</c:v>
                </c:pt>
                <c:pt idx="12">
                  <c:v>0.3</c:v>
                </c:pt>
              </c:numCache>
            </c:numRef>
          </c:cat>
          <c:val>
            <c:numRef>
              <c:f>Sheet1!$B$7:$B$19</c:f>
              <c:numCache>
                <c:formatCode>0%</c:formatCode>
                <c:ptCount val="13"/>
                <c:pt idx="0">
                  <c:v>-0.3</c:v>
                </c:pt>
                <c:pt idx="1">
                  <c:v>-0.25</c:v>
                </c:pt>
                <c:pt idx="2">
                  <c:v>-0.2</c:v>
                </c:pt>
                <c:pt idx="3">
                  <c:v>-0.15000000000000002</c:v>
                </c:pt>
                <c:pt idx="4">
                  <c:v>-0.10000000000000002</c:v>
                </c:pt>
                <c:pt idx="5">
                  <c:v>-5.0000000000000017E-2</c:v>
                </c:pt>
                <c:pt idx="6">
                  <c:v>0</c:v>
                </c:pt>
                <c:pt idx="7">
                  <c:v>0.05</c:v>
                </c:pt>
                <c:pt idx="8">
                  <c:v>0.1</c:v>
                </c:pt>
                <c:pt idx="9">
                  <c:v>0.15000000000000002</c:v>
                </c:pt>
                <c:pt idx="10">
                  <c:v>0.2</c:v>
                </c:pt>
                <c:pt idx="11">
                  <c:v>0.25</c:v>
                </c:pt>
                <c:pt idx="12">
                  <c:v>0.3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3F6-3642-9D3A-07C76E2850C4}"/>
            </c:ext>
          </c:extLst>
        </c:ser>
        <c:ser>
          <c:idx val="1"/>
          <c:order val="1"/>
          <c:spPr>
            <a:ln w="25400" cap="rnd">
              <a:solidFill>
                <a:schemeClr val="accent1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Sheet1!$B$7:$B$19</c:f>
              <c:numCache>
                <c:formatCode>0%</c:formatCode>
                <c:ptCount val="13"/>
                <c:pt idx="0">
                  <c:v>-0.3</c:v>
                </c:pt>
                <c:pt idx="1">
                  <c:v>-0.25</c:v>
                </c:pt>
                <c:pt idx="2">
                  <c:v>-0.2</c:v>
                </c:pt>
                <c:pt idx="3">
                  <c:v>-0.15000000000000002</c:v>
                </c:pt>
                <c:pt idx="4">
                  <c:v>-0.10000000000000002</c:v>
                </c:pt>
                <c:pt idx="5">
                  <c:v>-5.0000000000000017E-2</c:v>
                </c:pt>
                <c:pt idx="6">
                  <c:v>0</c:v>
                </c:pt>
                <c:pt idx="7">
                  <c:v>0.05</c:v>
                </c:pt>
                <c:pt idx="8">
                  <c:v>0.1</c:v>
                </c:pt>
                <c:pt idx="9">
                  <c:v>0.15000000000000002</c:v>
                </c:pt>
                <c:pt idx="10">
                  <c:v>0.2</c:v>
                </c:pt>
                <c:pt idx="11">
                  <c:v>0.25</c:v>
                </c:pt>
                <c:pt idx="12">
                  <c:v>0.3</c:v>
                </c:pt>
              </c:numCache>
            </c:numRef>
          </c:cat>
          <c:val>
            <c:numRef>
              <c:f>Sheet1!$C$7:$C$19</c:f>
              <c:numCache>
                <c:formatCode>0%</c:formatCode>
                <c:ptCount val="13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0.18</c:v>
                </c:pt>
                <c:pt idx="7">
                  <c:v>0.18</c:v>
                </c:pt>
                <c:pt idx="8">
                  <c:v>0.18</c:v>
                </c:pt>
                <c:pt idx="9">
                  <c:v>0.18</c:v>
                </c:pt>
                <c:pt idx="10">
                  <c:v>0.18</c:v>
                </c:pt>
                <c:pt idx="11">
                  <c:v>0.18</c:v>
                </c:pt>
                <c:pt idx="12">
                  <c:v>0.18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3F6-3642-9D3A-07C76E2850C4}"/>
            </c:ext>
          </c:extLst>
        </c:ser>
        <c:ser>
          <c:idx val="2"/>
          <c:order val="2"/>
          <c:spPr>
            <a:ln w="25400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numRef>
              <c:f>Sheet1!$B$7:$B$19</c:f>
              <c:numCache>
                <c:formatCode>0%</c:formatCode>
                <c:ptCount val="13"/>
                <c:pt idx="0">
                  <c:v>-0.3</c:v>
                </c:pt>
                <c:pt idx="1">
                  <c:v>-0.25</c:v>
                </c:pt>
                <c:pt idx="2">
                  <c:v>-0.2</c:v>
                </c:pt>
                <c:pt idx="3">
                  <c:v>-0.15000000000000002</c:v>
                </c:pt>
                <c:pt idx="4">
                  <c:v>-0.10000000000000002</c:v>
                </c:pt>
                <c:pt idx="5">
                  <c:v>-5.0000000000000017E-2</c:v>
                </c:pt>
                <c:pt idx="6">
                  <c:v>0</c:v>
                </c:pt>
                <c:pt idx="7">
                  <c:v>0.05</c:v>
                </c:pt>
                <c:pt idx="8">
                  <c:v>0.1</c:v>
                </c:pt>
                <c:pt idx="9">
                  <c:v>0.15000000000000002</c:v>
                </c:pt>
                <c:pt idx="10">
                  <c:v>0.2</c:v>
                </c:pt>
                <c:pt idx="11">
                  <c:v>0.25</c:v>
                </c:pt>
                <c:pt idx="12">
                  <c:v>0.3</c:v>
                </c:pt>
              </c:numCache>
            </c:numRef>
          </c:cat>
          <c:val>
            <c:numRef>
              <c:f>Sheet1!$D$7:$D$19</c:f>
              <c:numCache>
                <c:formatCode>0.0%</c:formatCode>
                <c:ptCount val="13"/>
                <c:pt idx="0">
                  <c:v>-0.15000000000000002</c:v>
                </c:pt>
                <c:pt idx="1">
                  <c:v>-0.1</c:v>
                </c:pt>
                <c:pt idx="2">
                  <c:v>-0.05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3F6-3642-9D3A-07C76E2850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556925375"/>
        <c:axId val="1556927087"/>
      </c:lineChart>
      <c:catAx>
        <c:axId val="155692537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r>
                  <a:rPr lang="en-GB"/>
                  <a:t>Underlying Cumulative Return at Maturity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8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ptos" panose="020B0004020202020204" pitchFamily="34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0%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556927087"/>
        <c:crossesAt val="0"/>
        <c:auto val="1"/>
        <c:lblAlgn val="ctr"/>
        <c:lblOffset val="100"/>
        <c:tickLblSkip val="2"/>
        <c:tickMarkSkip val="3"/>
        <c:noMultiLvlLbl val="0"/>
      </c:catAx>
      <c:valAx>
        <c:axId val="155692708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r>
                  <a:rPr lang="en-GB"/>
                  <a:t>Payoff at Maturity (% Notional)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8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ptos" panose="020B0004020202020204" pitchFamily="34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0%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556925375"/>
        <c:crossesAt val="7"/>
        <c:crossBetween val="midCat"/>
        <c:majorUnit val="0.2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800" b="0" i="0"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4844360617222127"/>
          <c:y val="0.15410166613605011"/>
          <c:w val="0.80485488433603958"/>
          <c:h val="0.7539399841439281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Sheet3!$D$15</c:f>
              <c:strCache>
                <c:ptCount val="1"/>
                <c:pt idx="0">
                  <c:v>90th to 10th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7152-EE44-8525-1AE27B12EB98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7152-EE44-8525-1AE27B12EB98}"/>
              </c:ext>
            </c:extLst>
          </c:dPt>
          <c:cat>
            <c:strRef>
              <c:f>Sheet3!$D$3:$E$3</c:f>
              <c:strCache>
                <c:ptCount val="2"/>
                <c:pt idx="0">
                  <c:v>S&amp;P 500</c:v>
                </c:pt>
                <c:pt idx="1">
                  <c:v>Autocallable</c:v>
                </c:pt>
              </c:strCache>
            </c:strRef>
          </c:cat>
          <c:val>
            <c:numRef>
              <c:f>Sheet3!$D$11:$E$11</c:f>
              <c:numCache>
                <c:formatCode>0%</c:formatCode>
                <c:ptCount val="2"/>
                <c:pt idx="0">
                  <c:v>-0.13889251124822599</c:v>
                </c:pt>
                <c:pt idx="1">
                  <c:v>4.4999999999999998E-2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152-EE44-8525-1AE27B12EB98}"/>
            </c:ext>
          </c:extLst>
        </c:ser>
        <c:ser>
          <c:idx val="1"/>
          <c:order val="1"/>
          <c:tx>
            <c:strRef>
              <c:f>Sheet3!$D$14</c:f>
              <c:strCache>
                <c:ptCount val="1"/>
                <c:pt idx="0">
                  <c:v>1st-10th and 90th-99th</c:v>
                </c:pt>
              </c:strCache>
            </c:strRef>
          </c:tx>
          <c:spPr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Sheet3!$D$3:$E$3</c:f>
              <c:strCache>
                <c:ptCount val="2"/>
                <c:pt idx="0">
                  <c:v>S&amp;P 500</c:v>
                </c:pt>
                <c:pt idx="1">
                  <c:v>Autocallable</c:v>
                </c:pt>
              </c:strCache>
            </c:strRef>
          </c:cat>
          <c:val>
            <c:numRef>
              <c:f>Sheet3!$D$10:$E$10</c:f>
              <c:numCache>
                <c:formatCode>0%</c:formatCode>
                <c:ptCount val="2"/>
                <c:pt idx="0">
                  <c:v>-0.245290976392184</c:v>
                </c:pt>
                <c:pt idx="1">
                  <c:v>-0.151697343923133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152-EE44-8525-1AE27B12EB98}"/>
            </c:ext>
          </c:extLst>
        </c:ser>
        <c:ser>
          <c:idx val="2"/>
          <c:order val="2"/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Sheet3!$D$3:$E$3</c:f>
              <c:strCache>
                <c:ptCount val="2"/>
                <c:pt idx="0">
                  <c:v>S&amp;P 500</c:v>
                </c:pt>
                <c:pt idx="1">
                  <c:v>Autocallable</c:v>
                </c:pt>
              </c:strCache>
            </c:strRef>
          </c:cat>
          <c:val>
            <c:numRef>
              <c:f>Sheet3!$D$12:$E$12</c:f>
              <c:numCache>
                <c:formatCode>0%</c:formatCode>
                <c:ptCount val="2"/>
                <c:pt idx="0">
                  <c:v>0.52121120080023697</c:v>
                </c:pt>
                <c:pt idx="1">
                  <c:v>6.7499999999999005E-2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152-EE44-8525-1AE27B12EB98}"/>
            </c:ext>
          </c:extLst>
        </c:ser>
        <c:ser>
          <c:idx val="3"/>
          <c:order val="3"/>
          <c:spPr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Sheet3!$D$3:$E$3</c:f>
              <c:strCache>
                <c:ptCount val="2"/>
                <c:pt idx="0">
                  <c:v>S&amp;P 500</c:v>
                </c:pt>
                <c:pt idx="1">
                  <c:v>Autocallable</c:v>
                </c:pt>
              </c:strCache>
            </c:strRef>
          </c:cat>
          <c:val>
            <c:numRef>
              <c:f>Sheet3!$D$13:$E$13</c:f>
              <c:numCache>
                <c:formatCode>0%</c:formatCode>
                <c:ptCount val="2"/>
                <c:pt idx="0">
                  <c:v>0.31880300208777901</c:v>
                </c:pt>
                <c:pt idx="1">
                  <c:v>6.7499999999999991E-2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7152-EE44-8525-1AE27B12EB9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656190863"/>
        <c:axId val="656265215"/>
      </c:barChart>
      <c:scatterChart>
        <c:scatterStyle val="lineMarker"/>
        <c:varyColors val="0"/>
        <c:ser>
          <c:idx val="4"/>
          <c:order val="4"/>
          <c:tx>
            <c:v>Median</c:v>
          </c:tx>
          <c:spPr>
            <a:ln w="25400" cap="rnd">
              <a:noFill/>
              <a:round/>
            </a:ln>
            <a:effectLst/>
          </c:spPr>
          <c:marker>
            <c:symbol val="dash"/>
            <c:size val="18"/>
            <c:spPr>
              <a:solidFill>
                <a:schemeClr val="bg1"/>
              </a:solidFill>
              <a:ln w="9525">
                <a:solidFill>
                  <a:schemeClr val="tx1"/>
                </a:solidFill>
              </a:ln>
              <a:effectLst/>
            </c:spPr>
          </c:marker>
          <c:dLbls>
            <c:dLbl>
              <c:idx val="0"/>
              <c:layout>
                <c:manualLayout>
                  <c:x val="-7.4044476206593629E-2"/>
                  <c:y val="-3.656812204761453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7152-EE44-8525-1AE27B12EB9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yVal>
            <c:numRef>
              <c:f>Sheet3!$D$6:$E$6</c:f>
              <c:numCache>
                <c:formatCode>0%</c:formatCode>
                <c:ptCount val="2"/>
                <c:pt idx="0">
                  <c:v>0.189840058131898</c:v>
                </c:pt>
                <c:pt idx="1">
                  <c:v>4.4999999999999998E-2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9-7152-EE44-8525-1AE27B12EB98}"/>
            </c:ext>
          </c:extLst>
        </c:ser>
        <c:ser>
          <c:idx val="5"/>
          <c:order val="5"/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noFill/>
              <a:ln w="9525">
                <a:noFill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yVal>
            <c:numRef>
              <c:f>Sheet3!$D$4:$E$4</c:f>
              <c:numCache>
                <c:formatCode>0%</c:formatCode>
                <c:ptCount val="2"/>
                <c:pt idx="0">
                  <c:v>-0.38418348764040999</c:v>
                </c:pt>
                <c:pt idx="1">
                  <c:v>-0.151697343923133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7152-EE44-8525-1AE27B12EB98}"/>
            </c:ext>
          </c:extLst>
        </c:ser>
        <c:ser>
          <c:idx val="6"/>
          <c:order val="6"/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noFill/>
              <a:ln w="9525">
                <a:noFill/>
              </a:ln>
              <a:effectLst/>
            </c:spPr>
          </c:marker>
          <c:dLbls>
            <c:dLbl>
              <c:idx val="0"/>
              <c:layout>
                <c:manualLayout>
                  <c:x val="-6.3227276545647484E-2"/>
                  <c:y val="-3.55127424154065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152-EE44-8525-1AE27B12EB9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yVal>
            <c:numRef>
              <c:f>Sheet3!$D$8:$E$8</c:f>
              <c:numCache>
                <c:formatCode>0%</c:formatCode>
                <c:ptCount val="2"/>
                <c:pt idx="0">
                  <c:v>0.84001420288801598</c:v>
                </c:pt>
                <c:pt idx="1">
                  <c:v>0.17999999999999899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C-7152-EE44-8525-1AE27B12EB9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656190863"/>
        <c:axId val="656265215"/>
      </c:scatterChart>
      <c:catAx>
        <c:axId val="65619086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656265215"/>
        <c:crosses val="autoZero"/>
        <c:auto val="1"/>
        <c:lblAlgn val="ctr"/>
        <c:lblOffset val="100"/>
        <c:noMultiLvlLbl val="0"/>
      </c:catAx>
      <c:valAx>
        <c:axId val="656265215"/>
        <c:scaling>
          <c:orientation val="minMax"/>
        </c:scaling>
        <c:delete val="0"/>
        <c:axPos val="l"/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65619086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egendEntry>
        <c:idx val="2"/>
        <c:delete val="1"/>
      </c:legendEntry>
      <c:legendEntry>
        <c:idx val="3"/>
        <c:delete val="1"/>
      </c:legendEntry>
      <c:legendEntry>
        <c:idx val="5"/>
        <c:delete val="1"/>
      </c:legendEntry>
      <c:legendEntry>
        <c:idx val="6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rtl="0">
            <a:defRPr sz="900" b="0" i="0" u="none" strike="noStrike" kern="1200" baseline="0">
              <a:solidFill>
                <a:schemeClr val="tx1"/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900" b="0" i="0">
          <a:solidFill>
            <a:schemeClr val="tx1"/>
          </a:solidFill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6906998063505399E-2"/>
          <c:y val="5.2918791436322825E-2"/>
          <c:w val="0.92618600387298922"/>
          <c:h val="0.80226024226730319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109E-FD4D-8658-AFDA1DBD684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Sheet3!$C$35:$C$38</c:f>
              <c:strCache>
                <c:ptCount val="4"/>
                <c:pt idx="0">
                  <c:v>Strong Down Market</c:v>
                </c:pt>
                <c:pt idx="1">
                  <c:v>Flat to Moderate Down</c:v>
                </c:pt>
                <c:pt idx="2">
                  <c:v>Moderate Up Market</c:v>
                </c:pt>
                <c:pt idx="3">
                  <c:v>Strong Up Market</c:v>
                </c:pt>
              </c:strCache>
            </c:strRef>
          </c:cat>
          <c:val>
            <c:numRef>
              <c:f>Sheet3!$P$45:$P$48</c:f>
              <c:numCache>
                <c:formatCode>0%</c:formatCode>
                <c:ptCount val="4"/>
                <c:pt idx="0">
                  <c:v>1</c:v>
                </c:pt>
                <c:pt idx="1">
                  <c:v>1</c:v>
                </c:pt>
                <c:pt idx="2">
                  <c:v>0.24022715266772299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09E-FD4D-8658-AFDA1DBD6842}"/>
            </c:ext>
          </c:extLst>
        </c:ser>
        <c:ser>
          <c:idx val="1"/>
          <c:order val="1"/>
          <c:spPr>
            <a:solidFill>
              <a:srgbClr val="376092"/>
            </a:solidFill>
            <a:ln>
              <a:noFill/>
            </a:ln>
            <a:effectLst/>
          </c:spPr>
          <c:invertIfNegative val="0"/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109E-FD4D-8658-AFDA1DBD6842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09E-FD4D-8658-AFDA1DBD684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bg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Sheet3!$C$35:$C$38</c:f>
              <c:strCache>
                <c:ptCount val="4"/>
                <c:pt idx="0">
                  <c:v>Strong Down Market</c:v>
                </c:pt>
                <c:pt idx="1">
                  <c:v>Flat to Moderate Down</c:v>
                </c:pt>
                <c:pt idx="2">
                  <c:v>Moderate Up Market</c:v>
                </c:pt>
                <c:pt idx="3">
                  <c:v>Strong Up Market</c:v>
                </c:pt>
              </c:strCache>
            </c:strRef>
          </c:cat>
          <c:val>
            <c:numRef>
              <c:f>Sheet3!$Q$45:$Q$48</c:f>
              <c:numCache>
                <c:formatCode>0%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0.75977284733227701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09E-FD4D-8658-AFDA1DBD684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626300399"/>
        <c:axId val="415301439"/>
      </c:barChart>
      <c:catAx>
        <c:axId val="626300399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415301439"/>
        <c:crosses val="autoZero"/>
        <c:auto val="1"/>
        <c:lblAlgn val="ctr"/>
        <c:lblOffset val="100"/>
        <c:noMultiLvlLbl val="0"/>
      </c:catAx>
      <c:valAx>
        <c:axId val="415301439"/>
        <c:scaling>
          <c:orientation val="minMax"/>
          <c:max val="1"/>
        </c:scaling>
        <c:delete val="1"/>
        <c:axPos val="l"/>
        <c:numFmt formatCode="0%" sourceLinked="1"/>
        <c:majorTickMark val="none"/>
        <c:minorTickMark val="none"/>
        <c:tickLblPos val="none"/>
        <c:crossAx val="6263003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4458732439373233E-2"/>
          <c:y val="0.11416708329183305"/>
          <c:w val="0.41593602170132515"/>
          <c:h val="0.7327154628010772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Sheet3!$I$50</c:f>
              <c:strCache>
                <c:ptCount val="1"/>
                <c:pt idx="0">
                  <c:v>Underlying</c:v>
                </c:pt>
              </c:strCache>
            </c:strRef>
          </c:tx>
          <c:spPr>
            <a:solidFill>
              <a:srgbClr val="37609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Sheet3!$C$35:$C$38</c:f>
              <c:strCache>
                <c:ptCount val="4"/>
                <c:pt idx="0">
                  <c:v>Strong Down Market</c:v>
                </c:pt>
                <c:pt idx="1">
                  <c:v>Flat to Moderate Down</c:v>
                </c:pt>
                <c:pt idx="2">
                  <c:v>Moderate Up Market</c:v>
                </c:pt>
                <c:pt idx="3">
                  <c:v>Strong Up Market</c:v>
                </c:pt>
              </c:strCache>
            </c:strRef>
          </c:cat>
          <c:val>
            <c:numRef>
              <c:f>Sheet3!$D$35:$D$38</c:f>
              <c:numCache>
                <c:formatCode>0%</c:formatCode>
                <c:ptCount val="4"/>
                <c:pt idx="0">
                  <c:v>-0.36793492303088499</c:v>
                </c:pt>
                <c:pt idx="1">
                  <c:v>-9.3515544580464599E-2</c:v>
                </c:pt>
                <c:pt idx="2">
                  <c:v>0.124073724675585</c:v>
                </c:pt>
                <c:pt idx="3">
                  <c:v>0.36248484188413899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CC3-5043-A90B-C63B5AE55D71}"/>
            </c:ext>
          </c:extLst>
        </c:ser>
        <c:ser>
          <c:idx val="1"/>
          <c:order val="1"/>
          <c:tx>
            <c:strRef>
              <c:f>Sheet3!$I$51</c:f>
              <c:strCache>
                <c:ptCount val="1"/>
                <c:pt idx="0">
                  <c:v>Autcallable Buffered Note</c:v>
                </c:pt>
              </c:strCache>
            </c:strRef>
          </c:tx>
          <c:spPr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Sheet3!$C$35:$C$38</c:f>
              <c:strCache>
                <c:ptCount val="4"/>
                <c:pt idx="0">
                  <c:v>Strong Down Market</c:v>
                </c:pt>
                <c:pt idx="1">
                  <c:v>Flat to Moderate Down</c:v>
                </c:pt>
                <c:pt idx="2">
                  <c:v>Moderate Up Market</c:v>
                </c:pt>
                <c:pt idx="3">
                  <c:v>Strong Up Market</c:v>
                </c:pt>
              </c:strCache>
            </c:strRef>
          </c:cat>
          <c:val>
            <c:numRef>
              <c:f>Sheet3!$F$35:$F$38</c:f>
              <c:numCache>
                <c:formatCode>0%</c:formatCode>
                <c:ptCount val="4"/>
                <c:pt idx="0">
                  <c:v>-4.1904065849227901E-2</c:v>
                </c:pt>
                <c:pt idx="1">
                  <c:v>8.1305060033594501E-2</c:v>
                </c:pt>
                <c:pt idx="2">
                  <c:v>6.5152535657686195E-2</c:v>
                </c:pt>
                <c:pt idx="3">
                  <c:v>4.9045840192478103E-2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CC3-5043-A90B-C63B5AE55D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3"/>
        <c:axId val="586152351"/>
        <c:axId val="585446495"/>
      </c:barChart>
      <c:catAx>
        <c:axId val="586152351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585446495"/>
        <c:crosses val="autoZero"/>
        <c:auto val="1"/>
        <c:lblAlgn val="ctr"/>
        <c:lblOffset val="100"/>
        <c:noMultiLvlLbl val="0"/>
      </c:catAx>
      <c:valAx>
        <c:axId val="585446495"/>
        <c:scaling>
          <c:orientation val="minMax"/>
        </c:scaling>
        <c:delete val="0"/>
        <c:axPos val="l"/>
        <c:numFmt formatCode="0%" sourceLinked="1"/>
        <c:majorTickMark val="none"/>
        <c:minorTickMark val="none"/>
        <c:tickLblPos val="nextTo"/>
        <c:spPr>
          <a:solidFill>
            <a:schemeClr val="bg1"/>
          </a:solidFill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bg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58615235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0.36014215528256316"/>
          <c:y val="0"/>
          <c:w val="0.28862846633333039"/>
          <c:h val="6.9530387466271201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900" b="0" i="0"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0386244013916988"/>
          <c:y val="8.8620878353379062E-2"/>
          <c:w val="0.86168297689569884"/>
          <c:h val="0.8376269368778948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E1F7-134D-A75D-3693CE6CF6F1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E1F7-134D-A75D-3693CE6CF6F1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E1F7-134D-A75D-3693CE6CF6F1}"/>
              </c:ext>
            </c:extLst>
          </c:dPt>
          <c:cat>
            <c:strRef>
              <c:f>Sheet1!$G$3:$K$3</c:f>
              <c:strCache>
                <c:ptCount val="4"/>
                <c:pt idx="0">
                  <c:v>SAA</c:v>
                </c:pt>
                <c:pt idx="1">
                  <c:v>+10% Note</c:v>
                </c:pt>
                <c:pt idx="2">
                  <c:v>+20% Note</c:v>
                </c:pt>
                <c:pt idx="3">
                  <c:v>+40% Note</c:v>
                </c:pt>
              </c:strCache>
            </c:strRef>
          </c:cat>
          <c:val>
            <c:numRef>
              <c:f>Sheet1!$G$12:$K$12</c:f>
              <c:numCache>
                <c:formatCode>0%</c:formatCode>
                <c:ptCount val="4"/>
                <c:pt idx="0">
                  <c:v>-5.92687486382244E-2</c:v>
                </c:pt>
                <c:pt idx="1">
                  <c:v>-3.8847792994066099E-2</c:v>
                </c:pt>
                <c:pt idx="2">
                  <c:v>-1.8478844182590499E-2</c:v>
                </c:pt>
                <c:pt idx="3">
                  <c:v>1.7874619962907699E-2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1F7-134D-A75D-3693CE6CF6F1}"/>
            </c:ext>
          </c:extLst>
        </c:ser>
        <c:ser>
          <c:idx val="1"/>
          <c:order val="1"/>
          <c:tx>
            <c:strRef>
              <c:f>Sheet1!$H$17</c:f>
              <c:strCache>
                <c:ptCount val="1"/>
                <c:pt idx="0">
                  <c:v>1st to 10th &amp; 90th to 99th</c:v>
                </c:pt>
              </c:strCache>
            </c:strRef>
          </c:tx>
          <c:spPr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Sheet1!$G$3:$K$3</c:f>
              <c:strCache>
                <c:ptCount val="4"/>
                <c:pt idx="0">
                  <c:v>SAA</c:v>
                </c:pt>
                <c:pt idx="1">
                  <c:v>+10% Note</c:v>
                </c:pt>
                <c:pt idx="2">
                  <c:v>+20% Note</c:v>
                </c:pt>
                <c:pt idx="3">
                  <c:v>+40% Note</c:v>
                </c:pt>
              </c:strCache>
            </c:strRef>
          </c:cat>
          <c:val>
            <c:numRef>
              <c:f>Sheet1!$G$11:$K$11</c:f>
              <c:numCache>
                <c:formatCode>0%</c:formatCode>
                <c:ptCount val="4"/>
                <c:pt idx="0">
                  <c:v>-0.20105730665442462</c:v>
                </c:pt>
                <c:pt idx="1">
                  <c:v>-0.1921075796432189</c:v>
                </c:pt>
                <c:pt idx="2">
                  <c:v>-0.18392175878391051</c:v>
                </c:pt>
                <c:pt idx="3">
                  <c:v>-0.1700005396036727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1F7-134D-A75D-3693CE6CF6F1}"/>
            </c:ext>
          </c:extLst>
        </c:ser>
        <c:ser>
          <c:idx val="2"/>
          <c:order val="2"/>
          <c:tx>
            <c:strRef>
              <c:f>Sheet1!$H$18</c:f>
              <c:strCache>
                <c:ptCount val="1"/>
                <c:pt idx="0">
                  <c:v>10th to 90th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Sheet1!$G$3:$K$3</c:f>
              <c:strCache>
                <c:ptCount val="4"/>
                <c:pt idx="0">
                  <c:v>SAA</c:v>
                </c:pt>
                <c:pt idx="1">
                  <c:v>+10% Note</c:v>
                </c:pt>
                <c:pt idx="2">
                  <c:v>+20% Note</c:v>
                </c:pt>
                <c:pt idx="3">
                  <c:v>+40% Note</c:v>
                </c:pt>
              </c:strCache>
            </c:strRef>
          </c:cat>
          <c:val>
            <c:numRef>
              <c:f>Sheet1!$G$13:$K$13</c:f>
              <c:numCache>
                <c:formatCode>0%</c:formatCode>
                <c:ptCount val="4"/>
                <c:pt idx="0">
                  <c:v>0.39614541982681001</c:v>
                </c:pt>
                <c:pt idx="1">
                  <c:v>0.34714808995295399</c:v>
                </c:pt>
                <c:pt idx="2">
                  <c:v>0.297673138734182</c:v>
                </c:pt>
                <c:pt idx="3">
                  <c:v>0.202580303658801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1F7-134D-A75D-3693CE6CF6F1}"/>
            </c:ext>
          </c:extLst>
        </c:ser>
        <c:ser>
          <c:idx val="3"/>
          <c:order val="3"/>
          <c:spPr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Sheet1!$G$3:$K$3</c:f>
              <c:strCache>
                <c:ptCount val="4"/>
                <c:pt idx="0">
                  <c:v>SAA</c:v>
                </c:pt>
                <c:pt idx="1">
                  <c:v>+10% Note</c:v>
                </c:pt>
                <c:pt idx="2">
                  <c:v>+20% Note</c:v>
                </c:pt>
                <c:pt idx="3">
                  <c:v>+40% Note</c:v>
                </c:pt>
              </c:strCache>
            </c:strRef>
          </c:cat>
          <c:val>
            <c:numRef>
              <c:f>Sheet1!$G$14:$K$14</c:f>
              <c:numCache>
                <c:formatCode>0%</c:formatCode>
                <c:ptCount val="4"/>
                <c:pt idx="0">
                  <c:v>0.19835960758335097</c:v>
                </c:pt>
                <c:pt idx="1">
                  <c:v>0.16465098803618106</c:v>
                </c:pt>
                <c:pt idx="2">
                  <c:v>0.13449896163535202</c:v>
                </c:pt>
                <c:pt idx="3">
                  <c:v>7.6465105631397995E-2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E1F7-134D-A75D-3693CE6CF6F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670736431"/>
        <c:axId val="670738143"/>
      </c:barChart>
      <c:scatterChart>
        <c:scatterStyle val="lineMarker"/>
        <c:varyColors val="0"/>
        <c:ser>
          <c:idx val="4"/>
          <c:order val="4"/>
          <c:tx>
            <c:strRef>
              <c:f>Sheet1!$H$19</c:f>
              <c:strCache>
                <c:ptCount val="1"/>
                <c:pt idx="0">
                  <c:v>Median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dash"/>
            <c:size val="15"/>
            <c:spPr>
              <a:solidFill>
                <a:schemeClr val="bg1"/>
              </a:solidFill>
              <a:ln w="9525">
                <a:solidFill>
                  <a:schemeClr val="tx1"/>
                </a:solidFill>
              </a:ln>
              <a:effectLst/>
            </c:spPr>
          </c:marker>
          <c:dLbls>
            <c:dLbl>
              <c:idx val="3"/>
              <c:layout>
                <c:manualLayout>
                  <c:x val="-6.3271216446638218E-2"/>
                  <c:y val="-3.74672613186935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1F7-134D-A75D-3693CE6CF6F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yVal>
            <c:numRef>
              <c:f>Sheet1!$G$6:$K$6</c:f>
              <c:numCache>
                <c:formatCode>0%</c:formatCode>
                <c:ptCount val="4"/>
                <c:pt idx="0">
                  <c:v>0.17873760082859499</c:v>
                </c:pt>
                <c:pt idx="1">
                  <c:v>0.16411522568016401</c:v>
                </c:pt>
                <c:pt idx="2">
                  <c:v>0.149852930857094</c:v>
                </c:pt>
                <c:pt idx="3">
                  <c:v>0.12150592435143701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C-E1F7-134D-A75D-3693CE6CF6F1}"/>
            </c:ext>
          </c:extLst>
        </c:ser>
        <c:ser>
          <c:idx val="5"/>
          <c:order val="5"/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noFill/>
              <a:ln w="9525">
                <a:noFill/>
              </a:ln>
              <a:effectLst/>
            </c:spPr>
          </c:marker>
          <c:dLbls>
            <c:dLbl>
              <c:idx val="3"/>
              <c:layout>
                <c:manualLayout>
                  <c:x val="-5.5283995185295906E-2"/>
                  <c:y val="5.685230087250563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1F7-134D-A75D-3693CE6CF6F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yVal>
            <c:numRef>
              <c:f>Sheet1!$G$4:$K$4</c:f>
              <c:numCache>
                <c:formatCode>0%</c:formatCode>
                <c:ptCount val="4"/>
                <c:pt idx="0">
                  <c:v>-0.26032605529264902</c:v>
                </c:pt>
                <c:pt idx="1">
                  <c:v>-0.23095537263728499</c:v>
                </c:pt>
                <c:pt idx="2">
                  <c:v>-0.202400602966501</c:v>
                </c:pt>
                <c:pt idx="3">
                  <c:v>-0.15212591964076499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E-E1F7-134D-A75D-3693CE6CF6F1}"/>
            </c:ext>
          </c:extLst>
        </c:ser>
        <c:ser>
          <c:idx val="6"/>
          <c:order val="6"/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noFill/>
              <a:ln w="9525">
                <a:noFill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yVal>
            <c:numRef>
              <c:f>Sheet1!$G$8:$K$8</c:f>
              <c:numCache>
                <c:formatCode>0%</c:formatCode>
                <c:ptCount val="4"/>
                <c:pt idx="0">
                  <c:v>0.59450502741016098</c:v>
                </c:pt>
                <c:pt idx="1">
                  <c:v>0.51179907798913504</c:v>
                </c:pt>
                <c:pt idx="2">
                  <c:v>0.43217210036953402</c:v>
                </c:pt>
                <c:pt idx="3">
                  <c:v>0.279045409290199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10-E1F7-134D-A75D-3693CE6CF6F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670736431"/>
        <c:axId val="670738143"/>
      </c:scatterChart>
      <c:catAx>
        <c:axId val="67073643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670738143"/>
        <c:crosses val="autoZero"/>
        <c:auto val="1"/>
        <c:lblAlgn val="ctr"/>
        <c:lblOffset val="100"/>
        <c:noMultiLvlLbl val="0"/>
      </c:catAx>
      <c:valAx>
        <c:axId val="670738143"/>
        <c:scaling>
          <c:orientation val="minMax"/>
        </c:scaling>
        <c:delete val="0"/>
        <c:axPos val="l"/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67073643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egendEntry>
        <c:idx val="0"/>
        <c:delete val="1"/>
      </c:legendEntry>
      <c:legendEntry>
        <c:idx val="3"/>
        <c:delete val="1"/>
      </c:legendEntry>
      <c:legendEntry>
        <c:idx val="5"/>
        <c:delete val="1"/>
      </c:legendEntry>
      <c:legendEntry>
        <c:idx val="6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rtl="0">
            <a:defRPr sz="1000" b="0" i="0" u="none" strike="noStrike" kern="1200" baseline="0">
              <a:solidFill>
                <a:schemeClr val="tx1"/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1000" b="0" i="0">
          <a:solidFill>
            <a:schemeClr val="tx1"/>
          </a:solidFill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4513120701737911E-2"/>
          <c:y val="7.3327735456643561E-2"/>
          <c:w val="0.93479739698421693"/>
          <c:h val="0.70976869929452191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'Buyout Fund'!$B$2</c:f>
              <c:strCache>
                <c:ptCount val="1"/>
                <c:pt idx="0">
                  <c:v>Fund Net Asset Value</c:v>
                </c:pt>
              </c:strCache>
            </c:strRef>
          </c:tx>
          <c:spPr>
            <a:solidFill>
              <a:schemeClr val="tx2">
                <a:lumMod val="75000"/>
              </a:schemeClr>
            </a:solidFill>
            <a:ln w="3175">
              <a:solidFill>
                <a:schemeClr val="tx1">
                  <a:lumMod val="95000"/>
                  <a:lumOff val="5000"/>
                </a:schemeClr>
              </a:solidFill>
            </a:ln>
            <a:effectLst/>
          </c:spPr>
          <c:invertIfNegative val="0"/>
          <c:cat>
            <c:numRef>
              <c:f>'Buyout Fund'!$A$3:$A$18</c:f>
              <c:numCache>
                <c:formatCode>General</c:formatCode>
                <c:ptCount val="1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</c:numCache>
            </c:numRef>
          </c:cat>
          <c:val>
            <c:numRef>
              <c:f>'Buyout Fund'!$B$3:$B$18</c:f>
              <c:numCache>
                <c:formatCode>0</c:formatCode>
                <c:ptCount val="16"/>
                <c:pt idx="0">
                  <c:v>0</c:v>
                </c:pt>
                <c:pt idx="1">
                  <c:v>18</c:v>
                </c:pt>
                <c:pt idx="2">
                  <c:v>37.912744561611397</c:v>
                </c:pt>
                <c:pt idx="3">
                  <c:v>59.6301842695011</c:v>
                </c:pt>
                <c:pt idx="4">
                  <c:v>75.071284908746193</c:v>
                </c:pt>
                <c:pt idx="5">
                  <c:v>87.906527692018201</c:v>
                </c:pt>
                <c:pt idx="6">
                  <c:v>95.631540738282297</c:v>
                </c:pt>
                <c:pt idx="7">
                  <c:v>94.305174013066207</c:v>
                </c:pt>
                <c:pt idx="8">
                  <c:v>81.939031365025599</c:v>
                </c:pt>
                <c:pt idx="9">
                  <c:v>59.943968796591498</c:v>
                </c:pt>
                <c:pt idx="10">
                  <c:v>34.929633716896802</c:v>
                </c:pt>
                <c:pt idx="11">
                  <c:v>15.6403662459812</c:v>
                </c:pt>
                <c:pt idx="12">
                  <c:v>5.6137614567280201</c:v>
                </c:pt>
                <c:pt idx="13">
                  <c:v>2.1656727440643602</c:v>
                </c:pt>
                <c:pt idx="14">
                  <c:v>1.2324299095422899</c:v>
                </c:pt>
                <c:pt idx="15">
                  <c:v>0.87363044101286902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134-604A-93A7-21249D3FB9E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6"/>
        <c:overlap val="100"/>
        <c:axId val="992583327"/>
        <c:axId val="992271455"/>
      </c:barChart>
      <c:catAx>
        <c:axId val="992583327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50" b="0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r>
                  <a:rPr lang="en-US"/>
                  <a:t>Beginning of Year</a:t>
                </a:r>
              </a:p>
            </c:rich>
          </c:tx>
          <c:layout>
            <c:manualLayout>
              <c:xMode val="edge"/>
              <c:yMode val="edge"/>
              <c:x val="0.4284638521243837"/>
              <c:y val="0.88755335003591884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50" b="0" i="0" u="none" strike="noStrike" kern="1200" baseline="0">
                  <a:solidFill>
                    <a:schemeClr val="tx1"/>
                  </a:solidFill>
                  <a:latin typeface="Aptos" panose="020B0004020202020204" pitchFamily="34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low"/>
        <c:spPr>
          <a:noFill/>
          <a:ln w="12700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992271455"/>
        <c:crosses val="autoZero"/>
        <c:auto val="1"/>
        <c:lblAlgn val="ctr"/>
        <c:lblOffset val="100"/>
        <c:noMultiLvlLbl val="0"/>
      </c:catAx>
      <c:valAx>
        <c:axId val="992271455"/>
        <c:scaling>
          <c:orientation val="minMax"/>
        </c:scaling>
        <c:delete val="0"/>
        <c:axPos val="l"/>
        <c:numFmt formatCode="0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99258332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050" b="0" i="0">
          <a:solidFill>
            <a:schemeClr val="tx1"/>
          </a:solidFill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0855142738721135E-2"/>
          <c:y val="7.2115151586739437E-2"/>
          <c:w val="0.91602901356273059"/>
          <c:h val="0.80547295070849623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'Buyout Fund'!$G$2</c:f>
              <c:strCache>
                <c:ptCount val="1"/>
                <c:pt idx="0">
                  <c:v>Capital Calls (LHS)</c:v>
                </c:pt>
              </c:strCache>
            </c:strRef>
          </c:tx>
          <c:spPr>
            <a:solidFill>
              <a:schemeClr val="tx2">
                <a:lumMod val="75000"/>
              </a:schemeClr>
            </a:solidFill>
            <a:ln w="3175">
              <a:solidFill>
                <a:schemeClr val="tx1">
                  <a:lumMod val="95000"/>
                  <a:lumOff val="5000"/>
                </a:schemeClr>
              </a:solidFill>
            </a:ln>
            <a:effectLst/>
          </c:spPr>
          <c:invertIfNegative val="0"/>
          <c:val>
            <c:numRef>
              <c:f>'Buyout Fund'!$G$3:$G$18</c:f>
              <c:numCache>
                <c:formatCode>0</c:formatCode>
                <c:ptCount val="16"/>
                <c:pt idx="0">
                  <c:v>-18</c:v>
                </c:pt>
                <c:pt idx="1">
                  <c:v>-18</c:v>
                </c:pt>
                <c:pt idx="2">
                  <c:v>-18</c:v>
                </c:pt>
                <c:pt idx="3">
                  <c:v>-10.27</c:v>
                </c:pt>
                <c:pt idx="4">
                  <c:v>-7.9799999999999898</c:v>
                </c:pt>
                <c:pt idx="5">
                  <c:v>-6.2</c:v>
                </c:pt>
                <c:pt idx="6">
                  <c:v>-4.8099999999999996</c:v>
                </c:pt>
                <c:pt idx="7">
                  <c:v>-3.74</c:v>
                </c:pt>
                <c:pt idx="8">
                  <c:v>-2.9</c:v>
                </c:pt>
                <c:pt idx="9">
                  <c:v>-2.2599999999999998</c:v>
                </c:pt>
                <c:pt idx="10">
                  <c:v>-1.75</c:v>
                </c:pt>
                <c:pt idx="11">
                  <c:v>-1.3599999999999901</c:v>
                </c:pt>
                <c:pt idx="12">
                  <c:v>-1.06</c:v>
                </c:pt>
                <c:pt idx="13">
                  <c:v>-0.82</c:v>
                </c:pt>
                <c:pt idx="14">
                  <c:v>-0.64</c:v>
                </c:pt>
                <c:pt idx="15">
                  <c:v>-0.5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5F4-9147-8C8E-4D2B1A4992C4}"/>
            </c:ext>
          </c:extLst>
        </c:ser>
        <c:ser>
          <c:idx val="1"/>
          <c:order val="1"/>
          <c:tx>
            <c:strRef>
              <c:f>'Buyout Fund'!$H$2</c:f>
              <c:strCache>
                <c:ptCount val="1"/>
                <c:pt idx="0">
                  <c:v>Distributions (LHS)</c:v>
                </c:pt>
              </c:strCache>
            </c:strRef>
          </c:tx>
          <c:spPr>
            <a:solidFill>
              <a:schemeClr val="tx2">
                <a:lumMod val="25000"/>
                <a:lumOff val="75000"/>
              </a:schemeClr>
            </a:solidFill>
            <a:ln w="3175">
              <a:solidFill>
                <a:schemeClr val="tx1">
                  <a:lumMod val="95000"/>
                  <a:lumOff val="5000"/>
                </a:schemeClr>
              </a:solidFill>
            </a:ln>
            <a:effectLst/>
          </c:spPr>
          <c:invertIfNegative val="0"/>
          <c:val>
            <c:numRef>
              <c:f>'Buyout Fund'!$H$3:$H$18</c:f>
              <c:numCache>
                <c:formatCode>0</c:formatCode>
                <c:ptCount val="16"/>
                <c:pt idx="0">
                  <c:v>0</c:v>
                </c:pt>
                <c:pt idx="1">
                  <c:v>1.9914736035214898E-3</c:v>
                </c:pt>
                <c:pt idx="2">
                  <c:v>0.100152808988374</c:v>
                </c:pt>
                <c:pt idx="3">
                  <c:v>0.77378583477353302</c:v>
                </c:pt>
                <c:pt idx="4">
                  <c:v>3.0020131795507901</c:v>
                </c:pt>
                <c:pt idx="5">
                  <c:v>7.8612581501884398</c:v>
                </c:pt>
                <c:pt idx="6">
                  <c:v>15.8924543584201</c:v>
                </c:pt>
                <c:pt idx="7">
                  <c:v>25.761393209589599</c:v>
                </c:pt>
                <c:pt idx="8">
                  <c:v>33.244047658918902</c:v>
                </c:pt>
                <c:pt idx="9">
                  <c:v>33.064035733599802</c:v>
                </c:pt>
                <c:pt idx="10">
                  <c:v>24.4067560203029</c:v>
                </c:pt>
                <c:pt idx="11">
                  <c:v>12.8708820888759</c:v>
                </c:pt>
                <c:pt idx="12">
                  <c:v>5.0437863441690398</c:v>
                </c:pt>
                <c:pt idx="13">
                  <c:v>1.9592199440649001</c:v>
                </c:pt>
                <c:pt idx="14">
                  <c:v>1.1183975741079</c:v>
                </c:pt>
                <c:pt idx="15">
                  <c:v>0.81383436186790503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5F4-9147-8C8E-4D2B1A4992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9"/>
        <c:overlap val="100"/>
        <c:axId val="992583327"/>
        <c:axId val="992271455"/>
      </c:barChart>
      <c:lineChart>
        <c:grouping val="standard"/>
        <c:varyColors val="0"/>
        <c:ser>
          <c:idx val="2"/>
          <c:order val="2"/>
          <c:tx>
            <c:strRef>
              <c:f>'Buyout Fund'!$I$2</c:f>
              <c:strCache>
                <c:ptCount val="1"/>
                <c:pt idx="0">
                  <c:v>Cumulative Net Cash-Flow (RHS)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dPt>
            <c:idx val="4"/>
            <c:marker>
              <c:symbol val="none"/>
            </c:marker>
            <c:bubble3D val="0"/>
            <c:extLst>
              <c:ext xmlns:c16="http://schemas.microsoft.com/office/drawing/2014/chart" uri="{C3380CC4-5D6E-409C-BE32-E72D297353CC}">
                <c16:uniqueId val="{00000002-45F4-9147-8C8E-4D2B1A4992C4}"/>
              </c:ext>
            </c:extLst>
          </c:dPt>
          <c:val>
            <c:numRef>
              <c:f>'Buyout Fund'!$I$3:$I$18</c:f>
              <c:numCache>
                <c:formatCode>0</c:formatCode>
                <c:ptCount val="16"/>
                <c:pt idx="0">
                  <c:v>-18</c:v>
                </c:pt>
                <c:pt idx="1">
                  <c:v>-35.998008526396475</c:v>
                </c:pt>
                <c:pt idx="2">
                  <c:v>-53.897855717408106</c:v>
                </c:pt>
                <c:pt idx="3">
                  <c:v>-63.394069882634575</c:v>
                </c:pt>
                <c:pt idx="4">
                  <c:v>-68.372056703083771</c:v>
                </c:pt>
                <c:pt idx="5">
                  <c:v>-66.710798552895326</c:v>
                </c:pt>
                <c:pt idx="6">
                  <c:v>-55.628344194475225</c:v>
                </c:pt>
                <c:pt idx="7">
                  <c:v>-33.606950984885628</c:v>
                </c:pt>
                <c:pt idx="8">
                  <c:v>-3.2629033259667253</c:v>
                </c:pt>
                <c:pt idx="9">
                  <c:v>27.541132407633079</c:v>
                </c:pt>
                <c:pt idx="10">
                  <c:v>50.197888427935979</c:v>
                </c:pt>
                <c:pt idx="11">
                  <c:v>61.708770516811889</c:v>
                </c:pt>
                <c:pt idx="12">
                  <c:v>65.692556860980929</c:v>
                </c:pt>
                <c:pt idx="13">
                  <c:v>66.831776805045834</c:v>
                </c:pt>
                <c:pt idx="14">
                  <c:v>67.310174379153736</c:v>
                </c:pt>
                <c:pt idx="15">
                  <c:v>67.62400874102164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5F4-9147-8C8E-4D2B1A4992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675499583"/>
        <c:axId val="675300639"/>
      </c:lineChart>
      <c:catAx>
        <c:axId val="992583327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noFill/>
          <a:ln w="12700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992271455"/>
        <c:crosses val="autoZero"/>
        <c:auto val="1"/>
        <c:lblAlgn val="ctr"/>
        <c:lblOffset val="100"/>
        <c:noMultiLvlLbl val="0"/>
      </c:catAx>
      <c:valAx>
        <c:axId val="992271455"/>
        <c:scaling>
          <c:orientation val="minMax"/>
        </c:scaling>
        <c:delete val="0"/>
        <c:axPos val="l"/>
        <c:numFmt formatCode="0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992583327"/>
        <c:crosses val="autoZero"/>
        <c:crossBetween val="between"/>
      </c:valAx>
      <c:valAx>
        <c:axId val="675300639"/>
        <c:scaling>
          <c:orientation val="minMax"/>
        </c:scaling>
        <c:delete val="0"/>
        <c:axPos val="r"/>
        <c:numFmt formatCode="0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675499583"/>
        <c:crosses val="max"/>
        <c:crossBetween val="between"/>
      </c:valAx>
      <c:catAx>
        <c:axId val="675499583"/>
        <c:scaling>
          <c:orientation val="minMax"/>
        </c:scaling>
        <c:delete val="1"/>
        <c:axPos val="b"/>
        <c:majorTickMark val="out"/>
        <c:minorTickMark val="none"/>
        <c:tickLblPos val="nextTo"/>
        <c:crossAx val="675300639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5.0463510502248766E-2"/>
          <c:y val="8.310235429584352E-2"/>
          <c:w val="0.29636783294844554"/>
          <c:h val="0.25991302290022239"/>
        </c:manualLayout>
      </c:layout>
      <c:overlay val="0"/>
      <c:spPr>
        <a:noFill/>
        <a:ln w="3175">
          <a:solidFill>
            <a:schemeClr val="bg1">
              <a:lumMod val="75000"/>
            </a:schemeClr>
          </a:solidFill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/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050" b="0" i="0">
          <a:solidFill>
            <a:schemeClr val="tx1"/>
          </a:solidFill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6441411504820403E-2"/>
          <c:y val="0.11607965603627578"/>
          <c:w val="0.877972678070291"/>
          <c:h val="0.79625715807524045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tx2">
                <a:lumMod val="50000"/>
              </a:schemeClr>
            </a:solidFill>
            <a:ln w="3175">
              <a:solidFill>
                <a:schemeClr val="tx1"/>
              </a:solidFill>
            </a:ln>
            <a:effectLst/>
          </c:spPr>
          <c:invertIfNegative val="0"/>
          <c:val>
            <c:numRef>
              <c:f>Flows!$B$3:$B$22</c:f>
              <c:numCache>
                <c:formatCode>0</c:formatCode>
                <c:ptCount val="20"/>
                <c:pt idx="0">
                  <c:v>-9</c:v>
                </c:pt>
                <c:pt idx="1">
                  <c:v>-9</c:v>
                </c:pt>
                <c:pt idx="2">
                  <c:v>-9</c:v>
                </c:pt>
                <c:pt idx="3">
                  <c:v>-5.1349999999999998</c:v>
                </c:pt>
                <c:pt idx="4">
                  <c:v>-3.98999999999999</c:v>
                </c:pt>
                <c:pt idx="5">
                  <c:v>-3.1</c:v>
                </c:pt>
                <c:pt idx="6">
                  <c:v>-2.4049999999999998</c:v>
                </c:pt>
                <c:pt idx="7">
                  <c:v>-1.87</c:v>
                </c:pt>
                <c:pt idx="8">
                  <c:v>-1.45</c:v>
                </c:pt>
                <c:pt idx="9">
                  <c:v>-1.1299999999999999</c:v>
                </c:pt>
                <c:pt idx="10">
                  <c:v>-0.875</c:v>
                </c:pt>
                <c:pt idx="11">
                  <c:v>-0.67999999999999905</c:v>
                </c:pt>
                <c:pt idx="12">
                  <c:v>-0.53</c:v>
                </c:pt>
                <c:pt idx="13">
                  <c:v>-0.41</c:v>
                </c:pt>
                <c:pt idx="14">
                  <c:v>-0.32</c:v>
                </c:pt>
                <c:pt idx="15">
                  <c:v>-0.25</c:v>
                </c:pt>
                <c:pt idx="16">
                  <c:v>-0.19</c:v>
                </c:pt>
                <c:pt idx="17">
                  <c:v>-0.15</c:v>
                </c:pt>
                <c:pt idx="18">
                  <c:v>-0.11499999999999901</c:v>
                </c:pt>
                <c:pt idx="19">
                  <c:v>-0.09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5E0-3E4D-9512-D0590089886C}"/>
            </c:ext>
          </c:extLst>
        </c:ser>
        <c:ser>
          <c:idx val="1"/>
          <c:order val="1"/>
          <c:spPr>
            <a:solidFill>
              <a:schemeClr val="accent1">
                <a:lumMod val="75000"/>
              </a:schemeClr>
            </a:solidFill>
            <a:ln w="3175">
              <a:solidFill>
                <a:schemeClr val="tx1"/>
              </a:solidFill>
            </a:ln>
            <a:effectLst/>
          </c:spPr>
          <c:invertIfNegative val="0"/>
          <c:val>
            <c:numRef>
              <c:f>Flows!$C$3:$C$22</c:f>
              <c:numCache>
                <c:formatCode>0</c:formatCode>
                <c:ptCount val="20"/>
                <c:pt idx="0">
                  <c:v>-17.5</c:v>
                </c:pt>
                <c:pt idx="1">
                  <c:v>-17.5</c:v>
                </c:pt>
                <c:pt idx="2">
                  <c:v>-5.0149999999999997</c:v>
                </c:pt>
                <c:pt idx="3">
                  <c:v>-3.34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5E0-3E4D-9512-D0590089886C}"/>
            </c:ext>
          </c:extLst>
        </c:ser>
        <c:ser>
          <c:idx val="2"/>
          <c:order val="2"/>
          <c:spPr>
            <a:solidFill>
              <a:schemeClr val="accent1">
                <a:lumMod val="40000"/>
                <a:lumOff val="60000"/>
              </a:schemeClr>
            </a:solidFill>
            <a:ln w="3175">
              <a:solidFill>
                <a:schemeClr val="tx1"/>
              </a:solidFill>
            </a:ln>
            <a:effectLst/>
          </c:spPr>
          <c:invertIfNegative val="0"/>
          <c:val>
            <c:numRef>
              <c:f>Flows!$D$3:$D$22</c:f>
              <c:numCache>
                <c:formatCode>0</c:formatCode>
                <c:ptCount val="20"/>
                <c:pt idx="0">
                  <c:v>0</c:v>
                </c:pt>
                <c:pt idx="1">
                  <c:v>9.9573680176074796E-4</c:v>
                </c:pt>
                <c:pt idx="2">
                  <c:v>5.0076404494187397E-2</c:v>
                </c:pt>
                <c:pt idx="3">
                  <c:v>0.38689291738676601</c:v>
                </c:pt>
                <c:pt idx="4">
                  <c:v>1.5010065897753899</c:v>
                </c:pt>
                <c:pt idx="5">
                  <c:v>3.9306290750942199</c:v>
                </c:pt>
                <c:pt idx="6">
                  <c:v>7.9462271792100596</c:v>
                </c:pt>
                <c:pt idx="7">
                  <c:v>12.880696604794799</c:v>
                </c:pt>
                <c:pt idx="8">
                  <c:v>16.622023829459401</c:v>
                </c:pt>
                <c:pt idx="9">
                  <c:v>16.532017866799901</c:v>
                </c:pt>
                <c:pt idx="10">
                  <c:v>12.2033780101514</c:v>
                </c:pt>
                <c:pt idx="11">
                  <c:v>6.4354410444379697</c:v>
                </c:pt>
                <c:pt idx="12">
                  <c:v>2.5218931720845199</c:v>
                </c:pt>
                <c:pt idx="13">
                  <c:v>0.97960997203245304</c:v>
                </c:pt>
                <c:pt idx="14">
                  <c:v>0.55919878705395099</c:v>
                </c:pt>
                <c:pt idx="15">
                  <c:v>0.40691718093395202</c:v>
                </c:pt>
                <c:pt idx="16">
                  <c:v>0.30777414196385799</c:v>
                </c:pt>
                <c:pt idx="17">
                  <c:v>0.22923661422851899</c:v>
                </c:pt>
                <c:pt idx="18">
                  <c:v>0.176892494795687</c:v>
                </c:pt>
                <c:pt idx="19">
                  <c:v>0.134042989368375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5E0-3E4D-9512-D0590089886C}"/>
            </c:ext>
          </c:extLst>
        </c:ser>
        <c:ser>
          <c:idx val="3"/>
          <c:order val="3"/>
          <c:spPr>
            <a:solidFill>
              <a:schemeClr val="accent1">
                <a:lumMod val="20000"/>
                <a:lumOff val="80000"/>
              </a:schemeClr>
            </a:solidFill>
            <a:ln w="3175">
              <a:solidFill>
                <a:schemeClr val="tx1"/>
              </a:solidFill>
            </a:ln>
            <a:effectLst/>
          </c:spPr>
          <c:invertIfNegative val="0"/>
          <c:val>
            <c:numRef>
              <c:f>Flows!$E$3:$E$22</c:f>
              <c:numCache>
                <c:formatCode>0</c:formatCode>
                <c:ptCount val="20"/>
                <c:pt idx="0">
                  <c:v>0</c:v>
                </c:pt>
                <c:pt idx="1">
                  <c:v>1.0075101090255201</c:v>
                </c:pt>
                <c:pt idx="2">
                  <c:v>3.3208997083278802</c:v>
                </c:pt>
                <c:pt idx="3">
                  <c:v>7.4010020834184997</c:v>
                </c:pt>
                <c:pt idx="4">
                  <c:v>14.5207470627745</c:v>
                </c:pt>
                <c:pt idx="5">
                  <c:v>20.101500493118198</c:v>
                </c:pt>
                <c:pt idx="6">
                  <c:v>14.335159383097199</c:v>
                </c:pt>
                <c:pt idx="7">
                  <c:v>3.74824045649589</c:v>
                </c:pt>
                <c:pt idx="8">
                  <c:v>0.209438286609408</c:v>
                </c:pt>
                <c:pt idx="9">
                  <c:v>9.1636005485734801E-4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5E0-3E4D-9512-D0590089886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6"/>
        <c:overlap val="100"/>
        <c:axId val="1582515376"/>
        <c:axId val="1806156704"/>
      </c:barChart>
      <c:catAx>
        <c:axId val="158251537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noFill/>
          <a:ln w="6350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806156704"/>
        <c:crosses val="autoZero"/>
        <c:auto val="1"/>
        <c:lblAlgn val="ctr"/>
        <c:lblOffset val="100"/>
        <c:tickLblSkip val="2"/>
        <c:tickMarkSkip val="5"/>
        <c:noMultiLvlLbl val="0"/>
      </c:catAx>
      <c:valAx>
        <c:axId val="180615670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5825153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000" b="0" i="0"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337520336874345E-2"/>
          <c:y val="0.17715795073867388"/>
          <c:w val="0.93995035410087091"/>
          <c:h val="0.66486722116752706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Portfolio!$C$1</c:f>
              <c:strCache>
                <c:ptCount val="1"/>
                <c:pt idx="0">
                  <c:v>Buyout</c:v>
                </c:pt>
              </c:strCache>
            </c:strRef>
          </c:tx>
          <c:spPr>
            <a:solidFill>
              <a:schemeClr val="tx2">
                <a:lumMod val="75000"/>
              </a:schemeClr>
            </a:solidFill>
            <a:ln w="3175">
              <a:solidFill>
                <a:schemeClr val="tx1">
                  <a:lumMod val="95000"/>
                  <a:lumOff val="5000"/>
                </a:schemeClr>
              </a:solidFill>
            </a:ln>
            <a:effectLst/>
          </c:spPr>
          <c:invertIfNegative val="0"/>
          <c:val>
            <c:numRef>
              <c:f>Portfolio!$C$2:$C$21</c:f>
              <c:numCache>
                <c:formatCode>0</c:formatCode>
                <c:ptCount val="20"/>
                <c:pt idx="0">
                  <c:v>0</c:v>
                </c:pt>
                <c:pt idx="1">
                  <c:v>9</c:v>
                </c:pt>
                <c:pt idx="2">
                  <c:v>18.956372280805699</c:v>
                </c:pt>
                <c:pt idx="3">
                  <c:v>29.8150921347505</c:v>
                </c:pt>
                <c:pt idx="4">
                  <c:v>37.535642454373097</c:v>
                </c:pt>
                <c:pt idx="5">
                  <c:v>43.953263846009101</c:v>
                </c:pt>
                <c:pt idx="6">
                  <c:v>47.815770369141099</c:v>
                </c:pt>
                <c:pt idx="7">
                  <c:v>47.152587006533103</c:v>
                </c:pt>
                <c:pt idx="8">
                  <c:v>40.9695156825128</c:v>
                </c:pt>
                <c:pt idx="9">
                  <c:v>29.971984398295699</c:v>
                </c:pt>
                <c:pt idx="10">
                  <c:v>17.464816858448401</c:v>
                </c:pt>
                <c:pt idx="11">
                  <c:v>7.8201831229906302</c:v>
                </c:pt>
                <c:pt idx="12">
                  <c:v>2.80688072836401</c:v>
                </c:pt>
                <c:pt idx="13">
                  <c:v>1.0828363720321801</c:v>
                </c:pt>
                <c:pt idx="14">
                  <c:v>0.61621495477114596</c:v>
                </c:pt>
                <c:pt idx="15">
                  <c:v>0.43681522050643401</c:v>
                </c:pt>
                <c:pt idx="16">
                  <c:v>0.32135877220891501</c:v>
                </c:pt>
                <c:pt idx="17">
                  <c:v>0.234168844844441</c:v>
                </c:pt>
                <c:pt idx="18">
                  <c:v>0.17715150145039699</c:v>
                </c:pt>
                <c:pt idx="19">
                  <c:v>0.132430799498157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1F2-F74C-81B3-2E15642549CD}"/>
            </c:ext>
          </c:extLst>
        </c:ser>
        <c:ser>
          <c:idx val="1"/>
          <c:order val="1"/>
          <c:tx>
            <c:strRef>
              <c:f>Portfolio!$D$1</c:f>
              <c:strCache>
                <c:ptCount val="1"/>
                <c:pt idx="0">
                  <c:v>Private Credit</c:v>
                </c:pt>
              </c:strCache>
            </c:strRef>
          </c:tx>
          <c:spPr>
            <a:solidFill>
              <a:schemeClr val="accent1">
                <a:lumMod val="75000"/>
              </a:schemeClr>
            </a:solidFill>
            <a:ln w="3175">
              <a:solidFill>
                <a:schemeClr val="tx1"/>
              </a:solidFill>
            </a:ln>
            <a:effectLst/>
          </c:spPr>
          <c:invertIfNegative val="0"/>
          <c:val>
            <c:numRef>
              <c:f>Portfolio!$D$2:$D$21</c:f>
              <c:numCache>
                <c:formatCode>0</c:formatCode>
                <c:ptCount val="20"/>
                <c:pt idx="0">
                  <c:v>0</c:v>
                </c:pt>
                <c:pt idx="1">
                  <c:v>17.5</c:v>
                </c:pt>
                <c:pt idx="2">
                  <c:v>36.093853879797898</c:v>
                </c:pt>
                <c:pt idx="3">
                  <c:v>41.898697244794199</c:v>
                </c:pt>
                <c:pt idx="4">
                  <c:v>42.574171725141603</c:v>
                </c:pt>
                <c:pt idx="5">
                  <c:v>32.685842868221897</c:v>
                </c:pt>
                <c:pt idx="6">
                  <c:v>16.2090134034103</c:v>
                </c:pt>
                <c:pt idx="7">
                  <c:v>3.6017267318893</c:v>
                </c:pt>
                <c:pt idx="8">
                  <c:v>0.19229829087153</c:v>
                </c:pt>
                <c:pt idx="9">
                  <c:v>8.4111761690525101E-4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1F2-F74C-81B3-2E15642549CD}"/>
            </c:ext>
          </c:extLst>
        </c:ser>
        <c:ser>
          <c:idx val="2"/>
          <c:order val="2"/>
          <c:tx>
            <c:strRef>
              <c:f>Portfolio!$E$1</c:f>
              <c:strCache>
                <c:ptCount val="1"/>
                <c:pt idx="0">
                  <c:v>Bonds</c:v>
                </c:pt>
              </c:strCache>
            </c:strRef>
          </c:tx>
          <c:spPr>
            <a:solidFill>
              <a:srgbClr val="7F94BA"/>
            </a:solidFill>
            <a:ln w="3175">
              <a:solidFill>
                <a:schemeClr val="tx1"/>
              </a:solidFill>
            </a:ln>
            <a:effectLst/>
          </c:spPr>
          <c:invertIfNegative val="0"/>
          <c:val>
            <c:numRef>
              <c:f>Portfolio!$E$2:$E$21</c:f>
              <c:numCache>
                <c:formatCode>0</c:formatCode>
                <c:ptCount val="20"/>
                <c:pt idx="0">
                  <c:v>40</c:v>
                </c:pt>
                <c:pt idx="1">
                  <c:v>29.400000000000002</c:v>
                </c:pt>
                <c:pt idx="2">
                  <c:v>21.101731495978484</c:v>
                </c:pt>
                <c:pt idx="3">
                  <c:v>18.191985991830482</c:v>
                </c:pt>
                <c:pt idx="4">
                  <c:v>19.094987173295518</c:v>
                </c:pt>
                <c:pt idx="5">
                  <c:v>25.18993742006224</c:v>
                </c:pt>
                <c:pt idx="6">
                  <c:v>35.167182662085445</c:v>
                </c:pt>
                <c:pt idx="7">
                  <c:v>45.156469968036802</c:v>
                </c:pt>
                <c:pt idx="8">
                  <c:v>53.579057596901606</c:v>
                </c:pt>
                <c:pt idx="9">
                  <c:v>62.584864865614804</c:v>
                </c:pt>
                <c:pt idx="10">
                  <c:v>72.04684952169201</c:v>
                </c:pt>
                <c:pt idx="11">
                  <c:v>80.309920108377611</c:v>
                </c:pt>
                <c:pt idx="12">
                  <c:v>86.770245810288813</c:v>
                </c:pt>
                <c:pt idx="13">
                  <c:v>92.060242153123212</c:v>
                </c:pt>
                <c:pt idx="14">
                  <c:v>97.122472019898396</c:v>
                </c:pt>
                <c:pt idx="15">
                  <c:v>102.19884996177801</c:v>
                </c:pt>
                <c:pt idx="16">
                  <c:v>107.51428390724521</c:v>
                </c:pt>
                <c:pt idx="17">
                  <c:v>113.07385407463681</c:v>
                </c:pt>
                <c:pt idx="18">
                  <c:v>118.9635409313848</c:v>
                </c:pt>
                <c:pt idx="19">
                  <c:v>125.09121280108721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1F2-F74C-81B3-2E15642549CD}"/>
            </c:ext>
          </c:extLst>
        </c:ser>
        <c:ser>
          <c:idx val="3"/>
          <c:order val="3"/>
          <c:tx>
            <c:strRef>
              <c:f>Portfolio!$F$1</c:f>
              <c:strCache>
                <c:ptCount val="1"/>
                <c:pt idx="0">
                  <c:v>Equity</c:v>
                </c:pt>
              </c:strCache>
            </c:strRef>
          </c:tx>
          <c:spPr>
            <a:solidFill>
              <a:schemeClr val="tx2">
                <a:lumMod val="20000"/>
                <a:lumOff val="80000"/>
              </a:schemeClr>
            </a:solidFill>
            <a:ln w="3175">
              <a:solidFill>
                <a:schemeClr val="tx1"/>
              </a:solidFill>
            </a:ln>
            <a:effectLst/>
          </c:spPr>
          <c:invertIfNegative val="0"/>
          <c:val>
            <c:numRef>
              <c:f>Portfolio!$F$2:$F$21</c:f>
              <c:numCache>
                <c:formatCode>0</c:formatCode>
                <c:ptCount val="20"/>
                <c:pt idx="0">
                  <c:v>60</c:v>
                </c:pt>
                <c:pt idx="1">
                  <c:v>44.1</c:v>
                </c:pt>
                <c:pt idx="2">
                  <c:v>31.652597243967719</c:v>
                </c:pt>
                <c:pt idx="3">
                  <c:v>27.287978987745721</c:v>
                </c:pt>
                <c:pt idx="4">
                  <c:v>28.642480759943279</c:v>
                </c:pt>
                <c:pt idx="5">
                  <c:v>37.784906130093354</c:v>
                </c:pt>
                <c:pt idx="6">
                  <c:v>52.750773993128156</c:v>
                </c:pt>
                <c:pt idx="7">
                  <c:v>67.734704952055196</c:v>
                </c:pt>
                <c:pt idx="8">
                  <c:v>80.368586395352395</c:v>
                </c:pt>
                <c:pt idx="9">
                  <c:v>93.877297298422206</c:v>
                </c:pt>
                <c:pt idx="10">
                  <c:v>108.07027428253799</c:v>
                </c:pt>
                <c:pt idx="11">
                  <c:v>120.4648801625664</c:v>
                </c:pt>
                <c:pt idx="12">
                  <c:v>130.15536871543321</c:v>
                </c:pt>
                <c:pt idx="13">
                  <c:v>138.09036322968481</c:v>
                </c:pt>
                <c:pt idx="14">
                  <c:v>145.68370802984759</c:v>
                </c:pt>
                <c:pt idx="15">
                  <c:v>153.29827494266701</c:v>
                </c:pt>
                <c:pt idx="16">
                  <c:v>161.27142586086779</c:v>
                </c:pt>
                <c:pt idx="17">
                  <c:v>169.61078111195519</c:v>
                </c:pt>
                <c:pt idx="18">
                  <c:v>178.44531139707718</c:v>
                </c:pt>
                <c:pt idx="19">
                  <c:v>187.6368192016308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1F2-F74C-81B3-2E15642549C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5"/>
        <c:overlap val="100"/>
        <c:axId val="691674991"/>
        <c:axId val="691314079"/>
      </c:barChart>
      <c:catAx>
        <c:axId val="691674991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50" b="0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r>
                  <a:rPr lang="en-US"/>
                  <a:t>Beginning of Year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50" b="0" i="0" u="none" strike="noStrike" kern="1200" baseline="0">
                  <a:solidFill>
                    <a:schemeClr val="tx1"/>
                  </a:solidFill>
                  <a:latin typeface="Aptos" panose="020B0004020202020204" pitchFamily="34" charset="0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spPr>
          <a:noFill/>
          <a:ln w="12700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691314079"/>
        <c:crosses val="autoZero"/>
        <c:auto val="1"/>
        <c:lblAlgn val="ctr"/>
        <c:lblOffset val="100"/>
        <c:noMultiLvlLbl val="0"/>
      </c:catAx>
      <c:valAx>
        <c:axId val="691314079"/>
        <c:scaling>
          <c:orientation val="minMax"/>
        </c:scaling>
        <c:delete val="0"/>
        <c:axPos val="l"/>
        <c:numFmt formatCode="0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69167499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0.35292832580696154"/>
          <c:y val="6.9908521709180216E-2"/>
          <c:w val="0.35869656457378285"/>
          <c:h val="6.0802720976861853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/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1050" b="0" i="0">
          <a:solidFill>
            <a:schemeClr val="tx1"/>
          </a:solidFill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spPr>
            <a:solidFill>
              <a:schemeClr val="accent1">
                <a:lumMod val="75000"/>
              </a:scheme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50" b="0" i="0" u="none" strike="noStrike" kern="1200" baseline="0">
                    <a:solidFill>
                      <a:schemeClr val="bg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'Commitment Pacing'!$B$39</c:f>
              <c:strCache>
                <c:ptCount val="1"/>
                <c:pt idx="0">
                  <c:v>Commitments 
(% of Liquid NAV)</c:v>
                </c:pt>
              </c:strCache>
            </c:strRef>
          </c:cat>
          <c:val>
            <c:numRef>
              <c:f>'Commitment Pacing'!$B$42</c:f>
              <c:numCache>
                <c:formatCode>0.0%</c:formatCode>
                <c:ptCount val="1"/>
                <c:pt idx="0">
                  <c:v>2.3916625976562501E-2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943-344A-AF34-0732B5A0A746}"/>
            </c:ext>
          </c:extLst>
        </c:ser>
        <c:ser>
          <c:idx val="1"/>
          <c:order val="1"/>
          <c:spPr>
            <a:solidFill>
              <a:schemeClr val="tx2">
                <a:lumMod val="50000"/>
                <a:lumOff val="50000"/>
              </a:scheme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50" b="0" i="0" u="none" strike="noStrike" kern="1200" baseline="0">
                    <a:solidFill>
                      <a:schemeClr val="bg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'Commitment Pacing'!$B$39</c:f>
              <c:strCache>
                <c:ptCount val="1"/>
                <c:pt idx="0">
                  <c:v>Commitments 
(% of Liquid NAV)</c:v>
                </c:pt>
              </c:strCache>
            </c:strRef>
          </c:cat>
          <c:val>
            <c:numRef>
              <c:f>'Commitment Pacing'!$C$42</c:f>
              <c:numCache>
                <c:formatCode>0.0%</c:formatCode>
                <c:ptCount val="1"/>
                <c:pt idx="0">
                  <c:v>9.4177246093750007E-3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943-344A-AF34-0732B5A0A746}"/>
            </c:ext>
          </c:extLst>
        </c:ser>
        <c:ser>
          <c:idx val="2"/>
          <c:order val="2"/>
          <c:spPr>
            <a:solidFill>
              <a:srgbClr val="83CBEB"/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50" b="0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'Commitment Pacing'!$B$39</c:f>
              <c:strCache>
                <c:ptCount val="1"/>
                <c:pt idx="0">
                  <c:v>Commitments 
(% of Liquid NAV)</c:v>
                </c:pt>
              </c:strCache>
            </c:strRef>
          </c:cat>
          <c:val>
            <c:numRef>
              <c:f>'Commitment Pacing'!$D$42</c:f>
              <c:numCache>
                <c:formatCode>0.0%</c:formatCode>
                <c:ptCount val="1"/>
                <c:pt idx="0">
                  <c:v>4.0344238281249997E-3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943-344A-AF34-0732B5A0A746}"/>
            </c:ext>
          </c:extLst>
        </c:ser>
        <c:ser>
          <c:idx val="3"/>
          <c:order val="3"/>
          <c:spPr>
            <a:solidFill>
              <a:srgbClr val="DCEAF7"/>
            </a:solidFill>
            <a:ln w="3175">
              <a:solidFill>
                <a:schemeClr val="tx1">
                  <a:lumMod val="95000"/>
                  <a:lumOff val="5000"/>
                </a:schemeClr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50" b="0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'Commitment Pacing'!$B$39</c:f>
              <c:strCache>
                <c:ptCount val="1"/>
                <c:pt idx="0">
                  <c:v>Commitments 
(% of Liquid NAV)</c:v>
                </c:pt>
              </c:strCache>
            </c:strRef>
          </c:cat>
          <c:val>
            <c:numRef>
              <c:f>'Commitment Pacing'!$E$42</c:f>
              <c:numCache>
                <c:formatCode>0.0%</c:formatCode>
                <c:ptCount val="1"/>
                <c:pt idx="0">
                  <c:v>1.4416503906249999E-2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943-344A-AF34-0732B5A0A7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219126495"/>
        <c:axId val="218233055"/>
      </c:barChart>
      <c:scatterChart>
        <c:scatterStyle val="lineMarker"/>
        <c:varyColors val="0"/>
        <c:ser>
          <c:idx val="4"/>
          <c:order val="4"/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noFill/>
              <a:ln w="9525">
                <a:noFill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50" b="0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yVal>
            <c:numRef>
              <c:f>'Commitment Pacing'!$F$42</c:f>
              <c:numCache>
                <c:formatCode>0.0%</c:formatCode>
                <c:ptCount val="1"/>
                <c:pt idx="0">
                  <c:v>5.1785278320312503E-2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7943-344A-AF34-0732B5A0A7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19126495"/>
        <c:axId val="218233055"/>
      </c:scatterChart>
      <c:catAx>
        <c:axId val="21912649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218233055"/>
        <c:crosses val="autoZero"/>
        <c:auto val="1"/>
        <c:lblAlgn val="ctr"/>
        <c:lblOffset val="100"/>
        <c:noMultiLvlLbl val="0"/>
      </c:catAx>
      <c:valAx>
        <c:axId val="218233055"/>
        <c:scaling>
          <c:orientation val="minMax"/>
        </c:scaling>
        <c:delete val="1"/>
        <c:axPos val="l"/>
        <c:numFmt formatCode="0.0%" sourceLinked="1"/>
        <c:majorTickMark val="none"/>
        <c:minorTickMark val="none"/>
        <c:tickLblPos val="nextTo"/>
        <c:crossAx val="21912649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1050" b="0" i="0">
          <a:solidFill>
            <a:schemeClr val="tx1"/>
          </a:solidFill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4694129269476059E-2"/>
          <c:y val="0.12055157426793257"/>
          <c:w val="0.93445276467390348"/>
          <c:h val="0.71097459300784371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'Commitments Dollars'!$M$3</c:f>
              <c:strCache>
                <c:ptCount val="1"/>
                <c:pt idx="0">
                  <c:v>Buyout</c:v>
                </c:pt>
              </c:strCache>
            </c:strRef>
          </c:tx>
          <c:spPr>
            <a:solidFill>
              <a:schemeClr val="accent1">
                <a:lumMod val="75000"/>
              </a:schemeClr>
            </a:solidFill>
            <a:ln w="3175">
              <a:solidFill>
                <a:schemeClr val="dk1"/>
              </a:solidFill>
            </a:ln>
            <a:effectLst/>
          </c:spPr>
          <c:invertIfNegative val="0"/>
          <c:val>
            <c:numRef>
              <c:f>'Commitments Dollars'!$M$4:$M$23</c:f>
              <c:numCache>
                <c:formatCode>0.0</c:formatCode>
                <c:ptCount val="20"/>
                <c:pt idx="0">
                  <c:v>2.39166259765625</c:v>
                </c:pt>
                <c:pt idx="1">
                  <c:v>2.3626066122390323</c:v>
                </c:pt>
                <c:pt idx="2">
                  <c:v>2.4565441147834512</c:v>
                </c:pt>
                <c:pt idx="3">
                  <c:v>2.5368124400756726</c:v>
                </c:pt>
                <c:pt idx="4">
                  <c:v>2.6145370771691283</c:v>
                </c:pt>
                <c:pt idx="5">
                  <c:v>2.7057977750985813</c:v>
                </c:pt>
                <c:pt idx="6">
                  <c:v>2.8060776707430941</c:v>
                </c:pt>
                <c:pt idx="7">
                  <c:v>2.9117907664140397</c:v>
                </c:pt>
                <c:pt idx="8">
                  <c:v>3.0363134235737825</c:v>
                </c:pt>
                <c:pt idx="9">
                  <c:v>3.1847868940526234</c:v>
                </c:pt>
                <c:pt idx="10">
                  <c:v>3.36492265055732</c:v>
                </c:pt>
                <c:pt idx="11">
                  <c:v>3.5709446012019637</c:v>
                </c:pt>
                <c:pt idx="12">
                  <c:v>3.798056623803356</c:v>
                </c:pt>
                <c:pt idx="13">
                  <c:v>4.0405830913118903</c:v>
                </c:pt>
                <c:pt idx="14">
                  <c:v>4.2989916316932852</c:v>
                </c:pt>
                <c:pt idx="15">
                  <c:v>4.5657609758473194</c:v>
                </c:pt>
                <c:pt idx="16">
                  <c:v>4.8469189126818035</c:v>
                </c:pt>
                <c:pt idx="17">
                  <c:v>5.1428121516265124</c:v>
                </c:pt>
                <c:pt idx="18">
                  <c:v>5.4582609196768361</c:v>
                </c:pt>
                <c:pt idx="19">
                  <c:v>5.7898476649691251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411-B941-AD99-37E675A38F87}"/>
            </c:ext>
          </c:extLst>
        </c:ser>
        <c:ser>
          <c:idx val="1"/>
          <c:order val="1"/>
          <c:tx>
            <c:strRef>
              <c:f>'Commitments Dollars'!$N$3</c:f>
              <c:strCache>
                <c:ptCount val="1"/>
                <c:pt idx="0">
                  <c:v>Growth</c:v>
                </c:pt>
              </c:strCache>
            </c:strRef>
          </c:tx>
          <c:spPr>
            <a:solidFill>
              <a:schemeClr val="tx2">
                <a:lumMod val="50000"/>
                <a:lumOff val="50000"/>
              </a:schemeClr>
            </a:solidFill>
            <a:ln w="3175">
              <a:solidFill>
                <a:schemeClr val="dk1"/>
              </a:solidFill>
            </a:ln>
            <a:effectLst/>
          </c:spPr>
          <c:invertIfNegative val="0"/>
          <c:val>
            <c:numRef>
              <c:f>'Commitments Dollars'!$N$4:$N$23</c:f>
              <c:numCache>
                <c:formatCode>0.0</c:formatCode>
                <c:ptCount val="20"/>
                <c:pt idx="0">
                  <c:v>0.94177246093750011</c:v>
                </c:pt>
                <c:pt idx="1">
                  <c:v>0.93033099468797431</c:v>
                </c:pt>
                <c:pt idx="2">
                  <c:v>0.96732105885182229</c:v>
                </c:pt>
                <c:pt idx="3">
                  <c:v>0.99892856833909993</c:v>
                </c:pt>
                <c:pt idx="4">
                  <c:v>1.0295344417690353</c:v>
                </c:pt>
                <c:pt idx="5">
                  <c:v>1.0654704522080161</c:v>
                </c:pt>
                <c:pt idx="6">
                  <c:v>1.1049579803385463</c:v>
                </c:pt>
                <c:pt idx="7">
                  <c:v>1.1465849566356676</c:v>
                </c:pt>
                <c:pt idx="8">
                  <c:v>1.1956186327866138</c:v>
                </c:pt>
                <c:pt idx="9">
                  <c:v>1.2540834956037255</c:v>
                </c:pt>
                <c:pt idx="10">
                  <c:v>1.3250161158121589</c:v>
                </c:pt>
                <c:pt idx="11">
                  <c:v>1.4061420236454332</c:v>
                </c:pt>
                <c:pt idx="12">
                  <c:v>1.4955726350717311</c:v>
                </c:pt>
                <c:pt idx="13">
                  <c:v>1.591073040677363</c:v>
                </c:pt>
                <c:pt idx="14">
                  <c:v>1.6928273797888833</c:v>
                </c:pt>
                <c:pt idx="15">
                  <c:v>1.7978739787501374</c:v>
                </c:pt>
                <c:pt idx="16">
                  <c:v>1.9085864188510966</c:v>
                </c:pt>
                <c:pt idx="17">
                  <c:v>2.0251012249482478</c:v>
                </c:pt>
                <c:pt idx="18">
                  <c:v>2.1493164729006913</c:v>
                </c:pt>
                <c:pt idx="19">
                  <c:v>2.2798864226227789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411-B941-AD99-37E675A38F87}"/>
            </c:ext>
          </c:extLst>
        </c:ser>
        <c:ser>
          <c:idx val="2"/>
          <c:order val="2"/>
          <c:tx>
            <c:strRef>
              <c:f>'Commitments Dollars'!$O$3</c:f>
              <c:strCache>
                <c:ptCount val="1"/>
                <c:pt idx="0">
                  <c:v>Venture</c:v>
                </c:pt>
              </c:strCache>
            </c:strRef>
          </c:tx>
          <c:spPr>
            <a:solidFill>
              <a:srgbClr val="83CBEB"/>
            </a:solidFill>
            <a:ln w="3175">
              <a:solidFill>
                <a:schemeClr val="dk1"/>
              </a:solidFill>
            </a:ln>
            <a:effectLst/>
          </c:spPr>
          <c:invertIfNegative val="0"/>
          <c:val>
            <c:numRef>
              <c:f>'Commitments Dollars'!$O$4:$O$23</c:f>
              <c:numCache>
                <c:formatCode>0.0</c:formatCode>
                <c:ptCount val="20"/>
                <c:pt idx="0">
                  <c:v>0.40344238281249994</c:v>
                </c:pt>
                <c:pt idx="1">
                  <c:v>0.39854101587086904</c:v>
                </c:pt>
                <c:pt idx="2">
                  <c:v>0.41438705113483759</c:v>
                </c:pt>
                <c:pt idx="3">
                  <c:v>0.42792727392880425</c:v>
                </c:pt>
                <c:pt idx="4">
                  <c:v>0.44103840959775259</c:v>
                </c:pt>
                <c:pt idx="5">
                  <c:v>0.45643290272812603</c:v>
                </c:pt>
                <c:pt idx="6">
                  <c:v>0.47334881724159367</c:v>
                </c:pt>
                <c:pt idx="7">
                  <c:v>0.49118124195474799</c:v>
                </c:pt>
                <c:pt idx="8">
                  <c:v>0.51218659512116116</c:v>
                </c:pt>
                <c:pt idx="9">
                  <c:v>0.53723213907586675</c:v>
                </c:pt>
                <c:pt idx="10">
                  <c:v>0.56761869899665385</c:v>
                </c:pt>
                <c:pt idx="11">
                  <c:v>0.60237192328556788</c:v>
                </c:pt>
                <c:pt idx="12">
                  <c:v>0.64068276849151917</c:v>
                </c:pt>
                <c:pt idx="13">
                  <c:v>0.68159383012815089</c:v>
                </c:pt>
                <c:pt idx="14">
                  <c:v>0.72518399095298225</c:v>
                </c:pt>
                <c:pt idx="15">
                  <c:v>0.77018451066353899</c:v>
                </c:pt>
                <c:pt idx="16">
                  <c:v>0.81761219887269909</c:v>
                </c:pt>
                <c:pt idx="17">
                  <c:v>0.86752554095320256</c:v>
                </c:pt>
                <c:pt idx="18">
                  <c:v>0.92073764652453449</c:v>
                </c:pt>
                <c:pt idx="19">
                  <c:v>0.97667201902375678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411-B941-AD99-37E675A38F87}"/>
            </c:ext>
          </c:extLst>
        </c:ser>
        <c:ser>
          <c:idx val="3"/>
          <c:order val="3"/>
          <c:tx>
            <c:strRef>
              <c:f>'Commitments Dollars'!$P$3</c:f>
              <c:strCache>
                <c:ptCount val="1"/>
                <c:pt idx="0">
                  <c:v>Private Credit</c:v>
                </c:pt>
              </c:strCache>
            </c:strRef>
          </c:tx>
          <c:spPr>
            <a:solidFill>
              <a:srgbClr val="DCEAF7"/>
            </a:solidFill>
            <a:ln w="3175">
              <a:solidFill>
                <a:schemeClr val="dk1"/>
              </a:solidFill>
            </a:ln>
            <a:effectLst/>
          </c:spPr>
          <c:invertIfNegative val="0"/>
          <c:val>
            <c:numRef>
              <c:f>'Commitments Dollars'!$P$4:$P$23</c:f>
              <c:numCache>
                <c:formatCode>0.0</c:formatCode>
                <c:ptCount val="20"/>
                <c:pt idx="0">
                  <c:v>1.441650390625</c:v>
                </c:pt>
                <c:pt idx="1">
                  <c:v>1.4241359750181433</c:v>
                </c:pt>
                <c:pt idx="2">
                  <c:v>1.4807597803033079</c:v>
                </c:pt>
                <c:pt idx="3">
                  <c:v>1.5291440560058027</c:v>
                </c:pt>
                <c:pt idx="4">
                  <c:v>1.5759950430709404</c:v>
                </c:pt>
                <c:pt idx="5">
                  <c:v>1.6310053195821994</c:v>
                </c:pt>
                <c:pt idx="6">
                  <c:v>1.691452203214288</c:v>
                </c:pt>
                <c:pt idx="7">
                  <c:v>1.7551741202679498</c:v>
                </c:pt>
                <c:pt idx="8">
                  <c:v>1.8302340963331052</c:v>
                </c:pt>
                <c:pt idx="9">
                  <c:v>1.9197311838081654</c:v>
                </c:pt>
                <c:pt idx="10">
                  <c:v>2.0283137171408416</c:v>
                </c:pt>
                <c:pt idx="11">
                  <c:v>2.1524999739795936</c:v>
                </c:pt>
                <c:pt idx="12">
                  <c:v>2.2893989397533558</c:v>
                </c:pt>
                <c:pt idx="13">
                  <c:v>2.4355894504730595</c:v>
                </c:pt>
                <c:pt idx="14">
                  <c:v>2.5913533837079337</c:v>
                </c:pt>
                <c:pt idx="15">
                  <c:v>2.7521570562591213</c:v>
                </c:pt>
                <c:pt idx="16">
                  <c:v>2.921633908831037</c:v>
                </c:pt>
                <c:pt idx="17">
                  <c:v>3.0999929315150752</c:v>
                </c:pt>
                <c:pt idx="18">
                  <c:v>3.290139668821408</c:v>
                </c:pt>
                <c:pt idx="19">
                  <c:v>3.4900140831075848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411-B941-AD99-37E675A38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44479199"/>
        <c:axId val="943945727"/>
      </c:barChart>
      <c:scatterChart>
        <c:scatterStyle val="lineMarker"/>
        <c:varyColors val="0"/>
        <c:ser>
          <c:idx val="4"/>
          <c:order val="4"/>
          <c:tx>
            <c:strRef>
              <c:f>'Commitments Dollars'!$Q$3</c:f>
              <c:strCache>
                <c:ptCount val="1"/>
                <c:pt idx="0">
                  <c:v>Total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noFill/>
              <a:ln w="9525">
                <a:noFill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yVal>
            <c:numRef>
              <c:f>'Commitments Dollars'!$Q$4:$Q$23</c:f>
              <c:numCache>
                <c:formatCode>0.0</c:formatCode>
                <c:ptCount val="20"/>
                <c:pt idx="0">
                  <c:v>5.17852783203125</c:v>
                </c:pt>
                <c:pt idx="1">
                  <c:v>5.1156145978160188</c:v>
                </c:pt>
                <c:pt idx="2">
                  <c:v>5.3190120050734189</c:v>
                </c:pt>
                <c:pt idx="3">
                  <c:v>5.4928123383493794</c:v>
                </c:pt>
                <c:pt idx="4">
                  <c:v>5.6611049716068562</c:v>
                </c:pt>
                <c:pt idx="5">
                  <c:v>5.858706449616923</c:v>
                </c:pt>
                <c:pt idx="6">
                  <c:v>6.0758366715375223</c:v>
                </c:pt>
                <c:pt idx="7">
                  <c:v>6.3047310852724054</c:v>
                </c:pt>
                <c:pt idx="8">
                  <c:v>6.5743527478146628</c:v>
                </c:pt>
                <c:pt idx="9">
                  <c:v>6.895833712540381</c:v>
                </c:pt>
                <c:pt idx="10">
                  <c:v>7.2858711825069751</c:v>
                </c:pt>
                <c:pt idx="11">
                  <c:v>7.7319585221125591</c:v>
                </c:pt>
                <c:pt idx="12">
                  <c:v>8.2237109671199615</c:v>
                </c:pt>
                <c:pt idx="13">
                  <c:v>8.7488394125904652</c:v>
                </c:pt>
                <c:pt idx="14">
                  <c:v>9.3083563861430854</c:v>
                </c:pt>
                <c:pt idx="15">
                  <c:v>9.8859765215201172</c:v>
                </c:pt>
                <c:pt idx="16">
                  <c:v>10.494751439236635</c:v>
                </c:pt>
                <c:pt idx="17">
                  <c:v>11.135431849043039</c:v>
                </c:pt>
                <c:pt idx="18">
                  <c:v>11.81845470792347</c:v>
                </c:pt>
                <c:pt idx="19">
                  <c:v>12.536420189723247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7411-B941-AD99-37E675A38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944479199"/>
        <c:axId val="943945727"/>
      </c:scatterChart>
      <c:catAx>
        <c:axId val="944479199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r>
                  <a:rPr lang="en-GB"/>
                  <a:t>Beginning of Year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Aptos" panose="020B0004020202020204" pitchFamily="34" charset="0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spPr>
          <a:noFill/>
          <a:ln w="12700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43945727"/>
        <c:crosses val="autoZero"/>
        <c:auto val="1"/>
        <c:lblAlgn val="ctr"/>
        <c:lblOffset val="100"/>
        <c:noMultiLvlLbl val="0"/>
      </c:catAx>
      <c:valAx>
        <c:axId val="943945727"/>
        <c:scaling>
          <c:orientation val="minMax"/>
          <c:max val="16"/>
        </c:scaling>
        <c:delete val="0"/>
        <c:axPos val="l"/>
        <c:numFmt formatCode="0.0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44479199"/>
        <c:crosses val="autoZero"/>
        <c:crossBetween val="between"/>
        <c:majorUnit val="4"/>
      </c:valAx>
      <c:spPr>
        <a:noFill/>
        <a:ln w="9525">
          <a:noFill/>
        </a:ln>
        <a:effectLst/>
      </c:spPr>
    </c:plotArea>
    <c:legend>
      <c:legendPos val="t"/>
      <c:legendEntry>
        <c:idx val="4"/>
        <c:delete val="1"/>
      </c:legendEntry>
      <c:layout>
        <c:manualLayout>
          <c:xMode val="edge"/>
          <c:yMode val="edge"/>
          <c:x val="0.30059511202729938"/>
          <c:y val="0"/>
          <c:w val="0.38981886077527539"/>
          <c:h val="6.3254747408538273E-2"/>
        </c:manualLayout>
      </c:layout>
      <c:overlay val="0"/>
      <c:spPr>
        <a:noFill/>
        <a:ln w="3175">
          <a:solidFill>
            <a:schemeClr val="bg1">
              <a:lumMod val="65000"/>
            </a:schemeClr>
          </a:solidFill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/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 w="9525" cap="flat" cmpd="sng" algn="ctr">
      <a:noFill/>
      <a:round/>
    </a:ln>
    <a:effectLst/>
  </c:spPr>
  <c:txPr>
    <a:bodyPr/>
    <a:lstStyle/>
    <a:p>
      <a:pPr>
        <a:defRPr b="0" i="0">
          <a:solidFill>
            <a:schemeClr val="tx1"/>
          </a:solidFill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4694129269476059E-2"/>
          <c:y val="0.11553693878657749"/>
          <c:w val="0.93445276467390348"/>
          <c:h val="0.71598941674653527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'Commitment Pacing'!$E$2</c:f>
              <c:strCache>
                <c:ptCount val="1"/>
                <c:pt idx="0">
                  <c:v>Buyout</c:v>
                </c:pt>
              </c:strCache>
            </c:strRef>
          </c:tx>
          <c:spPr>
            <a:solidFill>
              <a:schemeClr val="accent1">
                <a:lumMod val="75000"/>
              </a:schemeClr>
            </a:solidFill>
            <a:ln w="3175">
              <a:solidFill>
                <a:schemeClr val="dk1"/>
              </a:solidFill>
            </a:ln>
            <a:effectLst/>
          </c:spPr>
          <c:invertIfNegative val="0"/>
          <c:val>
            <c:numRef>
              <c:f>'Commitment Pacing'!$E$3:$E$22</c:f>
              <c:numCache>
                <c:formatCode>0%</c:formatCode>
                <c:ptCount val="20"/>
                <c:pt idx="0">
                  <c:v>0</c:v>
                </c:pt>
                <c:pt idx="1">
                  <c:v>4.3049926757812501E-3</c:v>
                </c:pt>
                <c:pt idx="2">
                  <c:v>1.27635315965615E-2</c:v>
                </c:pt>
                <c:pt idx="3">
                  <c:v>2.5118272555327899E-2</c:v>
                </c:pt>
                <c:pt idx="4">
                  <c:v>3.9429033788606203E-2</c:v>
                </c:pt>
                <c:pt idx="5">
                  <c:v>5.4643202209278603E-2</c:v>
                </c:pt>
                <c:pt idx="6">
                  <c:v>6.9787557775812803E-2</c:v>
                </c:pt>
                <c:pt idx="7">
                  <c:v>8.3568329092247096E-2</c:v>
                </c:pt>
                <c:pt idx="8">
                  <c:v>9.4288124395023806E-2</c:v>
                </c:pt>
                <c:pt idx="9">
                  <c:v>0.10099250292793201</c:v>
                </c:pt>
                <c:pt idx="10">
                  <c:v>0.103731308282246</c:v>
                </c:pt>
                <c:pt idx="11">
                  <c:v>0.10387299553014299</c:v>
                </c:pt>
                <c:pt idx="12">
                  <c:v>0.102916225442211</c:v>
                </c:pt>
                <c:pt idx="13">
                  <c:v>0.10184368959354299</c:v>
                </c:pt>
                <c:pt idx="14">
                  <c:v>0.100951466913132</c:v>
                </c:pt>
                <c:pt idx="15">
                  <c:v>0.100433658178836</c:v>
                </c:pt>
                <c:pt idx="16">
                  <c:v>0.10015861750112399</c:v>
                </c:pt>
                <c:pt idx="17">
                  <c:v>0.100081950296793</c:v>
                </c:pt>
                <c:pt idx="18">
                  <c:v>0.10008658070937</c:v>
                </c:pt>
                <c:pt idx="19">
                  <c:v>0.100183879956384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7E-A24A-95D7-75D1E9676C39}"/>
            </c:ext>
          </c:extLst>
        </c:ser>
        <c:ser>
          <c:idx val="1"/>
          <c:order val="1"/>
          <c:tx>
            <c:strRef>
              <c:f>'Commitment Pacing'!$F$2</c:f>
              <c:strCache>
                <c:ptCount val="1"/>
                <c:pt idx="0">
                  <c:v>Growth</c:v>
                </c:pt>
              </c:strCache>
            </c:strRef>
          </c:tx>
          <c:spPr>
            <a:solidFill>
              <a:schemeClr val="tx2">
                <a:lumMod val="50000"/>
                <a:lumOff val="50000"/>
              </a:schemeClr>
            </a:solidFill>
            <a:ln w="3175">
              <a:solidFill>
                <a:schemeClr val="dk1"/>
              </a:solidFill>
            </a:ln>
            <a:effectLst/>
          </c:spPr>
          <c:invertIfNegative val="0"/>
          <c:val>
            <c:numRef>
              <c:f>'Commitment Pacing'!$F$3:$F$22</c:f>
              <c:numCache>
                <c:formatCode>0%</c:formatCode>
                <c:ptCount val="20"/>
                <c:pt idx="0">
                  <c:v>0</c:v>
                </c:pt>
                <c:pt idx="1">
                  <c:v>2.0718994140624999E-3</c:v>
                </c:pt>
                <c:pt idx="2">
                  <c:v>6.1384275567630802E-3</c:v>
                </c:pt>
                <c:pt idx="3">
                  <c:v>1.1281020647672099E-2</c:v>
                </c:pt>
                <c:pt idx="4">
                  <c:v>1.7111430210244302E-2</c:v>
                </c:pt>
                <c:pt idx="5">
                  <c:v>2.3203497825282599E-2</c:v>
                </c:pt>
                <c:pt idx="6">
                  <c:v>2.9146262614719198E-2</c:v>
                </c:pt>
                <c:pt idx="7">
                  <c:v>3.4394447245414898E-2</c:v>
                </c:pt>
                <c:pt idx="8">
                  <c:v>3.82914445501078E-2</c:v>
                </c:pt>
                <c:pt idx="9">
                  <c:v>4.0554775947362898E-2</c:v>
                </c:pt>
                <c:pt idx="10">
                  <c:v>4.13312788473435E-2</c:v>
                </c:pt>
                <c:pt idx="11">
                  <c:v>4.1232320493287698E-2</c:v>
                </c:pt>
                <c:pt idx="12">
                  <c:v>4.0817800400894999E-2</c:v>
                </c:pt>
                <c:pt idx="13">
                  <c:v>4.04076382949239E-2</c:v>
                </c:pt>
                <c:pt idx="14">
                  <c:v>4.0080201390122597E-2</c:v>
                </c:pt>
                <c:pt idx="15">
                  <c:v>3.98998069222622E-2</c:v>
                </c:pt>
                <c:pt idx="16">
                  <c:v>3.9810732390073003E-2</c:v>
                </c:pt>
                <c:pt idx="17">
                  <c:v>3.97942692988872E-2</c:v>
                </c:pt>
                <c:pt idx="18">
                  <c:v>3.9803557340592099E-2</c:v>
                </c:pt>
                <c:pt idx="19">
                  <c:v>3.9844751689357701E-2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7E-A24A-95D7-75D1E9676C39}"/>
            </c:ext>
          </c:extLst>
        </c:ser>
        <c:ser>
          <c:idx val="2"/>
          <c:order val="2"/>
          <c:tx>
            <c:strRef>
              <c:f>'Commitment Pacing'!$G$2</c:f>
              <c:strCache>
                <c:ptCount val="1"/>
                <c:pt idx="0">
                  <c:v>Venture</c:v>
                </c:pt>
              </c:strCache>
            </c:strRef>
          </c:tx>
          <c:spPr>
            <a:solidFill>
              <a:srgbClr val="83CBEB"/>
            </a:solidFill>
            <a:ln w="3175">
              <a:solidFill>
                <a:schemeClr val="dk1"/>
              </a:solidFill>
            </a:ln>
            <a:effectLst/>
          </c:spPr>
          <c:invertIfNegative val="0"/>
          <c:val>
            <c:numRef>
              <c:f>'Commitment Pacing'!$G$3:$G$22</c:f>
              <c:numCache>
                <c:formatCode>0%</c:formatCode>
                <c:ptCount val="20"/>
                <c:pt idx="0">
                  <c:v>0</c:v>
                </c:pt>
                <c:pt idx="1">
                  <c:v>7.2619628906249998E-4</c:v>
                </c:pt>
                <c:pt idx="2">
                  <c:v>2.1464420676018999E-3</c:v>
                </c:pt>
                <c:pt idx="3">
                  <c:v>3.9898208573999399E-3</c:v>
                </c:pt>
                <c:pt idx="4">
                  <c:v>6.1404199332067101E-3</c:v>
                </c:pt>
                <c:pt idx="5">
                  <c:v>8.4990701503727794E-3</c:v>
                </c:pt>
                <c:pt idx="6">
                  <c:v>1.1005915911992801E-2</c:v>
                </c:pt>
                <c:pt idx="7">
                  <c:v>1.3564790273611E-2</c:v>
                </c:pt>
                <c:pt idx="8">
                  <c:v>1.5983266850949401E-2</c:v>
                </c:pt>
                <c:pt idx="9">
                  <c:v>1.80507812688263E-2</c:v>
                </c:pt>
                <c:pt idx="10">
                  <c:v>1.95292629225578E-2</c:v>
                </c:pt>
                <c:pt idx="11">
                  <c:v>2.03371524351393E-2</c:v>
                </c:pt>
                <c:pt idx="12">
                  <c:v>2.0568694198476199E-2</c:v>
                </c:pt>
                <c:pt idx="13">
                  <c:v>2.0476519838268301E-2</c:v>
                </c:pt>
                <c:pt idx="14">
                  <c:v>2.0283081093618101E-2</c:v>
                </c:pt>
                <c:pt idx="15">
                  <c:v>2.0129031939056598E-2</c:v>
                </c:pt>
                <c:pt idx="16">
                  <c:v>2.0020134529521501E-2</c:v>
                </c:pt>
                <c:pt idx="17">
                  <c:v>1.9957799952439698E-2</c:v>
                </c:pt>
                <c:pt idx="18">
                  <c:v>1.9924135005412201E-2</c:v>
                </c:pt>
                <c:pt idx="19">
                  <c:v>1.9923417814953E-2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27E-A24A-95D7-75D1E9676C39}"/>
            </c:ext>
          </c:extLst>
        </c:ser>
        <c:ser>
          <c:idx val="3"/>
          <c:order val="3"/>
          <c:tx>
            <c:strRef>
              <c:f>'Commitment Pacing'!$H$2</c:f>
              <c:strCache>
                <c:ptCount val="1"/>
                <c:pt idx="0">
                  <c:v>Private Credit</c:v>
                </c:pt>
              </c:strCache>
            </c:strRef>
          </c:tx>
          <c:spPr>
            <a:solidFill>
              <a:srgbClr val="DCEAF7"/>
            </a:solidFill>
            <a:ln w="3175">
              <a:solidFill>
                <a:schemeClr val="dk1"/>
              </a:solidFill>
            </a:ln>
            <a:effectLst/>
          </c:spPr>
          <c:invertIfNegative val="0"/>
          <c:val>
            <c:numRef>
              <c:f>'Commitment Pacing'!$H$3:$H$22</c:f>
              <c:numCache>
                <c:formatCode>0%</c:formatCode>
                <c:ptCount val="20"/>
                <c:pt idx="0">
                  <c:v>0</c:v>
                </c:pt>
                <c:pt idx="1">
                  <c:v>5.0457763671875001E-3</c:v>
                </c:pt>
                <c:pt idx="2">
                  <c:v>1.47525583768379E-2</c:v>
                </c:pt>
                <c:pt idx="3">
                  <c:v>2.5152535704737501E-2</c:v>
                </c:pt>
                <c:pt idx="4">
                  <c:v>3.4748724515775403E-2</c:v>
                </c:pt>
                <c:pt idx="5">
                  <c:v>4.1089861994061401E-2</c:v>
                </c:pt>
                <c:pt idx="6">
                  <c:v>4.3370063308431198E-2</c:v>
                </c:pt>
                <c:pt idx="7">
                  <c:v>4.3042275511236398E-2</c:v>
                </c:pt>
                <c:pt idx="8">
                  <c:v>4.2083943310568403E-2</c:v>
                </c:pt>
                <c:pt idx="9">
                  <c:v>4.1226071281250602E-2</c:v>
                </c:pt>
                <c:pt idx="10">
                  <c:v>4.0513199868804098E-2</c:v>
                </c:pt>
                <c:pt idx="11">
                  <c:v>4.0002403292654698E-2</c:v>
                </c:pt>
                <c:pt idx="12">
                  <c:v>3.9681848118714898E-2</c:v>
                </c:pt>
                <c:pt idx="13">
                  <c:v>3.9531601735941703E-2</c:v>
                </c:pt>
                <c:pt idx="14">
                  <c:v>3.9485441568345402E-2</c:v>
                </c:pt>
                <c:pt idx="15">
                  <c:v>3.9541370026768101E-2</c:v>
                </c:pt>
                <c:pt idx="16">
                  <c:v>3.9612455081437903E-2</c:v>
                </c:pt>
                <c:pt idx="17">
                  <c:v>3.9678021743098001E-2</c:v>
                </c:pt>
                <c:pt idx="18">
                  <c:v>3.9708480104330597E-2</c:v>
                </c:pt>
                <c:pt idx="19">
                  <c:v>3.9734384646142401E-2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027E-A24A-95D7-75D1E9676C3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44479199"/>
        <c:axId val="943945727"/>
      </c:barChart>
      <c:lineChart>
        <c:grouping val="standard"/>
        <c:varyColors val="0"/>
        <c:ser>
          <c:idx val="4"/>
          <c:order val="4"/>
          <c:tx>
            <c:strRef>
              <c:f>'Commitment Pacing'!$I$2</c:f>
              <c:strCache>
                <c:ptCount val="1"/>
                <c:pt idx="0">
                  <c:v>Target Weight</c:v>
                </c:pt>
              </c:strCache>
            </c:strRef>
          </c:tx>
          <c:spPr>
            <a:ln w="12700" cap="rnd">
              <a:solidFill>
                <a:srgbClr val="C00000"/>
              </a:solidFill>
              <a:prstDash val="sysDot"/>
              <a:round/>
            </a:ln>
            <a:effectLst/>
          </c:spPr>
          <c:marker>
            <c:symbol val="none"/>
          </c:marker>
          <c:val>
            <c:numRef>
              <c:f>'Commitment Pacing'!$I$3:$I$22</c:f>
              <c:numCache>
                <c:formatCode>0%</c:formatCode>
                <c:ptCount val="20"/>
                <c:pt idx="0">
                  <c:v>0.2</c:v>
                </c:pt>
                <c:pt idx="1">
                  <c:v>0.2</c:v>
                </c:pt>
                <c:pt idx="2">
                  <c:v>0.2</c:v>
                </c:pt>
                <c:pt idx="3">
                  <c:v>0.2</c:v>
                </c:pt>
                <c:pt idx="4">
                  <c:v>0.2</c:v>
                </c:pt>
                <c:pt idx="5">
                  <c:v>0.2</c:v>
                </c:pt>
                <c:pt idx="6">
                  <c:v>0.2</c:v>
                </c:pt>
                <c:pt idx="7">
                  <c:v>0.2</c:v>
                </c:pt>
                <c:pt idx="8">
                  <c:v>0.2</c:v>
                </c:pt>
                <c:pt idx="9">
                  <c:v>0.2</c:v>
                </c:pt>
                <c:pt idx="10">
                  <c:v>0.2</c:v>
                </c:pt>
                <c:pt idx="11">
                  <c:v>0.2</c:v>
                </c:pt>
                <c:pt idx="12">
                  <c:v>0.2</c:v>
                </c:pt>
                <c:pt idx="13">
                  <c:v>0.2</c:v>
                </c:pt>
                <c:pt idx="14">
                  <c:v>0.2</c:v>
                </c:pt>
                <c:pt idx="15">
                  <c:v>0.2</c:v>
                </c:pt>
                <c:pt idx="16">
                  <c:v>0.2</c:v>
                </c:pt>
                <c:pt idx="17">
                  <c:v>0.2</c:v>
                </c:pt>
                <c:pt idx="18">
                  <c:v>0.2</c:v>
                </c:pt>
                <c:pt idx="19">
                  <c:v>0.2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027E-A24A-95D7-75D1E9676C3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944479199"/>
        <c:axId val="943945727"/>
      </c:lineChart>
      <c:catAx>
        <c:axId val="944479199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100" b="0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r>
                  <a:rPr lang="en-GB"/>
                  <a:t>Beginning of Year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100" b="0" i="0" u="none" strike="noStrike" kern="1200" baseline="0">
                  <a:solidFill>
                    <a:schemeClr val="tx1"/>
                  </a:solidFill>
                  <a:latin typeface="Aptos" panose="020B0004020202020204" pitchFamily="34" charset="0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spPr>
          <a:noFill/>
          <a:ln w="12700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943945727"/>
        <c:crosses val="autoZero"/>
        <c:auto val="1"/>
        <c:lblAlgn val="ctr"/>
        <c:lblOffset val="100"/>
        <c:noMultiLvlLbl val="0"/>
      </c:catAx>
      <c:valAx>
        <c:axId val="943945727"/>
        <c:scaling>
          <c:orientation val="minMax"/>
        </c:scaling>
        <c:delete val="0"/>
        <c:axPos val="l"/>
        <c:numFmt formatCode="0%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944479199"/>
        <c:crosses val="autoZero"/>
        <c:crossBetween val="between"/>
      </c:valAx>
      <c:spPr>
        <a:noFill/>
        <a:ln w="3175">
          <a:noFill/>
        </a:ln>
        <a:effectLst/>
      </c:spPr>
    </c:plotArea>
    <c:legend>
      <c:legendPos val="t"/>
      <c:legendEntry>
        <c:idx val="4"/>
        <c:delete val="1"/>
      </c:legendEntry>
      <c:overlay val="0"/>
      <c:spPr>
        <a:noFill/>
        <a:ln w="3175">
          <a:solidFill>
            <a:schemeClr val="bg1">
              <a:lumMod val="65000"/>
            </a:schemeClr>
          </a:solidFill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chemeClr val="tx1"/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1100" b="0" i="0">
          <a:solidFill>
            <a:schemeClr val="tx1"/>
          </a:solidFill>
          <a:latin typeface="Aptos" panose="020B0004020202020204" pitchFamily="34" charset="0"/>
        </a:defRPr>
      </a:pPr>
      <a:endParaRPr lang="en-US"/>
    </a:p>
  </c:txPr>
  <c:externalData r:id="rId3">
    <c:autoUpdate val="0"/>
  </c:externalData>
  <c:userShapes r:id="rId4"/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0.58907</cdr:x>
      <cdr:y>0.14928</cdr:y>
    </cdr:from>
    <cdr:to>
      <cdr:x>0.76012</cdr:x>
      <cdr:y>0.23107</cdr:y>
    </cdr:to>
    <cdr:sp macro="" textlink="">
      <cdr:nvSpPr>
        <cdr:cNvPr id="3" name="TextBox 13">
          <a:extLst xmlns:a="http://schemas.openxmlformats.org/drawingml/2006/main">
            <a:ext uri="{FF2B5EF4-FFF2-40B4-BE49-F238E27FC236}">
              <a16:creationId xmlns:a16="http://schemas.microsoft.com/office/drawing/2014/main" id="{FC649FF1-B1BB-2CE5-B111-24E938081D9D}"/>
            </a:ext>
          </a:extLst>
        </cdr:cNvPr>
        <cdr:cNvSpPr txBox="1"/>
      </cdr:nvSpPr>
      <cdr:spPr>
        <a:xfrm xmlns:a="http://schemas.openxmlformats.org/drawingml/2006/main">
          <a:off x="4062447" y="617895"/>
          <a:ext cx="1179646" cy="33855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  <a:ln xmlns:a="http://schemas.openxmlformats.org/drawingml/2006/main" w="6350">
          <a:solidFill>
            <a:schemeClr val="bg1">
              <a:lumMod val="50000"/>
            </a:schemeClr>
          </a:solidFill>
        </a:ln>
      </cdr:spPr>
      <cdr:txBody>
        <a:bodyPr xmlns:a="http://schemas.openxmlformats.org/drawingml/2006/main" wrap="square" rtlCol="0">
          <a:spAutoFit/>
        </a:bodyPr>
        <a:lstStyle xmlns:a="http://schemas.openxmlformats.org/drawingml/2006/main">
          <a:defPPr>
            <a:defRPr lang="en-US"/>
          </a:defPPr>
          <a:lvl1pPr marL="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r>
            <a:rPr lang="en-US" sz="800" dirty="0">
              <a:latin typeface="Aptos" panose="020B0004020202020204" pitchFamily="34" charset="0"/>
            </a:rPr>
            <a:t>Long-Term Target Portfolio</a:t>
          </a:r>
        </a:p>
      </cdr:txBody>
    </cdr:sp>
  </cdr:relSizeAnchor>
</c:userShapes>
</file>

<file path=ppt/drawings/drawing2.xml><?xml version="1.0" encoding="utf-8"?>
<c:userShapes xmlns:c="http://schemas.openxmlformats.org/drawingml/2006/chart">
  <cdr:relSizeAnchor xmlns:cdr="http://schemas.openxmlformats.org/drawingml/2006/chartDrawing">
    <cdr:from>
      <cdr:x>0.07206</cdr:x>
      <cdr:y>0.3036</cdr:y>
    </cdr:from>
    <cdr:to>
      <cdr:x>0.42596</cdr:x>
      <cdr:y>0.3036</cdr:y>
    </cdr:to>
    <cdr:cxnSp macro="">
      <cdr:nvCxnSpPr>
        <cdr:cNvPr id="4" name="Straight Arrow Connector 3">
          <a:extLst xmlns:a="http://schemas.openxmlformats.org/drawingml/2006/main">
            <a:ext uri="{FF2B5EF4-FFF2-40B4-BE49-F238E27FC236}">
              <a16:creationId xmlns:a16="http://schemas.microsoft.com/office/drawing/2014/main" id="{D0CDDE63-DD40-4F00-2ACE-CD2BC499947D}"/>
            </a:ext>
          </a:extLst>
        </cdr:cNvPr>
        <cdr:cNvCxnSpPr/>
      </cdr:nvCxnSpPr>
      <cdr:spPr>
        <a:xfrm xmlns:a="http://schemas.openxmlformats.org/drawingml/2006/main">
          <a:off x="603483" y="1114090"/>
          <a:ext cx="2963918" cy="0"/>
        </a:xfrm>
        <a:prstGeom xmlns:a="http://schemas.openxmlformats.org/drawingml/2006/main" prst="straightConnector1">
          <a:avLst/>
        </a:prstGeom>
        <a:ln xmlns:a="http://schemas.openxmlformats.org/drawingml/2006/main">
          <a:solidFill>
            <a:srgbClr val="C00000"/>
          </a:solidFill>
          <a:headEnd type="triangle"/>
          <a:tailEnd type="triangle"/>
        </a:ln>
      </cdr:spPr>
      <cdr:style>
        <a:lnRef xmlns:a="http://schemas.openxmlformats.org/drawingml/2006/main" idx="1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tx1"/>
        </a:fontRef>
      </cdr:style>
    </cdr:cxnSp>
  </cdr:relSizeAnchor>
  <cdr:relSizeAnchor xmlns:cdr="http://schemas.openxmlformats.org/drawingml/2006/chartDrawing">
    <cdr:from>
      <cdr:x>0.10733</cdr:x>
      <cdr:y>0.28089</cdr:y>
    </cdr:from>
    <cdr:to>
      <cdr:x>0.30284</cdr:x>
      <cdr:y>0.43815</cdr:y>
    </cdr:to>
    <cdr:sp macro="" textlink="">
      <cdr:nvSpPr>
        <cdr:cNvPr id="2" name="TextBox 5">
          <a:extLst xmlns:a="http://schemas.openxmlformats.org/drawingml/2006/main">
            <a:ext uri="{FF2B5EF4-FFF2-40B4-BE49-F238E27FC236}">
              <a16:creationId xmlns:a16="http://schemas.microsoft.com/office/drawing/2014/main" id="{7A866E57-8AA2-9618-F690-24595E0740B9}"/>
            </a:ext>
          </a:extLst>
        </cdr:cNvPr>
        <cdr:cNvSpPr txBox="1"/>
      </cdr:nvSpPr>
      <cdr:spPr>
        <a:xfrm xmlns:a="http://schemas.openxmlformats.org/drawingml/2006/main">
          <a:off x="898872" y="1030757"/>
          <a:ext cx="1637414" cy="577081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  <a:ln xmlns:a="http://schemas.openxmlformats.org/drawingml/2006/main">
          <a:solidFill>
            <a:srgbClr val="C00000"/>
          </a:solidFill>
        </a:ln>
      </cdr:spPr>
      <cdr:txBody>
        <a:bodyPr xmlns:a="http://schemas.openxmlformats.org/drawingml/2006/main" wrap="square" rtlCol="0">
          <a:spAutoFit/>
        </a:bodyPr>
        <a:lstStyle xmlns:a="http://schemas.openxmlformats.org/drawingml/2006/main">
          <a:defPPr>
            <a:defRPr lang="en-US"/>
          </a:defPPr>
          <a:lvl1pPr marL="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r>
            <a:rPr lang="en-GB" sz="1050" dirty="0">
              <a:solidFill>
                <a:srgbClr val="C00000"/>
              </a:solidFill>
              <a:latin typeface="Aptos" panose="020B0004020202020204" pitchFamily="34" charset="0"/>
            </a:rPr>
            <a:t>Potential drag on portfolio performance in early years</a:t>
          </a:r>
          <a:endParaRPr lang="en-US" sz="1050" dirty="0">
            <a:solidFill>
              <a:srgbClr val="C00000"/>
            </a:solidFill>
            <a:latin typeface="Aptos" panose="020B0004020202020204" pitchFamily="34" charset="0"/>
          </a:endParaRPr>
        </a:p>
      </cdr:txBody>
    </cdr:sp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1FBADA-4773-404F-874F-B3857A68950B}" type="datetimeFigureOut">
              <a:rPr lang="en-US" smtClean="0"/>
              <a:t>7/5/25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130C15-E458-4B43-AE0F-5F07CFCA48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5240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130C15-E458-4B43-AE0F-5F07CFCA48D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87936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130C15-E458-4B43-AE0F-5F07CFCA48D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755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9B213-3102-C349-9554-E434846F78E6}" type="datetime1">
              <a:rPr lang="en-GB" smtClean="0"/>
              <a:t>05/07/2025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8469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61742-974A-4443-8BE3-693B2B3ED8AD}" type="datetime1">
              <a:rPr lang="en-GB" smtClean="0"/>
              <a:t>05/07/2025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544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FC1FB4-6600-964E-87AE-7944E8A54BF4}" type="datetime1">
              <a:rPr lang="en-GB" smtClean="0"/>
              <a:t>05/07/2025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996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1E02E-8688-0D40-8D95-F6B633E19384}" type="datetime1">
              <a:rPr lang="en-GB" smtClean="0"/>
              <a:t>05/07/2025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583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E2112C-A07D-0C49-83D0-97E7715572E8}" type="datetime1">
              <a:rPr lang="en-GB" smtClean="0"/>
              <a:t>05/07/2025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3764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3FB06-81A1-7145-AA10-23CB90609DB1}" type="datetime1">
              <a:rPr lang="en-GB" smtClean="0"/>
              <a:t>05/07/2025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1311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A6BF7C-B1D2-D341-B6EA-0F9EDB8B80EA}" type="datetime1">
              <a:rPr lang="en-GB" smtClean="0"/>
              <a:t>05/07/2025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395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0714D-A05F-CA49-830F-7B0ACED6C706}" type="datetime1">
              <a:rPr lang="en-GB" smtClean="0"/>
              <a:t>05/07/2025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7199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7311A0-74F8-7840-9594-267945A9A042}" type="datetime1">
              <a:rPr lang="en-GB" smtClean="0"/>
              <a:t>05/07/2025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3888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2F3922-980F-3047-91E3-B20D946F972E}" type="datetime1">
              <a:rPr lang="en-GB" smtClean="0"/>
              <a:t>05/07/2025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894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2351C3-CB6C-CB43-A403-149A332B98B6}" type="datetime1">
              <a:rPr lang="en-GB" smtClean="0"/>
              <a:t>05/07/2025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437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41A623-B36F-C440-9672-F52869BB3AE9}" type="datetime1">
              <a:rPr lang="en-GB" smtClean="0"/>
              <a:t>05/07/2025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2616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emf"/><Relationship Id="rId4" Type="http://schemas.openxmlformats.org/officeDocument/2006/relationships/package" Target="../embeddings/Microsoft_Excel_Worksheet.xlsx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package" Target="../embeddings/Microsoft_Excel_Worksheet2.xlsx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emf"/><Relationship Id="rId4" Type="http://schemas.openxmlformats.org/officeDocument/2006/relationships/package" Target="../embeddings/Microsoft_Excel_Worksheet3.xlsx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package" Target="../embeddings/Microsoft_Excel_Worksheet4.xlsx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package" Target="../embeddings/Microsoft_Excel_Worksheet5.xlsx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emf"/><Relationship Id="rId4" Type="http://schemas.openxmlformats.org/officeDocument/2006/relationships/package" Target="../embeddings/Microsoft_Excel_Worksheet6.xlsx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package" Target="../embeddings/Microsoft_Excel_Worksheet7.xlsx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3.xml"/><Relationship Id="rId4" Type="http://schemas.openxmlformats.org/officeDocument/2006/relationships/chart" Target="../charts/char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package" Target="../embeddings/Microsoft_Excel_Worksheet8.xlsx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6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openxmlformats.org/officeDocument/2006/relationships/chart" Target="../charts/chart17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8.xml"/><Relationship Id="rId4" Type="http://schemas.openxmlformats.org/officeDocument/2006/relationships/image" Target="../media/image16.e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chart" Target="../charts/chart19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package" Target="../embeddings/Microsoft_Excel_Worksheet10.xlsx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3.xml"/><Relationship Id="rId2" Type="http://schemas.openxmlformats.org/officeDocument/2006/relationships/chart" Target="../charts/chart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package" Target="../embeddings/Microsoft_Excel_Worksheet11.xlsx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package" Target="../embeddings/Microsoft_Excel_Worksheet12.xlsx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package" Target="../embeddings/Microsoft_Excel_Worksheet13.xlsx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23C78A4-0B54-333F-41FE-7DDDBAF6BE64}"/>
              </a:ext>
            </a:extLst>
          </p:cNvPr>
          <p:cNvSpPr txBox="1"/>
          <p:nvPr/>
        </p:nvSpPr>
        <p:spPr>
          <a:xfrm>
            <a:off x="952969" y="821554"/>
            <a:ext cx="7238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+mj-lt"/>
              </a:rPr>
              <a:t>Global Asset Allocation</a:t>
            </a:r>
          </a:p>
        </p:txBody>
      </p:sp>
    </p:spTree>
    <p:extLst>
      <p:ext uri="{BB962C8B-B14F-4D97-AF65-F5344CB8AC3E}">
        <p14:creationId xmlns:p14="http://schemas.microsoft.com/office/powerpoint/2010/main" val="9085210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C7B47-3A3F-8BE3-7884-02221A7E7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Picture 53">
            <a:extLst>
              <a:ext uri="{FF2B5EF4-FFF2-40B4-BE49-F238E27FC236}">
                <a16:creationId xmlns:a16="http://schemas.microsoft.com/office/drawing/2014/main" id="{1CF26C75-F734-9F39-25CB-43DB591A89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9828" y="1308622"/>
            <a:ext cx="1346485" cy="154194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CE7641B-0B02-CE7E-79AE-CC3C25CDBA38}"/>
              </a:ext>
            </a:extLst>
          </p:cNvPr>
          <p:cNvSpPr txBox="1"/>
          <p:nvPr/>
        </p:nvSpPr>
        <p:spPr>
          <a:xfrm>
            <a:off x="160219" y="261791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The Advantages of Multi-Factor Approach to Asset Allocation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383E9848-00D6-FF0E-D4A4-8BE203D25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746" y="1345831"/>
            <a:ext cx="1333500" cy="1524000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4F4D3548-BC42-B199-63EC-9F2FE54A2D75}"/>
              </a:ext>
            </a:extLst>
          </p:cNvPr>
          <p:cNvSpPr txBox="1"/>
          <p:nvPr/>
        </p:nvSpPr>
        <p:spPr>
          <a:xfrm>
            <a:off x="187840" y="883672"/>
            <a:ext cx="4341628" cy="261610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  <a:latin typeface="+mj-lt"/>
              </a:rPr>
              <a:t>Multi-Factor Modelling Enhances Our Understanding Of Return Drivers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99F7D70-9CD9-383A-575E-C7129FCEF98F}"/>
              </a:ext>
            </a:extLst>
          </p:cNvPr>
          <p:cNvSpPr txBox="1"/>
          <p:nvPr/>
        </p:nvSpPr>
        <p:spPr>
          <a:xfrm>
            <a:off x="361506" y="2869831"/>
            <a:ext cx="1426631" cy="41549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FF0000"/>
                </a:solidFill>
                <a:latin typeface="Aptos" panose="020B0004020202020204" pitchFamily="34" charset="0"/>
              </a:rPr>
              <a:t>POOR ESTIMATES OF </a:t>
            </a:r>
          </a:p>
          <a:p>
            <a:pPr algn="ctr"/>
            <a:r>
              <a:rPr lang="en-US" sz="1050" dirty="0">
                <a:solidFill>
                  <a:srgbClr val="FF0000"/>
                </a:solidFill>
                <a:latin typeface="Aptos" panose="020B0004020202020204" pitchFamily="34" charset="0"/>
              </a:rPr>
              <a:t>RISK AND RETURN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24B4C2F-3483-AC02-F8BF-B72578C6AEE4}"/>
              </a:ext>
            </a:extLst>
          </p:cNvPr>
          <p:cNvSpPr txBox="1"/>
          <p:nvPr/>
        </p:nvSpPr>
        <p:spPr>
          <a:xfrm>
            <a:off x="2674979" y="2869831"/>
            <a:ext cx="1641840" cy="415498"/>
          </a:xfrm>
          <a:prstGeom prst="rect">
            <a:avLst/>
          </a:prstGeom>
          <a:noFill/>
          <a:ln>
            <a:solidFill>
              <a:srgbClr val="7CC04D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7CC04D"/>
                </a:solidFill>
                <a:latin typeface="Aptos" panose="020B0004020202020204" pitchFamily="34" charset="0"/>
              </a:rPr>
              <a:t>DOUBLE THE PRECISION OF ESTIMATES </a:t>
            </a:r>
          </a:p>
        </p:txBody>
      </p:sp>
      <p:sp>
        <p:nvSpPr>
          <p:cNvPr id="45" name="Multiply 44">
            <a:extLst>
              <a:ext uri="{FF2B5EF4-FFF2-40B4-BE49-F238E27FC236}">
                <a16:creationId xmlns:a16="http://schemas.microsoft.com/office/drawing/2014/main" id="{33BF540F-4A79-C6BF-C6B8-B79186784EA4}"/>
              </a:ext>
            </a:extLst>
          </p:cNvPr>
          <p:cNvSpPr/>
          <p:nvPr/>
        </p:nvSpPr>
        <p:spPr>
          <a:xfrm rot="1062317">
            <a:off x="1660630" y="2685950"/>
            <a:ext cx="318977" cy="330734"/>
          </a:xfrm>
          <a:prstGeom prst="mathMultiply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EC26C89-85F7-8053-A655-DCDC31C205E5}"/>
              </a:ext>
            </a:extLst>
          </p:cNvPr>
          <p:cNvCxnSpPr>
            <a:cxnSpLocks/>
          </p:cNvCxnSpPr>
          <p:nvPr/>
        </p:nvCxnSpPr>
        <p:spPr>
          <a:xfrm>
            <a:off x="1496503" y="2081447"/>
            <a:ext cx="1620000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B9E7A80-6B64-AF96-C759-51BB905B9418}"/>
              </a:ext>
            </a:extLst>
          </p:cNvPr>
          <p:cNvSpPr txBox="1"/>
          <p:nvPr/>
        </p:nvSpPr>
        <p:spPr>
          <a:xfrm>
            <a:off x="1741898" y="1792906"/>
            <a:ext cx="1122591" cy="57708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SINGLE TO MULTI-FACTOR VIEW</a:t>
            </a:r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54DC4FC1-CE9A-A39A-36CD-AEEA8B0F28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9828" y="3896904"/>
            <a:ext cx="1346485" cy="1541942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024B8CBE-B07E-0361-6E93-330A271C68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746" y="3934113"/>
            <a:ext cx="1333500" cy="1524000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4DD37ACA-3745-2EEA-51C5-A3FE80420B34}"/>
              </a:ext>
            </a:extLst>
          </p:cNvPr>
          <p:cNvSpPr txBox="1"/>
          <p:nvPr/>
        </p:nvSpPr>
        <p:spPr>
          <a:xfrm>
            <a:off x="187840" y="3482587"/>
            <a:ext cx="4341628" cy="261610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  <a:latin typeface="+mj-lt"/>
              </a:rPr>
              <a:t>Multi-Factor Modelling Enhances Our Understanding Of Return Drivers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715DF74-1DCF-1087-FCD2-BA00E0CAF0BB}"/>
              </a:ext>
            </a:extLst>
          </p:cNvPr>
          <p:cNvSpPr txBox="1"/>
          <p:nvPr/>
        </p:nvSpPr>
        <p:spPr>
          <a:xfrm>
            <a:off x="153250" y="5458113"/>
            <a:ext cx="1634888" cy="41549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FF0000"/>
                </a:solidFill>
                <a:latin typeface="Aptos" panose="020B0004020202020204" pitchFamily="34" charset="0"/>
              </a:rPr>
              <a:t>POOR ESTIMATES OF </a:t>
            </a:r>
          </a:p>
          <a:p>
            <a:pPr algn="ctr"/>
            <a:r>
              <a:rPr lang="en-US" sz="1050" dirty="0">
                <a:solidFill>
                  <a:srgbClr val="FF0000"/>
                </a:solidFill>
                <a:latin typeface="Aptos" panose="020B0004020202020204" pitchFamily="34" charset="0"/>
              </a:rPr>
              <a:t>RISK AND RETURN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327BB4F-77E6-FB06-7FB7-35BEB92ED75B}"/>
              </a:ext>
            </a:extLst>
          </p:cNvPr>
          <p:cNvSpPr txBox="1"/>
          <p:nvPr/>
        </p:nvSpPr>
        <p:spPr>
          <a:xfrm>
            <a:off x="2674979" y="5458113"/>
            <a:ext cx="1772456" cy="415498"/>
          </a:xfrm>
          <a:prstGeom prst="rect">
            <a:avLst/>
          </a:prstGeom>
          <a:noFill/>
          <a:ln>
            <a:solidFill>
              <a:srgbClr val="7CC04D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7CC04D"/>
                </a:solidFill>
                <a:latin typeface="Aptos" panose="020B0004020202020204" pitchFamily="34" charset="0"/>
              </a:rPr>
              <a:t>DOUBLE THE PRECISION OF ESTIMATES </a:t>
            </a:r>
          </a:p>
        </p:txBody>
      </p:sp>
      <p:sp>
        <p:nvSpPr>
          <p:cNvPr id="64" name="Multiply 63">
            <a:extLst>
              <a:ext uri="{FF2B5EF4-FFF2-40B4-BE49-F238E27FC236}">
                <a16:creationId xmlns:a16="http://schemas.microsoft.com/office/drawing/2014/main" id="{C127A465-1542-88A4-98DE-2C8D1D8750DA}"/>
              </a:ext>
            </a:extLst>
          </p:cNvPr>
          <p:cNvSpPr/>
          <p:nvPr/>
        </p:nvSpPr>
        <p:spPr>
          <a:xfrm rot="1062317">
            <a:off x="1607467" y="5295497"/>
            <a:ext cx="318977" cy="330734"/>
          </a:xfrm>
          <a:prstGeom prst="mathMultiply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1FC39567-2643-59B9-1110-AE4A1DC4CA2F}"/>
              </a:ext>
            </a:extLst>
          </p:cNvPr>
          <p:cNvCxnSpPr>
            <a:cxnSpLocks/>
          </p:cNvCxnSpPr>
          <p:nvPr/>
        </p:nvCxnSpPr>
        <p:spPr>
          <a:xfrm>
            <a:off x="1496503" y="4669729"/>
            <a:ext cx="1620000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03B0B217-D11B-0A43-CCB0-4E649C0A81E2}"/>
              </a:ext>
            </a:extLst>
          </p:cNvPr>
          <p:cNvSpPr txBox="1"/>
          <p:nvPr/>
        </p:nvSpPr>
        <p:spPr>
          <a:xfrm>
            <a:off x="1741898" y="4381188"/>
            <a:ext cx="1122591" cy="57708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SINGLE TO MULTI-FACTOR VIEW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298A646-55FC-7B92-F228-7BFAC73A533E}"/>
              </a:ext>
            </a:extLst>
          </p:cNvPr>
          <p:cNvSpPr txBox="1"/>
          <p:nvPr/>
        </p:nvSpPr>
        <p:spPr>
          <a:xfrm>
            <a:off x="4625165" y="891313"/>
            <a:ext cx="4341628" cy="261610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  <a:latin typeface="+mj-lt"/>
              </a:rPr>
              <a:t>Multi-Factor Modelling Enhances Our Understanding Of Return Drivers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8FF615D-2616-D337-3E12-A910E4FA6856}"/>
              </a:ext>
            </a:extLst>
          </p:cNvPr>
          <p:cNvSpPr txBox="1"/>
          <p:nvPr/>
        </p:nvSpPr>
        <p:spPr>
          <a:xfrm>
            <a:off x="4728804" y="2877472"/>
            <a:ext cx="1634888" cy="41549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FF0000"/>
                </a:solidFill>
                <a:latin typeface="Aptos" panose="020B0004020202020204" pitchFamily="34" charset="0"/>
              </a:rPr>
              <a:t>OPTIMIZER PRODUCES UNRELIABLE RESULTS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F6411F3-CDBB-3B14-F3A0-8DA3AE6047CA}"/>
              </a:ext>
            </a:extLst>
          </p:cNvPr>
          <p:cNvSpPr txBox="1"/>
          <p:nvPr/>
        </p:nvSpPr>
        <p:spPr>
          <a:xfrm>
            <a:off x="7208873" y="2877472"/>
            <a:ext cx="1733107" cy="415498"/>
          </a:xfrm>
          <a:prstGeom prst="rect">
            <a:avLst/>
          </a:prstGeom>
          <a:noFill/>
          <a:ln>
            <a:solidFill>
              <a:srgbClr val="7CC04D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7CC04D"/>
                </a:solidFill>
                <a:latin typeface="Aptos" panose="020B0004020202020204" pitchFamily="34" charset="0"/>
              </a:rPr>
              <a:t>SUPERIOR AND BETTER DIVERSIFIED PORTFOLIOS</a:t>
            </a:r>
          </a:p>
        </p:txBody>
      </p:sp>
      <p:sp>
        <p:nvSpPr>
          <p:cNvPr id="80" name="Multiply 79">
            <a:extLst>
              <a:ext uri="{FF2B5EF4-FFF2-40B4-BE49-F238E27FC236}">
                <a16:creationId xmlns:a16="http://schemas.microsoft.com/office/drawing/2014/main" id="{E1B4A990-1E77-1863-B254-A39589635BC7}"/>
              </a:ext>
            </a:extLst>
          </p:cNvPr>
          <p:cNvSpPr/>
          <p:nvPr/>
        </p:nvSpPr>
        <p:spPr>
          <a:xfrm rot="1062317">
            <a:off x="6183021" y="2714856"/>
            <a:ext cx="318977" cy="330734"/>
          </a:xfrm>
          <a:prstGeom prst="mathMultiply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B5F477D3-DCA2-80B2-5640-E8382ED017FF}"/>
              </a:ext>
            </a:extLst>
          </p:cNvPr>
          <p:cNvCxnSpPr>
            <a:cxnSpLocks/>
          </p:cNvCxnSpPr>
          <p:nvPr/>
        </p:nvCxnSpPr>
        <p:spPr>
          <a:xfrm>
            <a:off x="6072057" y="2089088"/>
            <a:ext cx="1620000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3003A06E-1716-3644-0347-3E2B329920A2}"/>
              </a:ext>
            </a:extLst>
          </p:cNvPr>
          <p:cNvSpPr txBox="1"/>
          <p:nvPr/>
        </p:nvSpPr>
        <p:spPr>
          <a:xfrm>
            <a:off x="6317452" y="1800547"/>
            <a:ext cx="1122591" cy="57708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TRADITIONAL TO ROBUST OPTIMIZATION</a:t>
            </a:r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6880BC8B-9590-48D0-2AFA-0D8366CBDD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1337" y="3903181"/>
            <a:ext cx="1346485" cy="1541942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0C383684-A6B5-DA7E-4623-A4FCA4CD73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8255" y="3940390"/>
            <a:ext cx="1333500" cy="1524000"/>
          </a:xfrm>
          <a:prstGeom prst="rect">
            <a:avLst/>
          </a:prstGeom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197A0990-F656-7752-76FC-14C7C3BBD80E}"/>
              </a:ext>
            </a:extLst>
          </p:cNvPr>
          <p:cNvSpPr txBox="1"/>
          <p:nvPr/>
        </p:nvSpPr>
        <p:spPr>
          <a:xfrm>
            <a:off x="4621120" y="3478231"/>
            <a:ext cx="4341628" cy="261610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  <a:latin typeface="+mj-lt"/>
              </a:rPr>
              <a:t>Multi-Factor Modelling Enhances Our Understanding Of Return Drivers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8C3749D-9470-0289-F81D-6360361A6116}"/>
              </a:ext>
            </a:extLst>
          </p:cNvPr>
          <p:cNvSpPr txBox="1"/>
          <p:nvPr/>
        </p:nvSpPr>
        <p:spPr>
          <a:xfrm>
            <a:off x="4724759" y="5464390"/>
            <a:ext cx="1634888" cy="41549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FF0000"/>
                </a:solidFill>
                <a:latin typeface="Aptos" panose="020B0004020202020204" pitchFamily="34" charset="0"/>
              </a:rPr>
              <a:t>POOR ESTIMATES OF </a:t>
            </a:r>
          </a:p>
          <a:p>
            <a:pPr algn="ctr"/>
            <a:r>
              <a:rPr lang="en-US" sz="1050" dirty="0">
                <a:solidFill>
                  <a:srgbClr val="FF0000"/>
                </a:solidFill>
                <a:latin typeface="Aptos" panose="020B0004020202020204" pitchFamily="34" charset="0"/>
              </a:rPr>
              <a:t>RISK AND RETURN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10ADF04-B1C9-E6EB-6666-77B328D148F9}"/>
              </a:ext>
            </a:extLst>
          </p:cNvPr>
          <p:cNvSpPr txBox="1"/>
          <p:nvPr/>
        </p:nvSpPr>
        <p:spPr>
          <a:xfrm>
            <a:off x="7246488" y="5464390"/>
            <a:ext cx="1772456" cy="415498"/>
          </a:xfrm>
          <a:prstGeom prst="rect">
            <a:avLst/>
          </a:prstGeom>
          <a:noFill/>
          <a:ln>
            <a:solidFill>
              <a:srgbClr val="7CC04D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7CC04D"/>
                </a:solidFill>
                <a:latin typeface="Aptos" panose="020B0004020202020204" pitchFamily="34" charset="0"/>
              </a:rPr>
              <a:t>DOUBLE THE PRECISION OF ESTIMATES </a:t>
            </a:r>
          </a:p>
        </p:txBody>
      </p:sp>
      <p:sp>
        <p:nvSpPr>
          <p:cNvPr id="88" name="Multiply 87">
            <a:extLst>
              <a:ext uri="{FF2B5EF4-FFF2-40B4-BE49-F238E27FC236}">
                <a16:creationId xmlns:a16="http://schemas.microsoft.com/office/drawing/2014/main" id="{1CCFCF2F-CCD8-B98B-EDD5-2FA171B445E9}"/>
              </a:ext>
            </a:extLst>
          </p:cNvPr>
          <p:cNvSpPr/>
          <p:nvPr/>
        </p:nvSpPr>
        <p:spPr>
          <a:xfrm rot="1062317">
            <a:off x="6178976" y="5301774"/>
            <a:ext cx="318977" cy="330734"/>
          </a:xfrm>
          <a:prstGeom prst="mathMultiply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AECB212A-30FB-DD86-38AB-65AFE7606571}"/>
              </a:ext>
            </a:extLst>
          </p:cNvPr>
          <p:cNvCxnSpPr>
            <a:cxnSpLocks/>
          </p:cNvCxnSpPr>
          <p:nvPr/>
        </p:nvCxnSpPr>
        <p:spPr>
          <a:xfrm>
            <a:off x="6068012" y="4676006"/>
            <a:ext cx="1620000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ABC614DC-A07B-C150-EC0F-B7C87DA8CF0B}"/>
              </a:ext>
            </a:extLst>
          </p:cNvPr>
          <p:cNvSpPr txBox="1"/>
          <p:nvPr/>
        </p:nvSpPr>
        <p:spPr>
          <a:xfrm>
            <a:off x="6313407" y="4387465"/>
            <a:ext cx="1122591" cy="57708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SINGLE TO MULTI-FACTOR VIEW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F605DBC-E38E-B60F-3740-47E55518E611}"/>
              </a:ext>
            </a:extLst>
          </p:cNvPr>
          <p:cNvSpPr txBox="1"/>
          <p:nvPr/>
        </p:nvSpPr>
        <p:spPr>
          <a:xfrm>
            <a:off x="150078" y="6094850"/>
            <a:ext cx="8868866" cy="461665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Aptos" panose="020B0004020202020204" pitchFamily="34" charset="0"/>
                <a:cs typeface="Calibri Light" panose="020F0302020204030204" pitchFamily="34" charset="0"/>
              </a:rPr>
              <a:t>In the median case, the SAA portfolio would be expected to grow to around $373, in nominal terms, representing $74 additional growth over the reference portfolio over the 20-year horizon.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E14824D-6000-1046-7E57-B10581F40AD6}"/>
              </a:ext>
            </a:extLst>
          </p:cNvPr>
          <p:cNvSpPr txBox="1"/>
          <p:nvPr/>
        </p:nvSpPr>
        <p:spPr>
          <a:xfrm rot="1668696">
            <a:off x="2434326" y="2722323"/>
            <a:ext cx="4504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✅</a:t>
            </a:r>
            <a:endParaRPr lang="en-US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EC15C56-C14D-905D-CD2C-E5E468B6738C}"/>
              </a:ext>
            </a:extLst>
          </p:cNvPr>
          <p:cNvSpPr txBox="1"/>
          <p:nvPr/>
        </p:nvSpPr>
        <p:spPr>
          <a:xfrm rot="1668696">
            <a:off x="6946847" y="2760546"/>
            <a:ext cx="4504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✅</a:t>
            </a:r>
            <a:endParaRPr lang="en-US" dirty="0"/>
          </a:p>
        </p:txBody>
      </p:sp>
      <p:pic>
        <p:nvPicPr>
          <p:cNvPr id="97" name="Picture 96">
            <a:extLst>
              <a:ext uri="{FF2B5EF4-FFF2-40B4-BE49-F238E27FC236}">
                <a16:creationId xmlns:a16="http://schemas.microsoft.com/office/drawing/2014/main" id="{86B947C7-D11B-0CC7-B27D-27A43CC678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3197" y="1345830"/>
            <a:ext cx="1594615" cy="1425600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E5DF099C-D2E9-3CB6-FB97-4EEC0BA9FA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7269" y="1345830"/>
            <a:ext cx="1594614" cy="142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0288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BEC45-7043-D024-6E5A-62AB70B4E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Picture 53">
            <a:extLst>
              <a:ext uri="{FF2B5EF4-FFF2-40B4-BE49-F238E27FC236}">
                <a16:creationId xmlns:a16="http://schemas.microsoft.com/office/drawing/2014/main" id="{60DDBD40-841D-FA35-4AB2-26AE8407AB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8051" y="2248327"/>
            <a:ext cx="1346485" cy="154194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09E853-7B99-9351-58D8-5916BAFDF475}"/>
              </a:ext>
            </a:extLst>
          </p:cNvPr>
          <p:cNvSpPr txBox="1"/>
          <p:nvPr/>
        </p:nvSpPr>
        <p:spPr>
          <a:xfrm>
            <a:off x="340972" y="368117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Multi-Factor Models Identify Sources of Long-Term Returns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96FCF6F1-A6FC-19E0-9FF1-FC890EF1E5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759" y="2243947"/>
            <a:ext cx="1333500" cy="152400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74448FBE-5591-A3C1-D06F-6D10EEB4F8F8}"/>
              </a:ext>
            </a:extLst>
          </p:cNvPr>
          <p:cNvSpPr txBox="1"/>
          <p:nvPr/>
        </p:nvSpPr>
        <p:spPr>
          <a:xfrm>
            <a:off x="871868" y="3831742"/>
            <a:ext cx="1426631" cy="41549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FF0000"/>
                </a:solidFill>
                <a:latin typeface="Aptos" panose="020B0004020202020204" pitchFamily="34" charset="0"/>
              </a:rPr>
              <a:t>POOR ESTIMATES OF </a:t>
            </a:r>
          </a:p>
          <a:p>
            <a:pPr algn="ctr"/>
            <a:r>
              <a:rPr lang="en-US" sz="1050" dirty="0">
                <a:solidFill>
                  <a:srgbClr val="FF0000"/>
                </a:solidFill>
                <a:latin typeface="Aptos" panose="020B0004020202020204" pitchFamily="34" charset="0"/>
              </a:rPr>
              <a:t>RISK AND RETURN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A8D2779-83F1-1829-564E-8F9A86CF66E6}"/>
              </a:ext>
            </a:extLst>
          </p:cNvPr>
          <p:cNvSpPr txBox="1"/>
          <p:nvPr/>
        </p:nvSpPr>
        <p:spPr>
          <a:xfrm>
            <a:off x="2927478" y="3844209"/>
            <a:ext cx="1641840" cy="415498"/>
          </a:xfrm>
          <a:prstGeom prst="rect">
            <a:avLst/>
          </a:prstGeom>
          <a:noFill/>
          <a:ln>
            <a:solidFill>
              <a:srgbClr val="7CC04D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7CC04D"/>
                </a:solidFill>
                <a:latin typeface="Aptos" panose="020B0004020202020204" pitchFamily="34" charset="0"/>
              </a:rPr>
              <a:t>DOUBLE THE PRECISION OF ESTIMATES </a:t>
            </a:r>
          </a:p>
        </p:txBody>
      </p:sp>
      <p:sp>
        <p:nvSpPr>
          <p:cNvPr id="45" name="Multiply 44">
            <a:extLst>
              <a:ext uri="{FF2B5EF4-FFF2-40B4-BE49-F238E27FC236}">
                <a16:creationId xmlns:a16="http://schemas.microsoft.com/office/drawing/2014/main" id="{4557E188-5A16-F87C-609B-99E2ECD5DDE4}"/>
              </a:ext>
            </a:extLst>
          </p:cNvPr>
          <p:cNvSpPr/>
          <p:nvPr/>
        </p:nvSpPr>
        <p:spPr>
          <a:xfrm rot="1062317">
            <a:off x="2227116" y="3669937"/>
            <a:ext cx="318977" cy="330734"/>
          </a:xfrm>
          <a:prstGeom prst="mathMultiply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CB90895-1BDE-3B27-B00D-E67474791AE7}"/>
              </a:ext>
            </a:extLst>
          </p:cNvPr>
          <p:cNvSpPr txBox="1"/>
          <p:nvPr/>
        </p:nvSpPr>
        <p:spPr>
          <a:xfrm rot="1668696">
            <a:off x="4392600" y="3690157"/>
            <a:ext cx="4504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✅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A96FAD-14A8-CCB5-0EFC-58F3D9C2334F}"/>
              </a:ext>
            </a:extLst>
          </p:cNvPr>
          <p:cNvSpPr txBox="1"/>
          <p:nvPr/>
        </p:nvSpPr>
        <p:spPr>
          <a:xfrm>
            <a:off x="316427" y="993648"/>
            <a:ext cx="8441032" cy="523220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Aptos Light" panose="020B0004020202020204" pitchFamily="34" charset="0"/>
              </a:rPr>
              <a:t>Multi-factor models provide deeper insight into the true drivers of return, resulting in more robust and reliable long-term return estimates.</a:t>
            </a:r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  <a:latin typeface="Aptos Light" panose="020B00040202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83A8EA-55B8-4D7D-2A39-826EBC8FCF61}"/>
              </a:ext>
            </a:extLst>
          </p:cNvPr>
          <p:cNvSpPr/>
          <p:nvPr/>
        </p:nvSpPr>
        <p:spPr>
          <a:xfrm>
            <a:off x="382772" y="1792730"/>
            <a:ext cx="4869711" cy="2609151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DE485B-39C8-1232-4AD6-DEF4B7AF37C4}"/>
              </a:ext>
            </a:extLst>
          </p:cNvPr>
          <p:cNvSpPr/>
          <p:nvPr/>
        </p:nvSpPr>
        <p:spPr>
          <a:xfrm>
            <a:off x="5465135" y="1785641"/>
            <a:ext cx="3349256" cy="2626873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E586C7-E9C4-F005-F207-08C9EEFAF540}"/>
              </a:ext>
            </a:extLst>
          </p:cNvPr>
          <p:cNvSpPr txBox="1"/>
          <p:nvPr/>
        </p:nvSpPr>
        <p:spPr>
          <a:xfrm>
            <a:off x="5454502" y="1669854"/>
            <a:ext cx="3363432" cy="276999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latin typeface="+mj-lt"/>
              </a:rPr>
              <a:t>Each Asset Has a Unique Risk Premia Profile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01D5E2-9D27-EAA0-6465-C7EBD11C791F}"/>
              </a:ext>
            </a:extLst>
          </p:cNvPr>
          <p:cNvSpPr txBox="1"/>
          <p:nvPr/>
        </p:nvSpPr>
        <p:spPr>
          <a:xfrm>
            <a:off x="5559945" y="2090441"/>
            <a:ext cx="1510706" cy="25391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EM External Debt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2E6CF9-BC60-42CB-BF72-E2C67AB18E5E}"/>
              </a:ext>
            </a:extLst>
          </p:cNvPr>
          <p:cNvSpPr txBox="1"/>
          <p:nvPr/>
        </p:nvSpPr>
        <p:spPr>
          <a:xfrm>
            <a:off x="274618" y="4526242"/>
            <a:ext cx="8647582" cy="523220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r>
              <a:rPr lang="en-GB" sz="1400" dirty="0">
                <a:latin typeface="Aptos Light" panose="020B0004020202020204" pitchFamily="34" charset="0"/>
              </a:rPr>
              <a:t>Factors represent systematic risk exposures that are directly investable through long-short portfolios in liquid instruments. They are grounded in economic rationale, capturing risk premia associated with the transfer of risk.</a:t>
            </a:r>
            <a:endParaRPr lang="en-US" sz="1400" dirty="0">
              <a:latin typeface="Aptos Light" panose="020B00040202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56CE3B-A169-7C88-F02D-A56342273E7F}"/>
              </a:ext>
            </a:extLst>
          </p:cNvPr>
          <p:cNvSpPr txBox="1"/>
          <p:nvPr/>
        </p:nvSpPr>
        <p:spPr>
          <a:xfrm>
            <a:off x="7222169" y="2083352"/>
            <a:ext cx="1510706" cy="25391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Hedge Funds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7C52633-4E36-71DA-438A-4B0549C63762}"/>
              </a:ext>
            </a:extLst>
          </p:cNvPr>
          <p:cNvSpPr txBox="1"/>
          <p:nvPr/>
        </p:nvSpPr>
        <p:spPr>
          <a:xfrm>
            <a:off x="947626" y="2023313"/>
            <a:ext cx="1510706" cy="25391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Single-Factor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985809F-C560-BE63-92F9-B781EF7B3645}"/>
              </a:ext>
            </a:extLst>
          </p:cNvPr>
          <p:cNvSpPr txBox="1"/>
          <p:nvPr/>
        </p:nvSpPr>
        <p:spPr>
          <a:xfrm>
            <a:off x="2940599" y="2044341"/>
            <a:ext cx="1510706" cy="25391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Multi-Factor</a:t>
            </a:r>
          </a:p>
        </p:txBody>
      </p:sp>
      <p:graphicFrame>
        <p:nvGraphicFramePr>
          <p:cNvPr id="35" name="Object 34">
            <a:extLst>
              <a:ext uri="{FF2B5EF4-FFF2-40B4-BE49-F238E27FC236}">
                <a16:creationId xmlns:a16="http://schemas.microsoft.com/office/drawing/2014/main" id="{61F0639A-7A99-1A51-C45C-8AC9A5728C0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82767830"/>
              </p:ext>
            </p:extLst>
          </p:nvPr>
        </p:nvGraphicFramePr>
        <p:xfrm>
          <a:off x="313659" y="5150757"/>
          <a:ext cx="8149858" cy="144320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11328400" imgH="2006600" progId="Excel.Sheet.12">
                  <p:embed/>
                </p:oleObj>
              </mc:Choice>
              <mc:Fallback>
                <p:oleObj name="Worksheet" r:id="rId4" imgW="11328400" imgH="20066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13659" y="5150757"/>
                        <a:ext cx="8149858" cy="144320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" name="TextBox 36">
            <a:extLst>
              <a:ext uri="{FF2B5EF4-FFF2-40B4-BE49-F238E27FC236}">
                <a16:creationId xmlns:a16="http://schemas.microsoft.com/office/drawing/2014/main" id="{51DDFAA3-BA83-AD32-EE35-F0913B2A5011}"/>
              </a:ext>
            </a:extLst>
          </p:cNvPr>
          <p:cNvSpPr txBox="1"/>
          <p:nvPr/>
        </p:nvSpPr>
        <p:spPr>
          <a:xfrm>
            <a:off x="368593" y="1666308"/>
            <a:ext cx="4894523" cy="276999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latin typeface="+mj-lt"/>
              </a:rPr>
              <a:t>Multi-Factor Modelling Enhances Our Understanding Of Return Drivers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66C5162-25E9-BE09-E019-4ED3EE5AF826}"/>
              </a:ext>
            </a:extLst>
          </p:cNvPr>
          <p:cNvSpPr txBox="1"/>
          <p:nvPr/>
        </p:nvSpPr>
        <p:spPr>
          <a:xfrm>
            <a:off x="5528929" y="4071037"/>
            <a:ext cx="3221665" cy="253916"/>
          </a:xfrm>
          <a:prstGeom prst="rect">
            <a:avLst/>
          </a:prstGeom>
          <a:noFill/>
          <a:ln>
            <a:solidFill>
              <a:srgbClr val="7CC04D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7CC04D"/>
                </a:solidFill>
                <a:latin typeface="Aptos" panose="020B0004020202020204" pitchFamily="34" charset="0"/>
              </a:rPr>
              <a:t>BETTER UNDERSTANDING OF DIVERSIFICATION</a:t>
            </a:r>
          </a:p>
        </p:txBody>
      </p:sp>
    </p:spTree>
    <p:extLst>
      <p:ext uri="{BB962C8B-B14F-4D97-AF65-F5344CB8AC3E}">
        <p14:creationId xmlns:p14="http://schemas.microsoft.com/office/powerpoint/2010/main" val="27999159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465B7-C208-963D-D26D-B108470BD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9A746641-E87C-A425-6F99-48FD35A9EF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927" y="2736000"/>
            <a:ext cx="2715228" cy="242744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EBF518-F7EA-077C-6231-08D53D67CB81}"/>
              </a:ext>
            </a:extLst>
          </p:cNvPr>
          <p:cNvSpPr txBox="1"/>
          <p:nvPr/>
        </p:nvSpPr>
        <p:spPr>
          <a:xfrm>
            <a:off x="351605" y="38938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Robust Portfolio Optimization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63E2078-E921-293D-A070-989106796A8E}"/>
              </a:ext>
            </a:extLst>
          </p:cNvPr>
          <p:cNvSpPr txBox="1"/>
          <p:nvPr/>
        </p:nvSpPr>
        <p:spPr>
          <a:xfrm>
            <a:off x="385839" y="1985286"/>
            <a:ext cx="8372322" cy="276999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latin typeface="+mj-lt"/>
              </a:rPr>
              <a:t>Robust Optimization is Designed to Deliver Superior Allocations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918B6C-CD26-D625-750A-82CFF5A45A18}"/>
              </a:ext>
            </a:extLst>
          </p:cNvPr>
          <p:cNvSpPr txBox="1"/>
          <p:nvPr/>
        </p:nvSpPr>
        <p:spPr>
          <a:xfrm>
            <a:off x="337694" y="1046807"/>
            <a:ext cx="8441032" cy="738664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r>
              <a:rPr lang="en-GB" sz="1400" dirty="0">
                <a:latin typeface="Aptos Light" panose="020B0004020202020204" pitchFamily="34" charset="0"/>
              </a:rPr>
              <a:t>Traditional portfolio optimization often overlooks uncertainty in risk and return estimates, resulting in unstable, poorly diversified portfolios; robust optimization addresses this by incorporating uncertainty directly into the process</a:t>
            </a:r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  <a:latin typeface="Aptos Light" panose="020B00040202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52A6D4-0B92-F98E-3029-EB0B2EA94200}"/>
              </a:ext>
            </a:extLst>
          </p:cNvPr>
          <p:cNvSpPr/>
          <p:nvPr/>
        </p:nvSpPr>
        <p:spPr>
          <a:xfrm>
            <a:off x="398721" y="2260564"/>
            <a:ext cx="8346558" cy="3619240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E2281DF-C099-366A-8A61-EEF991953C98}"/>
              </a:ext>
            </a:extLst>
          </p:cNvPr>
          <p:cNvSpPr txBox="1"/>
          <p:nvPr/>
        </p:nvSpPr>
        <p:spPr>
          <a:xfrm>
            <a:off x="560320" y="2415600"/>
            <a:ext cx="3288666" cy="25391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TRADITIONAL OPTIMIZATION METHODOLOGIES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2DFD52-F98A-5867-D8FC-42B632B393F9}"/>
              </a:ext>
            </a:extLst>
          </p:cNvPr>
          <p:cNvSpPr txBox="1"/>
          <p:nvPr/>
        </p:nvSpPr>
        <p:spPr>
          <a:xfrm>
            <a:off x="639051" y="5280434"/>
            <a:ext cx="2848429" cy="41549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FF0000"/>
                </a:solidFill>
                <a:latin typeface="Aptos" panose="020B0004020202020204" pitchFamily="34" charset="0"/>
              </a:rPr>
              <a:t>IGNORES UNCERTAINTIES IN RETURN ESTIMTATES -&gt; POOR DIVERSIFICATION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3C3F4F-BAA5-27C4-CA8D-F255D18254DB}"/>
              </a:ext>
            </a:extLst>
          </p:cNvPr>
          <p:cNvSpPr txBox="1"/>
          <p:nvPr/>
        </p:nvSpPr>
        <p:spPr>
          <a:xfrm>
            <a:off x="5651501" y="5301697"/>
            <a:ext cx="2875811" cy="415498"/>
          </a:xfrm>
          <a:prstGeom prst="rect">
            <a:avLst/>
          </a:prstGeom>
          <a:noFill/>
          <a:ln>
            <a:solidFill>
              <a:srgbClr val="7CC04D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7CC04D"/>
                </a:solidFill>
                <a:latin typeface="Aptos" panose="020B0004020202020204" pitchFamily="34" charset="0"/>
              </a:rPr>
              <a:t>ACKNOWLEDGES UNCERTAINTIES IN RETURN ESTIMATES -&gt; SUPERIOR DIVERSIFICATION</a:t>
            </a:r>
          </a:p>
        </p:txBody>
      </p:sp>
      <p:sp>
        <p:nvSpPr>
          <p:cNvPr id="9" name="Multiply 8">
            <a:extLst>
              <a:ext uri="{FF2B5EF4-FFF2-40B4-BE49-F238E27FC236}">
                <a16:creationId xmlns:a16="http://schemas.microsoft.com/office/drawing/2014/main" id="{41666A2D-7463-95B1-BA36-6604FF2CA57A}"/>
              </a:ext>
            </a:extLst>
          </p:cNvPr>
          <p:cNvSpPr/>
          <p:nvPr/>
        </p:nvSpPr>
        <p:spPr>
          <a:xfrm rot="1062317">
            <a:off x="3316331" y="5083248"/>
            <a:ext cx="331213" cy="365052"/>
          </a:xfrm>
          <a:prstGeom prst="mathMultiply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DF0FCE-58FE-D0BE-AD6A-7635DE5C832C}"/>
              </a:ext>
            </a:extLst>
          </p:cNvPr>
          <p:cNvSpPr txBox="1"/>
          <p:nvPr/>
        </p:nvSpPr>
        <p:spPr>
          <a:xfrm rot="1668696">
            <a:off x="5390537" y="5123261"/>
            <a:ext cx="4676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✅</a:t>
            </a:r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9EBEFD3-4351-F964-4B11-AA8F36F15A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6909" y="2685146"/>
            <a:ext cx="2787871" cy="2492382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B7AD27E-7475-1BE6-30D4-AAB1A7260090}"/>
              </a:ext>
            </a:extLst>
          </p:cNvPr>
          <p:cNvSpPr txBox="1"/>
          <p:nvPr/>
        </p:nvSpPr>
        <p:spPr>
          <a:xfrm>
            <a:off x="5894773" y="2415600"/>
            <a:ext cx="2526212" cy="25391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ROBUST PORTFOLIO OPTIMIZATION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B9502F5-3320-B015-40FF-CB23C81F56E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9719" b="23225"/>
          <a:stretch>
            <a:fillRect/>
          </a:stretch>
        </p:blipFill>
        <p:spPr>
          <a:xfrm>
            <a:off x="3972501" y="2711304"/>
            <a:ext cx="1198998" cy="903768"/>
          </a:xfrm>
          <a:prstGeom prst="rect">
            <a:avLst/>
          </a:prstGeom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2678A8D2-6DD2-A21B-23BB-A04CBCEBBE91}"/>
              </a:ext>
            </a:extLst>
          </p:cNvPr>
          <p:cNvSpPr/>
          <p:nvPr/>
        </p:nvSpPr>
        <p:spPr>
          <a:xfrm>
            <a:off x="3934047" y="2711302"/>
            <a:ext cx="1244009" cy="914400"/>
          </a:xfrm>
          <a:prstGeom prst="rect">
            <a:avLst/>
          </a:prstGeom>
          <a:noFill/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Curved Connector 54">
            <a:extLst>
              <a:ext uri="{FF2B5EF4-FFF2-40B4-BE49-F238E27FC236}">
                <a16:creationId xmlns:a16="http://schemas.microsoft.com/office/drawing/2014/main" id="{0B6513DE-70A3-0E2E-3917-F83F4931DD12}"/>
              </a:ext>
            </a:extLst>
          </p:cNvPr>
          <p:cNvCxnSpPr>
            <a:cxnSpLocks/>
          </p:cNvCxnSpPr>
          <p:nvPr/>
        </p:nvCxnSpPr>
        <p:spPr>
          <a:xfrm>
            <a:off x="5167422" y="3157869"/>
            <a:ext cx="839973" cy="733647"/>
          </a:xfrm>
          <a:prstGeom prst="curvedConnector3">
            <a:avLst>
              <a:gd name="adj1" fmla="val 46203"/>
            </a:avLst>
          </a:prstGeom>
          <a:ln w="2222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urved Connector 62">
            <a:extLst>
              <a:ext uri="{FF2B5EF4-FFF2-40B4-BE49-F238E27FC236}">
                <a16:creationId xmlns:a16="http://schemas.microsoft.com/office/drawing/2014/main" id="{63175A04-2692-726C-6ED7-830959414FFF}"/>
              </a:ext>
            </a:extLst>
          </p:cNvPr>
          <p:cNvCxnSpPr>
            <a:cxnSpLocks/>
          </p:cNvCxnSpPr>
          <p:nvPr/>
        </p:nvCxnSpPr>
        <p:spPr>
          <a:xfrm rot="10800000" flipV="1">
            <a:off x="3083442" y="3157863"/>
            <a:ext cx="839979" cy="744285"/>
          </a:xfrm>
          <a:prstGeom prst="curvedConnector3">
            <a:avLst>
              <a:gd name="adj1" fmla="val 50000"/>
            </a:avLst>
          </a:prstGeom>
          <a:ln w="2222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89957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18CF0-2FA1-07A8-DDD9-355395D0F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72E006FD-A5FA-0AC9-ED4D-8ABFFD4B7E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8469"/>
          <a:stretch>
            <a:fillRect/>
          </a:stretch>
        </p:blipFill>
        <p:spPr>
          <a:xfrm>
            <a:off x="482307" y="1892597"/>
            <a:ext cx="4536846" cy="408821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6CBA32A-5261-DDCD-F296-642543F12876}"/>
              </a:ext>
            </a:extLst>
          </p:cNvPr>
          <p:cNvSpPr txBox="1"/>
          <p:nvPr/>
        </p:nvSpPr>
        <p:spPr>
          <a:xfrm>
            <a:off x="340972" y="368117"/>
            <a:ext cx="7747376" cy="4001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Factor-Based Risk Analytics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054A92-628B-AF3D-6CF9-923C70ACF118}"/>
              </a:ext>
            </a:extLst>
          </p:cNvPr>
          <p:cNvSpPr txBox="1"/>
          <p:nvPr/>
        </p:nvSpPr>
        <p:spPr>
          <a:xfrm>
            <a:off x="316427" y="919220"/>
            <a:ext cx="8441032" cy="523220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Aptos Light" panose="020B0004020202020204" pitchFamily="34" charset="0"/>
              </a:rPr>
              <a:t>Multi-factor models provide deeper insight into the true drivers of return, resulting in more robust and reliable long-term return estimates.</a:t>
            </a:r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  <a:latin typeface="Aptos Light" panose="020B00040202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41BD3A-47A5-F99A-1867-9383A0F5D872}"/>
              </a:ext>
            </a:extLst>
          </p:cNvPr>
          <p:cNvSpPr/>
          <p:nvPr/>
        </p:nvSpPr>
        <p:spPr>
          <a:xfrm>
            <a:off x="372140" y="1867161"/>
            <a:ext cx="4880343" cy="3342796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65950F-0F6B-CC93-A7A4-DBD094E351BD}"/>
              </a:ext>
            </a:extLst>
          </p:cNvPr>
          <p:cNvSpPr/>
          <p:nvPr/>
        </p:nvSpPr>
        <p:spPr>
          <a:xfrm>
            <a:off x="5465135" y="1785641"/>
            <a:ext cx="3349256" cy="3434945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3BC275-E45A-2FF7-E4E1-1558F880767B}"/>
              </a:ext>
            </a:extLst>
          </p:cNvPr>
          <p:cNvSpPr txBox="1"/>
          <p:nvPr/>
        </p:nvSpPr>
        <p:spPr>
          <a:xfrm>
            <a:off x="5454502" y="1669854"/>
            <a:ext cx="3363432" cy="276999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latin typeface="+mj-lt"/>
              </a:rPr>
              <a:t>Applying Factor Risk Analytics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894ED4-DDA5-E2CD-EADC-3465294B24FC}"/>
              </a:ext>
            </a:extLst>
          </p:cNvPr>
          <p:cNvSpPr txBox="1"/>
          <p:nvPr/>
        </p:nvSpPr>
        <p:spPr>
          <a:xfrm>
            <a:off x="5751331" y="2271195"/>
            <a:ext cx="2722818" cy="25391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Event Driven Hedge Funds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7001B0-CCB8-B1C8-B014-153A19DF4F19}"/>
              </a:ext>
            </a:extLst>
          </p:cNvPr>
          <p:cNvSpPr txBox="1"/>
          <p:nvPr/>
        </p:nvSpPr>
        <p:spPr>
          <a:xfrm>
            <a:off x="200190" y="5642661"/>
            <a:ext cx="8647582" cy="523220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r>
              <a:rPr lang="en-GB" sz="1400" dirty="0">
                <a:latin typeface="Aptos Light" panose="020B0004020202020204" pitchFamily="34" charset="0"/>
              </a:rPr>
              <a:t>Factors represent systematic risk exposures that are directly investable through long-short portfolios in liquid instruments. They are grounded in economic rationale, capturing risk premia associated with the transfer of risk.</a:t>
            </a:r>
            <a:endParaRPr lang="en-US" sz="1400" dirty="0">
              <a:latin typeface="Aptos Light" panose="020B00040202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7CEF43C-74F2-F15D-9231-A0EEDC6AEDCD}"/>
              </a:ext>
            </a:extLst>
          </p:cNvPr>
          <p:cNvSpPr txBox="1"/>
          <p:nvPr/>
        </p:nvSpPr>
        <p:spPr>
          <a:xfrm>
            <a:off x="368593" y="1666308"/>
            <a:ext cx="4894523" cy="276999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latin typeface="+mj-lt"/>
              </a:rPr>
              <a:t>Multi-Factor Modelling Enhances Our Understanding Of Return Drivers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2D25396-A637-57BA-075D-53E156C924AF}"/>
              </a:ext>
            </a:extLst>
          </p:cNvPr>
          <p:cNvSpPr txBox="1"/>
          <p:nvPr/>
        </p:nvSpPr>
        <p:spPr>
          <a:xfrm>
            <a:off x="5911702" y="4294319"/>
            <a:ext cx="2551813" cy="415498"/>
          </a:xfrm>
          <a:prstGeom prst="rect">
            <a:avLst/>
          </a:prstGeom>
          <a:noFill/>
          <a:ln>
            <a:solidFill>
              <a:srgbClr val="7CC04D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7CC04D"/>
                </a:solidFill>
                <a:latin typeface="Aptos" panose="020B0004020202020204" pitchFamily="34" charset="0"/>
              </a:rPr>
              <a:t>MORE REALISTIC DOWNSIDE RISK ESTIMATES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B5FECD8-A062-C36A-ABDB-3D2120D9239D}"/>
              </a:ext>
            </a:extLst>
          </p:cNvPr>
          <p:cNvSpPr/>
          <p:nvPr/>
        </p:nvSpPr>
        <p:spPr>
          <a:xfrm>
            <a:off x="4189228" y="4348716"/>
            <a:ext cx="531628" cy="308348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6283E6-2CD8-A7C6-9DAD-E2DD2A87D4E0}"/>
              </a:ext>
            </a:extLst>
          </p:cNvPr>
          <p:cNvCxnSpPr/>
          <p:nvPr/>
        </p:nvCxnSpPr>
        <p:spPr>
          <a:xfrm>
            <a:off x="4465673" y="3487479"/>
            <a:ext cx="0" cy="78680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C0F8F78C-4699-0E4D-F60B-0DB8D899EAB0}"/>
              </a:ext>
            </a:extLst>
          </p:cNvPr>
          <p:cNvSpPr txBox="1"/>
          <p:nvPr/>
        </p:nvSpPr>
        <p:spPr>
          <a:xfrm>
            <a:off x="3721393" y="3098095"/>
            <a:ext cx="1339705" cy="415498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FF0000"/>
                </a:solidFill>
                <a:latin typeface="Aptos" panose="020B0004020202020204" pitchFamily="34" charset="0"/>
              </a:rPr>
              <a:t>UNABLE TO CAPTURE FAT TAILS</a:t>
            </a:r>
          </a:p>
        </p:txBody>
      </p:sp>
      <p:sp>
        <p:nvSpPr>
          <p:cNvPr id="45" name="Multiply 44">
            <a:extLst>
              <a:ext uri="{FF2B5EF4-FFF2-40B4-BE49-F238E27FC236}">
                <a16:creationId xmlns:a16="http://schemas.microsoft.com/office/drawing/2014/main" id="{32FF0F2E-9354-848F-9143-2D79449AC308}"/>
              </a:ext>
            </a:extLst>
          </p:cNvPr>
          <p:cNvSpPr/>
          <p:nvPr/>
        </p:nvSpPr>
        <p:spPr>
          <a:xfrm rot="1062317">
            <a:off x="3598716" y="2946922"/>
            <a:ext cx="318977" cy="330734"/>
          </a:xfrm>
          <a:prstGeom prst="mathMultiply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D6DF57D-EC3C-4242-82BF-396CB8474439}"/>
              </a:ext>
            </a:extLst>
          </p:cNvPr>
          <p:cNvSpPr/>
          <p:nvPr/>
        </p:nvSpPr>
        <p:spPr>
          <a:xfrm>
            <a:off x="489098" y="4380617"/>
            <a:ext cx="1201478" cy="308344"/>
          </a:xfrm>
          <a:prstGeom prst="ellipse">
            <a:avLst/>
          </a:prstGeom>
          <a:noFill/>
          <a:ln w="19050">
            <a:solidFill>
              <a:srgbClr val="7CC0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250C75-FDBB-B149-E7C5-45B31BDB3BD4}"/>
              </a:ext>
            </a:extLst>
          </p:cNvPr>
          <p:cNvCxnSpPr>
            <a:cxnSpLocks/>
          </p:cNvCxnSpPr>
          <p:nvPr/>
        </p:nvCxnSpPr>
        <p:spPr>
          <a:xfrm>
            <a:off x="1194387" y="3423686"/>
            <a:ext cx="0" cy="917945"/>
          </a:xfrm>
          <a:prstGeom prst="straightConnector1">
            <a:avLst/>
          </a:prstGeom>
          <a:ln>
            <a:solidFill>
              <a:srgbClr val="7CC04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50988488-AF07-5E11-2BDD-9729C15B64B6}"/>
              </a:ext>
            </a:extLst>
          </p:cNvPr>
          <p:cNvSpPr txBox="1"/>
          <p:nvPr/>
        </p:nvSpPr>
        <p:spPr>
          <a:xfrm>
            <a:off x="705270" y="3036138"/>
            <a:ext cx="1878441" cy="415498"/>
          </a:xfrm>
          <a:prstGeom prst="rect">
            <a:avLst/>
          </a:prstGeom>
          <a:solidFill>
            <a:schemeClr val="bg1"/>
          </a:solidFill>
          <a:ln>
            <a:solidFill>
              <a:srgbClr val="7CC04D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7CC04D"/>
                </a:solidFill>
                <a:latin typeface="Aptos" panose="020B0004020202020204" pitchFamily="34" charset="0"/>
              </a:rPr>
              <a:t>BETTER CAPTURE OF REAL-WORLD TAIL EVENTS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6A22526-0E03-2665-EC2D-171FAE076FE5}"/>
              </a:ext>
            </a:extLst>
          </p:cNvPr>
          <p:cNvSpPr txBox="1"/>
          <p:nvPr/>
        </p:nvSpPr>
        <p:spPr>
          <a:xfrm rot="1668696">
            <a:off x="460823" y="2819104"/>
            <a:ext cx="3737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✅</a:t>
            </a:r>
            <a:endParaRPr lang="en-US" dirty="0"/>
          </a:p>
        </p:txBody>
      </p:sp>
      <p:graphicFrame>
        <p:nvGraphicFramePr>
          <p:cNvPr id="27" name="Object 26">
            <a:extLst>
              <a:ext uri="{FF2B5EF4-FFF2-40B4-BE49-F238E27FC236}">
                <a16:creationId xmlns:a16="http://schemas.microsoft.com/office/drawing/2014/main" id="{4F675494-88FC-5DC6-2D19-4CAF67A7826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2871989"/>
              </p:ext>
            </p:extLst>
          </p:nvPr>
        </p:nvGraphicFramePr>
        <p:xfrm>
          <a:off x="5912736" y="2854194"/>
          <a:ext cx="2540148" cy="128187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4102100" imgH="2070100" progId="Excel.Sheet.12">
                  <p:embed/>
                </p:oleObj>
              </mc:Choice>
              <mc:Fallback>
                <p:oleObj name="Worksheet" r:id="rId3" imgW="4102100" imgH="20701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912736" y="2854194"/>
                        <a:ext cx="2540148" cy="128187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" name="Rectangle 27">
            <a:extLst>
              <a:ext uri="{FF2B5EF4-FFF2-40B4-BE49-F238E27FC236}">
                <a16:creationId xmlns:a16="http://schemas.microsoft.com/office/drawing/2014/main" id="{3F736EBC-1E8E-485B-DFDB-922AE6B019A6}"/>
              </a:ext>
            </a:extLst>
          </p:cNvPr>
          <p:cNvSpPr/>
          <p:nvPr/>
        </p:nvSpPr>
        <p:spPr>
          <a:xfrm>
            <a:off x="5911702" y="2860158"/>
            <a:ext cx="2530549" cy="127590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5099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EE856-C901-FF68-A896-340EF470A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831C97-B8FD-ADED-555B-7172C37C91E1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Sample Portfolio Risk and Return Analysis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7DFE78-E2CF-5F9E-A512-6EC39A7B3DED}"/>
              </a:ext>
            </a:extLst>
          </p:cNvPr>
          <p:cNvSpPr txBox="1"/>
          <p:nvPr/>
        </p:nvSpPr>
        <p:spPr>
          <a:xfrm>
            <a:off x="302496" y="1003170"/>
            <a:ext cx="8539009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Forward Looking Portfolio Risk and </a:t>
            </a:r>
            <a:r>
              <a:rPr lang="en-US"/>
              <a:t>Return Analytics </a:t>
            </a:r>
            <a:endParaRPr lang="en-US" dirty="0"/>
          </a:p>
        </p:txBody>
      </p:sp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71C636B3-34E4-B9EB-D790-CDD89E4138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19626493"/>
              </p:ext>
            </p:extLst>
          </p:nvPr>
        </p:nvGraphicFramePr>
        <p:xfrm>
          <a:off x="478658" y="1424012"/>
          <a:ext cx="3563796" cy="481950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5803900" imgH="7848600" progId="Excel.Sheet.12">
                  <p:embed/>
                </p:oleObj>
              </mc:Choice>
              <mc:Fallback>
                <p:oleObj name="Worksheet" r:id="rId2" imgW="5803900" imgH="78486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478658" y="1424012"/>
                        <a:ext cx="3563796" cy="481950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Object 8">
            <a:extLst>
              <a:ext uri="{FF2B5EF4-FFF2-40B4-BE49-F238E27FC236}">
                <a16:creationId xmlns:a16="http://schemas.microsoft.com/office/drawing/2014/main" id="{BA9D689C-CEBF-85B7-5F2F-88913F5BB31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88781438"/>
              </p:ext>
            </p:extLst>
          </p:nvPr>
        </p:nvGraphicFramePr>
        <p:xfrm>
          <a:off x="4596667" y="1777843"/>
          <a:ext cx="3976526" cy="410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032500" imgH="6223000" progId="Excel.Sheet.12">
                  <p:embed/>
                </p:oleObj>
              </mc:Choice>
              <mc:Fallback>
                <p:oleObj name="Worksheet" r:id="rId4" imgW="6032500" imgH="62230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596667" y="1777843"/>
                        <a:ext cx="3976526" cy="4102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D16B4329-6EFE-196D-D94A-9B60009C7E1E}"/>
              </a:ext>
            </a:extLst>
          </p:cNvPr>
          <p:cNvSpPr txBox="1"/>
          <p:nvPr/>
        </p:nvSpPr>
        <p:spPr>
          <a:xfrm>
            <a:off x="338291" y="588604"/>
            <a:ext cx="77473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Base Currency: USD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0BE04B9-7B16-9B76-E4AC-9FC610AA1899}"/>
              </a:ext>
            </a:extLst>
          </p:cNvPr>
          <p:cNvCxnSpPr/>
          <p:nvPr/>
        </p:nvCxnSpPr>
        <p:spPr>
          <a:xfrm>
            <a:off x="302496" y="6436242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EF60B05-2298-2A08-B562-00A35E0A143E}"/>
              </a:ext>
            </a:extLst>
          </p:cNvPr>
          <p:cNvSpPr txBox="1"/>
          <p:nvPr/>
        </p:nvSpPr>
        <p:spPr>
          <a:xfrm>
            <a:off x="237947" y="6470773"/>
            <a:ext cx="85964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baseline="30000" dirty="0">
                <a:latin typeface="Grotesque Light" panose="020B0304020202020204" pitchFamily="34" charset="0"/>
              </a:rPr>
              <a:t>1</a:t>
            </a:r>
            <a:r>
              <a:rPr lang="en-US" sz="700" dirty="0">
                <a:latin typeface="Grotesque Light" panose="020B0304020202020204" pitchFamily="34" charset="0"/>
              </a:rPr>
              <a:t>Predicted performance over stress periods captures the expected cumulative portfolio performance should a similar type economic shock happens again in the future. Past performance is not indicative of future results, which may vary. Not investment advice.</a:t>
            </a:r>
          </a:p>
        </p:txBody>
      </p:sp>
    </p:spTree>
    <p:extLst>
      <p:ext uri="{BB962C8B-B14F-4D97-AF65-F5344CB8AC3E}">
        <p14:creationId xmlns:p14="http://schemas.microsoft.com/office/powerpoint/2010/main" val="2636714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058801-7EA8-BE34-422D-B22A73EB1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027511-E1A0-5646-C7ED-AF8203B013F3}"/>
              </a:ext>
            </a:extLst>
          </p:cNvPr>
          <p:cNvSpPr txBox="1"/>
          <p:nvPr/>
        </p:nvSpPr>
        <p:spPr>
          <a:xfrm>
            <a:off x="302495" y="311996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Portfolio Risk</a:t>
            </a:r>
            <a:r>
              <a:rPr lang="en-US" sz="2000" baseline="30000" dirty="0">
                <a:latin typeface="Grotesque Light" panose="020B0304020202020204" pitchFamily="34" charset="0"/>
              </a:rPr>
              <a:t>1</a:t>
            </a:r>
            <a:r>
              <a:rPr lang="en-US" sz="2000" dirty="0">
                <a:latin typeface="Grotesque Light" panose="020B0304020202020204" pitchFamily="34" charset="0"/>
              </a:rPr>
              <a:t> Decomposition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C65087-5F7A-9CC0-C4F8-18C39F468874}"/>
              </a:ext>
            </a:extLst>
          </p:cNvPr>
          <p:cNvSpPr txBox="1"/>
          <p:nvPr/>
        </p:nvSpPr>
        <p:spPr>
          <a:xfrm>
            <a:off x="302495" y="1155211"/>
            <a:ext cx="3998843" cy="261610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Risk </a:t>
            </a:r>
            <a:r>
              <a:rPr lang="en-US"/>
              <a:t>Decomposition by Asset Class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CD0A72-9B7D-06B1-1085-AC7870394F3A}"/>
              </a:ext>
            </a:extLst>
          </p:cNvPr>
          <p:cNvSpPr txBox="1"/>
          <p:nvPr/>
        </p:nvSpPr>
        <p:spPr>
          <a:xfrm>
            <a:off x="4520794" y="1160191"/>
            <a:ext cx="4320711" cy="261610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Risk </a:t>
            </a:r>
            <a:r>
              <a:rPr lang="en-US"/>
              <a:t>Decomposition by FX Exposure</a:t>
            </a:r>
            <a:endParaRPr lang="en-US" dirty="0"/>
          </a:p>
        </p:txBody>
      </p:sp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7CF8B335-84BD-19F5-3C3B-2FFA69D0083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89702999"/>
              </p:ext>
            </p:extLst>
          </p:nvPr>
        </p:nvGraphicFramePr>
        <p:xfrm>
          <a:off x="416530" y="1671713"/>
          <a:ext cx="3636661" cy="42431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Oval 10">
            <a:extLst>
              <a:ext uri="{FF2B5EF4-FFF2-40B4-BE49-F238E27FC236}">
                <a16:creationId xmlns:a16="http://schemas.microsoft.com/office/drawing/2014/main" id="{AB950D54-8C89-40B7-6CFD-0A37722B79D8}"/>
              </a:ext>
            </a:extLst>
          </p:cNvPr>
          <p:cNvSpPr/>
          <p:nvPr/>
        </p:nvSpPr>
        <p:spPr>
          <a:xfrm>
            <a:off x="3636659" y="4890200"/>
            <a:ext cx="337721" cy="333929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5" name="Chart 14">
            <a:extLst>
              <a:ext uri="{FF2B5EF4-FFF2-40B4-BE49-F238E27FC236}">
                <a16:creationId xmlns:a16="http://schemas.microsoft.com/office/drawing/2014/main" id="{6BBF2552-DA96-5A44-9E94-D86247C8620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07538140"/>
              </p:ext>
            </p:extLst>
          </p:nvPr>
        </p:nvGraphicFramePr>
        <p:xfrm>
          <a:off x="4429327" y="1735208"/>
          <a:ext cx="4202349" cy="170620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34DED66C-AE00-1949-59D0-B0455183828A}"/>
              </a:ext>
            </a:extLst>
          </p:cNvPr>
          <p:cNvSpPr txBox="1"/>
          <p:nvPr/>
        </p:nvSpPr>
        <p:spPr>
          <a:xfrm>
            <a:off x="4474723" y="3754287"/>
            <a:ext cx="4252747" cy="261610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Portfolio Risk Under Various Currency </a:t>
            </a:r>
            <a:r>
              <a:rPr lang="en-US"/>
              <a:t>Hedging Scenarios</a:t>
            </a:r>
            <a:endParaRPr lang="en-US" dirty="0"/>
          </a:p>
        </p:txBody>
      </p:sp>
      <p:graphicFrame>
        <p:nvGraphicFramePr>
          <p:cNvPr id="17" name="Chart 16">
            <a:extLst>
              <a:ext uri="{FF2B5EF4-FFF2-40B4-BE49-F238E27FC236}">
                <a16:creationId xmlns:a16="http://schemas.microsoft.com/office/drawing/2014/main" id="{C86B274B-F430-D553-8FEB-31F4119C3A7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4445927"/>
              </p:ext>
            </p:extLst>
          </p:nvPr>
        </p:nvGraphicFramePr>
        <p:xfrm>
          <a:off x="4753583" y="4224739"/>
          <a:ext cx="3761767" cy="18097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26157E1D-4D6A-EAB3-8A6E-CFF040D370F2}"/>
              </a:ext>
            </a:extLst>
          </p:cNvPr>
          <p:cNvSpPr txBox="1"/>
          <p:nvPr/>
        </p:nvSpPr>
        <p:spPr>
          <a:xfrm>
            <a:off x="7168028" y="4186286"/>
            <a:ext cx="1559442" cy="507831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marL="171450" indent="-171450" algn="ctr">
              <a:buFont typeface="Arial" panose="020B0604020202020204" pitchFamily="34" charset="0"/>
              <a:buChar char="•"/>
              <a:defRPr sz="110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indent="0">
              <a:buNone/>
            </a:pPr>
            <a:r>
              <a:rPr lang="en-US" sz="900" dirty="0"/>
              <a:t>The portfolio volatility can be minimized further by hedging all foreign currencies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EE5745D-8085-8D77-A4F5-1102756F63B1}"/>
              </a:ext>
            </a:extLst>
          </p:cNvPr>
          <p:cNvCxnSpPr/>
          <p:nvPr/>
        </p:nvCxnSpPr>
        <p:spPr>
          <a:xfrm>
            <a:off x="302495" y="6500036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E9630B3-32EF-D46C-D1E8-D1FFCC088C93}"/>
              </a:ext>
            </a:extLst>
          </p:cNvPr>
          <p:cNvSpPr txBox="1"/>
          <p:nvPr/>
        </p:nvSpPr>
        <p:spPr>
          <a:xfrm>
            <a:off x="245035" y="6581915"/>
            <a:ext cx="774737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baseline="30000" dirty="0">
                <a:latin typeface="Grotesque Light" panose="020B0304020202020204" pitchFamily="34" charset="0"/>
              </a:rPr>
              <a:t>1</a:t>
            </a:r>
            <a:r>
              <a:rPr lang="en-US" sz="700" dirty="0">
                <a:latin typeface="Grotesque Light" panose="020B0304020202020204" pitchFamily="34" charset="0"/>
              </a:rPr>
              <a:t>Risk is quantified by the ex-ante variance of portfolio returns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23FC3FD-33ED-8790-CE85-20C66D68F3D1}"/>
              </a:ext>
            </a:extLst>
          </p:cNvPr>
          <p:cNvCxnSpPr>
            <a:cxnSpLocks/>
          </p:cNvCxnSpPr>
          <p:nvPr/>
        </p:nvCxnSpPr>
        <p:spPr>
          <a:xfrm>
            <a:off x="3805519" y="4362113"/>
            <a:ext cx="0" cy="513911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FFF632F-7A25-C3F1-5485-0D4D4F153500}"/>
              </a:ext>
            </a:extLst>
          </p:cNvPr>
          <p:cNvSpPr txBox="1"/>
          <p:nvPr/>
        </p:nvSpPr>
        <p:spPr>
          <a:xfrm>
            <a:off x="2716978" y="3854282"/>
            <a:ext cx="1395403" cy="646331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Calibri Light" panose="020F0302020204030204" pitchFamily="34" charset="0"/>
                <a:cs typeface="Calibri Light" panose="020F0302020204030204" pitchFamily="34" charset="0"/>
              </a:rPr>
              <a:t>Close to half of the portfolio volatility is driven by exposure to US Equity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D4AB2C-DB9C-7329-2CBD-82ADC4950067}"/>
              </a:ext>
            </a:extLst>
          </p:cNvPr>
          <p:cNvSpPr txBox="1"/>
          <p:nvPr/>
        </p:nvSpPr>
        <p:spPr>
          <a:xfrm>
            <a:off x="317027" y="624044"/>
            <a:ext cx="77473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Base Currency: USD</a:t>
            </a:r>
          </a:p>
        </p:txBody>
      </p:sp>
    </p:spTree>
    <p:extLst>
      <p:ext uri="{BB962C8B-B14F-4D97-AF65-F5344CB8AC3E}">
        <p14:creationId xmlns:p14="http://schemas.microsoft.com/office/powerpoint/2010/main" val="9415807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547D3-69BF-4848-16EB-8DEE57A55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7C8BF4C-58D3-640F-09F0-4D52535DBB73}"/>
              </a:ext>
            </a:extLst>
          </p:cNvPr>
          <p:cNvSpPr txBox="1"/>
          <p:nvPr/>
        </p:nvSpPr>
        <p:spPr>
          <a:xfrm>
            <a:off x="317027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Portfolio Factor Decomposition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4C6099-039A-C340-A268-BD7F3DF29FB2}"/>
              </a:ext>
            </a:extLst>
          </p:cNvPr>
          <p:cNvSpPr txBox="1"/>
          <p:nvPr/>
        </p:nvSpPr>
        <p:spPr>
          <a:xfrm>
            <a:off x="302495" y="1109211"/>
            <a:ext cx="3998843" cy="261610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sz="1100"/>
              <a:t>Excess Return </a:t>
            </a:r>
            <a:r>
              <a:rPr lang="en-US" sz="1100" dirty="0"/>
              <a:t>Decomposition </a:t>
            </a:r>
            <a:r>
              <a:rPr lang="en-US" sz="1100"/>
              <a:t>by Factor</a:t>
            </a:r>
            <a:endParaRPr lang="en-US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6F0554-EBD5-6754-F517-9DE8E5BC07FB}"/>
              </a:ext>
            </a:extLst>
          </p:cNvPr>
          <p:cNvSpPr txBox="1"/>
          <p:nvPr/>
        </p:nvSpPr>
        <p:spPr>
          <a:xfrm>
            <a:off x="4520794" y="1101221"/>
            <a:ext cx="4320711" cy="261610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Portfolio Loss Given 2 Standard Deviation Factor Shock</a:t>
            </a:r>
            <a:endParaRPr lang="en-US" dirty="0"/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DB9802A8-594D-AEE9-98F2-701F267832F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0111165"/>
              </p:ext>
            </p:extLst>
          </p:nvPr>
        </p:nvGraphicFramePr>
        <p:xfrm>
          <a:off x="412480" y="1565269"/>
          <a:ext cx="3799499" cy="400782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AF3683AD-052A-4312-F594-807ADDD9F44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36721824"/>
              </p:ext>
            </p:extLst>
          </p:nvPr>
        </p:nvGraphicFramePr>
        <p:xfrm>
          <a:off x="4572000" y="1475380"/>
          <a:ext cx="4089843" cy="39793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AC963BCA-E6F3-3457-521C-53C1B623FFFE}"/>
              </a:ext>
            </a:extLst>
          </p:cNvPr>
          <p:cNvSpPr txBox="1"/>
          <p:nvPr/>
        </p:nvSpPr>
        <p:spPr>
          <a:xfrm>
            <a:off x="317027" y="624044"/>
            <a:ext cx="77473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Base Currency: USD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22AD8A8-7963-D5BB-5A1F-1EFB1D80261C}"/>
              </a:ext>
            </a:extLst>
          </p:cNvPr>
          <p:cNvCxnSpPr/>
          <p:nvPr/>
        </p:nvCxnSpPr>
        <p:spPr>
          <a:xfrm>
            <a:off x="302495" y="6500036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84130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ED990-EDA5-93B9-1247-B2BA65E01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00000000-0008-0000-0400-000003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15827551"/>
              </p:ext>
            </p:extLst>
          </p:nvPr>
        </p:nvGraphicFramePr>
        <p:xfrm>
          <a:off x="338291" y="1451869"/>
          <a:ext cx="6027608" cy="40135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77721431-2CC8-123C-C694-FD7352C7CCC7}"/>
              </a:ext>
            </a:extLst>
          </p:cNvPr>
          <p:cNvSpPr txBox="1"/>
          <p:nvPr/>
        </p:nvSpPr>
        <p:spPr>
          <a:xfrm>
            <a:off x="302496" y="1023947"/>
            <a:ext cx="8539009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Evolution of Nominal Portfolio Value Paths, Over 20 Years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BECEF5-8C2E-0B67-5638-CF5F6375D00B}"/>
              </a:ext>
            </a:extLst>
          </p:cNvPr>
          <p:cNvSpPr txBox="1"/>
          <p:nvPr/>
        </p:nvSpPr>
        <p:spPr>
          <a:xfrm>
            <a:off x="6702254" y="3487370"/>
            <a:ext cx="205739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Reference Portfolio Median Case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6050885-67A2-1CA1-F36C-E38993B1A687}"/>
              </a:ext>
            </a:extLst>
          </p:cNvPr>
          <p:cNvCxnSpPr/>
          <p:nvPr/>
        </p:nvCxnSpPr>
        <p:spPr>
          <a:xfrm flipH="1">
            <a:off x="6442679" y="3603501"/>
            <a:ext cx="22336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436186C-024D-7652-ADED-5A90AE8DEFBE}"/>
              </a:ext>
            </a:extLst>
          </p:cNvPr>
          <p:cNvSpPr txBox="1"/>
          <p:nvPr/>
        </p:nvSpPr>
        <p:spPr>
          <a:xfrm>
            <a:off x="6702254" y="3183584"/>
            <a:ext cx="205739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SAA Portfolio Median Case </a:t>
            </a:r>
            <a:r>
              <a:rPr lang="en-US" sz="1000" dirty="0">
                <a:solidFill>
                  <a:srgbClr val="7CC04D"/>
                </a:solidFill>
              </a:rPr>
              <a:t>(+74mn)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25912D7-CFD8-EE30-39EB-9BF033520932}"/>
              </a:ext>
            </a:extLst>
          </p:cNvPr>
          <p:cNvCxnSpPr/>
          <p:nvPr/>
        </p:nvCxnSpPr>
        <p:spPr>
          <a:xfrm flipH="1">
            <a:off x="6442679" y="3299715"/>
            <a:ext cx="22336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1BF37A9-8B5D-F983-1FC3-258D70E7A3FF}"/>
              </a:ext>
            </a:extLst>
          </p:cNvPr>
          <p:cNvSpPr txBox="1"/>
          <p:nvPr/>
        </p:nvSpPr>
        <p:spPr>
          <a:xfrm>
            <a:off x="460745" y="5537147"/>
            <a:ext cx="8380760" cy="769441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In the median case, the SAA portfolio would be expected to grow to around $373, in nominal terms, representing $74 additional growth over the reference portfolio over the 20-year horizon.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endParaRPr lang="en-US" sz="11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In the very bad case, the portfolio would still be expected to grow in nominal terms.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901AA9-D0BE-D819-A9C8-11348B06BC8C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Portfolio Wealth Projections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5936D7F-89B8-C8B5-D050-7B14494E386D}"/>
              </a:ext>
            </a:extLst>
          </p:cNvPr>
          <p:cNvSpPr txBox="1"/>
          <p:nvPr/>
        </p:nvSpPr>
        <p:spPr>
          <a:xfrm>
            <a:off x="338291" y="588604"/>
            <a:ext cx="77473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Currency: USD. </a:t>
            </a:r>
            <a:r>
              <a:rPr lang="en-US" sz="1200" i="1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No Inflows or Outflows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E28A640-95FF-CC71-4B29-1BB1163BB34E}"/>
              </a:ext>
            </a:extLst>
          </p:cNvPr>
          <p:cNvCxnSpPr/>
          <p:nvPr/>
        </p:nvCxnSpPr>
        <p:spPr>
          <a:xfrm>
            <a:off x="302495" y="6500036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30911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06753-B0B4-376E-9014-32E18E3B9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5CF33C7-9276-F324-2DCB-69624477106F}"/>
              </a:ext>
            </a:extLst>
          </p:cNvPr>
          <p:cNvSpPr txBox="1"/>
          <p:nvPr/>
        </p:nvSpPr>
        <p:spPr>
          <a:xfrm>
            <a:off x="338291" y="23326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Portfolio Capital Preservation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6090D4-F37F-CE20-B207-BD276D0E5E63}"/>
              </a:ext>
            </a:extLst>
          </p:cNvPr>
          <p:cNvSpPr txBox="1"/>
          <p:nvPr/>
        </p:nvSpPr>
        <p:spPr>
          <a:xfrm>
            <a:off x="302496" y="1039422"/>
            <a:ext cx="8539009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Portfolio Wealth Illustrations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BA0733-B160-F21F-F7CC-59D810F719E8}"/>
              </a:ext>
            </a:extLst>
          </p:cNvPr>
          <p:cNvSpPr txBox="1"/>
          <p:nvPr/>
        </p:nvSpPr>
        <p:spPr>
          <a:xfrm>
            <a:off x="338291" y="567664"/>
            <a:ext cx="77473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Currency: USD. </a:t>
            </a:r>
            <a:r>
              <a:rPr lang="en-US" sz="1200" i="1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5.5 Million Yearly Spend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48886F-8D60-E291-30E0-633BA85B9EC4}"/>
              </a:ext>
            </a:extLst>
          </p:cNvPr>
          <p:cNvSpPr txBox="1"/>
          <p:nvPr/>
        </p:nvSpPr>
        <p:spPr>
          <a:xfrm>
            <a:off x="781997" y="5578593"/>
            <a:ext cx="7831295" cy="600164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With a spend of $5.5mm per year, some amount of real capital destruction would be expected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endParaRPr lang="en-US" sz="11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In the very bad case, the portfolio could experience full capital depletion within the 20-year investment horizon.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F78CF40-D4D8-9660-A548-E92F41683D22}"/>
              </a:ext>
            </a:extLst>
          </p:cNvPr>
          <p:cNvGrpSpPr/>
          <p:nvPr/>
        </p:nvGrpSpPr>
        <p:grpSpPr>
          <a:xfrm>
            <a:off x="302495" y="1556951"/>
            <a:ext cx="8539009" cy="3797339"/>
            <a:chOff x="302495" y="1530330"/>
            <a:chExt cx="8539009" cy="3797339"/>
          </a:xfrm>
        </p:grpSpPr>
        <p:graphicFrame>
          <p:nvGraphicFramePr>
            <p:cNvPr id="11" name="Chart 10">
              <a:extLst>
                <a:ext uri="{FF2B5EF4-FFF2-40B4-BE49-F238E27FC236}">
                  <a16:creationId xmlns:a16="http://schemas.microsoft.com/office/drawing/2014/main" id="{00000000-0008-0000-0A00-000004000000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431744640"/>
                </p:ext>
              </p:extLst>
            </p:nvPr>
          </p:nvGraphicFramePr>
          <p:xfrm>
            <a:off x="302495" y="1530330"/>
            <a:ext cx="8539009" cy="373152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graphicFrame>
          <p:nvGraphicFramePr>
            <p:cNvPr id="12" name="Chart 11">
              <a:extLst>
                <a:ext uri="{FF2B5EF4-FFF2-40B4-BE49-F238E27FC236}">
                  <a16:creationId xmlns:a16="http://schemas.microsoft.com/office/drawing/2014/main" id="{00000000-0008-0000-0A00-000002000000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432867668"/>
                </p:ext>
              </p:extLst>
            </p:nvPr>
          </p:nvGraphicFramePr>
          <p:xfrm>
            <a:off x="4572000" y="1604152"/>
            <a:ext cx="4194356" cy="3723517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4A58B946-1E66-5757-23B5-C88CFA7B8CCC}"/>
              </a:ext>
            </a:extLst>
          </p:cNvPr>
          <p:cNvSpPr txBox="1"/>
          <p:nvPr/>
        </p:nvSpPr>
        <p:spPr>
          <a:xfrm>
            <a:off x="302495" y="1364065"/>
            <a:ext cx="3998843" cy="26161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Portfolio Value Paths, Adjusted for Inflation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1F41FD-7777-AE1B-F2E4-708DDEF2DFBD}"/>
              </a:ext>
            </a:extLst>
          </p:cNvPr>
          <p:cNvSpPr txBox="1"/>
          <p:nvPr/>
        </p:nvSpPr>
        <p:spPr>
          <a:xfrm>
            <a:off x="4520794" y="1362947"/>
            <a:ext cx="4320711" cy="252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Yearly Real Outflow Quantiles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63BDF97-9B99-2D27-41D9-DEC946834A66}"/>
              </a:ext>
            </a:extLst>
          </p:cNvPr>
          <p:cNvSpPr/>
          <p:nvPr/>
        </p:nvSpPr>
        <p:spPr>
          <a:xfrm>
            <a:off x="4069209" y="3329480"/>
            <a:ext cx="328067" cy="31410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E86B78B-78CC-57BB-7545-15F07EA2C1BC}"/>
              </a:ext>
            </a:extLst>
          </p:cNvPr>
          <p:cNvCxnSpPr/>
          <p:nvPr/>
        </p:nvCxnSpPr>
        <p:spPr>
          <a:xfrm>
            <a:off x="935125" y="3226290"/>
            <a:ext cx="335203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D7BBA2E-CEE7-A857-7C2A-611D396E98CB}"/>
              </a:ext>
            </a:extLst>
          </p:cNvPr>
          <p:cNvCxnSpPr/>
          <p:nvPr/>
        </p:nvCxnSpPr>
        <p:spPr>
          <a:xfrm>
            <a:off x="302495" y="6500036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62027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47BA1-F357-E0B7-CABB-755AE6473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Chart 12">
            <a:extLst>
              <a:ext uri="{FF2B5EF4-FFF2-40B4-BE49-F238E27FC236}">
                <a16:creationId xmlns:a16="http://schemas.microsoft.com/office/drawing/2014/main" id="{CC15D3C2-5CA1-C2CB-08BA-53429653B77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81687004"/>
              </p:ext>
            </p:extLst>
          </p:nvPr>
        </p:nvGraphicFramePr>
        <p:xfrm>
          <a:off x="506415" y="1394134"/>
          <a:ext cx="8131170" cy="42269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82040C3-DBCE-44EA-1E31-B426D2AE9161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Probability of Wealth Preservation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D7F05CC-8F1F-EA77-0228-AE616BC5229B}"/>
              </a:ext>
            </a:extLst>
          </p:cNvPr>
          <p:cNvSpPr txBox="1"/>
          <p:nvPr/>
        </p:nvSpPr>
        <p:spPr>
          <a:xfrm>
            <a:off x="302496" y="982066"/>
            <a:ext cx="8539009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Probability of Real Wealth Preservation Across Spending Levels and Investment Horizon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20E49B-4298-6478-3440-3F151A56BC66}"/>
              </a:ext>
            </a:extLst>
          </p:cNvPr>
          <p:cNvSpPr txBox="1"/>
          <p:nvPr/>
        </p:nvSpPr>
        <p:spPr>
          <a:xfrm>
            <a:off x="656353" y="5665542"/>
            <a:ext cx="7831295" cy="600164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With a spend of $5.5mm per year, some amount of real capital destruction would be expected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endParaRPr lang="en-US" sz="11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In the very bad case, the portfolio could experience full capital depletion within the 20-year investment horizon.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7D334C0-FFCA-96A4-A6A0-0C57C89EAA6B}"/>
              </a:ext>
            </a:extLst>
          </p:cNvPr>
          <p:cNvCxnSpPr>
            <a:cxnSpLocks/>
          </p:cNvCxnSpPr>
          <p:nvPr/>
        </p:nvCxnSpPr>
        <p:spPr>
          <a:xfrm>
            <a:off x="1047022" y="3371414"/>
            <a:ext cx="740594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348B962-3241-D66C-0A45-32755C423AAB}"/>
              </a:ext>
            </a:extLst>
          </p:cNvPr>
          <p:cNvCxnSpPr/>
          <p:nvPr/>
        </p:nvCxnSpPr>
        <p:spPr>
          <a:xfrm>
            <a:off x="302495" y="6500036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32478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AE7AB-3BA2-EB9A-40E3-B4974B1F0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498BBE-9EFF-A4C1-6BF5-3F50123268F9}"/>
              </a:ext>
            </a:extLst>
          </p:cNvPr>
          <p:cNvSpPr txBox="1"/>
          <p:nvPr/>
        </p:nvSpPr>
        <p:spPr>
          <a:xfrm>
            <a:off x="302496" y="781105"/>
            <a:ext cx="8539009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Forward Looking Portfolio Risk and Return Analytics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A8E11F-A6B8-F6B2-683E-79503EFB2D1D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Portfolio Optimizations</a:t>
            </a:r>
          </a:p>
        </p:txBody>
      </p:sp>
      <p:graphicFrame>
        <p:nvGraphicFramePr>
          <p:cNvPr id="9" name="Object 8">
            <a:extLst>
              <a:ext uri="{FF2B5EF4-FFF2-40B4-BE49-F238E27FC236}">
                <a16:creationId xmlns:a16="http://schemas.microsoft.com/office/drawing/2014/main" id="{98C08494-0D8D-C4CF-6B63-C25AA115384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3286409"/>
              </p:ext>
            </p:extLst>
          </p:nvPr>
        </p:nvGraphicFramePr>
        <p:xfrm>
          <a:off x="865634" y="1087814"/>
          <a:ext cx="7412733" cy="53125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12280900" imgH="8801100" progId="Excel.Sheet.12">
                  <p:embed/>
                </p:oleObj>
              </mc:Choice>
              <mc:Fallback>
                <p:oleObj name="Worksheet" r:id="rId2" imgW="12280900" imgH="88011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865634" y="1087814"/>
                        <a:ext cx="7412733" cy="53125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AFA4E2B-27E8-88AF-FF21-E6E637E6A6C7}"/>
              </a:ext>
            </a:extLst>
          </p:cNvPr>
          <p:cNvCxnSpPr/>
          <p:nvPr/>
        </p:nvCxnSpPr>
        <p:spPr>
          <a:xfrm>
            <a:off x="302495" y="6500036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38439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89C3F-D813-D027-1F00-1244E8081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328091A7-2BFA-AAA3-1338-E6F87061238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53531991"/>
              </p:ext>
            </p:extLst>
          </p:nvPr>
        </p:nvGraphicFramePr>
        <p:xfrm>
          <a:off x="338291" y="1255231"/>
          <a:ext cx="8439419" cy="530442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13881100" imgH="8724900" progId="Excel.Sheet.12">
                  <p:embed/>
                </p:oleObj>
              </mc:Choice>
              <mc:Fallback>
                <p:oleObj name="Worksheet" r:id="rId2" imgW="13881100" imgH="87249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38291" y="1255231"/>
                        <a:ext cx="8439419" cy="530442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D9A2B41A-189A-6BFF-155D-4DBF5DF27FA6}"/>
              </a:ext>
            </a:extLst>
          </p:cNvPr>
          <p:cNvSpPr txBox="1"/>
          <p:nvPr/>
        </p:nvSpPr>
        <p:spPr>
          <a:xfrm>
            <a:off x="302496" y="919246"/>
            <a:ext cx="8539009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Forward Looking Portfolio Risk and Return Analytics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D1AD8D-C50F-D0A5-6C28-1F235C4463D8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Portfolio Optimizations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9263B4F-ED14-09DE-D72D-36EF1B6F10FF}"/>
              </a:ext>
            </a:extLst>
          </p:cNvPr>
          <p:cNvCxnSpPr/>
          <p:nvPr/>
        </p:nvCxnSpPr>
        <p:spPr>
          <a:xfrm>
            <a:off x="302495" y="6592183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3" name="Object 12">
            <a:extLst>
              <a:ext uri="{FF2B5EF4-FFF2-40B4-BE49-F238E27FC236}">
                <a16:creationId xmlns:a16="http://schemas.microsoft.com/office/drawing/2014/main" id="{386A76D8-B4C1-AC8A-C5AC-EF2E3E2B5E7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84856931"/>
              </p:ext>
            </p:extLst>
          </p:nvPr>
        </p:nvGraphicFramePr>
        <p:xfrm>
          <a:off x="366290" y="5602769"/>
          <a:ext cx="1696426" cy="7427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2349500" imgH="1028700" progId="Excel.Sheet.12">
                  <p:embed/>
                </p:oleObj>
              </mc:Choice>
              <mc:Fallback>
                <p:oleObj name="Worksheet" r:id="rId4" imgW="2349500" imgH="10287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66290" y="5602769"/>
                        <a:ext cx="1696426" cy="74276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905412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84BBA-D5B5-C8D2-6FE8-78AE77576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Object 14">
            <a:extLst>
              <a:ext uri="{FF2B5EF4-FFF2-40B4-BE49-F238E27FC236}">
                <a16:creationId xmlns:a16="http://schemas.microsoft.com/office/drawing/2014/main" id="{E9D295AC-F777-745F-6A90-B3A88C942A8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00557007"/>
              </p:ext>
            </p:extLst>
          </p:nvPr>
        </p:nvGraphicFramePr>
        <p:xfrm>
          <a:off x="1551072" y="1196245"/>
          <a:ext cx="6041857" cy="454865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8890000" imgH="6692900" progId="Excel.Sheet.12">
                  <p:embed/>
                </p:oleObj>
              </mc:Choice>
              <mc:Fallback>
                <p:oleObj name="Worksheet" r:id="rId2" imgW="8890000" imgH="66929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51072" y="1196245"/>
                        <a:ext cx="6041857" cy="454865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C120C29-EB57-CA8E-AE1E-04A1D144A0CD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Concentrated Equity Position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1D486EC-85B1-5F82-9EF8-6DCE82811978}"/>
              </a:ext>
            </a:extLst>
          </p:cNvPr>
          <p:cNvSpPr txBox="1"/>
          <p:nvPr/>
        </p:nvSpPr>
        <p:spPr>
          <a:xfrm>
            <a:off x="1131488" y="899511"/>
            <a:ext cx="6881024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Forward Looking Portfolio Risk and Return Analytics 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C12DECC-AF5E-E916-A756-E570658541B3}"/>
              </a:ext>
            </a:extLst>
          </p:cNvPr>
          <p:cNvSpPr/>
          <p:nvPr/>
        </p:nvSpPr>
        <p:spPr>
          <a:xfrm>
            <a:off x="4039149" y="5552183"/>
            <a:ext cx="447332" cy="195252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49097A-2074-1F71-DA1C-A9A8F7F5C01A}"/>
              </a:ext>
            </a:extLst>
          </p:cNvPr>
          <p:cNvSpPr txBox="1"/>
          <p:nvPr/>
        </p:nvSpPr>
        <p:spPr>
          <a:xfrm>
            <a:off x="2709891" y="6056175"/>
            <a:ext cx="3105848" cy="430887"/>
          </a:xfrm>
          <a:prstGeom prst="rect">
            <a:avLst/>
          </a:prstGeom>
          <a:noFill/>
          <a:ln w="635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Portfolio risk over twice that of an aggressive diversified portfolio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0E68E7F-1AA9-4FA3-6D65-2A1F35FFDF49}"/>
              </a:ext>
            </a:extLst>
          </p:cNvPr>
          <p:cNvCxnSpPr>
            <a:cxnSpLocks/>
            <a:stCxn id="6" idx="0"/>
            <a:endCxn id="5" idx="4"/>
          </p:cNvCxnSpPr>
          <p:nvPr/>
        </p:nvCxnSpPr>
        <p:spPr>
          <a:xfrm flipV="1">
            <a:off x="4262815" y="5747435"/>
            <a:ext cx="0" cy="30874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A4E51727-7245-4EA1-2A00-7329E9D95795}"/>
              </a:ext>
            </a:extLst>
          </p:cNvPr>
          <p:cNvSpPr/>
          <p:nvPr/>
        </p:nvSpPr>
        <p:spPr>
          <a:xfrm>
            <a:off x="1551071" y="4605235"/>
            <a:ext cx="6041856" cy="296029"/>
          </a:xfrm>
          <a:prstGeom prst="rect">
            <a:avLst/>
          </a:prstGeom>
          <a:noFill/>
          <a:ln w="127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EF7EA01-C570-15AA-6B52-8562B22E7961}"/>
              </a:ext>
            </a:extLst>
          </p:cNvPr>
          <p:cNvSpPr txBox="1"/>
          <p:nvPr/>
        </p:nvSpPr>
        <p:spPr>
          <a:xfrm>
            <a:off x="133338" y="6621448"/>
            <a:ext cx="901066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Intel Stock is return is modelled using the stocks designated GICS sector, in this case, S&amp;P 500 Information Technology. The systematic sector risk is adjusted upwards to match the stocks historical trading volatility</a:t>
            </a:r>
          </a:p>
        </p:txBody>
      </p:sp>
    </p:spTree>
    <p:extLst>
      <p:ext uri="{BB962C8B-B14F-4D97-AF65-F5344CB8AC3E}">
        <p14:creationId xmlns:p14="http://schemas.microsoft.com/office/powerpoint/2010/main" val="35697684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46D20-315D-F555-9389-750903EEC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8A19030-9CE5-76E5-87FC-7FAA5049DD76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Concentrated Equity Position Risk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8F7DCD7-C1DF-277F-5BAE-99341680140D}"/>
              </a:ext>
            </a:extLst>
          </p:cNvPr>
          <p:cNvSpPr txBox="1"/>
          <p:nvPr/>
        </p:nvSpPr>
        <p:spPr>
          <a:xfrm>
            <a:off x="498863" y="4224332"/>
            <a:ext cx="3737638" cy="261610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j-lt"/>
              </a:rPr>
              <a:t>Impact of Concentrated Position on Portfolio Value at Risk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9A9E159A-E50C-8CC7-0EA9-439DB6AD9C8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93616478"/>
              </p:ext>
            </p:extLst>
          </p:nvPr>
        </p:nvGraphicFramePr>
        <p:xfrm>
          <a:off x="628650" y="4617510"/>
          <a:ext cx="3391200" cy="179750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52B7A2A-E1EE-2C5C-3561-0527A766C545}"/>
              </a:ext>
            </a:extLst>
          </p:cNvPr>
          <p:cNvSpPr txBox="1"/>
          <p:nvPr/>
        </p:nvSpPr>
        <p:spPr>
          <a:xfrm>
            <a:off x="528730" y="904606"/>
            <a:ext cx="8086541" cy="261610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Most of the risk inherent in a concentrated stock position is idiosyncratic, and absent a strong forward view, it should be diversified away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4E8A25-032E-97F9-E9F8-5A373A8DA7E1}"/>
              </a:ext>
            </a:extLst>
          </p:cNvPr>
          <p:cNvSpPr txBox="1"/>
          <p:nvPr/>
        </p:nvSpPr>
        <p:spPr>
          <a:xfrm>
            <a:off x="4907497" y="4224332"/>
            <a:ext cx="3737639" cy="261610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j-lt"/>
              </a:rPr>
              <a:t>Impact of Concentrated Position on Probability of Loss</a:t>
            </a:r>
          </a:p>
        </p:txBody>
      </p:sp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55BBC4F7-4522-7348-8A20-1AB34DEEBD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10034240"/>
              </p:ext>
            </p:extLst>
          </p:nvPr>
        </p:nvGraphicFramePr>
        <p:xfrm>
          <a:off x="5033632" y="4617510"/>
          <a:ext cx="3391200" cy="18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Chart 13">
            <a:extLst>
              <a:ext uri="{FF2B5EF4-FFF2-40B4-BE49-F238E27FC236}">
                <a16:creationId xmlns:a16="http://schemas.microsoft.com/office/drawing/2014/main" id="{E54BAF49-5A9D-D8DB-8C48-7E8D6386EE6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30943756"/>
              </p:ext>
            </p:extLst>
          </p:nvPr>
        </p:nvGraphicFramePr>
        <p:xfrm>
          <a:off x="5033632" y="1467061"/>
          <a:ext cx="3179411" cy="23645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5D324663-6050-7EEE-6237-D3BC4E61D4D6}"/>
              </a:ext>
            </a:extLst>
          </p:cNvPr>
          <p:cNvSpPr txBox="1"/>
          <p:nvPr/>
        </p:nvSpPr>
        <p:spPr>
          <a:xfrm>
            <a:off x="0" y="6646224"/>
            <a:ext cx="901066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Assumes the risk aversion of an aggressive global investor</a:t>
            </a:r>
          </a:p>
        </p:txBody>
      </p:sp>
      <p:graphicFrame>
        <p:nvGraphicFramePr>
          <p:cNvPr id="16" name="Chart 15">
            <a:extLst>
              <a:ext uri="{FF2B5EF4-FFF2-40B4-BE49-F238E27FC236}">
                <a16:creationId xmlns:a16="http://schemas.microsoft.com/office/drawing/2014/main" id="{98FA5FD0-8933-5964-01AF-93BA1A6BE74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20271080"/>
              </p:ext>
            </p:extLst>
          </p:nvPr>
        </p:nvGraphicFramePr>
        <p:xfrm>
          <a:off x="734544" y="1517401"/>
          <a:ext cx="3179411" cy="24757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26849310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8E2A9-B068-2D8B-D3C3-FB0F3CBF9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DCF5330C-C74E-1CEB-9A43-79F2C202DF98}"/>
              </a:ext>
            </a:extLst>
          </p:cNvPr>
          <p:cNvSpPr/>
          <p:nvPr/>
        </p:nvSpPr>
        <p:spPr>
          <a:xfrm>
            <a:off x="1661276" y="4320716"/>
            <a:ext cx="1765979" cy="642174"/>
          </a:xfrm>
          <a:prstGeom prst="ellipse">
            <a:avLst/>
          </a:prstGeom>
          <a:solidFill>
            <a:srgbClr val="DAE3F3">
              <a:alpha val="41569"/>
            </a:srgbClr>
          </a:solidFill>
          <a:ln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B73F5AFF-436E-81FC-A26E-30B6A624547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40508918"/>
              </p:ext>
            </p:extLst>
          </p:nvPr>
        </p:nvGraphicFramePr>
        <p:xfrm>
          <a:off x="812967" y="1298853"/>
          <a:ext cx="7518065" cy="426029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8B1ECD1-6320-2DBE-194E-1890AAD3A561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Diversification Opportunities by Asset Class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078AD09-1790-4E2A-F252-079321639212}"/>
              </a:ext>
            </a:extLst>
          </p:cNvPr>
          <p:cNvSpPr txBox="1"/>
          <p:nvPr/>
        </p:nvSpPr>
        <p:spPr>
          <a:xfrm>
            <a:off x="302496" y="919246"/>
            <a:ext cx="8539009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Forward Looking Portfolio Risk and Return Analytics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9E8A64-FCD5-1280-7F9B-9B14D5B0AB65}"/>
              </a:ext>
            </a:extLst>
          </p:cNvPr>
          <p:cNvSpPr txBox="1"/>
          <p:nvPr/>
        </p:nvSpPr>
        <p:spPr>
          <a:xfrm>
            <a:off x="1242468" y="5678764"/>
            <a:ext cx="3790221" cy="600164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Ideal diversifiers for holders of Intel stock would be those assets with both low correlation to Intel and low volatility. This means </a:t>
            </a:r>
            <a:r>
              <a:rPr lang="en-US" sz="1100" b="1" i="1" dirty="0">
                <a:latin typeface="Calibri Light" panose="020F0302020204030204" pitchFamily="34" charset="0"/>
                <a:cs typeface="Calibri Light" panose="020F0302020204030204" pitchFamily="34" charset="0"/>
              </a:rPr>
              <a:t>high quality fixed income </a:t>
            </a:r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and </a:t>
            </a:r>
            <a:r>
              <a:rPr lang="en-US" sz="1100" b="1" i="1" dirty="0">
                <a:latin typeface="Calibri Light" panose="020F0302020204030204" pitchFamily="34" charset="0"/>
                <a:cs typeface="Calibri Light" panose="020F0302020204030204" pitchFamily="34" charset="0"/>
              </a:rPr>
              <a:t>tactical trading hedge funds</a:t>
            </a:r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9D8588E-77B9-F670-828E-BD57E3393343}"/>
              </a:ext>
            </a:extLst>
          </p:cNvPr>
          <p:cNvCxnSpPr>
            <a:cxnSpLocks/>
          </p:cNvCxnSpPr>
          <p:nvPr/>
        </p:nvCxnSpPr>
        <p:spPr>
          <a:xfrm flipV="1">
            <a:off x="2297898" y="4962890"/>
            <a:ext cx="0" cy="71587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AA97275-75F2-473A-2602-74781129B8DA}"/>
              </a:ext>
            </a:extLst>
          </p:cNvPr>
          <p:cNvCxnSpPr>
            <a:cxnSpLocks/>
            <a:stCxn id="3" idx="0"/>
          </p:cNvCxnSpPr>
          <p:nvPr/>
        </p:nvCxnSpPr>
        <p:spPr>
          <a:xfrm flipH="1" flipV="1">
            <a:off x="5295014" y="4494028"/>
            <a:ext cx="1638738" cy="11677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A61486AC-E8B5-3352-496A-0E2B31166798}"/>
              </a:ext>
            </a:extLst>
          </p:cNvPr>
          <p:cNvSpPr txBox="1"/>
          <p:nvPr/>
        </p:nvSpPr>
        <p:spPr>
          <a:xfrm>
            <a:off x="5597540" y="5661755"/>
            <a:ext cx="2672424" cy="400110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Calibri Light" panose="020F0302020204030204" pitchFamily="34" charset="0"/>
                <a:cs typeface="Calibri Light" panose="020F0302020204030204" pitchFamily="34" charset="0"/>
              </a:rPr>
              <a:t>Multi-Asset diversified portfolios represent a good diversification opportunity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FB6132-4746-51C4-3AFF-1204A1CC9FD5}"/>
              </a:ext>
            </a:extLst>
          </p:cNvPr>
          <p:cNvSpPr txBox="1"/>
          <p:nvPr/>
        </p:nvSpPr>
        <p:spPr>
          <a:xfrm>
            <a:off x="6301563" y="289102"/>
            <a:ext cx="1784104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Check Correlation of Moderate Portfolio</a:t>
            </a:r>
          </a:p>
        </p:txBody>
      </p:sp>
    </p:spTree>
    <p:extLst>
      <p:ext uri="{BB962C8B-B14F-4D97-AF65-F5344CB8AC3E}">
        <p14:creationId xmlns:p14="http://schemas.microsoft.com/office/powerpoint/2010/main" val="11219021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B8C55-35EA-0323-C5F9-6078B4887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2BF4423-11FF-9F9F-514C-367A1F464C5B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Example Staged Diversification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8589848-5162-B1FB-B508-2D7AFA62B941}"/>
              </a:ext>
            </a:extLst>
          </p:cNvPr>
          <p:cNvSpPr txBox="1"/>
          <p:nvPr/>
        </p:nvSpPr>
        <p:spPr>
          <a:xfrm>
            <a:off x="302496" y="983038"/>
            <a:ext cx="8539009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Evolution of Portfolio Weights in Staged Stock Sell-Down</a:t>
            </a:r>
          </a:p>
        </p:txBody>
      </p:sp>
      <p:graphicFrame>
        <p:nvGraphicFramePr>
          <p:cNvPr id="10" name="Object 9">
            <a:extLst>
              <a:ext uri="{FF2B5EF4-FFF2-40B4-BE49-F238E27FC236}">
                <a16:creationId xmlns:a16="http://schemas.microsoft.com/office/drawing/2014/main" id="{E7757516-0573-7F01-F8FA-9D56EDD6D22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43330023"/>
              </p:ext>
            </p:extLst>
          </p:nvPr>
        </p:nvGraphicFramePr>
        <p:xfrm>
          <a:off x="503752" y="1333069"/>
          <a:ext cx="8136497" cy="4299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12661900" imgH="6692900" progId="Excel.Sheet.12">
                  <p:embed/>
                </p:oleObj>
              </mc:Choice>
              <mc:Fallback>
                <p:oleObj name="Worksheet" r:id="rId2" imgW="12661900" imgH="66929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03752" y="1333069"/>
                        <a:ext cx="8136497" cy="42999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DB198AC-3540-AAD3-6295-55DD4206E2F4}"/>
              </a:ext>
            </a:extLst>
          </p:cNvPr>
          <p:cNvCxnSpPr>
            <a:cxnSpLocks/>
          </p:cNvCxnSpPr>
          <p:nvPr/>
        </p:nvCxnSpPr>
        <p:spPr>
          <a:xfrm flipV="1">
            <a:off x="4747932" y="5632982"/>
            <a:ext cx="0" cy="48428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7B438E8-63EE-B424-FFE9-E0E19F0244DA}"/>
              </a:ext>
            </a:extLst>
          </p:cNvPr>
          <p:cNvCxnSpPr>
            <a:cxnSpLocks/>
          </p:cNvCxnSpPr>
          <p:nvPr/>
        </p:nvCxnSpPr>
        <p:spPr>
          <a:xfrm flipH="1" flipV="1">
            <a:off x="4027548" y="5681844"/>
            <a:ext cx="1061903" cy="435421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B02520D-FC4C-D57A-16D5-1BD679013B38}"/>
              </a:ext>
            </a:extLst>
          </p:cNvPr>
          <p:cNvCxnSpPr>
            <a:cxnSpLocks/>
          </p:cNvCxnSpPr>
          <p:nvPr/>
        </p:nvCxnSpPr>
        <p:spPr>
          <a:xfrm flipH="1" flipV="1">
            <a:off x="5807487" y="5632982"/>
            <a:ext cx="650463" cy="38691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C60583B-4823-40E1-C190-CECA46750828}"/>
              </a:ext>
            </a:extLst>
          </p:cNvPr>
          <p:cNvSpPr txBox="1"/>
          <p:nvPr/>
        </p:nvSpPr>
        <p:spPr>
          <a:xfrm>
            <a:off x="317027" y="624044"/>
            <a:ext cx="77473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Stock Sell-Down in 10% Increments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60DB0F-031A-E940-48C6-93B6E10DA813}"/>
              </a:ext>
            </a:extLst>
          </p:cNvPr>
          <p:cNvSpPr txBox="1"/>
          <p:nvPr/>
        </p:nvSpPr>
        <p:spPr>
          <a:xfrm>
            <a:off x="5930762" y="5969437"/>
            <a:ext cx="1928929" cy="600164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Stages 3 onwards focuses on building a diversified public equity portfolio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EC3DA7-26A2-7D2B-625A-0DE6F7B7B2D6}"/>
              </a:ext>
            </a:extLst>
          </p:cNvPr>
          <p:cNvSpPr txBox="1"/>
          <p:nvPr/>
        </p:nvSpPr>
        <p:spPr>
          <a:xfrm>
            <a:off x="3545919" y="5969437"/>
            <a:ext cx="2261568" cy="600164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Stages 1-2 Focuses on investing in lowly correlated diversifiers to maximize risk reduction</a:t>
            </a:r>
          </a:p>
        </p:txBody>
      </p:sp>
    </p:spTree>
    <p:extLst>
      <p:ext uri="{BB962C8B-B14F-4D97-AF65-F5344CB8AC3E}">
        <p14:creationId xmlns:p14="http://schemas.microsoft.com/office/powerpoint/2010/main" val="21968870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7B092-6532-C0B0-F50F-23BE05789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DD0AD1E-A5CA-1044-840D-6591ACEA6B3D}"/>
              </a:ext>
            </a:extLst>
          </p:cNvPr>
          <p:cNvSpPr txBox="1"/>
          <p:nvPr/>
        </p:nvSpPr>
        <p:spPr>
          <a:xfrm>
            <a:off x="302496" y="1067018"/>
            <a:ext cx="8539009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j-lt"/>
              </a:rPr>
              <a:t>Forward Looking Portfolio Risk and Return Analytics </a:t>
            </a: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25A7E875-4C1D-1C71-9637-8F02D81F83F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1202094"/>
              </p:ext>
            </p:extLst>
          </p:nvPr>
        </p:nvGraphicFramePr>
        <p:xfrm>
          <a:off x="516531" y="1426279"/>
          <a:ext cx="8145838" cy="38092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D891CDE-ADDF-7106-4BC0-CC9156292FF5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Example Staged Diversification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B4D4D2-E51B-B71A-FE97-2C4E85E7AFE0}"/>
              </a:ext>
            </a:extLst>
          </p:cNvPr>
          <p:cNvSpPr txBox="1"/>
          <p:nvPr/>
        </p:nvSpPr>
        <p:spPr>
          <a:xfrm>
            <a:off x="828231" y="5580519"/>
            <a:ext cx="7487538" cy="430887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Diversifying into a long-term multi-asset portfolio leads to significantly improved risk-adjusted prospects. Even at low allocations, Intel would require a disproportionally high return to justify its portfolio risk contribution.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8C0D4B-E380-E076-9C9D-087E582F6EEF}"/>
              </a:ext>
            </a:extLst>
          </p:cNvPr>
          <p:cNvSpPr txBox="1"/>
          <p:nvPr/>
        </p:nvSpPr>
        <p:spPr>
          <a:xfrm>
            <a:off x="338291" y="622539"/>
            <a:ext cx="77473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Grotesque Light" panose="020B0304020202020204" pitchFamily="34" charset="0"/>
              </a:rPr>
              <a:t>Impact on Risk and Return</a:t>
            </a:r>
          </a:p>
        </p:txBody>
      </p:sp>
    </p:spTree>
    <p:extLst>
      <p:ext uri="{BB962C8B-B14F-4D97-AF65-F5344CB8AC3E}">
        <p14:creationId xmlns:p14="http://schemas.microsoft.com/office/powerpoint/2010/main" val="87968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0D355-1B48-CC9B-F75E-2A2142FF6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2E576B4-659B-D23C-D3E9-B101B4C5C0E0}"/>
              </a:ext>
            </a:extLst>
          </p:cNvPr>
          <p:cNvCxnSpPr>
            <a:cxnSpLocks/>
          </p:cNvCxnSpPr>
          <p:nvPr/>
        </p:nvCxnSpPr>
        <p:spPr>
          <a:xfrm>
            <a:off x="3538937" y="2259985"/>
            <a:ext cx="2980526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271BB5FD-A14F-9EED-E21C-FDE069BBD678}"/>
              </a:ext>
            </a:extLst>
          </p:cNvPr>
          <p:cNvSpPr/>
          <p:nvPr/>
        </p:nvSpPr>
        <p:spPr>
          <a:xfrm>
            <a:off x="1137765" y="1933502"/>
            <a:ext cx="1982363" cy="308522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B1F207-B37D-1E00-828B-63C4318BB6A1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Example Staged Diversification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789CC8-0164-4435-288F-C77686B14DEC}"/>
              </a:ext>
            </a:extLst>
          </p:cNvPr>
          <p:cNvSpPr txBox="1"/>
          <p:nvPr/>
        </p:nvSpPr>
        <p:spPr>
          <a:xfrm>
            <a:off x="338291" y="622539"/>
            <a:ext cx="77473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Grotesque Light" panose="020B0304020202020204" pitchFamily="34" charset="0"/>
              </a:rPr>
              <a:t>Portfolio Wealth Projections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02DC9B-41C4-6BA9-B44E-4AAA3694A5AA}"/>
              </a:ext>
            </a:extLst>
          </p:cNvPr>
          <p:cNvSpPr txBox="1"/>
          <p:nvPr/>
        </p:nvSpPr>
        <p:spPr>
          <a:xfrm>
            <a:off x="302496" y="1038664"/>
            <a:ext cx="8539009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j-lt"/>
              </a:rPr>
              <a:t>Simulated Future Nominal Portfolio Value Paths through Staged Diversification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1D62FB-6D9A-3D24-3CAC-B2DA21A791B2}"/>
              </a:ext>
            </a:extLst>
          </p:cNvPr>
          <p:cNvSpPr txBox="1"/>
          <p:nvPr/>
        </p:nvSpPr>
        <p:spPr>
          <a:xfrm>
            <a:off x="509551" y="5693256"/>
            <a:ext cx="8124897" cy="430887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The result of the staged diversification is a long-term wealth projection with both improved expected values along with improved downside estimates.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CDEF84-B8E6-842D-6FAE-A7DA8408DC32}"/>
              </a:ext>
            </a:extLst>
          </p:cNvPr>
          <p:cNvSpPr txBox="1"/>
          <p:nvPr/>
        </p:nvSpPr>
        <p:spPr>
          <a:xfrm>
            <a:off x="7181156" y="3542428"/>
            <a:ext cx="1809022" cy="784830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Calibri Light" panose="020F0302020204030204" pitchFamily="34" charset="0"/>
                <a:cs typeface="Calibri Light" panose="020F0302020204030204" pitchFamily="34" charset="0"/>
              </a:rPr>
              <a:t>In the median case, the staged diversification strategy would be expected to grow by approx. $100mm more over the next 20-year vs the current portfolio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649FF1-B1BB-2CE5-B111-24E938081D9D}"/>
              </a:ext>
            </a:extLst>
          </p:cNvPr>
          <p:cNvSpPr txBox="1"/>
          <p:nvPr/>
        </p:nvSpPr>
        <p:spPr>
          <a:xfrm>
            <a:off x="1546103" y="2090708"/>
            <a:ext cx="1179646" cy="338554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Aptos" panose="020B0004020202020204" pitchFamily="34" charset="0"/>
              </a:rPr>
              <a:t>Staged Diversification with yearly sell-down</a:t>
            </a:r>
          </a:p>
        </p:txBody>
      </p:sp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00000000-0008-0000-0300-000003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72744018"/>
              </p:ext>
            </p:extLst>
          </p:nvPr>
        </p:nvGraphicFramePr>
        <p:xfrm>
          <a:off x="439750" y="1472813"/>
          <a:ext cx="6896390" cy="41392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9902341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B5422-98E0-D915-543E-D436A9AE5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" name="Chart 28">
            <a:extLst>
              <a:ext uri="{FF2B5EF4-FFF2-40B4-BE49-F238E27FC236}">
                <a16:creationId xmlns:a16="http://schemas.microsoft.com/office/drawing/2014/main" id="{FCD63AB9-5AE2-8BE9-BFF4-2A64539F977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06243777"/>
              </p:ext>
            </p:extLst>
          </p:nvPr>
        </p:nvGraphicFramePr>
        <p:xfrm>
          <a:off x="338291" y="1464288"/>
          <a:ext cx="4233710" cy="2403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7625851-F13A-ED92-665D-79EB66EBCD0C}"/>
              </a:ext>
            </a:extLst>
          </p:cNvPr>
          <p:cNvSpPr txBox="1"/>
          <p:nvPr/>
        </p:nvSpPr>
        <p:spPr>
          <a:xfrm>
            <a:off x="302497" y="249071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Modelling Structured Notes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167B6A-E382-AC54-8DB9-04A5431C45CA}"/>
              </a:ext>
            </a:extLst>
          </p:cNvPr>
          <p:cNvSpPr txBox="1"/>
          <p:nvPr/>
        </p:nvSpPr>
        <p:spPr>
          <a:xfrm>
            <a:off x="302497" y="1069424"/>
            <a:ext cx="4269504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Payoff Profile and Note Terms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FC6C18-3349-E734-25B8-37CC6361D7D5}"/>
              </a:ext>
            </a:extLst>
          </p:cNvPr>
          <p:cNvSpPr txBox="1"/>
          <p:nvPr/>
        </p:nvSpPr>
        <p:spPr>
          <a:xfrm>
            <a:off x="4710023" y="1069424"/>
            <a:ext cx="4269504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Simulated Terminal Payoff: Underlying &amp; Autocallable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519714-FC5B-91D1-51EF-6B424C802DC7}"/>
              </a:ext>
            </a:extLst>
          </p:cNvPr>
          <p:cNvSpPr txBox="1"/>
          <p:nvPr/>
        </p:nvSpPr>
        <p:spPr>
          <a:xfrm>
            <a:off x="302851" y="588604"/>
            <a:ext cx="77473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Autocallable Coupon Buffered Notes</a:t>
            </a:r>
          </a:p>
        </p:txBody>
      </p:sp>
      <p:graphicFrame>
        <p:nvGraphicFramePr>
          <p:cNvPr id="16" name="Object 15">
            <a:extLst>
              <a:ext uri="{FF2B5EF4-FFF2-40B4-BE49-F238E27FC236}">
                <a16:creationId xmlns:a16="http://schemas.microsoft.com/office/drawing/2014/main" id="{0159DDBB-6FBD-86C3-2584-F0B77B48833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86389337"/>
              </p:ext>
            </p:extLst>
          </p:nvPr>
        </p:nvGraphicFramePr>
        <p:xfrm>
          <a:off x="500063" y="4056063"/>
          <a:ext cx="3806825" cy="2098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6057900" imgH="3340100" progId="Excel.Sheet.12">
                  <p:embed/>
                </p:oleObj>
              </mc:Choice>
              <mc:Fallback>
                <p:oleObj name="Worksheet" r:id="rId3" imgW="6057900" imgH="33401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00063" y="4056063"/>
                        <a:ext cx="3806825" cy="20986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E17F088-EAF5-B620-D83D-44250425996F}"/>
              </a:ext>
            </a:extLst>
          </p:cNvPr>
          <p:cNvCxnSpPr>
            <a:cxnSpLocks/>
          </p:cNvCxnSpPr>
          <p:nvPr/>
        </p:nvCxnSpPr>
        <p:spPr>
          <a:xfrm flipH="1">
            <a:off x="1747471" y="2390720"/>
            <a:ext cx="79016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70B309C-F8A4-461E-E0D5-410692C4C31B}"/>
              </a:ext>
            </a:extLst>
          </p:cNvPr>
          <p:cNvCxnSpPr>
            <a:cxnSpLocks/>
          </p:cNvCxnSpPr>
          <p:nvPr/>
        </p:nvCxnSpPr>
        <p:spPr>
          <a:xfrm flipV="1">
            <a:off x="1689948" y="1533013"/>
            <a:ext cx="0" cy="1938517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01DC984-5400-0F0C-F072-06219A8E8572}"/>
              </a:ext>
            </a:extLst>
          </p:cNvPr>
          <p:cNvSpPr txBox="1"/>
          <p:nvPr/>
        </p:nvSpPr>
        <p:spPr>
          <a:xfrm>
            <a:off x="1025188" y="1554277"/>
            <a:ext cx="6718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ptos" panose="020B0004020202020204" pitchFamily="34" charset="0"/>
              </a:rPr>
              <a:t>Barrier &amp; Coupon level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EEC9E6B-3CBB-4A2B-0495-A11A9C26F655}"/>
              </a:ext>
            </a:extLst>
          </p:cNvPr>
          <p:cNvSpPr txBox="1"/>
          <p:nvPr/>
        </p:nvSpPr>
        <p:spPr>
          <a:xfrm rot="20152289">
            <a:off x="3733591" y="1686394"/>
            <a:ext cx="6718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ptos" panose="020B0004020202020204" pitchFamily="34" charset="0"/>
              </a:rPr>
              <a:t>Underlying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5BD6E-C85D-18F5-535B-5F624DC2E7F9}"/>
              </a:ext>
            </a:extLst>
          </p:cNvPr>
          <p:cNvSpPr txBox="1"/>
          <p:nvPr/>
        </p:nvSpPr>
        <p:spPr>
          <a:xfrm>
            <a:off x="2542156" y="1871008"/>
            <a:ext cx="143635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Aptos" panose="020B0004020202020204" pitchFamily="34" charset="0"/>
              </a:rPr>
              <a:t>Capped Coupon Return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0DDDBE-AD3D-776E-2025-6CF79BDA64A2}"/>
              </a:ext>
            </a:extLst>
          </p:cNvPr>
          <p:cNvSpPr txBox="1"/>
          <p:nvPr/>
        </p:nvSpPr>
        <p:spPr>
          <a:xfrm>
            <a:off x="1915968" y="2264510"/>
            <a:ext cx="467091" cy="2154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Aptos" panose="020B0004020202020204" pitchFamily="34" charset="0"/>
              </a:rPr>
              <a:t>Buffer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F7FB044B-9CE1-61D2-A579-91C3AB0620B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4728029"/>
              </p:ext>
            </p:extLst>
          </p:nvPr>
        </p:nvGraphicFramePr>
        <p:xfrm>
          <a:off x="4784651" y="1490483"/>
          <a:ext cx="4083127" cy="415490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8" name="TextBox 13">
            <a:extLst>
              <a:ext uri="{FF2B5EF4-FFF2-40B4-BE49-F238E27FC236}">
                <a16:creationId xmlns:a16="http://schemas.microsoft.com/office/drawing/2014/main" id="{B39781E1-E3ED-A053-6685-74876D598A1E}"/>
              </a:ext>
            </a:extLst>
          </p:cNvPr>
          <p:cNvSpPr txBox="1"/>
          <p:nvPr/>
        </p:nvSpPr>
        <p:spPr>
          <a:xfrm>
            <a:off x="6898658" y="1980611"/>
            <a:ext cx="1260058" cy="584775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u="sng" dirty="0">
                <a:latin typeface="Aptos" panose="020B0004020202020204" pitchFamily="34" charset="0"/>
              </a:rPr>
              <a:t>Probability of Loss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800" dirty="0">
              <a:latin typeface="Aptos" panose="020B00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latin typeface="Aptos" panose="020B0004020202020204" pitchFamily="34" charset="0"/>
              </a:rPr>
              <a:t>S&amp;P 500: 23%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latin typeface="Aptos" panose="020B0004020202020204" pitchFamily="34" charset="0"/>
              </a:rPr>
              <a:t>AutoCallable: 4%</a:t>
            </a:r>
          </a:p>
        </p:txBody>
      </p:sp>
      <p:sp>
        <p:nvSpPr>
          <p:cNvPr id="10" name="TextBox 13">
            <a:extLst>
              <a:ext uri="{FF2B5EF4-FFF2-40B4-BE49-F238E27FC236}">
                <a16:creationId xmlns:a16="http://schemas.microsoft.com/office/drawing/2014/main" id="{BDE6A1C0-7611-B687-F8EB-221E3932C8C4}"/>
              </a:ext>
            </a:extLst>
          </p:cNvPr>
          <p:cNvSpPr txBox="1"/>
          <p:nvPr/>
        </p:nvSpPr>
        <p:spPr>
          <a:xfrm>
            <a:off x="6898658" y="2628481"/>
            <a:ext cx="1260058" cy="584775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u="sng" dirty="0">
                <a:latin typeface="Aptos" panose="020B0004020202020204" pitchFamily="34" charset="0"/>
              </a:rPr>
              <a:t>Simulated Volatility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800" dirty="0">
              <a:latin typeface="Aptos" panose="020B00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latin typeface="Aptos" panose="020B0004020202020204" pitchFamily="34" charset="0"/>
              </a:rPr>
              <a:t>S&amp;P 500: 12.1%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latin typeface="Aptos" panose="020B0004020202020204" pitchFamily="34" charset="0"/>
              </a:rPr>
              <a:t>AutoCallable: 2.4%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8139359-DA26-0E21-ABA8-BD3D6E397F77}"/>
              </a:ext>
            </a:extLst>
          </p:cNvPr>
          <p:cNvSpPr/>
          <p:nvPr/>
        </p:nvSpPr>
        <p:spPr>
          <a:xfrm>
            <a:off x="6032205" y="4848447"/>
            <a:ext cx="375683" cy="297711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CC421D3-EB33-5C95-20CA-BF9CAF6CF77C}"/>
              </a:ext>
            </a:extLst>
          </p:cNvPr>
          <p:cNvSpPr/>
          <p:nvPr/>
        </p:nvSpPr>
        <p:spPr>
          <a:xfrm>
            <a:off x="7674190" y="4391247"/>
            <a:ext cx="375683" cy="297711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BE46CB-C7DA-182E-6078-29503B0DCC26}"/>
              </a:ext>
            </a:extLst>
          </p:cNvPr>
          <p:cNvSpPr txBox="1"/>
          <p:nvPr/>
        </p:nvSpPr>
        <p:spPr>
          <a:xfrm>
            <a:off x="6844776" y="4913635"/>
            <a:ext cx="1129644" cy="215444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Aptos" panose="020B0004020202020204" pitchFamily="34" charset="0"/>
                <a:cs typeface="Calibri Light" panose="020F0302020204030204" pitchFamily="34" charset="0"/>
              </a:rPr>
              <a:t>1</a:t>
            </a:r>
            <a:r>
              <a:rPr lang="en-US" sz="800" baseline="30000" dirty="0">
                <a:latin typeface="Aptos" panose="020B0004020202020204" pitchFamily="34" charset="0"/>
                <a:cs typeface="Calibri Light" panose="020F0302020204030204" pitchFamily="34" charset="0"/>
              </a:rPr>
              <a:t>st</a:t>
            </a:r>
            <a:r>
              <a:rPr lang="en-US" sz="800" dirty="0">
                <a:latin typeface="Aptos" panose="020B0004020202020204" pitchFamily="34" charset="0"/>
                <a:cs typeface="Calibri Light" panose="020F0302020204030204" pitchFamily="34" charset="0"/>
              </a:rPr>
              <a:t> Percentile Loss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4823A61-625C-2571-1F58-E498AE3B378F}"/>
              </a:ext>
            </a:extLst>
          </p:cNvPr>
          <p:cNvCxnSpPr/>
          <p:nvPr/>
        </p:nvCxnSpPr>
        <p:spPr>
          <a:xfrm flipV="1">
            <a:off x="7733414" y="4688958"/>
            <a:ext cx="77972" cy="22467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407CA83-8C84-84EF-50F9-EA77325356C0}"/>
              </a:ext>
            </a:extLst>
          </p:cNvPr>
          <p:cNvCxnSpPr>
            <a:stCxn id="17" idx="1"/>
          </p:cNvCxnSpPr>
          <p:nvPr/>
        </p:nvCxnSpPr>
        <p:spPr>
          <a:xfrm flipH="1" flipV="1">
            <a:off x="6407888" y="4976037"/>
            <a:ext cx="436888" cy="4532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C723DBF4-040C-CB1B-8669-EE583E2BE76A}"/>
              </a:ext>
            </a:extLst>
          </p:cNvPr>
          <p:cNvSpPr txBox="1"/>
          <p:nvPr/>
        </p:nvSpPr>
        <p:spPr>
          <a:xfrm>
            <a:off x="5124894" y="5754902"/>
            <a:ext cx="3607980" cy="507831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900" dirty="0">
                <a:latin typeface="Aptos Light" panose="020B0004020202020204" pitchFamily="34" charset="0"/>
              </a:rPr>
              <a:t>Buffered Autocallable Notes help mitigate tail risk through downside protection; however, this protection comes at the expense of full upside participation relative to holding the underlying asset directly</a:t>
            </a:r>
            <a:endParaRPr lang="en-US" sz="900" dirty="0">
              <a:latin typeface="Aptos Light" panose="020B0004020202020204" pitchFamily="34" charset="0"/>
              <a:cs typeface="Calibri Light" panose="020F0302020204030204" pitchFamily="34" charset="0"/>
            </a:endParaRP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8549491-DC85-F25E-3988-2D7B908A9352}"/>
              </a:ext>
            </a:extLst>
          </p:cNvPr>
          <p:cNvCxnSpPr/>
          <p:nvPr/>
        </p:nvCxnSpPr>
        <p:spPr>
          <a:xfrm flipV="1">
            <a:off x="2587256" y="2079364"/>
            <a:ext cx="0" cy="410400"/>
          </a:xfrm>
          <a:prstGeom prst="line">
            <a:avLst/>
          </a:prstGeom>
          <a:ln w="2222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72018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DAE96-D654-780A-E1C1-800F7E03F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795B64-4FA7-34DE-D01D-1DDB328C2AB8}"/>
              </a:ext>
            </a:extLst>
          </p:cNvPr>
          <p:cNvSpPr txBox="1"/>
          <p:nvPr/>
        </p:nvSpPr>
        <p:spPr>
          <a:xfrm>
            <a:off x="302497" y="249071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Modelling Structured Notes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974445-149A-8DF9-8D11-ED8593C0741A}"/>
              </a:ext>
            </a:extLst>
          </p:cNvPr>
          <p:cNvSpPr txBox="1"/>
          <p:nvPr/>
        </p:nvSpPr>
        <p:spPr>
          <a:xfrm>
            <a:off x="346384" y="1336605"/>
            <a:ext cx="4176000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Performance Under Varying Market Scenarios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6F88C3-07F8-3AF5-3448-598080677A42}"/>
              </a:ext>
            </a:extLst>
          </p:cNvPr>
          <p:cNvSpPr txBox="1"/>
          <p:nvPr/>
        </p:nvSpPr>
        <p:spPr>
          <a:xfrm>
            <a:off x="4660407" y="1336605"/>
            <a:ext cx="4176000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Outperformance Probability Under Varying </a:t>
            </a:r>
            <a:r>
              <a:rPr lang="en-US"/>
              <a:t>Market Scenarios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6A86DC-2E5D-8444-A689-4B9702055933}"/>
              </a:ext>
            </a:extLst>
          </p:cNvPr>
          <p:cNvSpPr txBox="1"/>
          <p:nvPr/>
        </p:nvSpPr>
        <p:spPr>
          <a:xfrm>
            <a:off x="302496" y="589651"/>
            <a:ext cx="77473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Autocallable Coupon Buffered Notes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BDE65B-C1D6-2809-9AF5-ED426595925C}"/>
              </a:ext>
            </a:extLst>
          </p:cNvPr>
          <p:cNvSpPr txBox="1"/>
          <p:nvPr/>
        </p:nvSpPr>
        <p:spPr>
          <a:xfrm>
            <a:off x="949842" y="5070595"/>
            <a:ext cx="3444949" cy="707886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000" dirty="0">
                <a:latin typeface="Aptos Light" panose="020B0004020202020204" pitchFamily="34" charset="0"/>
              </a:rPr>
              <a:t>Buffered </a:t>
            </a:r>
            <a:r>
              <a:rPr lang="en-GB" sz="1000" dirty="0" err="1">
                <a:latin typeface="Aptos Light" panose="020B0004020202020204" pitchFamily="34" charset="0"/>
              </a:rPr>
              <a:t>Autocallables</a:t>
            </a:r>
            <a:r>
              <a:rPr lang="en-GB" sz="1000" dirty="0">
                <a:latin typeface="Aptos Light" panose="020B0004020202020204" pitchFamily="34" charset="0"/>
              </a:rPr>
              <a:t> reduce losses in down markets and outperform in flat to moderately up environments due to coupon and early call features. Upside is limited in strong bull markets.</a:t>
            </a:r>
            <a:endParaRPr lang="en-US" sz="1000" dirty="0">
              <a:latin typeface="Aptos Light" panose="020B00040202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8F6C892-2D6E-7A83-1427-2A43FF448192}"/>
              </a:ext>
            </a:extLst>
          </p:cNvPr>
          <p:cNvSpPr txBox="1"/>
          <p:nvPr/>
        </p:nvSpPr>
        <p:spPr>
          <a:xfrm>
            <a:off x="5131981" y="5070596"/>
            <a:ext cx="3522921" cy="737999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050" dirty="0">
                <a:latin typeface="Aptos Light" panose="020B0004020202020204" pitchFamily="34" charset="0"/>
              </a:rPr>
              <a:t>Outperformance is highly likely in down and sideways markets. In moderate rallies, the note outperforms most of the time. In strong up markets, the underlying leads due to capped upside.</a:t>
            </a:r>
            <a:endParaRPr lang="en-US" sz="1050" dirty="0">
              <a:latin typeface="Aptos Light" panose="020B0004020202020204" pitchFamily="34" charset="0"/>
              <a:cs typeface="Calibri Light" panose="020F0302020204030204" pitchFamily="34" charset="0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E5140A7-20EE-410E-2B62-B286A0C3804B}"/>
              </a:ext>
            </a:extLst>
          </p:cNvPr>
          <p:cNvGrpSpPr/>
          <p:nvPr/>
        </p:nvGrpSpPr>
        <p:grpSpPr>
          <a:xfrm>
            <a:off x="346383" y="1737785"/>
            <a:ext cx="8549524" cy="3082307"/>
            <a:chOff x="346383" y="1737785"/>
            <a:chExt cx="8549524" cy="3082307"/>
          </a:xfrm>
        </p:grpSpPr>
        <p:graphicFrame>
          <p:nvGraphicFramePr>
            <p:cNvPr id="13" name="Chart 12">
              <a:extLst>
                <a:ext uri="{FF2B5EF4-FFF2-40B4-BE49-F238E27FC236}">
                  <a16:creationId xmlns:a16="http://schemas.microsoft.com/office/drawing/2014/main" id="{D608DF9C-E163-295C-E769-BC45ABA664B9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452362891"/>
                </p:ext>
              </p:extLst>
            </p:nvPr>
          </p:nvGraphicFramePr>
          <p:xfrm>
            <a:off x="4990215" y="1919997"/>
            <a:ext cx="3785190" cy="2843363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graphicFrame>
          <p:nvGraphicFramePr>
            <p:cNvPr id="30" name="Chart 29">
              <a:extLst>
                <a:ext uri="{FF2B5EF4-FFF2-40B4-BE49-F238E27FC236}">
                  <a16:creationId xmlns:a16="http://schemas.microsoft.com/office/drawing/2014/main" id="{2A3562E2-4D9A-33BB-8FCD-262CA82D0991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614697755"/>
                </p:ext>
              </p:extLst>
            </p:nvPr>
          </p:nvGraphicFramePr>
          <p:xfrm>
            <a:off x="346383" y="1737785"/>
            <a:ext cx="8549524" cy="3082307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893451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18725-5695-F855-3F27-BB35F2004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" name="Object 28">
            <a:extLst>
              <a:ext uri="{FF2B5EF4-FFF2-40B4-BE49-F238E27FC236}">
                <a16:creationId xmlns:a16="http://schemas.microsoft.com/office/drawing/2014/main" id="{21E52EF7-AB68-3660-F989-DDCC176DF07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62242027"/>
              </p:ext>
            </p:extLst>
          </p:nvPr>
        </p:nvGraphicFramePr>
        <p:xfrm>
          <a:off x="500243" y="1637549"/>
          <a:ext cx="3883048" cy="40579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5638800" imgH="5892800" progId="Excel.Sheet.12">
                  <p:embed/>
                </p:oleObj>
              </mc:Choice>
              <mc:Fallback>
                <p:oleObj name="Worksheet" r:id="rId2" imgW="5638800" imgH="58928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00243" y="1637549"/>
                        <a:ext cx="3883048" cy="405796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90D5D6C2-B8BF-A079-E63C-0A352280221C}"/>
              </a:ext>
            </a:extLst>
          </p:cNvPr>
          <p:cNvSpPr txBox="1"/>
          <p:nvPr/>
        </p:nvSpPr>
        <p:spPr>
          <a:xfrm>
            <a:off x="302497" y="249071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Modelling Structured Notes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00C5D2-5EE0-6319-04C1-4CEEE3D63579}"/>
              </a:ext>
            </a:extLst>
          </p:cNvPr>
          <p:cNvSpPr txBox="1"/>
          <p:nvPr/>
        </p:nvSpPr>
        <p:spPr>
          <a:xfrm>
            <a:off x="302497" y="1065891"/>
            <a:ext cx="4269504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Sample Portfolios with Autocallable Buffered Note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BAD8CA-4533-41E6-5177-6BC955C0F52A}"/>
              </a:ext>
            </a:extLst>
          </p:cNvPr>
          <p:cNvSpPr txBox="1"/>
          <p:nvPr/>
        </p:nvSpPr>
        <p:spPr>
          <a:xfrm>
            <a:off x="4710023" y="1062521"/>
            <a:ext cx="4131480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Simulated Terminal Payoff: Underlying &amp; Autocallable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3B7E965-24DC-0AC9-7B75-0373C7DAF930}"/>
              </a:ext>
            </a:extLst>
          </p:cNvPr>
          <p:cNvSpPr txBox="1"/>
          <p:nvPr/>
        </p:nvSpPr>
        <p:spPr>
          <a:xfrm>
            <a:off x="302851" y="588604"/>
            <a:ext cx="77473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Autocallable Coupon Buffered Notes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6D497E-BD04-5715-DE3D-7D3CDB6134B9}"/>
              </a:ext>
            </a:extLst>
          </p:cNvPr>
          <p:cNvSpPr/>
          <p:nvPr/>
        </p:nvSpPr>
        <p:spPr>
          <a:xfrm>
            <a:off x="486147" y="2502223"/>
            <a:ext cx="3924644" cy="1516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6" name="Chart 25">
            <a:extLst>
              <a:ext uri="{FF2B5EF4-FFF2-40B4-BE49-F238E27FC236}">
                <a16:creationId xmlns:a16="http://schemas.microsoft.com/office/drawing/2014/main" id="{EDDB9496-846D-D6D2-4118-6DBCE0669ED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88966954"/>
              </p:ext>
            </p:extLst>
          </p:nvPr>
        </p:nvGraphicFramePr>
        <p:xfrm>
          <a:off x="4878425" y="1536437"/>
          <a:ext cx="3924644" cy="415907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79944B16-46C4-8201-8B76-9432211B1076}"/>
              </a:ext>
            </a:extLst>
          </p:cNvPr>
          <p:cNvSpPr txBox="1"/>
          <p:nvPr/>
        </p:nvSpPr>
        <p:spPr>
          <a:xfrm>
            <a:off x="377480" y="5990167"/>
            <a:ext cx="8389040" cy="400110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Aptos Light" panose="020B0004020202020204" pitchFamily="34" charset="0"/>
                <a:cs typeface="Calibri Light" panose="020F0302020204030204" pitchFamily="34" charset="0"/>
              </a:rPr>
              <a:t>Buffered Autocallable notes give the benefit of reduced tail risk. However, this comes at the expense of lower upside participation then outright equity exposure</a:t>
            </a:r>
          </a:p>
        </p:txBody>
      </p:sp>
    </p:spTree>
    <p:extLst>
      <p:ext uri="{BB962C8B-B14F-4D97-AF65-F5344CB8AC3E}">
        <p14:creationId xmlns:p14="http://schemas.microsoft.com/office/powerpoint/2010/main" val="23801045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17F44-B395-D4EE-768D-36FDA1494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99283BCA-84CB-7B43-AF58-7E37DB1081F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34683007"/>
              </p:ext>
            </p:extLst>
          </p:nvPr>
        </p:nvGraphicFramePr>
        <p:xfrm>
          <a:off x="302495" y="1287327"/>
          <a:ext cx="8221396" cy="229545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471C96F4-BE6E-9371-8FAD-B570424C7FD0}"/>
              </a:ext>
            </a:extLst>
          </p:cNvPr>
          <p:cNvSpPr txBox="1"/>
          <p:nvPr/>
        </p:nvSpPr>
        <p:spPr>
          <a:xfrm>
            <a:off x="340434" y="947268"/>
            <a:ext cx="8463133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NAV Exposure for Single Vintage Buyout Fund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0AA11C38-4160-19DC-F65E-77798B39475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68062909"/>
              </p:ext>
            </p:extLst>
          </p:nvPr>
        </p:nvGraphicFramePr>
        <p:xfrm>
          <a:off x="544280" y="3945664"/>
          <a:ext cx="8297223" cy="24551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CE9AAD7-191C-FDA9-61C6-3CFE76EF2C7E}"/>
              </a:ext>
            </a:extLst>
          </p:cNvPr>
          <p:cNvCxnSpPr/>
          <p:nvPr/>
        </p:nvCxnSpPr>
        <p:spPr>
          <a:xfrm>
            <a:off x="302495" y="6500036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6131320-D4C1-4ECA-66FC-6B5A0E35A7EA}"/>
              </a:ext>
            </a:extLst>
          </p:cNvPr>
          <p:cNvSpPr txBox="1"/>
          <p:nvPr/>
        </p:nvSpPr>
        <p:spPr>
          <a:xfrm>
            <a:off x="6358759" y="1902335"/>
            <a:ext cx="2175642" cy="707886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latin typeface="Aptos Light" panose="020B0004020202020204" pitchFamily="34" charset="0"/>
                <a:cs typeface="Calibri Light" panose="020F0302020204030204" pitchFamily="34" charset="0"/>
              </a:rPr>
              <a:t>LATER YEARS</a:t>
            </a:r>
            <a:r>
              <a:rPr lang="en-US" sz="1000" dirty="0">
                <a:latin typeface="Aptos Light" panose="020B0004020202020204" pitchFamily="34" charset="0"/>
                <a:cs typeface="Calibri Light" panose="020F0302020204030204" pitchFamily="34" charset="0"/>
              </a:rPr>
              <a:t>: Portfolio size declines as investments continue to be harvested and cash is returned to investors; fund life ends.</a:t>
            </a:r>
            <a:endParaRPr lang="en-GB" sz="1000" dirty="0">
              <a:latin typeface="Aptos Light" panose="020B00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3827A4-5970-CB6D-6741-56F9B9984277}"/>
              </a:ext>
            </a:extLst>
          </p:cNvPr>
          <p:cNvSpPr txBox="1"/>
          <p:nvPr/>
        </p:nvSpPr>
        <p:spPr>
          <a:xfrm>
            <a:off x="336329" y="564324"/>
            <a:ext cx="77473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The Shape and Life-Cycle of Private Market Funds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9B9B2E-664F-9420-37FA-FB320E1E59CE}"/>
              </a:ext>
            </a:extLst>
          </p:cNvPr>
          <p:cNvSpPr txBox="1"/>
          <p:nvPr/>
        </p:nvSpPr>
        <p:spPr>
          <a:xfrm>
            <a:off x="911250" y="1450916"/>
            <a:ext cx="1343322" cy="707886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000" b="1" dirty="0">
                <a:latin typeface="Aptos Light" panose="020B0004020202020204" pitchFamily="34" charset="0"/>
              </a:rPr>
              <a:t>EARLY YEARS</a:t>
            </a:r>
            <a:r>
              <a:rPr lang="en-GB" sz="1000" dirty="0">
                <a:latin typeface="Aptos Light" panose="020B0004020202020204" pitchFamily="34" charset="0"/>
              </a:rPr>
              <a:t>: Committed capital is called as GPs make investment.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F0A1DA-C2D5-047F-2D25-192FE02A415F}"/>
              </a:ext>
            </a:extLst>
          </p:cNvPr>
          <p:cNvSpPr txBox="1"/>
          <p:nvPr/>
        </p:nvSpPr>
        <p:spPr>
          <a:xfrm>
            <a:off x="2863327" y="1332741"/>
            <a:ext cx="3484922" cy="400110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000" b="1" dirty="0">
                <a:latin typeface="Aptos Light" panose="020B0004020202020204" pitchFamily="34" charset="0"/>
              </a:rPr>
              <a:t>MIDDLE YEARS</a:t>
            </a:r>
            <a:r>
              <a:rPr lang="en-GB" sz="1000" dirty="0">
                <a:latin typeface="Aptos Light" panose="020B0004020202020204" pitchFamily="34" charset="0"/>
              </a:rPr>
              <a:t>: Investment period ends with NAVs typically peaking. Committed capital has mostly been returned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1BA6A6A-B954-FEF3-C8CC-B119C949D92F}"/>
              </a:ext>
            </a:extLst>
          </p:cNvPr>
          <p:cNvSpPr txBox="1"/>
          <p:nvPr/>
        </p:nvSpPr>
        <p:spPr>
          <a:xfrm>
            <a:off x="336329" y="3589762"/>
            <a:ext cx="8463133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Cash-Flow Profile for Single Vintage Buyout Fund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6B881FA-B777-5BF7-3B7D-DFFAFC113984}"/>
              </a:ext>
            </a:extLst>
          </p:cNvPr>
          <p:cNvSpPr txBox="1"/>
          <p:nvPr/>
        </p:nvSpPr>
        <p:spPr>
          <a:xfrm>
            <a:off x="336329" y="239654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Private Markets Modelling</a:t>
            </a:r>
          </a:p>
        </p:txBody>
      </p:sp>
    </p:spTree>
    <p:extLst>
      <p:ext uri="{BB962C8B-B14F-4D97-AF65-F5344CB8AC3E}">
        <p14:creationId xmlns:p14="http://schemas.microsoft.com/office/powerpoint/2010/main" val="804589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860BE-C745-890C-3721-75F56A5BD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Object 15">
            <a:extLst>
              <a:ext uri="{FF2B5EF4-FFF2-40B4-BE49-F238E27FC236}">
                <a16:creationId xmlns:a16="http://schemas.microsoft.com/office/drawing/2014/main" id="{EE371205-47AA-FF96-DF41-FBEE44EFDC2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92882966"/>
              </p:ext>
            </p:extLst>
          </p:nvPr>
        </p:nvGraphicFramePr>
        <p:xfrm>
          <a:off x="483252" y="1657836"/>
          <a:ext cx="3577560" cy="320266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241800" imgH="3797300" progId="Excel.Sheet.12">
                  <p:embed/>
                </p:oleObj>
              </mc:Choice>
              <mc:Fallback>
                <p:oleObj name="Worksheet" r:id="rId2" imgW="4241800" imgH="37973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483252" y="1657836"/>
                        <a:ext cx="3577560" cy="320266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ACF984A-18F6-23C0-49B4-4327DF5AA38D}"/>
              </a:ext>
            </a:extLst>
          </p:cNvPr>
          <p:cNvSpPr txBox="1"/>
          <p:nvPr/>
        </p:nvSpPr>
        <p:spPr>
          <a:xfrm>
            <a:off x="366292" y="305777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Private Markets Modelling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FF5BA0-3D34-56E2-04E6-7A25B0466311}"/>
              </a:ext>
            </a:extLst>
          </p:cNvPr>
          <p:cNvCxnSpPr/>
          <p:nvPr/>
        </p:nvCxnSpPr>
        <p:spPr>
          <a:xfrm>
            <a:off x="302495" y="6500036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2AFE11F-E08B-37D8-DD0A-037EB0399A69}"/>
              </a:ext>
            </a:extLst>
          </p:cNvPr>
          <p:cNvSpPr txBox="1"/>
          <p:nvPr/>
        </p:nvSpPr>
        <p:spPr>
          <a:xfrm>
            <a:off x="313128" y="1246646"/>
            <a:ext cx="4110018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Sample Portfolios with One-Time Private Commitment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A2E033A-44E6-A557-C8E4-25765DFC1A93}"/>
              </a:ext>
            </a:extLst>
          </p:cNvPr>
          <p:cNvSpPr/>
          <p:nvPr/>
        </p:nvSpPr>
        <p:spPr>
          <a:xfrm>
            <a:off x="3274829" y="3912788"/>
            <a:ext cx="785984" cy="968980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5D87835-8865-D593-D5D9-9B79DED6D0DF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3667821" y="4881768"/>
            <a:ext cx="0" cy="7295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DA8AE49-E9C9-CAD9-9F4E-F26F2E682521}"/>
              </a:ext>
            </a:extLst>
          </p:cNvPr>
          <p:cNvSpPr txBox="1"/>
          <p:nvPr/>
        </p:nvSpPr>
        <p:spPr>
          <a:xfrm>
            <a:off x="366292" y="631139"/>
            <a:ext cx="77473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Example of One-time Commitments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547A61-4909-3A28-ABD1-015EAC6B03C5}"/>
              </a:ext>
            </a:extLst>
          </p:cNvPr>
          <p:cNvSpPr txBox="1"/>
          <p:nvPr/>
        </p:nvSpPr>
        <p:spPr>
          <a:xfrm>
            <a:off x="4731488" y="1246646"/>
            <a:ext cx="4110015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Projected Cash-Flow Profile for Buyout &amp; Credit Commitment</a:t>
            </a:r>
          </a:p>
        </p:txBody>
      </p:sp>
      <p:graphicFrame>
        <p:nvGraphicFramePr>
          <p:cNvPr id="18" name="Chart 17">
            <a:extLst>
              <a:ext uri="{FF2B5EF4-FFF2-40B4-BE49-F238E27FC236}">
                <a16:creationId xmlns:a16="http://schemas.microsoft.com/office/drawing/2014/main" id="{AAA702E8-F294-A8A2-6F03-B4839EAD35A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899214"/>
              </p:ext>
            </p:extLst>
          </p:nvPr>
        </p:nvGraphicFramePr>
        <p:xfrm>
          <a:off x="4824877" y="1657836"/>
          <a:ext cx="3925711" cy="34564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A385BE45-0074-2F6D-DBEC-7DDE2D5927B1}"/>
              </a:ext>
            </a:extLst>
          </p:cNvPr>
          <p:cNvSpPr txBox="1"/>
          <p:nvPr/>
        </p:nvSpPr>
        <p:spPr>
          <a:xfrm>
            <a:off x="698937" y="5530358"/>
            <a:ext cx="3115119" cy="738664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050">
                <a:latin typeface="Aptos" panose="020B0004020202020204" pitchFamily="34" charset="0"/>
              </a:defRPr>
            </a:lvl1pPr>
          </a:lstStyle>
          <a:p>
            <a:r>
              <a:rPr lang="en-GB" dirty="0"/>
              <a:t>Starting with a liquid public market's portfolio composed of bonds and equities, we commit $50 each to single-vintage Buyout and Private Credit funds.</a:t>
            </a:r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79C995D-9081-AC8E-B2B3-A1298871D77D}"/>
              </a:ext>
            </a:extLst>
          </p:cNvPr>
          <p:cNvSpPr txBox="1"/>
          <p:nvPr/>
        </p:nvSpPr>
        <p:spPr>
          <a:xfrm>
            <a:off x="5156789" y="5232155"/>
            <a:ext cx="3503731" cy="1061829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050" dirty="0">
                <a:latin typeface="Aptos" panose="020B0004020202020204" pitchFamily="34" charset="0"/>
              </a:rPr>
              <a:t>Private markets investors should be mindful of the timing and impact of future cash flows, particularly in the early years when capital is being called. It is essential to maintain a sufficient buffer of stable, liquid assets to meet capital calls without disrupting the broader portfolio.</a:t>
            </a:r>
            <a:endParaRPr lang="en-US" sz="1050" dirty="0">
              <a:latin typeface="Aptos" panose="020B00040202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F69A10A-A847-A340-38CD-107753BEE94C}"/>
              </a:ext>
            </a:extLst>
          </p:cNvPr>
          <p:cNvSpPr/>
          <p:nvPr/>
        </p:nvSpPr>
        <p:spPr>
          <a:xfrm>
            <a:off x="5156790" y="3429000"/>
            <a:ext cx="659218" cy="1355651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0FF0BA2-EEC4-ECF1-A952-79959FEF11BD}"/>
              </a:ext>
            </a:extLst>
          </p:cNvPr>
          <p:cNvSpPr txBox="1"/>
          <p:nvPr/>
        </p:nvSpPr>
        <p:spPr>
          <a:xfrm>
            <a:off x="5837274" y="3889876"/>
            <a:ext cx="1286540" cy="78483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latin typeface="Aptos" panose="020B0004020202020204" pitchFamily="34" charset="0"/>
              </a:rPr>
              <a:t>Negative cash-flow in early years require funding, preferrable with stable, highly liquid assets</a:t>
            </a:r>
          </a:p>
        </p:txBody>
      </p:sp>
    </p:spTree>
    <p:extLst>
      <p:ext uri="{BB962C8B-B14F-4D97-AF65-F5344CB8AC3E}">
        <p14:creationId xmlns:p14="http://schemas.microsoft.com/office/powerpoint/2010/main" val="35918685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9EADB-44F0-B265-2290-8D376777C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278A07B9-DDED-43EC-72D6-08C1BA97B61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63138314"/>
              </p:ext>
            </p:extLst>
          </p:nvPr>
        </p:nvGraphicFramePr>
        <p:xfrm>
          <a:off x="447489" y="5094186"/>
          <a:ext cx="8249022" cy="122016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10642600" imgH="1574800" progId="Excel.Sheet.12">
                  <p:embed/>
                </p:oleObj>
              </mc:Choice>
              <mc:Fallback>
                <p:oleObj name="Worksheet" r:id="rId2" imgW="10642600" imgH="15748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447489" y="5094186"/>
                        <a:ext cx="8249022" cy="122016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983E5404-DD8B-3986-AB7C-0E9B96B424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96160981"/>
              </p:ext>
            </p:extLst>
          </p:nvPr>
        </p:nvGraphicFramePr>
        <p:xfrm>
          <a:off x="366293" y="1158964"/>
          <a:ext cx="8363038" cy="39021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9D8548A-6881-71ED-C564-52392AE7A946}"/>
              </a:ext>
            </a:extLst>
          </p:cNvPr>
          <p:cNvSpPr txBox="1"/>
          <p:nvPr/>
        </p:nvSpPr>
        <p:spPr>
          <a:xfrm>
            <a:off x="366292" y="305777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Private Markets Modelling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163712C-A7CF-36DD-2B3B-E7B66EFC7F66}"/>
              </a:ext>
            </a:extLst>
          </p:cNvPr>
          <p:cNvCxnSpPr/>
          <p:nvPr/>
        </p:nvCxnSpPr>
        <p:spPr>
          <a:xfrm>
            <a:off x="302495" y="6500036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495BEE6-6A5C-0390-839C-A11161242C65}"/>
              </a:ext>
            </a:extLst>
          </p:cNvPr>
          <p:cNvSpPr txBox="1"/>
          <p:nvPr/>
        </p:nvSpPr>
        <p:spPr>
          <a:xfrm>
            <a:off x="313128" y="1033988"/>
            <a:ext cx="8528376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Evolution of Portfolio Weights, Single Commitment Strategy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9180B3-673C-1C8F-710B-6782BB59E643}"/>
              </a:ext>
            </a:extLst>
          </p:cNvPr>
          <p:cNvSpPr txBox="1"/>
          <p:nvPr/>
        </p:nvSpPr>
        <p:spPr>
          <a:xfrm>
            <a:off x="366292" y="631139"/>
            <a:ext cx="77473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Example of One-time Commitments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866E57-8AA2-9618-F690-24595E0740B9}"/>
              </a:ext>
            </a:extLst>
          </p:cNvPr>
          <p:cNvSpPr txBox="1"/>
          <p:nvPr/>
        </p:nvSpPr>
        <p:spPr>
          <a:xfrm>
            <a:off x="1105787" y="2197386"/>
            <a:ext cx="1637414" cy="10618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GB" sz="1050" dirty="0">
                <a:solidFill>
                  <a:srgbClr val="C00000"/>
                </a:solidFill>
                <a:latin typeface="Aptos" panose="020B0004020202020204" pitchFamily="34" charset="0"/>
              </a:rPr>
              <a:t>In the early years, as capital is called and invested, exposure to private markets increases relative to liquid assets.</a:t>
            </a:r>
            <a:endParaRPr lang="en-US" sz="1050" dirty="0">
              <a:solidFill>
                <a:srgbClr val="C00000"/>
              </a:solidFill>
              <a:latin typeface="Aptos" panose="020B00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4CA036A-486E-E18E-9A09-CBF23460D28B}"/>
              </a:ext>
            </a:extLst>
          </p:cNvPr>
          <p:cNvSpPr/>
          <p:nvPr/>
        </p:nvSpPr>
        <p:spPr>
          <a:xfrm>
            <a:off x="1127051" y="3296095"/>
            <a:ext cx="1541721" cy="1552354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80625A-6E88-40CC-49E2-6A5B80A62323}"/>
              </a:ext>
            </a:extLst>
          </p:cNvPr>
          <p:cNvSpPr txBox="1"/>
          <p:nvPr/>
        </p:nvSpPr>
        <p:spPr>
          <a:xfrm>
            <a:off x="3506332" y="1856295"/>
            <a:ext cx="2894467" cy="57708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GB" sz="1050" dirty="0">
                <a:solidFill>
                  <a:srgbClr val="C00000"/>
                </a:solidFill>
                <a:latin typeface="Aptos" panose="020B0004020202020204" pitchFamily="34" charset="0"/>
              </a:rPr>
              <a:t>As the years progress, funds begin to distribute capital and reach maturity, leading to a reduction in exposure to private markets.</a:t>
            </a:r>
            <a:endParaRPr lang="en-US" sz="1050" dirty="0">
              <a:solidFill>
                <a:srgbClr val="C00000"/>
              </a:solidFill>
              <a:latin typeface="Aptos" panose="020B0004020202020204" pitchFamily="34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D6DD292-DAA9-698B-6EB5-3D960E66F2FE}"/>
              </a:ext>
            </a:extLst>
          </p:cNvPr>
          <p:cNvCxnSpPr>
            <a:cxnSpLocks/>
          </p:cNvCxnSpPr>
          <p:nvPr/>
        </p:nvCxnSpPr>
        <p:spPr>
          <a:xfrm flipH="1">
            <a:off x="3434316" y="2433376"/>
            <a:ext cx="1137683" cy="671333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1EAC27C-C65F-1FC9-D4E3-9619AB20EE4F}"/>
              </a:ext>
            </a:extLst>
          </p:cNvPr>
          <p:cNvCxnSpPr>
            <a:cxnSpLocks/>
          </p:cNvCxnSpPr>
          <p:nvPr/>
        </p:nvCxnSpPr>
        <p:spPr>
          <a:xfrm>
            <a:off x="4571999" y="2433376"/>
            <a:ext cx="478466" cy="33566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BD83348A-BC5B-DD1A-BBE0-FA660ABD8658}"/>
              </a:ext>
            </a:extLst>
          </p:cNvPr>
          <p:cNvSpPr/>
          <p:nvPr/>
        </p:nvSpPr>
        <p:spPr>
          <a:xfrm>
            <a:off x="3434315" y="5101987"/>
            <a:ext cx="1431967" cy="1225705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4064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5325B-4BE7-7325-58C4-7C6DCC576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608B927-2138-BC1A-B828-0E192AF598A8}"/>
              </a:ext>
            </a:extLst>
          </p:cNvPr>
          <p:cNvSpPr txBox="1"/>
          <p:nvPr/>
        </p:nvSpPr>
        <p:spPr>
          <a:xfrm>
            <a:off x="366292" y="305777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Private Markets Modelling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C4CFF02-34B2-5C4A-174A-17B2BEC4A218}"/>
              </a:ext>
            </a:extLst>
          </p:cNvPr>
          <p:cNvCxnSpPr/>
          <p:nvPr/>
        </p:nvCxnSpPr>
        <p:spPr>
          <a:xfrm>
            <a:off x="302495" y="6531566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5F40E03-4342-0146-AAF5-74D6F57EF03D}"/>
              </a:ext>
            </a:extLst>
          </p:cNvPr>
          <p:cNvSpPr txBox="1"/>
          <p:nvPr/>
        </p:nvSpPr>
        <p:spPr>
          <a:xfrm>
            <a:off x="238697" y="2072315"/>
            <a:ext cx="4258872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Current and Target Portfolio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1D516E-C6B9-91AD-D240-FEA07BCC425A}"/>
              </a:ext>
            </a:extLst>
          </p:cNvPr>
          <p:cNvSpPr txBox="1"/>
          <p:nvPr/>
        </p:nvSpPr>
        <p:spPr>
          <a:xfrm>
            <a:off x="366292" y="631139"/>
            <a:ext cx="77473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Target Allocation and Commitment Pacing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EA1255-701E-7AF5-B460-C1D8AC6C9D72}"/>
              </a:ext>
            </a:extLst>
          </p:cNvPr>
          <p:cNvSpPr txBox="1"/>
          <p:nvPr/>
        </p:nvSpPr>
        <p:spPr>
          <a:xfrm>
            <a:off x="4657063" y="2072315"/>
            <a:ext cx="4258872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Required Annual Commitment Size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290CC1-ECF3-FB58-433E-4D163CA2D72E}"/>
              </a:ext>
            </a:extLst>
          </p:cNvPr>
          <p:cNvSpPr txBox="1"/>
          <p:nvPr/>
        </p:nvSpPr>
        <p:spPr>
          <a:xfrm>
            <a:off x="238697" y="1348964"/>
            <a:ext cx="8677238" cy="461665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050">
                <a:latin typeface="Aptos Light" panose="020B0004020202020204" pitchFamily="34" charset="0"/>
              </a:defRPr>
            </a:lvl1pPr>
          </a:lstStyle>
          <a:p>
            <a:r>
              <a:rPr lang="en-GB" sz="1200" dirty="0"/>
              <a:t>Investors targeting a fixed allocation to private markets require a disciplined and ongoing commitment strategy to both new and existing opportunities.</a:t>
            </a:r>
            <a:endParaRPr lang="en-US" sz="1200" dirty="0"/>
          </a:p>
        </p:txBody>
      </p:sp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348DB255-4771-7A9E-FCF9-A1C02A95B23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8344826"/>
              </p:ext>
            </p:extLst>
          </p:nvPr>
        </p:nvGraphicFramePr>
        <p:xfrm>
          <a:off x="453013" y="2586681"/>
          <a:ext cx="3844657" cy="32770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559300" imgH="3886200" progId="Excel.Sheet.12">
                  <p:embed/>
                </p:oleObj>
              </mc:Choice>
              <mc:Fallback>
                <p:oleObj name="Worksheet" r:id="rId2" imgW="4559300" imgH="38862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453013" y="2586681"/>
                        <a:ext cx="3844657" cy="32770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4C9B6407-F542-9DE3-244A-0B6934EEA25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03808456"/>
              </p:ext>
            </p:extLst>
          </p:nvPr>
        </p:nvGraphicFramePr>
        <p:xfrm>
          <a:off x="5397432" y="3058780"/>
          <a:ext cx="2832167" cy="32770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Oval 8">
            <a:extLst>
              <a:ext uri="{FF2B5EF4-FFF2-40B4-BE49-F238E27FC236}">
                <a16:creationId xmlns:a16="http://schemas.microsoft.com/office/drawing/2014/main" id="{85CDBD0B-B5E1-68BB-3942-B00BCFD33986}"/>
              </a:ext>
            </a:extLst>
          </p:cNvPr>
          <p:cNvSpPr/>
          <p:nvPr/>
        </p:nvSpPr>
        <p:spPr>
          <a:xfrm>
            <a:off x="6600494" y="3237182"/>
            <a:ext cx="399394" cy="294290"/>
          </a:xfrm>
          <a:prstGeom prst="ellipse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D85D8D-68D3-6037-0970-9D80E7D46790}"/>
              </a:ext>
            </a:extLst>
          </p:cNvPr>
          <p:cNvSpPr txBox="1"/>
          <p:nvPr/>
        </p:nvSpPr>
        <p:spPr>
          <a:xfrm>
            <a:off x="4730636" y="2541510"/>
            <a:ext cx="260106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050" dirty="0">
                <a:solidFill>
                  <a:srgbClr val="C00000"/>
                </a:solidFill>
                <a:latin typeface="Aptos" panose="020B0004020202020204" pitchFamily="34" charset="0"/>
              </a:rPr>
              <a:t>To reach and maintain the 20% target allocation, an investor would need to make yearly commitments of 5.2% of the liquid portfolio value</a:t>
            </a:r>
            <a:endParaRPr lang="en-US" sz="1050" dirty="0">
              <a:solidFill>
                <a:srgbClr val="C00000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12446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5D2737-C086-1D40-C6B1-8F4A500ED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2CD1D80-01DD-02FF-C145-2BB4FA6A1EC2}"/>
              </a:ext>
            </a:extLst>
          </p:cNvPr>
          <p:cNvSpPr txBox="1"/>
          <p:nvPr/>
        </p:nvSpPr>
        <p:spPr>
          <a:xfrm>
            <a:off x="366292" y="305777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Private Markets Modelling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C7D6325-7A01-AF62-BC53-F5681673FEFF}"/>
              </a:ext>
            </a:extLst>
          </p:cNvPr>
          <p:cNvCxnSpPr/>
          <p:nvPr/>
        </p:nvCxnSpPr>
        <p:spPr>
          <a:xfrm>
            <a:off x="302495" y="6531566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5B1EAD8-4ECA-125E-8C2A-4933285B0DAC}"/>
              </a:ext>
            </a:extLst>
          </p:cNvPr>
          <p:cNvSpPr txBox="1"/>
          <p:nvPr/>
        </p:nvSpPr>
        <p:spPr>
          <a:xfrm>
            <a:off x="267939" y="1286050"/>
            <a:ext cx="8608123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Yearly Commitment Size Required to Sustain Target Allocation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F7D0DA7-B864-A5A8-0A52-1FA6BEFC6DEA}"/>
              </a:ext>
            </a:extLst>
          </p:cNvPr>
          <p:cNvSpPr txBox="1"/>
          <p:nvPr/>
        </p:nvSpPr>
        <p:spPr>
          <a:xfrm>
            <a:off x="366292" y="631139"/>
            <a:ext cx="77473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Target Allocation and Commitment Pacing</a:t>
            </a:r>
          </a:p>
        </p:txBody>
      </p:sp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D38E6E7E-28FD-414E-9F9A-5C021932B8F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2740309"/>
              </p:ext>
            </p:extLst>
          </p:nvPr>
        </p:nvGraphicFramePr>
        <p:xfrm>
          <a:off x="366292" y="1755228"/>
          <a:ext cx="8475211" cy="366810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Oval 12">
            <a:extLst>
              <a:ext uri="{FF2B5EF4-FFF2-40B4-BE49-F238E27FC236}">
                <a16:creationId xmlns:a16="http://schemas.microsoft.com/office/drawing/2014/main" id="{4C6FE5D9-16B4-1AC1-FD97-F33683DA2C72}"/>
              </a:ext>
            </a:extLst>
          </p:cNvPr>
          <p:cNvSpPr/>
          <p:nvPr/>
        </p:nvSpPr>
        <p:spPr>
          <a:xfrm>
            <a:off x="7115504" y="2806264"/>
            <a:ext cx="315310" cy="241738"/>
          </a:xfrm>
          <a:prstGeom prst="ellipse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A095D5B-D972-099F-0818-2AF071D42888}"/>
              </a:ext>
            </a:extLst>
          </p:cNvPr>
          <p:cNvCxnSpPr>
            <a:cxnSpLocks/>
          </p:cNvCxnSpPr>
          <p:nvPr/>
        </p:nvCxnSpPr>
        <p:spPr>
          <a:xfrm>
            <a:off x="6768662" y="2633175"/>
            <a:ext cx="346842" cy="173089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8F26A268-8AFC-2888-6574-393AC984F384}"/>
              </a:ext>
            </a:extLst>
          </p:cNvPr>
          <p:cNvSpPr txBox="1"/>
          <p:nvPr/>
        </p:nvSpPr>
        <p:spPr>
          <a:xfrm>
            <a:off x="980089" y="2454564"/>
            <a:ext cx="2096814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050" dirty="0">
                <a:solidFill>
                  <a:srgbClr val="C00000"/>
                </a:solidFill>
                <a:latin typeface="Aptos" panose="020B0004020202020204" pitchFamily="34" charset="0"/>
              </a:rPr>
              <a:t>Investors will need to make progressively larger commitments to maintain their target percentage allocation, as the overall portfolio grows over time.</a:t>
            </a:r>
            <a:endParaRPr lang="en-US" sz="1050" dirty="0">
              <a:solidFill>
                <a:srgbClr val="C00000"/>
              </a:solidFill>
              <a:latin typeface="Aptos" panose="020B0004020202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8D46925-5B94-FDF5-6DE0-4EB4D9FEB7DD}"/>
              </a:ext>
            </a:extLst>
          </p:cNvPr>
          <p:cNvSpPr txBox="1"/>
          <p:nvPr/>
        </p:nvSpPr>
        <p:spPr>
          <a:xfrm>
            <a:off x="5123793" y="2092547"/>
            <a:ext cx="1644869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050" dirty="0">
                <a:solidFill>
                  <a:srgbClr val="C00000"/>
                </a:solidFill>
                <a:latin typeface="Aptos" panose="020B0004020202020204" pitchFamily="34" charset="0"/>
              </a:rPr>
              <a:t>Commitment size is expected to double by year 17 relative to year 1</a:t>
            </a:r>
            <a:endParaRPr lang="en-US" sz="1050" dirty="0">
              <a:solidFill>
                <a:srgbClr val="C00000"/>
              </a:solidFill>
              <a:latin typeface="Aptos" panose="020B0004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34BCF64-E0D2-5836-886E-9FDDA20DA3CD}"/>
              </a:ext>
            </a:extLst>
          </p:cNvPr>
          <p:cNvSpPr txBox="1"/>
          <p:nvPr/>
        </p:nvSpPr>
        <p:spPr>
          <a:xfrm>
            <a:off x="582748" y="5592970"/>
            <a:ext cx="7978504" cy="461665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050">
                <a:latin typeface="Aptos Light" panose="020B0004020202020204" pitchFamily="34" charset="0"/>
              </a:defRPr>
            </a:lvl1pPr>
          </a:lstStyle>
          <a:p>
            <a:r>
              <a:rPr lang="en-GB" sz="1200" dirty="0"/>
              <a:t>Investors targeting a fixed allocation to private markets require a disciplined and ongoing commitment strategy to both new and existing opportunities.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4960851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FD710-DFCB-23D3-D6E0-218E64F73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8FCAB53-36EE-02D6-7936-2454E66CD050}"/>
              </a:ext>
            </a:extLst>
          </p:cNvPr>
          <p:cNvSpPr txBox="1"/>
          <p:nvPr/>
        </p:nvSpPr>
        <p:spPr>
          <a:xfrm>
            <a:off x="366292" y="305777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Private Markets Modelling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BE4F08D-4CC9-ACC2-DA51-2378F8EFCE6B}"/>
              </a:ext>
            </a:extLst>
          </p:cNvPr>
          <p:cNvCxnSpPr/>
          <p:nvPr/>
        </p:nvCxnSpPr>
        <p:spPr>
          <a:xfrm>
            <a:off x="302495" y="6531566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11A6269-9A86-493E-2A66-1B148EC23B4C}"/>
              </a:ext>
            </a:extLst>
          </p:cNvPr>
          <p:cNvSpPr txBox="1"/>
          <p:nvPr/>
        </p:nvSpPr>
        <p:spPr>
          <a:xfrm>
            <a:off x="233380" y="1349111"/>
            <a:ext cx="8677238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Evolution of Private Markets Portfolio Weights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EADF8DD-70DC-94B7-400D-6CE23B0555F0}"/>
              </a:ext>
            </a:extLst>
          </p:cNvPr>
          <p:cNvSpPr txBox="1"/>
          <p:nvPr/>
        </p:nvSpPr>
        <p:spPr>
          <a:xfrm>
            <a:off x="366292" y="631139"/>
            <a:ext cx="77473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Target Allocation and Commitment Pacing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312E0A-9D94-8104-DB3B-9D0EFD070A7B}"/>
              </a:ext>
            </a:extLst>
          </p:cNvPr>
          <p:cNvSpPr txBox="1"/>
          <p:nvPr/>
        </p:nvSpPr>
        <p:spPr>
          <a:xfrm>
            <a:off x="302495" y="5622575"/>
            <a:ext cx="8539009" cy="461665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Investors should be mindful that it may take several years for a private markets portfolio to reach its target allocation. If not properly managed, this can create a short- to medium-term drag on overall portfolio performance</a:t>
            </a:r>
            <a:endParaRPr lang="en-US" sz="1200" dirty="0">
              <a:latin typeface="Aptos" panose="020B0004020202020204" pitchFamily="34" charset="0"/>
              <a:cs typeface="Calibri Light" panose="020F0302020204030204" pitchFamily="34" charset="0"/>
            </a:endParaRPr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BF18B562-7E76-5555-90A3-7E9F2EB597B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52498898"/>
              </p:ext>
            </p:extLst>
          </p:nvPr>
        </p:nvGraphicFramePr>
        <p:xfrm>
          <a:off x="384489" y="1839317"/>
          <a:ext cx="8375023" cy="366957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5">
            <a:extLst>
              <a:ext uri="{FF2B5EF4-FFF2-40B4-BE49-F238E27FC236}">
                <a16:creationId xmlns:a16="http://schemas.microsoft.com/office/drawing/2014/main" id="{5DFFC880-FA40-EBBB-4D36-5132BCCFC30E}"/>
              </a:ext>
            </a:extLst>
          </p:cNvPr>
          <p:cNvSpPr txBox="1"/>
          <p:nvPr/>
        </p:nvSpPr>
        <p:spPr>
          <a:xfrm>
            <a:off x="6720804" y="2556274"/>
            <a:ext cx="120399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 dirty="0">
                <a:solidFill>
                  <a:srgbClr val="C00000"/>
                </a:solidFill>
                <a:latin typeface="Aptos" panose="020B0004020202020204" pitchFamily="34" charset="0"/>
              </a:rPr>
              <a:t>Target Allocation</a:t>
            </a:r>
          </a:p>
        </p:txBody>
      </p:sp>
    </p:spTree>
    <p:extLst>
      <p:ext uri="{BB962C8B-B14F-4D97-AF65-F5344CB8AC3E}">
        <p14:creationId xmlns:p14="http://schemas.microsoft.com/office/powerpoint/2010/main" val="11675815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13354</TotalTime>
  <Words>1871</Words>
  <Application>Microsoft Macintosh PowerPoint</Application>
  <PresentationFormat>On-screen Show (4:3)</PresentationFormat>
  <Paragraphs>257</Paragraphs>
  <Slides>28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28</vt:i4>
      </vt:variant>
    </vt:vector>
  </HeadingPairs>
  <TitlesOfParts>
    <vt:vector size="37" baseType="lpstr">
      <vt:lpstr>Aptos</vt:lpstr>
      <vt:lpstr>Aptos Light</vt:lpstr>
      <vt:lpstr>Arial</vt:lpstr>
      <vt:lpstr>Calibri</vt:lpstr>
      <vt:lpstr>Calibri Light</vt:lpstr>
      <vt:lpstr>Grotesque Light</vt:lpstr>
      <vt:lpstr>Office 2013 - 2022 Theme</vt:lpstr>
      <vt:lpstr>Worksheet</vt:lpstr>
      <vt:lpstr>Microsoft Excel Worksheet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Francis Barker</dc:creator>
  <cp:lastModifiedBy>Francis Barker</cp:lastModifiedBy>
  <cp:revision>67</cp:revision>
  <dcterms:created xsi:type="dcterms:W3CDTF">2024-02-09T09:35:44Z</dcterms:created>
  <dcterms:modified xsi:type="dcterms:W3CDTF">2025-07-06T08:25:39Z</dcterms:modified>
</cp:coreProperties>
</file>