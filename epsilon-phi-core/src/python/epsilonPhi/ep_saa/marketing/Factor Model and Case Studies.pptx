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1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notesSlides/notesSlide2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sldIdLst>
    <p:sldId id="272" r:id="rId2"/>
    <p:sldId id="256" r:id="rId3"/>
    <p:sldId id="284" r:id="rId4"/>
    <p:sldId id="283" r:id="rId5"/>
    <p:sldId id="285" r:id="rId6"/>
    <p:sldId id="286" r:id="rId7"/>
    <p:sldId id="288" r:id="rId8"/>
    <p:sldId id="290" r:id="rId9"/>
    <p:sldId id="298" r:id="rId10"/>
    <p:sldId id="287" r:id="rId11"/>
    <p:sldId id="291" r:id="rId12"/>
    <p:sldId id="289" r:id="rId13"/>
    <p:sldId id="294" r:id="rId14"/>
    <p:sldId id="292" r:id="rId15"/>
    <p:sldId id="293" r:id="rId16"/>
    <p:sldId id="295" r:id="rId17"/>
    <p:sldId id="296" r:id="rId18"/>
    <p:sldId id="29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AD47"/>
    <a:srgbClr val="7CC04D"/>
    <a:srgbClr val="7F94BA"/>
    <a:srgbClr val="0B0D37"/>
    <a:srgbClr val="151824"/>
    <a:srgbClr val="000D67"/>
    <a:srgbClr val="7D9BD3"/>
    <a:srgbClr val="7395D3"/>
    <a:srgbClr val="A8B2BC"/>
    <a:srgbClr val="ADB9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19"/>
    <p:restoredTop sz="94644"/>
  </p:normalViewPr>
  <p:slideViewPr>
    <p:cSldViewPr snapToGrid="0">
      <p:cViewPr varScale="1">
        <p:scale>
          <a:sx n="182" d="100"/>
          <a:sy n="182" d="100"/>
        </p:scale>
        <p:origin x="16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python/epsilonPhi/core/reporting/formatted_exce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python/epsilonPhi/core/reporting/formatted_excel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python/epsilonPhi/core/reporting/formatted_excel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python/epsilonPhi/core/reporting/formatted_excel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python/epsilonPhi/core/reporting/formatted_excel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python/epsilonPhi/core/reporting/formatted_excel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sitories/Python/epsilon-phi/epsilon-phi-core/src/Scripts/Case%20Studies/1.%20Portfolio%20Analysis/Simple%20Portfolio%20Report%20Spending.xlsx" TargetMode="External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francisbarker/Repositories/Python/epsilon-phi/epsilon-phi-core/src/Scripts/Case%20Studies/1.%20Portfolio%20Analysis/Simple%20Portfolio%20Report%20Spending.xlsx" TargetMode="Externa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francisbarker/Repositories/Python/epsilon-phi/epsilon-phi-core/src/Scripts/Case%20Studies/1.%20Portfolio%20Analysis/Simple%20Portfolio%20Report_new_pe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6596068786070678E-2"/>
          <c:y val="4.0039682539682549E-2"/>
          <c:w val="0.9068078624278586"/>
          <c:h val="0.91630952380952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'Factor Charts'!$I$1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pattFill prst="dkUpDiag">
                <a:fgClr>
                  <a:schemeClr val="tx2">
                    <a:lumMod val="20000"/>
                    <a:lumOff val="80000"/>
                  </a:schemeClr>
                </a:fgClr>
                <a:bgClr>
                  <a:srgbClr val="16537D"/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F86-F244-85C1-474F3562038C}"/>
              </c:ext>
            </c:extLst>
          </c:dPt>
          <c:dPt>
            <c:idx val="2"/>
            <c:invertIfNegative val="0"/>
            <c:bubble3D val="0"/>
            <c:spPr>
              <a:pattFill prst="wdDnDiag">
                <a:fgClr>
                  <a:srgbClr val="658E00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F86-F244-85C1-474F3562038C}"/>
              </c:ext>
            </c:extLst>
          </c:dPt>
          <c:dPt>
            <c:idx val="3"/>
            <c:invertIfNegative val="0"/>
            <c:bubble3D val="0"/>
            <c:spPr>
              <a:pattFill prst="wdUpDiag">
                <a:fgClr>
                  <a:srgbClr val="B37838"/>
                </a:fgClr>
                <a:bgClr>
                  <a:schemeClr val="accent6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F86-F244-85C1-474F3562038C}"/>
              </c:ext>
            </c:extLst>
          </c:dPt>
          <c:dPt>
            <c:idx val="4"/>
            <c:invertIfNegative val="0"/>
            <c:bubble3D val="0"/>
            <c:spPr>
              <a:pattFill prst="plaid">
                <a:fgClr>
                  <a:schemeClr val="bg1">
                    <a:lumMod val="95000"/>
                  </a:schemeClr>
                </a:fgClr>
                <a:bgClr>
                  <a:schemeClr val="tx1">
                    <a:lumMod val="50000"/>
                    <a:lumOff val="5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F86-F244-85C1-474F3562038C}"/>
              </c:ext>
            </c:extLst>
          </c:dPt>
          <c:dPt>
            <c:idx val="5"/>
            <c:invertIfNegative val="0"/>
            <c:bubble3D val="0"/>
            <c:spPr>
              <a:pattFill prst="solidDmnd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F86-F244-85C1-474F3562038C}"/>
              </c:ext>
            </c:extLst>
          </c:dPt>
          <c:dPt>
            <c:idx val="6"/>
            <c:invertIfNegative val="0"/>
            <c:bubble3D val="0"/>
            <c:spPr>
              <a:pattFill prst="smCheck">
                <a:fgClr>
                  <a:srgbClr val="DDA500"/>
                </a:fgClr>
                <a:bgClr>
                  <a:schemeClr val="accent6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AF86-F244-85C1-474F3562038C}"/>
              </c:ext>
            </c:extLst>
          </c:dPt>
          <c:val>
            <c:numRef>
              <c:f>'Factor Charts'!$I$2:$I$9</c:f>
              <c:numCache>
                <c:formatCode>0.00%</c:formatCode>
                <c:ptCount val="8"/>
                <c:pt idx="1">
                  <c:v>2.5000000000000001E-2</c:v>
                </c:pt>
                <c:pt idx="2">
                  <c:v>5.0000000000000001E-3</c:v>
                </c:pt>
                <c:pt idx="3">
                  <c:v>6.0000000000000001E-3</c:v>
                </c:pt>
                <c:pt idx="4">
                  <c:v>2.5000000000000001E-3</c:v>
                </c:pt>
                <c:pt idx="5">
                  <c:v>3.5000000000000001E-3</c:v>
                </c:pt>
                <c:pt idx="6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F86-F244-85C1-474F356203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295615184"/>
        <c:axId val="344716032"/>
      </c:barChart>
      <c:catAx>
        <c:axId val="2956151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  <a:alpha val="99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716032"/>
        <c:crosses val="autoZero"/>
        <c:auto val="1"/>
        <c:lblAlgn val="ctr"/>
        <c:lblOffset val="100"/>
        <c:tickMarkSkip val="8"/>
        <c:noMultiLvlLbl val="0"/>
      </c:catAx>
      <c:valAx>
        <c:axId val="344716032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29561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6596068786070678E-2"/>
          <c:y val="4.0039682539682549E-2"/>
          <c:w val="0.9068078624278586"/>
          <c:h val="0.91630952380952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'Factor Charts'!$I$1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pattFill prst="dkUpDiag">
                <a:fgClr>
                  <a:schemeClr val="tx2">
                    <a:lumMod val="20000"/>
                    <a:lumOff val="80000"/>
                  </a:schemeClr>
                </a:fgClr>
                <a:bgClr>
                  <a:srgbClr val="16537D"/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997-1042-B22E-0CBC1E853EAB}"/>
              </c:ext>
            </c:extLst>
          </c:dPt>
          <c:dPt>
            <c:idx val="2"/>
            <c:invertIfNegative val="0"/>
            <c:bubble3D val="0"/>
            <c:spPr>
              <a:pattFill prst="wdDnDiag">
                <a:fgClr>
                  <a:srgbClr val="658E00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997-1042-B22E-0CBC1E853EAB}"/>
              </c:ext>
            </c:extLst>
          </c:dPt>
          <c:dPt>
            <c:idx val="3"/>
            <c:invertIfNegative val="0"/>
            <c:bubble3D val="0"/>
            <c:spPr>
              <a:pattFill prst="wdUpDiag">
                <a:fgClr>
                  <a:srgbClr val="B37838"/>
                </a:fgClr>
                <a:bgClr>
                  <a:schemeClr val="accent6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997-1042-B22E-0CBC1E853EAB}"/>
              </c:ext>
            </c:extLst>
          </c:dPt>
          <c:dPt>
            <c:idx val="4"/>
            <c:invertIfNegative val="0"/>
            <c:bubble3D val="0"/>
            <c:spPr>
              <a:pattFill prst="plaid">
                <a:fgClr>
                  <a:schemeClr val="bg1">
                    <a:lumMod val="95000"/>
                  </a:schemeClr>
                </a:fgClr>
                <a:bgClr>
                  <a:schemeClr val="tx1">
                    <a:lumMod val="50000"/>
                    <a:lumOff val="5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997-1042-B22E-0CBC1E853EAB}"/>
              </c:ext>
            </c:extLst>
          </c:dPt>
          <c:dPt>
            <c:idx val="5"/>
            <c:invertIfNegative val="0"/>
            <c:bubble3D val="0"/>
            <c:spPr>
              <a:pattFill prst="solidDmnd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0997-1042-B22E-0CBC1E853EAB}"/>
              </c:ext>
            </c:extLst>
          </c:dPt>
          <c:dPt>
            <c:idx val="6"/>
            <c:invertIfNegative val="0"/>
            <c:bubble3D val="0"/>
            <c:spPr>
              <a:pattFill prst="smCheck">
                <a:fgClr>
                  <a:srgbClr val="DDA500"/>
                </a:fgClr>
                <a:bgClr>
                  <a:schemeClr val="accent6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0997-1042-B22E-0CBC1E853EAB}"/>
              </c:ext>
            </c:extLst>
          </c:dPt>
          <c:val>
            <c:numRef>
              <c:f>'Factor Charts'!$I$2:$I$9</c:f>
              <c:numCache>
                <c:formatCode>0.00%</c:formatCode>
                <c:ptCount val="8"/>
                <c:pt idx="1">
                  <c:v>2.5000000000000001E-2</c:v>
                </c:pt>
                <c:pt idx="2">
                  <c:v>5.0000000000000001E-3</c:v>
                </c:pt>
                <c:pt idx="3">
                  <c:v>6.0000000000000001E-3</c:v>
                </c:pt>
                <c:pt idx="4">
                  <c:v>2.5000000000000001E-3</c:v>
                </c:pt>
                <c:pt idx="5">
                  <c:v>3.5000000000000001E-3</c:v>
                </c:pt>
                <c:pt idx="6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997-1042-B22E-0CBC1E853E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295615184"/>
        <c:axId val="344716032"/>
      </c:barChart>
      <c:catAx>
        <c:axId val="2956151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  <a:alpha val="99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716032"/>
        <c:crosses val="autoZero"/>
        <c:auto val="1"/>
        <c:lblAlgn val="ctr"/>
        <c:lblOffset val="100"/>
        <c:tickMarkSkip val="8"/>
        <c:noMultiLvlLbl val="0"/>
      </c:catAx>
      <c:valAx>
        <c:axId val="344716032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29561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6596068786070678E-2"/>
          <c:y val="4.0039682539682549E-2"/>
          <c:w val="0.9068078624278586"/>
          <c:h val="0.91630952380952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'Factor Charts'!$I$1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pattFill prst="dkUpDiag">
                <a:fgClr>
                  <a:schemeClr val="tx2">
                    <a:lumMod val="20000"/>
                    <a:lumOff val="80000"/>
                  </a:schemeClr>
                </a:fgClr>
                <a:bgClr>
                  <a:srgbClr val="16537D"/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D02-A24A-8EFE-C21655D98D06}"/>
              </c:ext>
            </c:extLst>
          </c:dPt>
          <c:dPt>
            <c:idx val="2"/>
            <c:invertIfNegative val="0"/>
            <c:bubble3D val="0"/>
            <c:spPr>
              <a:pattFill prst="wdDnDiag">
                <a:fgClr>
                  <a:srgbClr val="658E00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D02-A24A-8EFE-C21655D98D06}"/>
              </c:ext>
            </c:extLst>
          </c:dPt>
          <c:dPt>
            <c:idx val="3"/>
            <c:invertIfNegative val="0"/>
            <c:bubble3D val="0"/>
            <c:spPr>
              <a:pattFill prst="wdUpDiag">
                <a:fgClr>
                  <a:srgbClr val="B37838"/>
                </a:fgClr>
                <a:bgClr>
                  <a:schemeClr val="accent6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D02-A24A-8EFE-C21655D98D06}"/>
              </c:ext>
            </c:extLst>
          </c:dPt>
          <c:dPt>
            <c:idx val="4"/>
            <c:invertIfNegative val="0"/>
            <c:bubble3D val="0"/>
            <c:spPr>
              <a:pattFill prst="plaid">
                <a:fgClr>
                  <a:schemeClr val="bg1">
                    <a:lumMod val="95000"/>
                  </a:schemeClr>
                </a:fgClr>
                <a:bgClr>
                  <a:schemeClr val="tx1">
                    <a:lumMod val="50000"/>
                    <a:lumOff val="5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D02-A24A-8EFE-C21655D98D06}"/>
              </c:ext>
            </c:extLst>
          </c:dPt>
          <c:dPt>
            <c:idx val="5"/>
            <c:invertIfNegative val="0"/>
            <c:bubble3D val="0"/>
            <c:spPr>
              <a:pattFill prst="solidDmnd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D02-A24A-8EFE-C21655D98D06}"/>
              </c:ext>
            </c:extLst>
          </c:dPt>
          <c:dPt>
            <c:idx val="6"/>
            <c:invertIfNegative val="0"/>
            <c:bubble3D val="0"/>
            <c:spPr>
              <a:pattFill prst="smCheck">
                <a:fgClr>
                  <a:srgbClr val="DDA500"/>
                </a:fgClr>
                <a:bgClr>
                  <a:schemeClr val="accent6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2D02-A24A-8EFE-C21655D98D06}"/>
              </c:ext>
            </c:extLst>
          </c:dPt>
          <c:val>
            <c:numRef>
              <c:f>'Factor Charts'!$I$2:$I$9</c:f>
              <c:numCache>
                <c:formatCode>0.00%</c:formatCode>
                <c:ptCount val="8"/>
                <c:pt idx="1">
                  <c:v>2.5000000000000001E-2</c:v>
                </c:pt>
                <c:pt idx="2">
                  <c:v>5.0000000000000001E-3</c:v>
                </c:pt>
                <c:pt idx="3">
                  <c:v>6.0000000000000001E-3</c:v>
                </c:pt>
                <c:pt idx="4">
                  <c:v>2.5000000000000001E-3</c:v>
                </c:pt>
                <c:pt idx="5">
                  <c:v>3.5000000000000001E-3</c:v>
                </c:pt>
                <c:pt idx="6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D02-A24A-8EFE-C21655D98D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295615184"/>
        <c:axId val="344716032"/>
      </c:barChart>
      <c:catAx>
        <c:axId val="2956151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  <a:alpha val="99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716032"/>
        <c:crosses val="autoZero"/>
        <c:auto val="1"/>
        <c:lblAlgn val="ctr"/>
        <c:lblOffset val="100"/>
        <c:tickMarkSkip val="8"/>
        <c:noMultiLvlLbl val="0"/>
      </c:catAx>
      <c:valAx>
        <c:axId val="344716032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29561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6596068786070678E-2"/>
          <c:y val="4.0039682539682549E-2"/>
          <c:w val="0.9068078624278586"/>
          <c:h val="0.91630952380952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'Factor Charts'!$I$1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pattFill prst="dkUpDiag">
                <a:fgClr>
                  <a:schemeClr val="tx2">
                    <a:lumMod val="20000"/>
                    <a:lumOff val="80000"/>
                  </a:schemeClr>
                </a:fgClr>
                <a:bgClr>
                  <a:srgbClr val="16537D"/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388-684F-886E-9C79A7C16C1A}"/>
              </c:ext>
            </c:extLst>
          </c:dPt>
          <c:dPt>
            <c:idx val="2"/>
            <c:invertIfNegative val="0"/>
            <c:bubble3D val="0"/>
            <c:spPr>
              <a:pattFill prst="wdDnDiag">
                <a:fgClr>
                  <a:srgbClr val="658E00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388-684F-886E-9C79A7C16C1A}"/>
              </c:ext>
            </c:extLst>
          </c:dPt>
          <c:dPt>
            <c:idx val="3"/>
            <c:invertIfNegative val="0"/>
            <c:bubble3D val="0"/>
            <c:spPr>
              <a:pattFill prst="wdUpDiag">
                <a:fgClr>
                  <a:srgbClr val="B37838"/>
                </a:fgClr>
                <a:bgClr>
                  <a:schemeClr val="accent6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388-684F-886E-9C79A7C16C1A}"/>
              </c:ext>
            </c:extLst>
          </c:dPt>
          <c:dPt>
            <c:idx val="4"/>
            <c:invertIfNegative val="0"/>
            <c:bubble3D val="0"/>
            <c:spPr>
              <a:pattFill prst="plaid">
                <a:fgClr>
                  <a:schemeClr val="bg1">
                    <a:lumMod val="95000"/>
                  </a:schemeClr>
                </a:fgClr>
                <a:bgClr>
                  <a:schemeClr val="tx1">
                    <a:lumMod val="50000"/>
                    <a:lumOff val="5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F388-684F-886E-9C79A7C16C1A}"/>
              </c:ext>
            </c:extLst>
          </c:dPt>
          <c:dPt>
            <c:idx val="5"/>
            <c:invertIfNegative val="0"/>
            <c:bubble3D val="0"/>
            <c:spPr>
              <a:pattFill prst="solidDmnd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F388-684F-886E-9C79A7C16C1A}"/>
              </c:ext>
            </c:extLst>
          </c:dPt>
          <c:dPt>
            <c:idx val="6"/>
            <c:invertIfNegative val="0"/>
            <c:bubble3D val="0"/>
            <c:spPr>
              <a:pattFill prst="smCheck">
                <a:fgClr>
                  <a:srgbClr val="DDA500"/>
                </a:fgClr>
                <a:bgClr>
                  <a:schemeClr val="accent6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F388-684F-886E-9C79A7C16C1A}"/>
              </c:ext>
            </c:extLst>
          </c:dPt>
          <c:val>
            <c:numRef>
              <c:f>'Factor Charts'!$I$2:$I$9</c:f>
              <c:numCache>
                <c:formatCode>0.00%</c:formatCode>
                <c:ptCount val="8"/>
                <c:pt idx="1">
                  <c:v>2.5000000000000001E-2</c:v>
                </c:pt>
                <c:pt idx="2">
                  <c:v>5.0000000000000001E-3</c:v>
                </c:pt>
                <c:pt idx="3">
                  <c:v>6.0000000000000001E-3</c:v>
                </c:pt>
                <c:pt idx="4">
                  <c:v>2.5000000000000001E-3</c:v>
                </c:pt>
                <c:pt idx="5">
                  <c:v>3.5000000000000001E-3</c:v>
                </c:pt>
                <c:pt idx="6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F388-684F-886E-9C79A7C16C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295615184"/>
        <c:axId val="344716032"/>
      </c:barChart>
      <c:catAx>
        <c:axId val="2956151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  <a:alpha val="99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716032"/>
        <c:crosses val="autoZero"/>
        <c:auto val="1"/>
        <c:lblAlgn val="ctr"/>
        <c:lblOffset val="100"/>
        <c:tickMarkSkip val="8"/>
        <c:noMultiLvlLbl val="0"/>
      </c:catAx>
      <c:valAx>
        <c:axId val="344716032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29561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6596068786070678E-2"/>
          <c:y val="4.0039682539682549E-2"/>
          <c:w val="0.9068078624278586"/>
          <c:h val="0.91630952380952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'Factor Charts'!$I$1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pattFill prst="dkUpDiag">
                <a:fgClr>
                  <a:schemeClr val="tx2">
                    <a:lumMod val="20000"/>
                    <a:lumOff val="80000"/>
                  </a:schemeClr>
                </a:fgClr>
                <a:bgClr>
                  <a:srgbClr val="16537D"/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44F-4248-AE92-8D9C3261DEEA}"/>
              </c:ext>
            </c:extLst>
          </c:dPt>
          <c:dPt>
            <c:idx val="2"/>
            <c:invertIfNegative val="0"/>
            <c:bubble3D val="0"/>
            <c:spPr>
              <a:pattFill prst="wdDnDiag">
                <a:fgClr>
                  <a:srgbClr val="658E00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44F-4248-AE92-8D9C3261DEEA}"/>
              </c:ext>
            </c:extLst>
          </c:dPt>
          <c:dPt>
            <c:idx val="3"/>
            <c:invertIfNegative val="0"/>
            <c:bubble3D val="0"/>
            <c:spPr>
              <a:pattFill prst="wdUpDiag">
                <a:fgClr>
                  <a:srgbClr val="B37838"/>
                </a:fgClr>
                <a:bgClr>
                  <a:schemeClr val="accent6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44F-4248-AE92-8D9C3261DEEA}"/>
              </c:ext>
            </c:extLst>
          </c:dPt>
          <c:dPt>
            <c:idx val="4"/>
            <c:invertIfNegative val="0"/>
            <c:bubble3D val="0"/>
            <c:spPr>
              <a:pattFill prst="plaid">
                <a:fgClr>
                  <a:schemeClr val="bg1">
                    <a:lumMod val="95000"/>
                  </a:schemeClr>
                </a:fgClr>
                <a:bgClr>
                  <a:schemeClr val="tx1">
                    <a:lumMod val="50000"/>
                    <a:lumOff val="5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44F-4248-AE92-8D9C3261DEEA}"/>
              </c:ext>
            </c:extLst>
          </c:dPt>
          <c:dPt>
            <c:idx val="5"/>
            <c:invertIfNegative val="0"/>
            <c:bubble3D val="0"/>
            <c:spPr>
              <a:pattFill prst="solidDmnd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C44F-4248-AE92-8D9C3261DEEA}"/>
              </c:ext>
            </c:extLst>
          </c:dPt>
          <c:dPt>
            <c:idx val="6"/>
            <c:invertIfNegative val="0"/>
            <c:bubble3D val="0"/>
            <c:spPr>
              <a:pattFill prst="smCheck">
                <a:fgClr>
                  <a:srgbClr val="DDA500"/>
                </a:fgClr>
                <a:bgClr>
                  <a:schemeClr val="accent6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C44F-4248-AE92-8D9C3261DEEA}"/>
              </c:ext>
            </c:extLst>
          </c:dPt>
          <c:val>
            <c:numRef>
              <c:f>'Factor Charts'!$I$2:$I$9</c:f>
              <c:numCache>
                <c:formatCode>0.00%</c:formatCode>
                <c:ptCount val="8"/>
                <c:pt idx="1">
                  <c:v>2.5000000000000001E-2</c:v>
                </c:pt>
                <c:pt idx="2">
                  <c:v>5.0000000000000001E-3</c:v>
                </c:pt>
                <c:pt idx="3">
                  <c:v>6.0000000000000001E-3</c:v>
                </c:pt>
                <c:pt idx="4">
                  <c:v>2.5000000000000001E-3</c:v>
                </c:pt>
                <c:pt idx="5">
                  <c:v>3.5000000000000001E-3</c:v>
                </c:pt>
                <c:pt idx="6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44F-4248-AE92-8D9C3261DE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295615184"/>
        <c:axId val="344716032"/>
      </c:barChart>
      <c:catAx>
        <c:axId val="2956151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  <a:alpha val="99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716032"/>
        <c:crosses val="autoZero"/>
        <c:auto val="1"/>
        <c:lblAlgn val="ctr"/>
        <c:lblOffset val="100"/>
        <c:tickMarkSkip val="8"/>
        <c:noMultiLvlLbl val="0"/>
      </c:catAx>
      <c:valAx>
        <c:axId val="344716032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29561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6596068786070678E-2"/>
          <c:y val="4.0039682539682549E-2"/>
          <c:w val="0.9068078624278586"/>
          <c:h val="0.91630952380952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'Factor Charts'!$I$1</c:f>
              <c:strCache>
                <c:ptCount val="1"/>
              </c:strCache>
            </c:strRef>
          </c:tx>
          <c:spPr>
            <a:solidFill>
              <a:schemeClr val="accent1"/>
            </a:solidFill>
            <a:ln w="9525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dPt>
            <c:idx val="1"/>
            <c:invertIfNegative val="0"/>
            <c:bubble3D val="0"/>
            <c:spPr>
              <a:pattFill prst="dkUpDiag">
                <a:fgClr>
                  <a:schemeClr val="tx2">
                    <a:lumMod val="20000"/>
                    <a:lumOff val="80000"/>
                  </a:schemeClr>
                </a:fgClr>
                <a:bgClr>
                  <a:srgbClr val="16537D"/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8E7-A34F-8E37-374647514286}"/>
              </c:ext>
            </c:extLst>
          </c:dPt>
          <c:dPt>
            <c:idx val="2"/>
            <c:invertIfNegative val="0"/>
            <c:bubble3D val="0"/>
            <c:spPr>
              <a:pattFill prst="wdDnDiag">
                <a:fgClr>
                  <a:srgbClr val="658E00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8E7-A34F-8E37-374647514286}"/>
              </c:ext>
            </c:extLst>
          </c:dPt>
          <c:dPt>
            <c:idx val="3"/>
            <c:invertIfNegative val="0"/>
            <c:bubble3D val="0"/>
            <c:spPr>
              <a:pattFill prst="wdUpDiag">
                <a:fgClr>
                  <a:srgbClr val="B37838"/>
                </a:fgClr>
                <a:bgClr>
                  <a:schemeClr val="accent6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8E7-A34F-8E37-374647514286}"/>
              </c:ext>
            </c:extLst>
          </c:dPt>
          <c:dPt>
            <c:idx val="4"/>
            <c:invertIfNegative val="0"/>
            <c:bubble3D val="0"/>
            <c:spPr>
              <a:pattFill prst="plaid">
                <a:fgClr>
                  <a:schemeClr val="bg1">
                    <a:lumMod val="95000"/>
                  </a:schemeClr>
                </a:fgClr>
                <a:bgClr>
                  <a:schemeClr val="tx1">
                    <a:lumMod val="50000"/>
                    <a:lumOff val="5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8E7-A34F-8E37-374647514286}"/>
              </c:ext>
            </c:extLst>
          </c:dPt>
          <c:dPt>
            <c:idx val="5"/>
            <c:invertIfNegative val="0"/>
            <c:bubble3D val="0"/>
            <c:spPr>
              <a:pattFill prst="solidDmnd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68E7-A34F-8E37-374647514286}"/>
              </c:ext>
            </c:extLst>
          </c:dPt>
          <c:dPt>
            <c:idx val="6"/>
            <c:invertIfNegative val="0"/>
            <c:bubble3D val="0"/>
            <c:spPr>
              <a:pattFill prst="smCheck">
                <a:fgClr>
                  <a:srgbClr val="DDA500"/>
                </a:fgClr>
                <a:bgClr>
                  <a:schemeClr val="accent6">
                    <a:lumMod val="40000"/>
                    <a:lumOff val="60000"/>
                  </a:schemeClr>
                </a:bgClr>
              </a:pattFill>
              <a:ln w="9525">
                <a:solidFill>
                  <a:schemeClr val="bg1">
                    <a:lumMod val="50000"/>
                  </a:schemeClr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68E7-A34F-8E37-374647514286}"/>
              </c:ext>
            </c:extLst>
          </c:dPt>
          <c:val>
            <c:numRef>
              <c:f>'Factor Charts'!$I$2:$I$9</c:f>
              <c:numCache>
                <c:formatCode>0.00%</c:formatCode>
                <c:ptCount val="8"/>
                <c:pt idx="1">
                  <c:v>2.5000000000000001E-2</c:v>
                </c:pt>
                <c:pt idx="2">
                  <c:v>5.0000000000000001E-3</c:v>
                </c:pt>
                <c:pt idx="3">
                  <c:v>6.0000000000000001E-3</c:v>
                </c:pt>
                <c:pt idx="4">
                  <c:v>2.5000000000000001E-3</c:v>
                </c:pt>
                <c:pt idx="5">
                  <c:v>3.5000000000000001E-3</c:v>
                </c:pt>
                <c:pt idx="6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68E7-A34F-8E37-3746475142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295615184"/>
        <c:axId val="344716032"/>
      </c:barChart>
      <c:catAx>
        <c:axId val="2956151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 w="9525" cap="flat" cmpd="sng" algn="ctr">
            <a:solidFill>
              <a:schemeClr val="bg1">
                <a:lumMod val="50000"/>
                <a:alpha val="99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44716032"/>
        <c:crosses val="autoZero"/>
        <c:auto val="1"/>
        <c:lblAlgn val="ctr"/>
        <c:lblOffset val="100"/>
        <c:tickMarkSkip val="8"/>
        <c:noMultiLvlLbl val="0"/>
      </c:catAx>
      <c:valAx>
        <c:axId val="344716032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crossAx val="29561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7501228346456691"/>
          <c:y val="4.1509433962264149E-2"/>
          <c:w val="0.66847433070866147"/>
          <c:h val="0.87094993314514935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'Risk Decomposition'!$A$2:$A$23</c:f>
              <c:strCache>
                <c:ptCount val="19"/>
                <c:pt idx="0">
                  <c:v>US Dollar Debt</c:v>
                </c:pt>
                <c:pt idx="1">
                  <c:v>US High Yield</c:v>
                </c:pt>
                <c:pt idx="2">
                  <c:v>US Equity</c:v>
                </c:pt>
                <c:pt idx="3">
                  <c:v>Europe ex-UK Equity</c:v>
                </c:pt>
                <c:pt idx="4">
                  <c:v>UK Equity</c:v>
                </c:pt>
                <c:pt idx="5">
                  <c:v>Japanese Equity</c:v>
                </c:pt>
                <c:pt idx="6">
                  <c:v>Asia-Pacific Equity</c:v>
                </c:pt>
                <c:pt idx="7">
                  <c:v>Emerging Market Equity</c:v>
                </c:pt>
                <c:pt idx="8">
                  <c:v>Global REITs</c:v>
                </c:pt>
                <c:pt idx="9">
                  <c:v>Infrastructure Equity</c:v>
                </c:pt>
                <c:pt idx="10">
                  <c:v>Event Driven</c:v>
                </c:pt>
                <c:pt idx="11">
                  <c:v>Equity Long/Short</c:v>
                </c:pt>
                <c:pt idx="12">
                  <c:v>Tactical Trading</c:v>
                </c:pt>
                <c:pt idx="13">
                  <c:v>Buyout</c:v>
                </c:pt>
                <c:pt idx="14">
                  <c:v>Growth</c:v>
                </c:pt>
                <c:pt idx="15">
                  <c:v>Venture</c:v>
                </c:pt>
                <c:pt idx="16">
                  <c:v>Private Credit</c:v>
                </c:pt>
                <c:pt idx="17">
                  <c:v>Core Real Estate</c:v>
                </c:pt>
                <c:pt idx="18">
                  <c:v>Infrastructure</c:v>
                </c:pt>
              </c:strCache>
            </c:strRef>
          </c:cat>
          <c:val>
            <c:numRef>
              <c:f>'Risk Decomposition'!$B$2:$B$23</c:f>
              <c:numCache>
                <c:formatCode>0%</c:formatCode>
                <c:ptCount val="19"/>
                <c:pt idx="0">
                  <c:v>8.6024742893045791E-3</c:v>
                </c:pt>
                <c:pt idx="1">
                  <c:v>3.2801500345226997E-2</c:v>
                </c:pt>
                <c:pt idx="2">
                  <c:v>0.4582721463401897</c:v>
                </c:pt>
                <c:pt idx="3">
                  <c:v>7.3157780722153398E-2</c:v>
                </c:pt>
                <c:pt idx="4">
                  <c:v>1.87236840825202E-2</c:v>
                </c:pt>
                <c:pt idx="5">
                  <c:v>2.97933991652987E-2</c:v>
                </c:pt>
                <c:pt idx="6">
                  <c:v>1.54976214370223E-2</c:v>
                </c:pt>
                <c:pt idx="7">
                  <c:v>1.97275781635846E-2</c:v>
                </c:pt>
                <c:pt idx="8">
                  <c:v>1.01151456589024E-2</c:v>
                </c:pt>
                <c:pt idx="9">
                  <c:v>1.17981976649371E-2</c:v>
                </c:pt>
                <c:pt idx="10">
                  <c:v>5.1275847854916597E-3</c:v>
                </c:pt>
                <c:pt idx="11">
                  <c:v>1.5793800933559501E-2</c:v>
                </c:pt>
                <c:pt idx="12">
                  <c:v>3.4977493858902998E-3</c:v>
                </c:pt>
                <c:pt idx="13">
                  <c:v>0.15256482789336701</c:v>
                </c:pt>
                <c:pt idx="14">
                  <c:v>5.3093620137906E-2</c:v>
                </c:pt>
                <c:pt idx="15">
                  <c:v>1.5460685206523699E-2</c:v>
                </c:pt>
                <c:pt idx="16">
                  <c:v>3.23569923114434E-2</c:v>
                </c:pt>
                <c:pt idx="17">
                  <c:v>2.0805473063830501E-2</c:v>
                </c:pt>
                <c:pt idx="18">
                  <c:v>2.28097384128455E-2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583-B54D-ABC2-41ED282D4E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7"/>
        <c:axId val="241575423"/>
        <c:axId val="241577183"/>
      </c:barChart>
      <c:catAx>
        <c:axId val="241575423"/>
        <c:scaling>
          <c:orientation val="minMax"/>
        </c:scaling>
        <c:delete val="0"/>
        <c:axPos val="l"/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7183"/>
        <c:crosses val="autoZero"/>
        <c:auto val="1"/>
        <c:lblAlgn val="ctr"/>
        <c:lblOffset val="100"/>
        <c:noMultiLvlLbl val="0"/>
      </c:catAx>
      <c:valAx>
        <c:axId val="241577183"/>
        <c:scaling>
          <c:orientation val="minMax"/>
        </c:scaling>
        <c:delete val="0"/>
        <c:axPos val="b"/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54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7501228346456691"/>
          <c:y val="4.1509433962264149E-2"/>
          <c:w val="0.66847433070866147"/>
          <c:h val="0.87094993314514935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 w="6350">
              <a:solidFill>
                <a:schemeClr val="bg1">
                  <a:lumMod val="50000"/>
                </a:schemeClr>
              </a:solidFill>
            </a:ln>
            <a:effectLst/>
          </c:spPr>
          <c:invertIfNegative val="0"/>
          <c:cat>
            <c:strRef>
              <c:f>'Risk Decomposition'!$A$41:$A$45</c:f>
              <c:strCache>
                <c:ptCount val="5"/>
                <c:pt idx="0">
                  <c:v>EUR</c:v>
                </c:pt>
                <c:pt idx="1">
                  <c:v>GBP</c:v>
                </c:pt>
                <c:pt idx="2">
                  <c:v>JPY</c:v>
                </c:pt>
                <c:pt idx="3">
                  <c:v>Asia-Pacific Equity</c:v>
                </c:pt>
                <c:pt idx="4">
                  <c:v>EM</c:v>
                </c:pt>
              </c:strCache>
            </c:strRef>
          </c:cat>
          <c:val>
            <c:numRef>
              <c:f>'Risk Decomposition'!$B$41:$B$45</c:f>
              <c:numCache>
                <c:formatCode>0.0%</c:formatCode>
                <c:ptCount val="5"/>
                <c:pt idx="0">
                  <c:v>1.9086594707416901E-2</c:v>
                </c:pt>
                <c:pt idx="1">
                  <c:v>6.6725975927464697E-3</c:v>
                </c:pt>
                <c:pt idx="2">
                  <c:v>3.5395217114644602E-3</c:v>
                </c:pt>
                <c:pt idx="3">
                  <c:v>8.3038021272114002E-3</c:v>
                </c:pt>
                <c:pt idx="4">
                  <c:v>5.8650377463103599E-3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24-E147-AF47-307CEFCFE1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7"/>
        <c:axId val="241575423"/>
        <c:axId val="241577183"/>
      </c:barChart>
      <c:catAx>
        <c:axId val="241575423"/>
        <c:scaling>
          <c:orientation val="minMax"/>
        </c:scaling>
        <c:delete val="0"/>
        <c:axPos val="l"/>
        <c:numFmt formatCode="General" sourceLinked="1"/>
        <c:majorTickMark val="cross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7183"/>
        <c:crosses val="autoZero"/>
        <c:auto val="1"/>
        <c:lblAlgn val="ctr"/>
        <c:lblOffset val="100"/>
        <c:noMultiLvlLbl val="0"/>
      </c:catAx>
      <c:valAx>
        <c:axId val="241577183"/>
        <c:scaling>
          <c:orientation val="minMax"/>
        </c:scaling>
        <c:delete val="0"/>
        <c:axPos val="b"/>
        <c:numFmt formatCode="0.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415754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8344231841796694E-2"/>
          <c:y val="5.011389521640091E-2"/>
          <c:w val="0.92331153631640661"/>
          <c:h val="0.69963830333842636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rgbClr val="70AD47"/>
            </a:solidFill>
            <a:ln w="6350">
              <a:solidFill>
                <a:schemeClr val="tx2">
                  <a:lumMod val="50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'Currency Hedging'!$B$3:$B$6</c:f>
              <c:numCache>
                <c:formatCode>0%</c:formatCode>
                <c:ptCount val="4"/>
                <c:pt idx="0">
                  <c:v>0</c:v>
                </c:pt>
                <c:pt idx="1">
                  <c:v>0.5</c:v>
                </c:pt>
                <c:pt idx="2">
                  <c:v>0.7</c:v>
                </c:pt>
                <c:pt idx="3">
                  <c:v>1</c:v>
                </c:pt>
              </c:numCache>
            </c:numRef>
          </c:cat>
          <c:val>
            <c:numRef>
              <c:f>'Currency Hedging'!$C$3:$C$6</c:f>
              <c:numCache>
                <c:formatCode>0.0%</c:formatCode>
                <c:ptCount val="4"/>
                <c:pt idx="0">
                  <c:v>7.61400749455894E-2</c:v>
                </c:pt>
                <c:pt idx="1">
                  <c:v>7.5265245665851105E-2</c:v>
                </c:pt>
                <c:pt idx="2">
                  <c:v>7.4936639097747296E-2</c:v>
                </c:pt>
                <c:pt idx="3">
                  <c:v>7.4466879106657904E-2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CA-7A4E-96FE-893893E150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3"/>
        <c:overlap val="-27"/>
        <c:axId val="1996417584"/>
        <c:axId val="1997040144"/>
      </c:barChart>
      <c:catAx>
        <c:axId val="199641758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/>
                  <a:t>Portfolio Currency Hegding Level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GB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997040144"/>
        <c:crosses val="autoZero"/>
        <c:auto val="1"/>
        <c:lblAlgn val="ctr"/>
        <c:lblOffset val="100"/>
        <c:noMultiLvlLbl val="0"/>
      </c:catAx>
      <c:valAx>
        <c:axId val="1997040144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9964175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rgbClr val="0B0D37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EE1-8C4F-B93F-E546FDDBB52F}"/>
              </c:ext>
            </c:extLst>
          </c:dPt>
          <c:dPt>
            <c:idx val="1"/>
            <c:invertIfNegative val="0"/>
            <c:bubble3D val="0"/>
            <c:spPr>
              <a:solidFill>
                <a:srgbClr val="0B0D3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2EE1-8C4F-B93F-E546FDDBB52F}"/>
              </c:ext>
            </c:extLst>
          </c:dPt>
          <c:dPt>
            <c:idx val="3"/>
            <c:invertIfNegative val="0"/>
            <c:bubble3D val="0"/>
            <c:spPr>
              <a:solidFill>
                <a:srgbClr val="0B0D3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2EE1-8C4F-B93F-E546FDDBB52F}"/>
              </c:ext>
            </c:extLst>
          </c:dPt>
          <c:dPt>
            <c:idx val="4"/>
            <c:invertIfNegative val="0"/>
            <c:bubble3D val="0"/>
            <c:spPr>
              <a:solidFill>
                <a:srgbClr val="0B0D3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2EE1-8C4F-B93F-E546FDDBB52F}"/>
              </c:ext>
            </c:extLst>
          </c:dPt>
          <c:dPt>
            <c:idx val="5"/>
            <c:invertIfNegative val="0"/>
            <c:bubble3D val="0"/>
            <c:spPr>
              <a:solidFill>
                <a:srgbClr val="0B0D3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2EE1-8C4F-B93F-E546FDDBB52F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'Risk Premias'!$B$2:$B$8</c:f>
              <c:strCache>
                <c:ptCount val="7"/>
                <c:pt idx="0">
                  <c:v>Total</c:v>
                </c:pt>
                <c:pt idx="1">
                  <c:v>Emerging Market</c:v>
                </c:pt>
                <c:pt idx="2">
                  <c:v>Carry</c:v>
                </c:pt>
                <c:pt idx="3">
                  <c:v>Liquidity</c:v>
                </c:pt>
                <c:pt idx="4">
                  <c:v>Leverage</c:v>
                </c:pt>
                <c:pt idx="5">
                  <c:v>Term</c:v>
                </c:pt>
                <c:pt idx="6">
                  <c:v>Equity</c:v>
                </c:pt>
              </c:strCache>
            </c:strRef>
          </c:cat>
          <c:val>
            <c:numRef>
              <c:f>'Risk Premias'!$C$2:$C$8</c:f>
              <c:numCache>
                <c:formatCode>0.0%</c:formatCode>
                <c:ptCount val="7"/>
                <c:pt idx="0">
                  <c:v>3.9323104932666136E-2</c:v>
                </c:pt>
                <c:pt idx="1">
                  <c:v>7.0898094817600603E-4</c:v>
                </c:pt>
                <c:pt idx="2">
                  <c:v>-7.31425731588811E-5</c:v>
                </c:pt>
                <c:pt idx="3">
                  <c:v>5.2595580514326603E-3</c:v>
                </c:pt>
                <c:pt idx="4">
                  <c:v>3.2283957050202399E-3</c:v>
                </c:pt>
                <c:pt idx="5">
                  <c:v>5.9454343476038098E-3</c:v>
                </c:pt>
                <c:pt idx="6">
                  <c:v>2.4253878453592299E-2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EE1-8C4F-B93F-E546FDDBB5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8"/>
        <c:overlap val="-2"/>
        <c:axId val="1996777520"/>
        <c:axId val="1997081584"/>
      </c:barChart>
      <c:catAx>
        <c:axId val="1996777520"/>
        <c:scaling>
          <c:orientation val="minMax"/>
        </c:scaling>
        <c:delete val="0"/>
        <c:axPos val="l"/>
        <c:numFmt formatCode="General" sourceLinked="1"/>
        <c:majorTickMark val="cross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997081584"/>
        <c:crosses val="autoZero"/>
        <c:auto val="1"/>
        <c:lblAlgn val="ctr"/>
        <c:lblOffset val="100"/>
        <c:noMultiLvlLbl val="0"/>
      </c:catAx>
      <c:valAx>
        <c:axId val="1997081584"/>
        <c:scaling>
          <c:orientation val="minMax"/>
          <c:min val="0"/>
        </c:scaling>
        <c:delete val="1"/>
        <c:axPos val="b"/>
        <c:numFmt formatCode="0.0%" sourceLinked="1"/>
        <c:majorTickMark val="none"/>
        <c:minorTickMark val="none"/>
        <c:tickLblPos val="nextTo"/>
        <c:crossAx val="199677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rgbClr val="0B0D37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B0D3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B4F-BB4D-9ED3-772E1058151D}"/>
              </c:ext>
            </c:extLst>
          </c:dPt>
          <c:dPt>
            <c:idx val="1"/>
            <c:invertIfNegative val="0"/>
            <c:bubble3D val="0"/>
            <c:spPr>
              <a:solidFill>
                <a:srgbClr val="0B0D3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B4F-BB4D-9ED3-772E1058151D}"/>
              </c:ext>
            </c:extLst>
          </c:dPt>
          <c:dPt>
            <c:idx val="3"/>
            <c:invertIfNegative val="0"/>
            <c:bubble3D val="0"/>
            <c:spPr>
              <a:solidFill>
                <a:srgbClr val="0B0D3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6B4F-BB4D-9ED3-772E1058151D}"/>
              </c:ext>
            </c:extLst>
          </c:dPt>
          <c:dPt>
            <c:idx val="4"/>
            <c:invertIfNegative val="0"/>
            <c:bubble3D val="0"/>
            <c:spPr>
              <a:solidFill>
                <a:srgbClr val="0B0D3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6B4F-BB4D-9ED3-772E1058151D}"/>
              </c:ext>
            </c:extLst>
          </c:dPt>
          <c:dPt>
            <c:idx val="5"/>
            <c:invertIfNegative val="0"/>
            <c:bubble3D val="0"/>
            <c:spPr>
              <a:solidFill>
                <a:srgbClr val="0B0D3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6B4F-BB4D-9ED3-772E1058151D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'Risk Premias'!$B$32:$B$41</c:f>
              <c:strCache>
                <c:ptCount val="10"/>
                <c:pt idx="0">
                  <c:v>Commodities</c:v>
                </c:pt>
                <c:pt idx="1">
                  <c:v>Value</c:v>
                </c:pt>
                <c:pt idx="2">
                  <c:v>Size</c:v>
                </c:pt>
                <c:pt idx="3">
                  <c:v>Momentum</c:v>
                </c:pt>
                <c:pt idx="4">
                  <c:v>Emerging Market</c:v>
                </c:pt>
                <c:pt idx="5">
                  <c:v>Carry</c:v>
                </c:pt>
                <c:pt idx="6">
                  <c:v>Liquidity</c:v>
                </c:pt>
                <c:pt idx="7">
                  <c:v>Leverage</c:v>
                </c:pt>
                <c:pt idx="8">
                  <c:v>Term</c:v>
                </c:pt>
                <c:pt idx="9">
                  <c:v>Equity</c:v>
                </c:pt>
              </c:strCache>
            </c:strRef>
          </c:cat>
          <c:val>
            <c:numRef>
              <c:f>'Risk Premias'!$C$32:$C$41</c:f>
              <c:numCache>
                <c:formatCode>0.00%</c:formatCode>
                <c:ptCount val="10"/>
                <c:pt idx="0">
                  <c:v>4.7471589022936803E-3</c:v>
                </c:pt>
                <c:pt idx="1">
                  <c:v>-1.8207881955470001E-3</c:v>
                </c:pt>
                <c:pt idx="2">
                  <c:v>2.33677370351318E-2</c:v>
                </c:pt>
                <c:pt idx="3">
                  <c:v>8.3822687238124197E-3</c:v>
                </c:pt>
                <c:pt idx="4">
                  <c:v>3.4695735122553702E-3</c:v>
                </c:pt>
                <c:pt idx="5">
                  <c:v>7.3740406688289203E-3</c:v>
                </c:pt>
                <c:pt idx="6">
                  <c:v>3.71489102775132E-2</c:v>
                </c:pt>
                <c:pt idx="7">
                  <c:v>8.8779764457821205E-3</c:v>
                </c:pt>
                <c:pt idx="8">
                  <c:v>1.43061710110607E-2</c:v>
                </c:pt>
                <c:pt idx="9">
                  <c:v>0.85138064675577596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B4F-BB4D-9ED3-772E105815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8"/>
        <c:overlap val="-2"/>
        <c:axId val="1996777520"/>
        <c:axId val="1997081584"/>
      </c:barChart>
      <c:catAx>
        <c:axId val="1996777520"/>
        <c:scaling>
          <c:orientation val="minMax"/>
        </c:scaling>
        <c:delete val="0"/>
        <c:axPos val="l"/>
        <c:numFmt formatCode="General" sourceLinked="1"/>
        <c:majorTickMark val="cross"/>
        <c:minorTickMark val="none"/>
        <c:tickLblPos val="low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997081584"/>
        <c:crosses val="autoZero"/>
        <c:auto val="1"/>
        <c:lblAlgn val="ctr"/>
        <c:lblOffset val="100"/>
        <c:noMultiLvlLbl val="0"/>
      </c:catAx>
      <c:valAx>
        <c:axId val="1997081584"/>
        <c:scaling>
          <c:orientation val="minMax"/>
          <c:min val="0"/>
        </c:scaling>
        <c:delete val="1"/>
        <c:axPos val="b"/>
        <c:numFmt formatCode="0.00%" sourceLinked="1"/>
        <c:majorTickMark val="none"/>
        <c:minorTickMark val="none"/>
        <c:tickLblPos val="nextTo"/>
        <c:crossAx val="199677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sz="800" b="0" i="0"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371394423791327"/>
          <c:y val="0.10718937768400742"/>
          <c:w val="0.8625745071676858"/>
          <c:h val="0.75642093807336475"/>
        </c:manualLayout>
      </c:layout>
      <c:lineChart>
        <c:grouping val="standard"/>
        <c:varyColors val="0"/>
        <c:ser>
          <c:idx val="0"/>
          <c:order val="0"/>
          <c:tx>
            <c:strRef>
              <c:f>ws_Strategic_Asset_Allocation!$B$2</c:f>
              <c:strCache>
                <c:ptCount val="1"/>
                <c:pt idx="0">
                  <c:v>1st %ile</c:v>
                </c:pt>
              </c:strCache>
            </c:strRef>
          </c:tx>
          <c:spPr>
            <a:ln w="12700">
              <a:solidFill>
                <a:srgbClr val="C00000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ws_Strategic_Asset_Allocation!$B$3:$B$23</c:f>
              <c:numCache>
                <c:formatCode>General</c:formatCode>
                <c:ptCount val="21"/>
                <c:pt idx="0">
                  <c:v>100</c:v>
                </c:pt>
                <c:pt idx="1">
                  <c:v>89.11357616559873</c:v>
                </c:pt>
                <c:pt idx="2">
                  <c:v>91.60162953348572</c:v>
                </c:pt>
                <c:pt idx="3">
                  <c:v>93.815829158247922</c:v>
                </c:pt>
                <c:pt idx="4">
                  <c:v>94.79355662644069</c:v>
                </c:pt>
                <c:pt idx="5">
                  <c:v>96.786940383185495</c:v>
                </c:pt>
                <c:pt idx="6">
                  <c:v>99.596967260218321</c:v>
                </c:pt>
                <c:pt idx="7">
                  <c:v>100.39224283924069</c:v>
                </c:pt>
                <c:pt idx="8">
                  <c:v>102.0470254834844</c:v>
                </c:pt>
                <c:pt idx="9">
                  <c:v>102.1158985111246</c:v>
                </c:pt>
                <c:pt idx="10">
                  <c:v>104.08395598869581</c:v>
                </c:pt>
                <c:pt idx="11">
                  <c:v>107.0044382754448</c:v>
                </c:pt>
                <c:pt idx="12">
                  <c:v>108.8131712443323</c:v>
                </c:pt>
                <c:pt idx="13">
                  <c:v>111.6787628594856</c:v>
                </c:pt>
                <c:pt idx="14">
                  <c:v>114.1648306006793</c:v>
                </c:pt>
                <c:pt idx="15">
                  <c:v>116.94846470249441</c:v>
                </c:pt>
                <c:pt idx="16">
                  <c:v>120.6895388076103</c:v>
                </c:pt>
                <c:pt idx="17">
                  <c:v>124.5827568264387</c:v>
                </c:pt>
                <c:pt idx="18">
                  <c:v>130.08039162075499</c:v>
                </c:pt>
                <c:pt idx="19">
                  <c:v>135.07466130722719</c:v>
                </c:pt>
                <c:pt idx="20">
                  <c:v>138.38754880809691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0C-AB44-91AB-F35FD994F663}"/>
            </c:ext>
          </c:extLst>
        </c:ser>
        <c:ser>
          <c:idx val="1"/>
          <c:order val="1"/>
          <c:tx>
            <c:strRef>
              <c:f>ws_Strategic_Asset_Allocation!$C$2</c:f>
              <c:strCache>
                <c:ptCount val="1"/>
                <c:pt idx="0">
                  <c:v>10th %ile</c:v>
                </c:pt>
              </c:strCache>
            </c:strRef>
          </c:tx>
          <c:spPr>
            <a:ln w="12700">
              <a:solidFill>
                <a:srgbClr val="8064A2"/>
              </a:solidFill>
              <a:prstDash val="solid"/>
            </a:ln>
          </c:spPr>
          <c:marker>
            <c:symbol val="none"/>
          </c:marker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ws_Strategic_Asset_Allocation!$C$3:$C$23</c:f>
              <c:numCache>
                <c:formatCode>General</c:formatCode>
                <c:ptCount val="21"/>
                <c:pt idx="0">
                  <c:v>100</c:v>
                </c:pt>
                <c:pt idx="1">
                  <c:v>98.377106810551254</c:v>
                </c:pt>
                <c:pt idx="2">
                  <c:v>101.8607356065238</c:v>
                </c:pt>
                <c:pt idx="3">
                  <c:v>107.4832677914452</c:v>
                </c:pt>
                <c:pt idx="4">
                  <c:v>112.2630908977339</c:v>
                </c:pt>
                <c:pt idx="5">
                  <c:v>117.8643420081454</c:v>
                </c:pt>
                <c:pt idx="6">
                  <c:v>124.1799184920722</c:v>
                </c:pt>
                <c:pt idx="7">
                  <c:v>128.6287755349901</c:v>
                </c:pt>
                <c:pt idx="8">
                  <c:v>134.10051095898541</c:v>
                </c:pt>
                <c:pt idx="9">
                  <c:v>138.9213988405281</c:v>
                </c:pt>
                <c:pt idx="10">
                  <c:v>144.71403399354139</c:v>
                </c:pt>
                <c:pt idx="11">
                  <c:v>150.14126855313401</c:v>
                </c:pt>
                <c:pt idx="12">
                  <c:v>156.35042246148811</c:v>
                </c:pt>
                <c:pt idx="13">
                  <c:v>162.3720167266743</c:v>
                </c:pt>
                <c:pt idx="14">
                  <c:v>169.87041053254299</c:v>
                </c:pt>
                <c:pt idx="15">
                  <c:v>176.44797315684929</c:v>
                </c:pt>
                <c:pt idx="16">
                  <c:v>184.5582878586122</c:v>
                </c:pt>
                <c:pt idx="17">
                  <c:v>192.04470625572819</c:v>
                </c:pt>
                <c:pt idx="18">
                  <c:v>200.11230718843879</c:v>
                </c:pt>
                <c:pt idx="19">
                  <c:v>209.18238170025961</c:v>
                </c:pt>
                <c:pt idx="20">
                  <c:v>219.44408933557989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0C-AB44-91AB-F35FD994F663}"/>
            </c:ext>
          </c:extLst>
        </c:ser>
        <c:ser>
          <c:idx val="2"/>
          <c:order val="2"/>
          <c:tx>
            <c:strRef>
              <c:f>ws_Strategic_Asset_Allocation!$D$2</c:f>
              <c:strCache>
                <c:ptCount val="1"/>
                <c:pt idx="0">
                  <c:v>50th %ile</c:v>
                </c:pt>
              </c:strCache>
            </c:strRef>
          </c:tx>
          <c:spPr>
            <a:ln w="12700">
              <a:solidFill>
                <a:srgbClr val="37609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ws_Strategic_Asset_Allocation!$D$3:$D$23</c:f>
              <c:numCache>
                <c:formatCode>General</c:formatCode>
                <c:ptCount val="21"/>
                <c:pt idx="0">
                  <c:v>100</c:v>
                </c:pt>
                <c:pt idx="1">
                  <c:v>108.59586455235851</c:v>
                </c:pt>
                <c:pt idx="2">
                  <c:v>117.14981335783359</c:v>
                </c:pt>
                <c:pt idx="3">
                  <c:v>125.36579844410799</c:v>
                </c:pt>
                <c:pt idx="4">
                  <c:v>134.91119833162739</c:v>
                </c:pt>
                <c:pt idx="5">
                  <c:v>145.53600021109381</c:v>
                </c:pt>
                <c:pt idx="6">
                  <c:v>156.4400157783241</c:v>
                </c:pt>
                <c:pt idx="7">
                  <c:v>167.6614924555582</c:v>
                </c:pt>
                <c:pt idx="8">
                  <c:v>179.25308156343809</c:v>
                </c:pt>
                <c:pt idx="9">
                  <c:v>190.96096500480641</c:v>
                </c:pt>
                <c:pt idx="10">
                  <c:v>203.34764359664979</c:v>
                </c:pt>
                <c:pt idx="11">
                  <c:v>216.0159713047079</c:v>
                </c:pt>
                <c:pt idx="12">
                  <c:v>229.3666317573612</c:v>
                </c:pt>
                <c:pt idx="13">
                  <c:v>243.8584651128759</c:v>
                </c:pt>
                <c:pt idx="14">
                  <c:v>259.51652380798532</c:v>
                </c:pt>
                <c:pt idx="15">
                  <c:v>275.57435981139378</c:v>
                </c:pt>
                <c:pt idx="16">
                  <c:v>292.86879908284271</c:v>
                </c:pt>
                <c:pt idx="17">
                  <c:v>310.44299751964542</c:v>
                </c:pt>
                <c:pt idx="18">
                  <c:v>330.63599007274888</c:v>
                </c:pt>
                <c:pt idx="19">
                  <c:v>351.34384128399489</c:v>
                </c:pt>
                <c:pt idx="20">
                  <c:v>373.17103675181261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F0C-AB44-91AB-F35FD994F663}"/>
            </c:ext>
          </c:extLst>
        </c:ser>
        <c:ser>
          <c:idx val="3"/>
          <c:order val="3"/>
          <c:tx>
            <c:strRef>
              <c:f>ws_Strategic_Asset_Allocation!$E$2</c:f>
              <c:strCache>
                <c:ptCount val="1"/>
                <c:pt idx="0">
                  <c:v>90th %ile</c:v>
                </c:pt>
              </c:strCache>
            </c:strRef>
          </c:tx>
          <c:spPr>
            <a:ln w="12700">
              <a:solidFill>
                <a:srgbClr val="77933C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ws_Strategic_Asset_Allocation!$E$3:$E$23</c:f>
              <c:numCache>
                <c:formatCode>General</c:formatCode>
                <c:ptCount val="21"/>
                <c:pt idx="0">
                  <c:v>100</c:v>
                </c:pt>
                <c:pt idx="1">
                  <c:v>118.3350197366818</c:v>
                </c:pt>
                <c:pt idx="2">
                  <c:v>131.0753382616993</c:v>
                </c:pt>
                <c:pt idx="3">
                  <c:v>144.254048051712</c:v>
                </c:pt>
                <c:pt idx="4">
                  <c:v>159.54073836732519</c:v>
                </c:pt>
                <c:pt idx="5">
                  <c:v>176.23558047964991</c:v>
                </c:pt>
                <c:pt idx="6">
                  <c:v>193.44167042286151</c:v>
                </c:pt>
                <c:pt idx="7">
                  <c:v>212.1082464211369</c:v>
                </c:pt>
                <c:pt idx="8">
                  <c:v>232.20702757592409</c:v>
                </c:pt>
                <c:pt idx="9">
                  <c:v>253.28245819085791</c:v>
                </c:pt>
                <c:pt idx="10">
                  <c:v>276.25314088452672</c:v>
                </c:pt>
                <c:pt idx="11">
                  <c:v>299.92736851466429</c:v>
                </c:pt>
                <c:pt idx="12">
                  <c:v>326.72795378761089</c:v>
                </c:pt>
                <c:pt idx="13">
                  <c:v>353.93469583325208</c:v>
                </c:pt>
                <c:pt idx="14">
                  <c:v>385.32973347398939</c:v>
                </c:pt>
                <c:pt idx="15">
                  <c:v>415.47706928552731</c:v>
                </c:pt>
                <c:pt idx="16">
                  <c:v>449.87075797114511</c:v>
                </c:pt>
                <c:pt idx="17">
                  <c:v>487.7088127375024</c:v>
                </c:pt>
                <c:pt idx="18">
                  <c:v>527.08095101682204</c:v>
                </c:pt>
                <c:pt idx="19">
                  <c:v>567.21766387124046</c:v>
                </c:pt>
                <c:pt idx="20">
                  <c:v>615.12421059398446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F0C-AB44-91AB-F35FD994F663}"/>
            </c:ext>
          </c:extLst>
        </c:ser>
        <c:ser>
          <c:idx val="4"/>
          <c:order val="4"/>
          <c:tx>
            <c:strRef>
              <c:f>ws_Strategic_Asset_Allocation!$F$2</c:f>
              <c:strCache>
                <c:ptCount val="1"/>
              </c:strCache>
            </c:strRef>
          </c:tx>
          <c:spPr>
            <a:ln w="12700">
              <a:solidFill>
                <a:schemeClr val="dk1">
                  <a:shade val="95000"/>
                  <a:satMod val="105000"/>
                </a:schemeClr>
              </a:solidFill>
              <a:prstDash val="sysDash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F0C-AB44-91AB-F35FD994F66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ws_Strategic_Asset_Allocation!$A$3:$A$23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ws_Strategic_Asset_Allocation!$F$3:$F$23</c:f>
              <c:numCache>
                <c:formatCode>General</c:formatCode>
                <c:ptCount val="21"/>
                <c:pt idx="0">
                  <c:v>100</c:v>
                </c:pt>
                <c:pt idx="1">
                  <c:v>107.2964246392673</c:v>
                </c:pt>
                <c:pt idx="2">
                  <c:v>113.7138018902814</c:v>
                </c:pt>
                <c:pt idx="3">
                  <c:v>120.26903593377649</c:v>
                </c:pt>
                <c:pt idx="4">
                  <c:v>127.9854010950353</c:v>
                </c:pt>
                <c:pt idx="5">
                  <c:v>136.3763430569168</c:v>
                </c:pt>
                <c:pt idx="6">
                  <c:v>144.99552644687711</c:v>
                </c:pt>
                <c:pt idx="7">
                  <c:v>153.97465830705951</c:v>
                </c:pt>
                <c:pt idx="8">
                  <c:v>162.42977116175831</c:v>
                </c:pt>
                <c:pt idx="9">
                  <c:v>171.63207254495529</c:v>
                </c:pt>
                <c:pt idx="10">
                  <c:v>180.52228230756191</c:v>
                </c:pt>
                <c:pt idx="11">
                  <c:v>190.33769459995139</c:v>
                </c:pt>
                <c:pt idx="12">
                  <c:v>200.03641835794909</c:v>
                </c:pt>
                <c:pt idx="13">
                  <c:v>210.30699708041709</c:v>
                </c:pt>
                <c:pt idx="14">
                  <c:v>221.33505062412209</c:v>
                </c:pt>
                <c:pt idx="15">
                  <c:v>232.53450843709851</c:v>
                </c:pt>
                <c:pt idx="16">
                  <c:v>244.89506125768489</c:v>
                </c:pt>
                <c:pt idx="17">
                  <c:v>257.31929415272668</c:v>
                </c:pt>
                <c:pt idx="18">
                  <c:v>270.40073261624838</c:v>
                </c:pt>
                <c:pt idx="19">
                  <c:v>284.41271952023618</c:v>
                </c:pt>
                <c:pt idx="20">
                  <c:v>298.96127257995357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F0C-AB44-91AB-F35FD994F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5"/>
        <c:tickMarkSkip val="5"/>
        <c:noMultiLvlLbl val="0"/>
      </c:catAx>
      <c:valAx>
        <c:axId val="100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Nominal Portfolio Values ($)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between"/>
      </c:valAx>
    </c:plotArea>
    <c:legend>
      <c:legendPos val="t"/>
      <c:legendEntry>
        <c:idx val="4"/>
        <c:delete val="1"/>
      </c:legendEntry>
      <c:layout>
        <c:manualLayout>
          <c:xMode val="edge"/>
          <c:yMode val="edge"/>
          <c:x val="0.25"/>
          <c:y val="1.4066060120915477E-2"/>
          <c:w val="0.82742314814814821"/>
          <c:h val="7.4882625745152268E-2"/>
        </c:manualLayout>
      </c:layout>
      <c:overlay val="0"/>
      <c:txPr>
        <a:bodyPr/>
        <a:lstStyle/>
        <a:p>
          <a:pPr>
            <a:defRPr sz="900" b="0">
              <a:latin typeface="Apto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3210720354083242E-2"/>
          <c:y val="0.17655336458593782"/>
          <c:w val="0.37649122983709232"/>
          <c:h val="0.69036124334019644"/>
        </c:manualLayout>
      </c:layout>
      <c:lineChart>
        <c:grouping val="standard"/>
        <c:varyColors val="0"/>
        <c:ser>
          <c:idx val="0"/>
          <c:order val="0"/>
          <c:tx>
            <c:strRef>
              <c:f>'ws_SAA_6.0%'!$F$2</c:f>
              <c:strCache>
                <c:ptCount val="1"/>
                <c:pt idx="0">
                  <c:v>1st %ile</c:v>
                </c:pt>
              </c:strCache>
            </c:strRef>
          </c:tx>
          <c:spPr>
            <a:ln w="127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'ws_SAA_6.0%'!$F$3:$F$23</c:f>
              <c:numCache>
                <c:formatCode>General</c:formatCode>
                <c:ptCount val="21"/>
                <c:pt idx="0">
                  <c:v>100</c:v>
                </c:pt>
                <c:pt idx="1">
                  <c:v>80.881108386509325</c:v>
                </c:pt>
                <c:pt idx="2">
                  <c:v>75.875063562083866</c:v>
                </c:pt>
                <c:pt idx="3">
                  <c:v>71.049605028464256</c:v>
                </c:pt>
                <c:pt idx="4">
                  <c:v>65.614858238206864</c:v>
                </c:pt>
                <c:pt idx="5">
                  <c:v>61.293350654655526</c:v>
                </c:pt>
                <c:pt idx="6">
                  <c:v>57.055472873577393</c:v>
                </c:pt>
                <c:pt idx="7">
                  <c:v>51.668811690304139</c:v>
                </c:pt>
                <c:pt idx="8">
                  <c:v>46.54192958163452</c:v>
                </c:pt>
                <c:pt idx="9">
                  <c:v>41.594811858807518</c:v>
                </c:pt>
                <c:pt idx="10">
                  <c:v>36.385280680028103</c:v>
                </c:pt>
                <c:pt idx="11">
                  <c:v>31.551381586112981</c:v>
                </c:pt>
                <c:pt idx="12">
                  <c:v>26.549189548788959</c:v>
                </c:pt>
                <c:pt idx="13">
                  <c:v>21.7875474894687</c:v>
                </c:pt>
                <c:pt idx="14">
                  <c:v>16.671261012842528</c:v>
                </c:pt>
                <c:pt idx="15">
                  <c:v>11.60172975157665</c:v>
                </c:pt>
                <c:pt idx="16">
                  <c:v>6.673333797598981</c:v>
                </c:pt>
                <c:pt idx="17">
                  <c:v>1.383046262470867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5FE-FF4C-80C6-EF50D8326743}"/>
            </c:ext>
          </c:extLst>
        </c:ser>
        <c:ser>
          <c:idx val="1"/>
          <c:order val="1"/>
          <c:tx>
            <c:strRef>
              <c:f>'ws_SAA_6.0%'!$G$2</c:f>
              <c:strCache>
                <c:ptCount val="1"/>
                <c:pt idx="0">
                  <c:v>10th %ile</c:v>
                </c:pt>
              </c:strCache>
            </c:strRef>
          </c:tx>
          <c:spPr>
            <a:ln w="12700">
              <a:solidFill>
                <a:srgbClr val="8064A2"/>
              </a:solidFill>
              <a:prstDash val="solid"/>
            </a:ln>
          </c:spPr>
          <c:marker>
            <c:symbol val="none"/>
          </c:marker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'ws_SAA_6.0%'!$G$3:$G$23</c:f>
              <c:numCache>
                <c:formatCode>General</c:formatCode>
                <c:ptCount val="21"/>
                <c:pt idx="0">
                  <c:v>100</c:v>
                </c:pt>
                <c:pt idx="1">
                  <c:v>90.656623826287927</c:v>
                </c:pt>
                <c:pt idx="2">
                  <c:v>86.135404009133723</c:v>
                </c:pt>
                <c:pt idx="3">
                  <c:v>83.690249585605883</c:v>
                </c:pt>
                <c:pt idx="4">
                  <c:v>80.33979480091817</c:v>
                </c:pt>
                <c:pt idx="5">
                  <c:v>77.2697154812858</c:v>
                </c:pt>
                <c:pt idx="6">
                  <c:v>74.574054487448109</c:v>
                </c:pt>
                <c:pt idx="7">
                  <c:v>70.855689172568802</c:v>
                </c:pt>
                <c:pt idx="8">
                  <c:v>67.201499381749485</c:v>
                </c:pt>
                <c:pt idx="9">
                  <c:v>63.182661304099248</c:v>
                </c:pt>
                <c:pt idx="10">
                  <c:v>59.805368260078552</c:v>
                </c:pt>
                <c:pt idx="11">
                  <c:v>55.856579377394873</c:v>
                </c:pt>
                <c:pt idx="12">
                  <c:v>51.532612499001402</c:v>
                </c:pt>
                <c:pt idx="13">
                  <c:v>47.665604519093073</c:v>
                </c:pt>
                <c:pt idx="14">
                  <c:v>43.640675236164753</c:v>
                </c:pt>
                <c:pt idx="15">
                  <c:v>39.795895809931572</c:v>
                </c:pt>
                <c:pt idx="16">
                  <c:v>35.468983410151239</c:v>
                </c:pt>
                <c:pt idx="17">
                  <c:v>31.373125965412491</c:v>
                </c:pt>
                <c:pt idx="18">
                  <c:v>26.71427019483346</c:v>
                </c:pt>
                <c:pt idx="19">
                  <c:v>22.03041235473183</c:v>
                </c:pt>
                <c:pt idx="20">
                  <c:v>17.31424260592479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5FE-FF4C-80C6-EF50D8326743}"/>
            </c:ext>
          </c:extLst>
        </c:ser>
        <c:ser>
          <c:idx val="2"/>
          <c:order val="2"/>
          <c:tx>
            <c:strRef>
              <c:f>'ws_SAA_6.0%'!$H$2</c:f>
              <c:strCache>
                <c:ptCount val="1"/>
                <c:pt idx="0">
                  <c:v>50th %ile</c:v>
                </c:pt>
              </c:strCache>
            </c:strRef>
          </c:tx>
          <c:spPr>
            <a:ln w="12700">
              <a:solidFill>
                <a:srgbClr val="37609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FE-FF4C-80C6-EF50D832674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'ws_SAA_6.0%'!$H$3:$H$23</c:f>
              <c:numCache>
                <c:formatCode>General</c:formatCode>
                <c:ptCount val="21"/>
                <c:pt idx="0">
                  <c:v>100</c:v>
                </c:pt>
                <c:pt idx="1">
                  <c:v>100.6701908618946</c:v>
                </c:pt>
                <c:pt idx="2">
                  <c:v>100.8847004991072</c:v>
                </c:pt>
                <c:pt idx="3">
                  <c:v>100.31721298800529</c:v>
                </c:pt>
                <c:pt idx="4">
                  <c:v>100.0966204184468</c:v>
                </c:pt>
                <c:pt idx="5">
                  <c:v>100.24301586024841</c:v>
                </c:pt>
                <c:pt idx="6">
                  <c:v>100.0959770230684</c:v>
                </c:pt>
                <c:pt idx="7">
                  <c:v>99.728073953715509</c:v>
                </c:pt>
                <c:pt idx="8">
                  <c:v>98.830059175420757</c:v>
                </c:pt>
                <c:pt idx="9">
                  <c:v>97.800158034979205</c:v>
                </c:pt>
                <c:pt idx="10">
                  <c:v>96.55471120124173</c:v>
                </c:pt>
                <c:pt idx="11">
                  <c:v>94.849486471141446</c:v>
                </c:pt>
                <c:pt idx="12">
                  <c:v>93.154436362870683</c:v>
                </c:pt>
                <c:pt idx="13">
                  <c:v>91.755879186972479</c:v>
                </c:pt>
                <c:pt idx="14">
                  <c:v>90.334040104371837</c:v>
                </c:pt>
                <c:pt idx="15">
                  <c:v>88.462010634309479</c:v>
                </c:pt>
                <c:pt idx="16">
                  <c:v>86.832615976326849</c:v>
                </c:pt>
                <c:pt idx="17">
                  <c:v>84.723926304902449</c:v>
                </c:pt>
                <c:pt idx="18">
                  <c:v>82.734930155012847</c:v>
                </c:pt>
                <c:pt idx="19">
                  <c:v>80.862223630725651</c:v>
                </c:pt>
                <c:pt idx="20">
                  <c:v>78.71416052227292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5FE-FF4C-80C6-EF50D8326743}"/>
            </c:ext>
          </c:extLst>
        </c:ser>
        <c:ser>
          <c:idx val="3"/>
          <c:order val="3"/>
          <c:tx>
            <c:strRef>
              <c:f>'ws_SAA_6.0%'!$I$2</c:f>
              <c:strCache>
                <c:ptCount val="1"/>
                <c:pt idx="0">
                  <c:v>90th %ile</c:v>
                </c:pt>
              </c:strCache>
            </c:strRef>
          </c:tx>
          <c:spPr>
            <a:ln w="12700">
              <a:solidFill>
                <a:srgbClr val="77933C"/>
              </a:solidFill>
              <a:prstDash val="solid"/>
            </a:ln>
          </c:spPr>
          <c:marker>
            <c:symbol val="none"/>
          </c:marker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'ws_SAA_6.0%'!$I$3:$I$23</c:f>
              <c:numCache>
                <c:formatCode>General</c:formatCode>
                <c:ptCount val="21"/>
                <c:pt idx="0">
                  <c:v>100</c:v>
                </c:pt>
                <c:pt idx="1">
                  <c:v>110.65351065355431</c:v>
                </c:pt>
                <c:pt idx="2">
                  <c:v>114.48726505919019</c:v>
                </c:pt>
                <c:pt idx="3">
                  <c:v>117.551049996096</c:v>
                </c:pt>
                <c:pt idx="4">
                  <c:v>121.86166248005659</c:v>
                </c:pt>
                <c:pt idx="5">
                  <c:v>125.9233775547105</c:v>
                </c:pt>
                <c:pt idx="6">
                  <c:v>129.66578687040919</c:v>
                </c:pt>
                <c:pt idx="7">
                  <c:v>133.4535924157779</c:v>
                </c:pt>
                <c:pt idx="8">
                  <c:v>137.22099082389701</c:v>
                </c:pt>
                <c:pt idx="9">
                  <c:v>140.95441957263051</c:v>
                </c:pt>
                <c:pt idx="10">
                  <c:v>145.10348725988109</c:v>
                </c:pt>
                <c:pt idx="11">
                  <c:v>147.92520681617219</c:v>
                </c:pt>
                <c:pt idx="12">
                  <c:v>151.85764617678581</c:v>
                </c:pt>
                <c:pt idx="13">
                  <c:v>155.07760419177981</c:v>
                </c:pt>
                <c:pt idx="14">
                  <c:v>159.01075820592251</c:v>
                </c:pt>
                <c:pt idx="15">
                  <c:v>161.8148330899273</c:v>
                </c:pt>
                <c:pt idx="16">
                  <c:v>165.87862694105431</c:v>
                </c:pt>
                <c:pt idx="17">
                  <c:v>170.36133204410339</c:v>
                </c:pt>
                <c:pt idx="18">
                  <c:v>173.55744963176031</c:v>
                </c:pt>
                <c:pt idx="19">
                  <c:v>176.72698547965101</c:v>
                </c:pt>
                <c:pt idx="20">
                  <c:v>180.3882978136858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5FE-FF4C-80C6-EF50D832674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5"/>
        <c:tickMarkSkip val="5"/>
        <c:noMultiLvlLbl val="0"/>
      </c:catAx>
      <c:valAx>
        <c:axId val="100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Real Portfolio Values ($)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between"/>
      </c:valAx>
    </c:plotArea>
    <c:legend>
      <c:legendPos val="t"/>
      <c:layout>
        <c:manualLayout>
          <c:xMode val="edge"/>
          <c:yMode val="edge"/>
          <c:x val="0.20078442357889539"/>
          <c:y val="1.3613722417807821E-2"/>
          <c:w val="0.59396927676267819"/>
          <c:h val="6.5965720754146626E-2"/>
        </c:manualLayout>
      </c:layout>
      <c:overlay val="0"/>
      <c:spPr>
        <a:ln w="6350">
          <a:solidFill>
            <a:schemeClr val="bg1">
              <a:lumMod val="50000"/>
            </a:schemeClr>
          </a:solidFill>
        </a:ln>
      </c:spPr>
      <c:txPr>
        <a:bodyPr/>
        <a:lstStyle/>
        <a:p>
          <a:pPr>
            <a:defRPr sz="900" b="0">
              <a:latin typeface="Aptos"/>
            </a:defRPr>
          </a:pPr>
          <a:endParaRPr lang="en-US"/>
        </a:p>
      </c:txPr>
    </c:legend>
    <c:plotVisOnly val="1"/>
    <c:dispBlanksAs val="gap"/>
    <c:showDLblsOverMax val="0"/>
  </c:chart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4376128301937174"/>
          <c:y val="0.11640169813579701"/>
          <c:w val="0.7956811486673997"/>
          <c:h val="0.74177934463573014"/>
        </c:manualLayout>
      </c:layout>
      <c:lineChart>
        <c:grouping val="standard"/>
        <c:varyColors val="0"/>
        <c:ser>
          <c:idx val="0"/>
          <c:order val="0"/>
          <c:tx>
            <c:strRef>
              <c:f>'ws_SAA_6.0%'!$J$2</c:f>
              <c:strCache>
                <c:ptCount val="1"/>
                <c:pt idx="0">
                  <c:v>1st %ile</c:v>
                </c:pt>
              </c:strCache>
            </c:strRef>
          </c:tx>
          <c:spPr>
            <a:ln w="12700">
              <a:solidFill>
                <a:srgbClr val="C00000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/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D4C-8249-8F67-96F0357FC96B}"/>
                </c:ext>
              </c:extLst>
            </c:dLbl>
            <c:numFmt formatCode="#,##0.0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'ws_SAA_6.0%'!$J$3:$J$23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5.721517128537589</c:v>
                </c:pt>
                <c:pt idx="3">
                  <c:v>5.8904300441037298</c:v>
                </c:pt>
                <c:pt idx="4">
                  <c:v>6.0453427380911782</c:v>
                </c:pt>
                <c:pt idx="5">
                  <c:v>6.2688480472024137</c:v>
                </c:pt>
                <c:pt idx="6">
                  <c:v>6.523438439591752</c:v>
                </c:pt>
                <c:pt idx="7">
                  <c:v>6.7491090862543066</c:v>
                </c:pt>
                <c:pt idx="8">
                  <c:v>6.9343052205253306</c:v>
                </c:pt>
                <c:pt idx="9">
                  <c:v>7.1634684064317478</c:v>
                </c:pt>
                <c:pt idx="10">
                  <c:v>7.3684346180972113</c:v>
                </c:pt>
                <c:pt idx="11">
                  <c:v>7.5771341906883816</c:v>
                </c:pt>
                <c:pt idx="12">
                  <c:v>7.7978115441727729</c:v>
                </c:pt>
                <c:pt idx="13">
                  <c:v>8.0253156198406241</c:v>
                </c:pt>
                <c:pt idx="14">
                  <c:v>8.2274191155727276</c:v>
                </c:pt>
                <c:pt idx="15">
                  <c:v>8.4512669524336221</c:v>
                </c:pt>
                <c:pt idx="16">
                  <c:v>8.6535543496732839</c:v>
                </c:pt>
                <c:pt idx="17">
                  <c:v>8.8794052513698549</c:v>
                </c:pt>
                <c:pt idx="18">
                  <c:v>9.1050428328520976</c:v>
                </c:pt>
                <c:pt idx="19">
                  <c:v>9.3700215807687233</c:v>
                </c:pt>
                <c:pt idx="20">
                  <c:v>9.5915964634707205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4C-8249-8F67-96F0357FC96B}"/>
            </c:ext>
          </c:extLst>
        </c:ser>
        <c:ser>
          <c:idx val="1"/>
          <c:order val="1"/>
          <c:tx>
            <c:strRef>
              <c:f>'ws_SAA_6.0%'!$K$2</c:f>
              <c:strCache>
                <c:ptCount val="1"/>
                <c:pt idx="0">
                  <c:v>10th %ile</c:v>
                </c:pt>
              </c:strCache>
            </c:strRef>
          </c:tx>
          <c:spPr>
            <a:ln w="12700">
              <a:solidFill>
                <a:srgbClr val="8064A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D4C-8249-8F67-96F0357FC96B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'ws_SAA_6.0%'!$K$3:$K$23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5.6725907460240412</c:v>
                </c:pt>
                <c:pt idx="3">
                  <c:v>5.8251220585055803</c:v>
                </c:pt>
                <c:pt idx="4">
                  <c:v>5.9653124986822261</c:v>
                </c:pt>
                <c:pt idx="5">
                  <c:v>6.1311286428921079</c:v>
                </c:pt>
                <c:pt idx="6">
                  <c:v>6.3002141273595571</c:v>
                </c:pt>
                <c:pt idx="7">
                  <c:v>6.464812325254524</c:v>
                </c:pt>
                <c:pt idx="8">
                  <c:v>6.6402079924613453</c:v>
                </c:pt>
                <c:pt idx="9">
                  <c:v>6.8212590709781962</c:v>
                </c:pt>
                <c:pt idx="10">
                  <c:v>7.0032279090854326</c:v>
                </c:pt>
                <c:pt idx="11">
                  <c:v>7.1863249698691547</c:v>
                </c:pt>
                <c:pt idx="12">
                  <c:v>7.3625664133636377</c:v>
                </c:pt>
                <c:pt idx="13">
                  <c:v>7.5401835131755712</c:v>
                </c:pt>
                <c:pt idx="14">
                  <c:v>7.7249776889592443</c:v>
                </c:pt>
                <c:pt idx="15">
                  <c:v>7.9134729394014434</c:v>
                </c:pt>
                <c:pt idx="16">
                  <c:v>8.0988105212672732</c:v>
                </c:pt>
                <c:pt idx="17">
                  <c:v>8.284824749298128</c:v>
                </c:pt>
                <c:pt idx="18">
                  <c:v>8.4775595339985674</c:v>
                </c:pt>
                <c:pt idx="19">
                  <c:v>8.6717125236727526</c:v>
                </c:pt>
                <c:pt idx="20">
                  <c:v>8.8773034842119891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4C-8249-8F67-96F0357FC96B}"/>
            </c:ext>
          </c:extLst>
        </c:ser>
        <c:ser>
          <c:idx val="2"/>
          <c:order val="2"/>
          <c:tx>
            <c:strRef>
              <c:f>'ws_SAA_6.0%'!$L$2</c:f>
              <c:strCache>
                <c:ptCount val="1"/>
                <c:pt idx="0">
                  <c:v>50th %ile</c:v>
                </c:pt>
              </c:strCache>
            </c:strRef>
          </c:tx>
          <c:spPr>
            <a:ln w="12700">
              <a:solidFill>
                <a:srgbClr val="376092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D4C-8249-8F67-96F0357FC96B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'ws_SAA_6.0%'!$L$3:$L$23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5.624666962335735</c:v>
                </c:pt>
                <c:pt idx="3">
                  <c:v>5.7589219730703176</c:v>
                </c:pt>
                <c:pt idx="4">
                  <c:v>5.8832320398655931</c:v>
                </c:pt>
                <c:pt idx="5">
                  <c:v>6.0095405264334758</c:v>
                </c:pt>
                <c:pt idx="6">
                  <c:v>6.13509046183888</c:v>
                </c:pt>
                <c:pt idx="7">
                  <c:v>6.2594720699713973</c:v>
                </c:pt>
                <c:pt idx="8">
                  <c:v>6.3900136494039854</c:v>
                </c:pt>
                <c:pt idx="9">
                  <c:v>6.517811082654644</c:v>
                </c:pt>
                <c:pt idx="10">
                  <c:v>6.6442208328249794</c:v>
                </c:pt>
                <c:pt idx="11">
                  <c:v>6.7773320780336679</c:v>
                </c:pt>
                <c:pt idx="12">
                  <c:v>6.913039040200978</c:v>
                </c:pt>
                <c:pt idx="13">
                  <c:v>7.0479473344761718</c:v>
                </c:pt>
                <c:pt idx="14">
                  <c:v>7.1912476031979757</c:v>
                </c:pt>
                <c:pt idx="15">
                  <c:v>7.3349368283746532</c:v>
                </c:pt>
                <c:pt idx="16">
                  <c:v>7.4805137733576892</c:v>
                </c:pt>
                <c:pt idx="17">
                  <c:v>7.6308743331755489</c:v>
                </c:pt>
                <c:pt idx="18">
                  <c:v>7.7826942161794914</c:v>
                </c:pt>
                <c:pt idx="19">
                  <c:v>7.9372343249275543</c:v>
                </c:pt>
                <c:pt idx="20">
                  <c:v>8.0977893310743934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D4C-8249-8F67-96F0357FC96B}"/>
            </c:ext>
          </c:extLst>
        </c:ser>
        <c:ser>
          <c:idx val="3"/>
          <c:order val="3"/>
          <c:tx>
            <c:strRef>
              <c:f>'ws_SAA_6.0%'!$M$2</c:f>
              <c:strCache>
                <c:ptCount val="1"/>
                <c:pt idx="0">
                  <c:v>90th %ile</c:v>
                </c:pt>
              </c:strCache>
            </c:strRef>
          </c:tx>
          <c:spPr>
            <a:ln w="12700">
              <a:solidFill>
                <a:srgbClr val="77933C"/>
              </a:solidFill>
              <a:prstDash val="solid"/>
            </a:ln>
          </c:spPr>
          <c:marker>
            <c:symbol val="none"/>
          </c:marker>
          <c:dLbls>
            <c:dLbl>
              <c:idx val="2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D4C-8249-8F67-96F0357FC96B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numRef>
              <c:f>'ws_SAA_6.0%'!$A$3:$A$23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'ws_SAA_6.0%'!$M$3:$M$23</c:f>
              <c:numCache>
                <c:formatCode>General</c:formatCode>
                <c:ptCount val="21"/>
                <c:pt idx="0">
                  <c:v>#N/A</c:v>
                </c:pt>
                <c:pt idx="1">
                  <c:v>5.4999999999999991</c:v>
                </c:pt>
                <c:pt idx="2">
                  <c:v>5.5846164124535926</c:v>
                </c:pt>
                <c:pt idx="3">
                  <c:v>5.6947159928254338</c:v>
                </c:pt>
                <c:pt idx="4">
                  <c:v>5.8073685327793614</c:v>
                </c:pt>
                <c:pt idx="5">
                  <c:v>5.8994414001413276</c:v>
                </c:pt>
                <c:pt idx="6">
                  <c:v>5.9988270672511659</c:v>
                </c:pt>
                <c:pt idx="7">
                  <c:v>6.0976447509514662</c:v>
                </c:pt>
                <c:pt idx="8">
                  <c:v>6.1832978707848714</c:v>
                </c:pt>
                <c:pt idx="9">
                  <c:v>6.272245223941721</c:v>
                </c:pt>
                <c:pt idx="10">
                  <c:v>6.3637105803935743</c:v>
                </c:pt>
                <c:pt idx="11">
                  <c:v>6.4586305848701304</c:v>
                </c:pt>
                <c:pt idx="12">
                  <c:v>6.5551185946427051</c:v>
                </c:pt>
                <c:pt idx="13">
                  <c:v>6.6579993484041813</c:v>
                </c:pt>
                <c:pt idx="14">
                  <c:v>6.7590723984197441</c:v>
                </c:pt>
                <c:pt idx="15">
                  <c:v>6.8693876065385604</c:v>
                </c:pt>
                <c:pt idx="16">
                  <c:v>6.9817053491498928</c:v>
                </c:pt>
                <c:pt idx="17">
                  <c:v>7.0925513038358314</c:v>
                </c:pt>
                <c:pt idx="18">
                  <c:v>7.2072909247299348</c:v>
                </c:pt>
                <c:pt idx="19">
                  <c:v>7.3289497481818584</c:v>
                </c:pt>
                <c:pt idx="20">
                  <c:v>7.4524684019050067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D4C-8249-8F67-96F0357FC9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Year</a:t>
                </a:r>
              </a:p>
            </c:rich>
          </c:tx>
          <c:layout>
            <c:manualLayout>
              <c:xMode val="edge"/>
              <c:yMode val="edge"/>
              <c:x val="0.50771226858187524"/>
              <c:y val="0.91115684445646417"/>
            </c:manualLayout>
          </c:layout>
          <c:overlay val="0"/>
        </c:title>
        <c:numFmt formatCode="General" sourceLinked="1"/>
        <c:majorTickMark val="none"/>
        <c:minorTickMark val="none"/>
        <c:tickLblPos val="low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0"/>
        <c:crosses val="autoZero"/>
        <c:auto val="0"/>
        <c:lblAlgn val="ctr"/>
        <c:lblOffset val="100"/>
        <c:tickLblSkip val="5"/>
        <c:tickMarkSkip val="5"/>
        <c:noMultiLvlLbl val="0"/>
      </c:catAx>
      <c:valAx>
        <c:axId val="100"/>
        <c:scaling>
          <c:orientation val="minMax"/>
          <c:max val="10"/>
        </c:scaling>
        <c:delete val="0"/>
        <c:axPos val="l"/>
        <c:title>
          <c:tx>
            <c:rich>
              <a:bodyPr/>
              <a:lstStyle/>
              <a:p>
                <a:pPr>
                  <a:defRPr/>
                </a:pPr>
                <a:r>
                  <a:rPr lang="en-GB" sz="900" b="0">
                    <a:latin typeface="Aptos"/>
                  </a:rPr>
                  <a:t>Net Flows ($)</a:t>
                </a:r>
              </a:p>
            </c:rich>
          </c:tx>
          <c:overlay val="0"/>
        </c:title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900" b="0">
                <a:latin typeface="Aptos"/>
              </a:defRPr>
            </a:pPr>
            <a:endParaRPr lang="en-US"/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8624481311769292E-2"/>
          <c:y val="8.1866191560268878E-2"/>
          <c:w val="0.9097857247726272"/>
          <c:h val="0.77005916513030692"/>
        </c:manualLayout>
      </c:layout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Sheet2!$B$4:$L$4</c:f>
            </c:numRef>
          </c:val>
          <c:smooth val="0"/>
          <c:extLst>
            <c:ext xmlns:c16="http://schemas.microsoft.com/office/drawing/2014/chart" uri="{C3380CC4-5D6E-409C-BE32-E72D297353CC}">
              <c16:uniqueId val="{00000000-37DA-F349-AECD-4B25D58A8893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Sheet2!$B$5:$L$5</c:f>
            </c:numRef>
          </c:val>
          <c:smooth val="0"/>
          <c:extLst>
            <c:ext xmlns:c16="http://schemas.microsoft.com/office/drawing/2014/chart" uri="{C3380CC4-5D6E-409C-BE32-E72D297353CC}">
              <c16:uniqueId val="{00000001-37DA-F349-AECD-4B25D58A8893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Sheet2!$B$6:$L$6</c:f>
            </c:numRef>
          </c:val>
          <c:smooth val="0"/>
          <c:extLst>
            <c:ext xmlns:c16="http://schemas.microsoft.com/office/drawing/2014/chart" uri="{C3380CC4-5D6E-409C-BE32-E72D297353CC}">
              <c16:uniqueId val="{00000002-37DA-F349-AECD-4B25D58A8893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Sheet2!$B$7:$L$7</c:f>
            </c:numRef>
          </c:val>
          <c:smooth val="0"/>
          <c:extLst>
            <c:ext xmlns:c16="http://schemas.microsoft.com/office/drawing/2014/chart" uri="{C3380CC4-5D6E-409C-BE32-E72D297353CC}">
              <c16:uniqueId val="{00000003-37DA-F349-AECD-4B25D58A8893}"/>
            </c:ext>
          </c:extLst>
        </c:ser>
        <c:ser>
          <c:idx val="4"/>
          <c:order val="4"/>
          <c:tx>
            <c:v>Over 5 Years</c:v>
          </c:tx>
          <c:spPr>
            <a:ln w="28575" cap="rnd">
              <a:solidFill>
                <a:schemeClr val="tx2">
                  <a:lumMod val="5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Sheet2!$B$8:$L$8</c:f>
              <c:numCache>
                <c:formatCode>0%</c:formatCode>
                <c:ptCount val="11"/>
                <c:pt idx="0">
                  <c:v>0.89715</c:v>
                </c:pt>
                <c:pt idx="1">
                  <c:v>0.87119999999999997</c:v>
                </c:pt>
                <c:pt idx="2">
                  <c:v>0.84065000000000001</c:v>
                </c:pt>
                <c:pt idx="3">
                  <c:v>0.80395000000000005</c:v>
                </c:pt>
                <c:pt idx="4">
                  <c:v>0.76329999999999998</c:v>
                </c:pt>
                <c:pt idx="5">
                  <c:v>0.72004999999999997</c:v>
                </c:pt>
                <c:pt idx="6">
                  <c:v>0.67290000000000005</c:v>
                </c:pt>
                <c:pt idx="7">
                  <c:v>0.61814999999999998</c:v>
                </c:pt>
                <c:pt idx="8">
                  <c:v>0.56084999999999996</c:v>
                </c:pt>
                <c:pt idx="9">
                  <c:v>0.50544999999999995</c:v>
                </c:pt>
                <c:pt idx="10">
                  <c:v>0.4451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7DA-F349-AECD-4B25D58A8893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Sheet2!$B$9:$L$9</c:f>
            </c:numRef>
          </c:val>
          <c:smooth val="0"/>
          <c:extLst>
            <c:ext xmlns:c16="http://schemas.microsoft.com/office/drawing/2014/chart" uri="{C3380CC4-5D6E-409C-BE32-E72D297353CC}">
              <c16:uniqueId val="{00000005-37DA-F349-AECD-4B25D58A8893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Sheet2!$B$10:$L$10</c:f>
            </c:numRef>
          </c:val>
          <c:smooth val="0"/>
          <c:extLst>
            <c:ext xmlns:c16="http://schemas.microsoft.com/office/drawing/2014/chart" uri="{C3380CC4-5D6E-409C-BE32-E72D297353CC}">
              <c16:uniqueId val="{00000006-37DA-F349-AECD-4B25D58A8893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Sheet2!$B$11:$L$11</c:f>
            </c:numRef>
          </c:val>
          <c:smooth val="0"/>
          <c:extLst>
            <c:ext xmlns:c16="http://schemas.microsoft.com/office/drawing/2014/chart" uri="{C3380CC4-5D6E-409C-BE32-E72D297353CC}">
              <c16:uniqueId val="{00000007-37DA-F349-AECD-4B25D58A8893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Sheet2!$B$12:$L$12</c:f>
            </c:numRef>
          </c:val>
          <c:smooth val="0"/>
          <c:extLst>
            <c:ext xmlns:c16="http://schemas.microsoft.com/office/drawing/2014/chart" uri="{C3380CC4-5D6E-409C-BE32-E72D297353CC}">
              <c16:uniqueId val="{00000008-37DA-F349-AECD-4B25D58A8893}"/>
            </c:ext>
          </c:extLst>
        </c:ser>
        <c:ser>
          <c:idx val="9"/>
          <c:order val="9"/>
          <c:tx>
            <c:v>Over 10 Years</c:v>
          </c:tx>
          <c:spPr>
            <a:ln w="28575" cap="rnd">
              <a:solidFill>
                <a:schemeClr val="tx2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Sheet2!$B$13:$L$13</c:f>
              <c:numCache>
                <c:formatCode>0%</c:formatCode>
                <c:ptCount val="11"/>
                <c:pt idx="0">
                  <c:v>0.93115000000000003</c:v>
                </c:pt>
                <c:pt idx="1">
                  <c:v>0.90690000000000004</c:v>
                </c:pt>
                <c:pt idx="2">
                  <c:v>0.87309999999999999</c:v>
                </c:pt>
                <c:pt idx="3">
                  <c:v>0.83379999999999999</c:v>
                </c:pt>
                <c:pt idx="4">
                  <c:v>0.78664999999999996</c:v>
                </c:pt>
                <c:pt idx="5">
                  <c:v>0.73399999999999999</c:v>
                </c:pt>
                <c:pt idx="6">
                  <c:v>0.67225000000000001</c:v>
                </c:pt>
                <c:pt idx="7">
                  <c:v>0.60235000000000005</c:v>
                </c:pt>
                <c:pt idx="8">
                  <c:v>0.53005000000000002</c:v>
                </c:pt>
                <c:pt idx="9">
                  <c:v>0.45765</c:v>
                </c:pt>
                <c:pt idx="10">
                  <c:v>0.38114999999999999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37DA-F349-AECD-4B25D58A8893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Sheet2!$B$14:$L$14</c:f>
            </c:numRef>
          </c:val>
          <c:smooth val="0"/>
          <c:extLst>
            <c:ext xmlns:c16="http://schemas.microsoft.com/office/drawing/2014/chart" uri="{C3380CC4-5D6E-409C-BE32-E72D297353CC}">
              <c16:uniqueId val="{0000000A-37DA-F349-AECD-4B25D58A8893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Sheet2!$B$15:$L$15</c:f>
            </c:numRef>
          </c:val>
          <c:smooth val="0"/>
          <c:extLst>
            <c:ext xmlns:c16="http://schemas.microsoft.com/office/drawing/2014/chart" uri="{C3380CC4-5D6E-409C-BE32-E72D297353CC}">
              <c16:uniqueId val="{0000000B-37DA-F349-AECD-4B25D58A8893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Sheet2!$B$16:$L$16</c:f>
            </c:numRef>
          </c:val>
          <c:smooth val="0"/>
          <c:extLst>
            <c:ext xmlns:c16="http://schemas.microsoft.com/office/drawing/2014/chart" uri="{C3380CC4-5D6E-409C-BE32-E72D297353CC}">
              <c16:uniqueId val="{0000000C-37DA-F349-AECD-4B25D58A8893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Sheet2!$B$17:$L$17</c:f>
            </c:numRef>
          </c:val>
          <c:smooth val="0"/>
          <c:extLst>
            <c:ext xmlns:c16="http://schemas.microsoft.com/office/drawing/2014/chart" uri="{C3380CC4-5D6E-409C-BE32-E72D297353CC}">
              <c16:uniqueId val="{0000000D-37DA-F349-AECD-4B25D58A8893}"/>
            </c:ext>
          </c:extLst>
        </c:ser>
        <c:ser>
          <c:idx val="14"/>
          <c:order val="14"/>
          <c:tx>
            <c:v>Over 15 Years</c:v>
          </c:tx>
          <c:spPr>
            <a:ln w="28575" cap="rnd">
              <a:solidFill>
                <a:schemeClr val="accent1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Sheet2!$B$18:$L$18</c:f>
              <c:numCache>
                <c:formatCode>0%</c:formatCode>
                <c:ptCount val="11"/>
                <c:pt idx="0">
                  <c:v>0.94489999999999996</c:v>
                </c:pt>
                <c:pt idx="1">
                  <c:v>0.91930000000000001</c:v>
                </c:pt>
                <c:pt idx="2">
                  <c:v>0.88639999999999997</c:v>
                </c:pt>
                <c:pt idx="3">
                  <c:v>0.84330000000000005</c:v>
                </c:pt>
                <c:pt idx="4">
                  <c:v>0.78985000000000005</c:v>
                </c:pt>
                <c:pt idx="5">
                  <c:v>0.72499999999999998</c:v>
                </c:pt>
                <c:pt idx="6">
                  <c:v>0.65359999999999996</c:v>
                </c:pt>
                <c:pt idx="7">
                  <c:v>0.57694999999999996</c:v>
                </c:pt>
                <c:pt idx="8">
                  <c:v>0.48845</c:v>
                </c:pt>
                <c:pt idx="9">
                  <c:v>0.40200000000000002</c:v>
                </c:pt>
                <c:pt idx="10">
                  <c:v>0.32450000000000001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37DA-F349-AECD-4B25D58A8893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Sheet2!$B$19:$L$19</c:f>
            </c:numRef>
          </c:val>
          <c:smooth val="0"/>
          <c:extLst>
            <c:ext xmlns:c16="http://schemas.microsoft.com/office/drawing/2014/chart" uri="{C3380CC4-5D6E-409C-BE32-E72D297353CC}">
              <c16:uniqueId val="{0000000F-37DA-F349-AECD-4B25D58A8893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Sheet2!$B$20:$L$20</c:f>
            </c:numRef>
          </c:val>
          <c:smooth val="0"/>
          <c:extLst>
            <c:ext xmlns:c16="http://schemas.microsoft.com/office/drawing/2014/chart" uri="{C3380CC4-5D6E-409C-BE32-E72D297353CC}">
              <c16:uniqueId val="{00000010-37DA-F349-AECD-4B25D58A8893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Sheet2!$B$21:$L$21</c:f>
            </c:numRef>
          </c:val>
          <c:smooth val="0"/>
          <c:extLst>
            <c:ext xmlns:c16="http://schemas.microsoft.com/office/drawing/2014/chart" uri="{C3380CC4-5D6E-409C-BE32-E72D297353CC}">
              <c16:uniqueId val="{00000011-37DA-F349-AECD-4B25D58A8893}"/>
            </c:ext>
          </c:extLst>
        </c:ser>
        <c:ser>
          <c:idx val="18"/>
          <c:order val="18"/>
          <c:spPr>
            <a:ln w="28575" cap="rnd">
              <a:solidFill>
                <a:schemeClr val="accent1">
                  <a:lumMod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Sheet2!$B$22:$L$22</c:f>
            </c:numRef>
          </c:val>
          <c:smooth val="0"/>
          <c:extLst>
            <c:ext xmlns:c16="http://schemas.microsoft.com/office/drawing/2014/chart" uri="{C3380CC4-5D6E-409C-BE32-E72D297353CC}">
              <c16:uniqueId val="{00000012-37DA-F349-AECD-4B25D58A8893}"/>
            </c:ext>
          </c:extLst>
        </c:ser>
        <c:ser>
          <c:idx val="19"/>
          <c:order val="19"/>
          <c:tx>
            <c:v>Over 20 Years</c:v>
          </c:tx>
          <c:spPr>
            <a:ln w="28575" cap="rnd">
              <a:solidFill>
                <a:schemeClr val="tx2">
                  <a:lumMod val="20000"/>
                  <a:lumOff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Sheet2!$B$1:$L$1</c:f>
              <c:numCache>
                <c:formatCode>0.0%</c:formatCode>
                <c:ptCount val="11"/>
                <c:pt idx="0">
                  <c:v>0.01</c:v>
                </c:pt>
                <c:pt idx="1">
                  <c:v>1.4999999999999999E-2</c:v>
                </c:pt>
                <c:pt idx="2">
                  <c:v>0.02</c:v>
                </c:pt>
                <c:pt idx="3">
                  <c:v>2.5000000000000001E-2</c:v>
                </c:pt>
                <c:pt idx="4">
                  <c:v>3.0000000000000002E-2</c:v>
                </c:pt>
                <c:pt idx="5">
                  <c:v>3.5000000000000003E-2</c:v>
                </c:pt>
                <c:pt idx="6">
                  <c:v>0.04</c:v>
                </c:pt>
                <c:pt idx="7">
                  <c:v>4.4999999999999998E-2</c:v>
                </c:pt>
                <c:pt idx="8">
                  <c:v>4.9999999999999996E-2</c:v>
                </c:pt>
                <c:pt idx="9">
                  <c:v>5.4999999999999993E-2</c:v>
                </c:pt>
                <c:pt idx="10">
                  <c:v>5.9999999999999991E-2</c:v>
                </c:pt>
              </c:numCache>
            </c:numRef>
          </c:cat>
          <c:val>
            <c:numRef>
              <c:f>Sheet2!$B$23:$L$23</c:f>
              <c:numCache>
                <c:formatCode>0%</c:formatCode>
                <c:ptCount val="11"/>
                <c:pt idx="0">
                  <c:v>0.95694999999999997</c:v>
                </c:pt>
                <c:pt idx="1">
                  <c:v>0.93169999999999997</c:v>
                </c:pt>
                <c:pt idx="2">
                  <c:v>0.89949999999999997</c:v>
                </c:pt>
                <c:pt idx="3">
                  <c:v>0.85399999999999998</c:v>
                </c:pt>
                <c:pt idx="4">
                  <c:v>0.79774999999999996</c:v>
                </c:pt>
                <c:pt idx="5">
                  <c:v>0.72529999999999994</c:v>
                </c:pt>
                <c:pt idx="6">
                  <c:v>0.64480000000000004</c:v>
                </c:pt>
                <c:pt idx="7">
                  <c:v>0.55700000000000005</c:v>
                </c:pt>
                <c:pt idx="8">
                  <c:v>0.46465000000000001</c:v>
                </c:pt>
                <c:pt idx="9">
                  <c:v>0.373</c:v>
                </c:pt>
                <c:pt idx="10">
                  <c:v>0.28820000000000001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3-37DA-F349-AECD-4B25D58A88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61759248"/>
        <c:axId val="1776207024"/>
      </c:lineChart>
      <c:catAx>
        <c:axId val="156175924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/>
                  <a:t>Assumed Yearly Spend</a:t>
                </a:r>
                <a:r>
                  <a:rPr lang="en-GB" baseline="0"/>
                  <a:t> (% of Initial Portfolio Value, Adjusted for Inflation)</a:t>
                </a:r>
                <a:endParaRPr lang="en-GB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GB"/>
            </a:p>
          </c:txPr>
        </c:title>
        <c:numFmt formatCode="0.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776207024"/>
        <c:crosses val="autoZero"/>
        <c:auto val="1"/>
        <c:lblAlgn val="ctr"/>
        <c:lblOffset val="100"/>
        <c:noMultiLvlLbl val="0"/>
      </c:catAx>
      <c:valAx>
        <c:axId val="177620702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shade val="95000"/>
                <a:satMod val="105000"/>
              </a:schemeClr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5617592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b="0" i="0"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1FBADA-4773-404F-874F-B3857A68950B}" type="datetimeFigureOut">
              <a:rPr lang="en-US" smtClean="0"/>
              <a:t>6/30/25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30C15-E458-4B43-AE0F-5F07CFCA48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524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30C15-E458-4B43-AE0F-5F07CFCA48D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7936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30C15-E458-4B43-AE0F-5F07CFCA48D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755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9B213-3102-C349-9554-E434846F78E6}" type="datetime1">
              <a:rPr lang="en-GB" smtClean="0"/>
              <a:t>30/06/2025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46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61742-974A-4443-8BE3-693B2B3ED8AD}" type="datetime1">
              <a:rPr lang="en-GB" smtClean="0"/>
              <a:t>30/06/2025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544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C1FB4-6600-964E-87AE-7944E8A54BF4}" type="datetime1">
              <a:rPr lang="en-GB" smtClean="0"/>
              <a:t>30/06/2025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996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1E02E-8688-0D40-8D95-F6B633E19384}" type="datetime1">
              <a:rPr lang="en-GB" smtClean="0"/>
              <a:t>30/06/2025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583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E2112C-A07D-0C49-83D0-97E7715572E8}" type="datetime1">
              <a:rPr lang="en-GB" smtClean="0"/>
              <a:t>30/06/2025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376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FB06-81A1-7145-AA10-23CB90609DB1}" type="datetime1">
              <a:rPr lang="en-GB" smtClean="0"/>
              <a:t>30/06/2025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131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6BF7C-B1D2-D341-B6EA-0F9EDB8B80EA}" type="datetime1">
              <a:rPr lang="en-GB" smtClean="0"/>
              <a:t>30/06/2025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9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0714D-A05F-CA49-830F-7B0ACED6C706}" type="datetime1">
              <a:rPr lang="en-GB" smtClean="0"/>
              <a:t>30/06/2025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719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311A0-74F8-7840-9594-267945A9A042}" type="datetime1">
              <a:rPr lang="en-GB" smtClean="0"/>
              <a:t>30/06/2025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388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2F3922-980F-3047-91E3-B20D946F972E}" type="datetime1">
              <a:rPr lang="en-GB" smtClean="0"/>
              <a:t>30/06/2025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894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351C3-CB6C-CB43-A403-149A332B98B6}" type="datetime1">
              <a:rPr lang="en-GB" smtClean="0"/>
              <a:t>30/06/2025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43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41A623-B36F-C440-9672-F52869BB3AE9}" type="datetime1">
              <a:rPr lang="en-GB" smtClean="0"/>
              <a:t>30/06/2025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47A49E-DC7B-E44E-B81C-A7ED720E1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261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chart" Target="../charts/chart6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3C78A4-0B54-333F-41FE-7DDDBAF6BE64}"/>
              </a:ext>
            </a:extLst>
          </p:cNvPr>
          <p:cNvSpPr txBox="1"/>
          <p:nvPr/>
        </p:nvSpPr>
        <p:spPr>
          <a:xfrm>
            <a:off x="952969" y="821554"/>
            <a:ext cx="7238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+mj-lt"/>
              </a:rPr>
              <a:t>Global Asset Allocation</a:t>
            </a:r>
          </a:p>
        </p:txBody>
      </p:sp>
    </p:spTree>
    <p:extLst>
      <p:ext uri="{BB962C8B-B14F-4D97-AF65-F5344CB8AC3E}">
        <p14:creationId xmlns:p14="http://schemas.microsoft.com/office/powerpoint/2010/main" val="908521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3C78A4-0B54-333F-41FE-7DDDBAF6BE64}"/>
              </a:ext>
            </a:extLst>
          </p:cNvPr>
          <p:cNvSpPr txBox="1"/>
          <p:nvPr/>
        </p:nvSpPr>
        <p:spPr>
          <a:xfrm>
            <a:off x="338291" y="37875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The Advantages of Multi-Factor Approach to Asset Allocation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121660-FF6A-2192-F126-372A80CD5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2</a:t>
            </a:fld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A7EDF923-5931-04E9-77D8-1E88AB4197A9}"/>
              </a:ext>
            </a:extLst>
          </p:cNvPr>
          <p:cNvSpPr/>
          <p:nvPr/>
        </p:nvSpPr>
        <p:spPr>
          <a:xfrm>
            <a:off x="4572001" y="1106021"/>
            <a:ext cx="4241258" cy="552448"/>
          </a:xfrm>
          <a:prstGeom prst="rightArrow">
            <a:avLst>
              <a:gd name="adj1" fmla="val 56056"/>
              <a:gd name="adj2" fmla="val 87000"/>
            </a:avLst>
          </a:prstGeom>
          <a:solidFill>
            <a:schemeClr val="accent5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Modern Enhancements</a:t>
            </a:r>
          </a:p>
        </p:txBody>
      </p:sp>
      <p:sp>
        <p:nvSpPr>
          <p:cNvPr id="22" name="Left Arrow 21">
            <a:extLst>
              <a:ext uri="{FF2B5EF4-FFF2-40B4-BE49-F238E27FC236}">
                <a16:creationId xmlns:a16="http://schemas.microsoft.com/office/drawing/2014/main" id="{3FCBB0AF-C5DE-CDF5-F4A4-1BF7C5142F49}"/>
              </a:ext>
            </a:extLst>
          </p:cNvPr>
          <p:cNvSpPr/>
          <p:nvPr/>
        </p:nvSpPr>
        <p:spPr>
          <a:xfrm>
            <a:off x="372033" y="1106020"/>
            <a:ext cx="4199967" cy="552449"/>
          </a:xfrm>
          <a:prstGeom prst="leftArrow">
            <a:avLst>
              <a:gd name="adj1" fmla="val 56055"/>
              <a:gd name="adj2" fmla="val 103710"/>
            </a:avLst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 algn="r"/>
            <a:r>
              <a:rPr lang="en-US" sz="1200" dirty="0"/>
              <a:t>Traditional Methods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53A75A-4181-8D2D-98C1-EE650C87A933}"/>
              </a:ext>
            </a:extLst>
          </p:cNvPr>
          <p:cNvSpPr txBox="1"/>
          <p:nvPr/>
        </p:nvSpPr>
        <p:spPr>
          <a:xfrm>
            <a:off x="1020379" y="1645625"/>
            <a:ext cx="2034988" cy="931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Limited Understanding of Complex Investment Universe and poor risk and return estimates</a:t>
            </a:r>
          </a:p>
          <a:p>
            <a:pPr algn="r"/>
            <a:endParaRPr lang="en-US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A4F807-F4C3-7985-DA61-FB35BD5C4460}"/>
              </a:ext>
            </a:extLst>
          </p:cNvPr>
          <p:cNvSpPr txBox="1"/>
          <p:nvPr/>
        </p:nvSpPr>
        <p:spPr>
          <a:xfrm>
            <a:off x="6210428" y="1726079"/>
            <a:ext cx="2384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Multi-Factor Model enhances risk premium prediction by 2x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617A6F-505D-0744-A2F4-163063854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568" y="1679897"/>
            <a:ext cx="1272576" cy="11158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421EA9-9757-6893-B209-31ACDA639C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1553" y="1670610"/>
            <a:ext cx="1329677" cy="12777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ED6D2F8-08F2-AF95-BDE0-00230BCAAF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881" y="3058395"/>
            <a:ext cx="1309510" cy="11094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2395F16-1A9A-7AEA-7B1C-4D41F6ACE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3880" y="3051361"/>
            <a:ext cx="1380041" cy="110944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F620BBC-109E-4200-C75D-A441A3F60E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5045" y="4279837"/>
            <a:ext cx="1349985" cy="93102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1480258-8501-7B37-027E-9FF0461899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4461" y="4279837"/>
            <a:ext cx="1319460" cy="100037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C4FD686-55CF-221C-24BE-7894E6ED73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3858" y="5329892"/>
            <a:ext cx="1337289" cy="93102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D479103-05CB-8C3A-03B4-29DC229C96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4461" y="5329892"/>
            <a:ext cx="1315967" cy="93102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13171A8-3192-C87C-E920-FF03C2C89CDB}"/>
              </a:ext>
            </a:extLst>
          </p:cNvPr>
          <p:cNvSpPr txBox="1"/>
          <p:nvPr/>
        </p:nvSpPr>
        <p:spPr>
          <a:xfrm>
            <a:off x="6294591" y="3152852"/>
            <a:ext cx="238411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Robust Optimization: Superior Portfolio’s without subjective constraints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8CB1F1-A802-0731-7727-96F8A6904103}"/>
              </a:ext>
            </a:extLst>
          </p:cNvPr>
          <p:cNvSpPr txBox="1"/>
          <p:nvPr/>
        </p:nvSpPr>
        <p:spPr>
          <a:xfrm>
            <a:off x="1020379" y="3009269"/>
            <a:ext cx="2034988" cy="5924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Optimization Methodology Produced Unreliable Results.</a:t>
            </a:r>
          </a:p>
          <a:p>
            <a:pPr algn="r"/>
            <a:endParaRPr lang="en-US" sz="10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B93985-8C97-68A2-ADFA-0F0551B3D8D8}"/>
              </a:ext>
            </a:extLst>
          </p:cNvPr>
          <p:cNvSpPr txBox="1"/>
          <p:nvPr/>
        </p:nvSpPr>
        <p:spPr>
          <a:xfrm>
            <a:off x="943983" y="4202434"/>
            <a:ext cx="2034988" cy="5924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Risk Analytics Underestimate True Downside</a:t>
            </a:r>
          </a:p>
          <a:p>
            <a:pPr algn="r"/>
            <a:endParaRPr lang="en-US" sz="105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5AE108-2FFA-C3FA-4A59-AE2819326EEB}"/>
              </a:ext>
            </a:extLst>
          </p:cNvPr>
          <p:cNvSpPr txBox="1"/>
          <p:nvPr/>
        </p:nvSpPr>
        <p:spPr>
          <a:xfrm>
            <a:off x="6294590" y="4279734"/>
            <a:ext cx="2384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Factor-Based Risk Analytics generates reliable estimates of downside risk.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B204ED-512E-3725-904A-2D0B199543FF}"/>
              </a:ext>
            </a:extLst>
          </p:cNvPr>
          <p:cNvSpPr txBox="1"/>
          <p:nvPr/>
        </p:nvSpPr>
        <p:spPr>
          <a:xfrm>
            <a:off x="997321" y="5329892"/>
            <a:ext cx="2034988" cy="5924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Wealth Projections fail to capture true market dynamics</a:t>
            </a:r>
          </a:p>
          <a:p>
            <a:pPr algn="r"/>
            <a:endParaRPr lang="en-US" sz="10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FC5C6E-9823-9280-1611-A5318D260BB9}"/>
              </a:ext>
            </a:extLst>
          </p:cNvPr>
          <p:cNvSpPr txBox="1"/>
          <p:nvPr/>
        </p:nvSpPr>
        <p:spPr>
          <a:xfrm>
            <a:off x="6294590" y="5329892"/>
            <a:ext cx="2384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Factor-Based Risk Analytics generates reliable estimates of downside risk.</a:t>
            </a:r>
          </a:p>
        </p:txBody>
      </p:sp>
    </p:spTree>
    <p:extLst>
      <p:ext uri="{BB962C8B-B14F-4D97-AF65-F5344CB8AC3E}">
        <p14:creationId xmlns:p14="http://schemas.microsoft.com/office/powerpoint/2010/main" val="974642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7E9E8-C93A-AEB6-4824-CF9B242E6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46">
            <a:extLst>
              <a:ext uri="{FF2B5EF4-FFF2-40B4-BE49-F238E27FC236}">
                <a16:creationId xmlns:a16="http://schemas.microsoft.com/office/drawing/2014/main" id="{80F58048-D2E5-E1B1-CCFE-02F19EEFE769}"/>
              </a:ext>
            </a:extLst>
          </p:cNvPr>
          <p:cNvSpPr txBox="1"/>
          <p:nvPr/>
        </p:nvSpPr>
        <p:spPr>
          <a:xfrm>
            <a:off x="567173" y="4278562"/>
            <a:ext cx="8009655" cy="261610"/>
          </a:xfrm>
          <a:prstGeom prst="rect">
            <a:avLst/>
          </a:prstGeom>
          <a:solidFill>
            <a:srgbClr val="7F94BA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j-lt"/>
              </a:rPr>
              <a:t>Multi-Factor Risk Premia Estimates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40B9EA-B3B6-1A34-0D32-9ED515F627CE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Factor Models Identify Sources of Long-Term Return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F10832-8D30-7741-C932-72F4943B9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3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0536FC-E423-FC8A-6BA9-844B9521DB02}"/>
              </a:ext>
            </a:extLst>
          </p:cNvPr>
          <p:cNvSpPr txBox="1"/>
          <p:nvPr/>
        </p:nvSpPr>
        <p:spPr>
          <a:xfrm>
            <a:off x="302496" y="1062681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Multi-Factor Modelling Enhances Our Understanding Of Return Drivers</a:t>
            </a:r>
          </a:p>
        </p:txBody>
      </p:sp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4A99244B-411B-154C-AD19-A5CB4AC6904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71681982"/>
              </p:ext>
            </p:extLst>
          </p:nvPr>
        </p:nvGraphicFramePr>
        <p:xfrm>
          <a:off x="1188508" y="1811381"/>
          <a:ext cx="1670050" cy="12075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8D8B4278-B84F-2EA3-13C5-743A9EB65A49}"/>
              </a:ext>
            </a:extLst>
          </p:cNvPr>
          <p:cNvSpPr/>
          <p:nvPr/>
        </p:nvSpPr>
        <p:spPr>
          <a:xfrm>
            <a:off x="567172" y="1476194"/>
            <a:ext cx="8009655" cy="2077972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AE6F662-9015-50BE-8018-0834EB540FA8}"/>
              </a:ext>
            </a:extLst>
          </p:cNvPr>
          <p:cNvSpPr txBox="1"/>
          <p:nvPr/>
        </p:nvSpPr>
        <p:spPr>
          <a:xfrm>
            <a:off x="338291" y="622539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Grotesque Light" panose="020B0304020202020204" pitchFamily="34" charset="0"/>
              </a:rPr>
              <a:t>Empowering Investors to Understand and Manage the Sources of Portfolio Performance</a:t>
            </a:r>
            <a:endParaRPr lang="en-US" sz="1000" dirty="0">
              <a:latin typeface="Grotesque Light" panose="020B0304020202020204" pitchFamily="34" charset="0"/>
            </a:endParaRPr>
          </a:p>
        </p:txBody>
      </p:sp>
      <p:graphicFrame>
        <p:nvGraphicFramePr>
          <p:cNvPr id="27" name="Chart 26">
            <a:extLst>
              <a:ext uri="{FF2B5EF4-FFF2-40B4-BE49-F238E27FC236}">
                <a16:creationId xmlns:a16="http://schemas.microsoft.com/office/drawing/2014/main" id="{E55B51B8-5523-2571-94F8-40CD502BDA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3271522"/>
              </p:ext>
            </p:extLst>
          </p:nvPr>
        </p:nvGraphicFramePr>
        <p:xfrm>
          <a:off x="6330950" y="1852973"/>
          <a:ext cx="1670050" cy="12121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961C01FA-3D76-8F93-B683-725618281FF9}"/>
              </a:ext>
            </a:extLst>
          </p:cNvPr>
          <p:cNvSpPr txBox="1"/>
          <p:nvPr/>
        </p:nvSpPr>
        <p:spPr>
          <a:xfrm>
            <a:off x="1040353" y="1833923"/>
            <a:ext cx="215090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Multi-Strategy Hedge Funds</a:t>
            </a:r>
          </a:p>
        </p:txBody>
      </p:sp>
      <p:graphicFrame>
        <p:nvGraphicFramePr>
          <p:cNvPr id="35" name="Chart 34">
            <a:extLst>
              <a:ext uri="{FF2B5EF4-FFF2-40B4-BE49-F238E27FC236}">
                <a16:creationId xmlns:a16="http://schemas.microsoft.com/office/drawing/2014/main" id="{5594181E-CBE7-8BC6-30CD-00DA431BE1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18675451"/>
              </p:ext>
            </p:extLst>
          </p:nvPr>
        </p:nvGraphicFramePr>
        <p:xfrm>
          <a:off x="3736975" y="1828705"/>
          <a:ext cx="1670050" cy="12364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4D35DB1B-87A1-2956-2A52-E47AFE5CCFD8}"/>
              </a:ext>
            </a:extLst>
          </p:cNvPr>
          <p:cNvSpPr txBox="1"/>
          <p:nvPr/>
        </p:nvSpPr>
        <p:spPr>
          <a:xfrm>
            <a:off x="3838962" y="1838011"/>
            <a:ext cx="1610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Emerging Markets Local Debt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AE15A7-7922-0371-276B-8B7D7193F69D}"/>
              </a:ext>
            </a:extLst>
          </p:cNvPr>
          <p:cNvSpPr txBox="1"/>
          <p:nvPr/>
        </p:nvSpPr>
        <p:spPr>
          <a:xfrm>
            <a:off x="6386465" y="1872826"/>
            <a:ext cx="135289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Buyout Private Equity</a:t>
            </a:r>
          </a:p>
        </p:txBody>
      </p:sp>
      <p:graphicFrame>
        <p:nvGraphicFramePr>
          <p:cNvPr id="40" name="Chart 39">
            <a:extLst>
              <a:ext uri="{FF2B5EF4-FFF2-40B4-BE49-F238E27FC236}">
                <a16:creationId xmlns:a16="http://schemas.microsoft.com/office/drawing/2014/main" id="{12CD40C7-83BD-7477-D2D1-C20E7ABEA1D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9104168"/>
              </p:ext>
            </p:extLst>
          </p:nvPr>
        </p:nvGraphicFramePr>
        <p:xfrm>
          <a:off x="1188508" y="4595866"/>
          <a:ext cx="1670050" cy="12674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1" name="Rectangle 40">
            <a:extLst>
              <a:ext uri="{FF2B5EF4-FFF2-40B4-BE49-F238E27FC236}">
                <a16:creationId xmlns:a16="http://schemas.microsoft.com/office/drawing/2014/main" id="{8EC2EFA7-9B45-BF6B-45C0-4FF87CCCC68F}"/>
              </a:ext>
            </a:extLst>
          </p:cNvPr>
          <p:cNvSpPr/>
          <p:nvPr/>
        </p:nvSpPr>
        <p:spPr>
          <a:xfrm>
            <a:off x="567172" y="4272211"/>
            <a:ext cx="8009655" cy="2084139"/>
          </a:xfrm>
          <a:prstGeom prst="rect">
            <a:avLst/>
          </a:prstGeom>
          <a:noFill/>
          <a:ln w="635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2" name="Chart 41">
            <a:extLst>
              <a:ext uri="{FF2B5EF4-FFF2-40B4-BE49-F238E27FC236}">
                <a16:creationId xmlns:a16="http://schemas.microsoft.com/office/drawing/2014/main" id="{C77E7240-4248-A48A-B6BA-2888FDC567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4570235"/>
              </p:ext>
            </p:extLst>
          </p:nvPr>
        </p:nvGraphicFramePr>
        <p:xfrm>
          <a:off x="6330950" y="4637458"/>
          <a:ext cx="1670050" cy="1270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D2EA214C-9ED4-056D-CB2C-E9BE594A60EB}"/>
              </a:ext>
            </a:extLst>
          </p:cNvPr>
          <p:cNvSpPr txBox="1"/>
          <p:nvPr/>
        </p:nvSpPr>
        <p:spPr>
          <a:xfrm>
            <a:off x="1030828" y="4629118"/>
            <a:ext cx="215090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Multi-Strategy Hedge Funds</a:t>
            </a:r>
          </a:p>
        </p:txBody>
      </p:sp>
      <p:graphicFrame>
        <p:nvGraphicFramePr>
          <p:cNvPr id="44" name="Chart 43">
            <a:extLst>
              <a:ext uri="{FF2B5EF4-FFF2-40B4-BE49-F238E27FC236}">
                <a16:creationId xmlns:a16="http://schemas.microsoft.com/office/drawing/2014/main" id="{333B4E94-5EF9-5162-13F0-ACED55F823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6200264"/>
              </p:ext>
            </p:extLst>
          </p:nvPr>
        </p:nvGraphicFramePr>
        <p:xfrm>
          <a:off x="3736975" y="4613191"/>
          <a:ext cx="1670050" cy="12674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06752DE7-FA8A-047E-B521-34047CFD08BD}"/>
              </a:ext>
            </a:extLst>
          </p:cNvPr>
          <p:cNvSpPr txBox="1"/>
          <p:nvPr/>
        </p:nvSpPr>
        <p:spPr>
          <a:xfrm>
            <a:off x="3852197" y="4635196"/>
            <a:ext cx="1610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Emerging Markets Local Debt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80D9D3-C33C-BB1D-A07A-6132E2CFB400}"/>
              </a:ext>
            </a:extLst>
          </p:cNvPr>
          <p:cNvSpPr txBox="1"/>
          <p:nvPr/>
        </p:nvSpPr>
        <p:spPr>
          <a:xfrm>
            <a:off x="6219074" y="4635196"/>
            <a:ext cx="135289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Private Equity</a:t>
            </a:r>
          </a:p>
        </p:txBody>
      </p:sp>
      <p:sp>
        <p:nvSpPr>
          <p:cNvPr id="48" name="Down Arrow 47">
            <a:extLst>
              <a:ext uri="{FF2B5EF4-FFF2-40B4-BE49-F238E27FC236}">
                <a16:creationId xmlns:a16="http://schemas.microsoft.com/office/drawing/2014/main" id="{7B7E2306-3343-A47C-622A-FEF24807540D}"/>
              </a:ext>
            </a:extLst>
          </p:cNvPr>
          <p:cNvSpPr/>
          <p:nvPr/>
        </p:nvSpPr>
        <p:spPr>
          <a:xfrm>
            <a:off x="4251759" y="3740442"/>
            <a:ext cx="701675" cy="399463"/>
          </a:xfrm>
          <a:prstGeom prst="downArrow">
            <a:avLst>
              <a:gd name="adj1" fmla="val 52941"/>
              <a:gd name="adj2" fmla="val 77024"/>
            </a:avLst>
          </a:prstGeom>
          <a:solidFill>
            <a:srgbClr val="151824"/>
          </a:solidFill>
          <a:ln w="3175">
            <a:solidFill>
              <a:srgbClr val="7D9B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1DC053-06FF-6A7E-69ED-6B251E5C7B1C}"/>
              </a:ext>
            </a:extLst>
          </p:cNvPr>
          <p:cNvSpPr txBox="1"/>
          <p:nvPr/>
        </p:nvSpPr>
        <p:spPr>
          <a:xfrm>
            <a:off x="567170" y="4279190"/>
            <a:ext cx="8009655" cy="253916"/>
          </a:xfrm>
          <a:prstGeom prst="rect">
            <a:avLst/>
          </a:prstGeom>
          <a:solidFill>
            <a:srgbClr val="70AD4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/>
                </a:solidFill>
              </a:rPr>
              <a:t>Multi-Factor Doubles the Precision in Risk Premia Estimates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6F7A91-B3F9-8DD1-26F4-7358C4230898}"/>
              </a:ext>
            </a:extLst>
          </p:cNvPr>
          <p:cNvSpPr txBox="1"/>
          <p:nvPr/>
        </p:nvSpPr>
        <p:spPr>
          <a:xfrm>
            <a:off x="567171" y="1470343"/>
            <a:ext cx="8009655" cy="253916"/>
          </a:xfrm>
          <a:prstGeom prst="rect">
            <a:avLst/>
          </a:prstGeom>
          <a:solidFill>
            <a:srgbClr val="C00000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/>
                </a:solidFill>
              </a:rPr>
              <a:t>Single Factor Models Fail to Capture the Complex Investment Universe</a:t>
            </a:r>
          </a:p>
        </p:txBody>
      </p:sp>
    </p:spTree>
    <p:extLst>
      <p:ext uri="{BB962C8B-B14F-4D97-AF65-F5344CB8AC3E}">
        <p14:creationId xmlns:p14="http://schemas.microsoft.com/office/powerpoint/2010/main" val="905707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5D56-86AC-EF14-0DB2-D62181E36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6D4FCE-AD65-66BD-C89C-FE26FA1CC679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Better Understanding of Diversification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67CB25-0B57-3E8C-4FDB-59F6EC92F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4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7B93F1-299E-60F2-3D45-1C2DAE7A2597}"/>
              </a:ext>
            </a:extLst>
          </p:cNvPr>
          <p:cNvSpPr txBox="1"/>
          <p:nvPr/>
        </p:nvSpPr>
        <p:spPr>
          <a:xfrm>
            <a:off x="488949" y="1187449"/>
            <a:ext cx="3676650" cy="26280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/>
                </a:solidFill>
              </a:rPr>
              <a:t>Portfolio 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FA613B-E5C2-56F4-5A5F-E03A1C06EF09}"/>
              </a:ext>
            </a:extLst>
          </p:cNvPr>
          <p:cNvSpPr txBox="1"/>
          <p:nvPr/>
        </p:nvSpPr>
        <p:spPr>
          <a:xfrm>
            <a:off x="338291" y="622539"/>
            <a:ext cx="77473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rotesque Light" panose="020B0304020202020204" pitchFamily="34" charset="0"/>
              </a:rPr>
              <a:t>Leading to More Resilient Asset Allocations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1D4F196-6342-FE89-267B-B0FBD5EBC795}"/>
              </a:ext>
            </a:extLst>
          </p:cNvPr>
          <p:cNvSpPr/>
          <p:nvPr/>
        </p:nvSpPr>
        <p:spPr>
          <a:xfrm>
            <a:off x="488949" y="1187449"/>
            <a:ext cx="3676651" cy="428280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A0CE1A7-4E6C-2BB3-7764-0B729BB82250}"/>
              </a:ext>
            </a:extLst>
          </p:cNvPr>
          <p:cNvSpPr txBox="1"/>
          <p:nvPr/>
        </p:nvSpPr>
        <p:spPr>
          <a:xfrm>
            <a:off x="4921249" y="1187449"/>
            <a:ext cx="3676650" cy="26280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/>
                </a:solidFill>
              </a:rPr>
              <a:t>Portfolio B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93ECB96-65CC-9BFB-243B-57D7B6FF5A17}"/>
              </a:ext>
            </a:extLst>
          </p:cNvPr>
          <p:cNvSpPr/>
          <p:nvPr/>
        </p:nvSpPr>
        <p:spPr>
          <a:xfrm>
            <a:off x="4921249" y="1187449"/>
            <a:ext cx="3675600" cy="42840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F68117-76B1-D68E-7433-36EBC7B4FBC0}"/>
              </a:ext>
            </a:extLst>
          </p:cNvPr>
          <p:cNvSpPr txBox="1"/>
          <p:nvPr/>
        </p:nvSpPr>
        <p:spPr>
          <a:xfrm>
            <a:off x="488949" y="5224033"/>
            <a:ext cx="3676650" cy="253916"/>
          </a:xfrm>
          <a:prstGeom prst="rect">
            <a:avLst/>
          </a:prstGeom>
          <a:solidFill>
            <a:srgbClr val="C00000"/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50" dirty="0">
                <a:solidFill>
                  <a:schemeClr val="bg1"/>
                </a:solidFill>
              </a:rPr>
              <a:t>Asset Class Diversification Can Be Misleading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D1332EB-25AA-1ECF-C6A0-6C35533911AC}"/>
              </a:ext>
            </a:extLst>
          </p:cNvPr>
          <p:cNvSpPr txBox="1"/>
          <p:nvPr/>
        </p:nvSpPr>
        <p:spPr>
          <a:xfrm>
            <a:off x="4921249" y="5233287"/>
            <a:ext cx="3676650" cy="253916"/>
          </a:xfrm>
          <a:prstGeom prst="rect">
            <a:avLst/>
          </a:prstGeom>
          <a:solidFill>
            <a:srgbClr val="00B050"/>
          </a:solidFill>
          <a:ln w="31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50" dirty="0">
                <a:solidFill>
                  <a:schemeClr val="bg1"/>
                </a:solidFill>
                <a:latin typeface="+mj-lt"/>
              </a:rPr>
              <a:t>Factors Help Understand True Source of Diversification</a:t>
            </a:r>
            <a:endParaRPr lang="en-US" sz="105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8A4844-C761-3970-875F-9A670E1CF184}"/>
              </a:ext>
            </a:extLst>
          </p:cNvPr>
          <p:cNvSpPr txBox="1"/>
          <p:nvPr/>
        </p:nvSpPr>
        <p:spPr>
          <a:xfrm>
            <a:off x="488950" y="5776654"/>
            <a:ext cx="8107900" cy="430887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median case, the SAA portfolio would be expected to grow to around $373, in nominal terms, representing $74 additional growth over the reference portfolio over the 20-year horizon.</a:t>
            </a:r>
          </a:p>
        </p:txBody>
      </p:sp>
    </p:spTree>
    <p:extLst>
      <p:ext uri="{BB962C8B-B14F-4D97-AF65-F5344CB8AC3E}">
        <p14:creationId xmlns:p14="http://schemas.microsoft.com/office/powerpoint/2010/main" val="1936380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EE856-C901-FF68-A896-340EF470A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831C97-B8FD-ADED-555B-7172C37C91E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Risk and Return Analysis (USD Investor)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09CA8-8CF8-787E-AC3A-E8F964907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5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7DFE78-E2CF-5F9E-A512-6EC39A7B3DED}"/>
              </a:ext>
            </a:extLst>
          </p:cNvPr>
          <p:cNvSpPr txBox="1"/>
          <p:nvPr/>
        </p:nvSpPr>
        <p:spPr>
          <a:xfrm>
            <a:off x="302496" y="882671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8974C32-4970-CC9F-9D57-CA0C15EC9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383" y="1481415"/>
            <a:ext cx="3928075" cy="440447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FD7ED5A-0149-DE7A-471D-1A35A601E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01" y="1323087"/>
            <a:ext cx="3722009" cy="5033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71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58801-7EA8-BE34-422D-B22A73EB1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027511-E1A0-5646-C7ED-AF8203B013F3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Risk Decomposition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E685CE-0EE1-1E0B-DA0C-C6364AEA5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6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A5838C-5F0A-652C-7DD6-E355C383BC7F}"/>
              </a:ext>
            </a:extLst>
          </p:cNvPr>
          <p:cNvSpPr txBox="1"/>
          <p:nvPr/>
        </p:nvSpPr>
        <p:spPr>
          <a:xfrm>
            <a:off x="302496" y="958156"/>
            <a:ext cx="8539009" cy="261610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C65087-5F7A-9CC0-C4F8-18C39F468874}"/>
              </a:ext>
            </a:extLst>
          </p:cNvPr>
          <p:cNvSpPr txBox="1"/>
          <p:nvPr/>
        </p:nvSpPr>
        <p:spPr>
          <a:xfrm>
            <a:off x="302495" y="1282799"/>
            <a:ext cx="3998843" cy="261610"/>
          </a:xfrm>
          <a:prstGeom prst="rect">
            <a:avLst/>
          </a:prstGeom>
          <a:solidFill>
            <a:srgbClr val="7F94BA"/>
          </a:solidFill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j-lt"/>
              </a:rPr>
              <a:t>Risk Decomposition by Asset Class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CD0A72-9B7D-06B1-1085-AC7870394F3A}"/>
              </a:ext>
            </a:extLst>
          </p:cNvPr>
          <p:cNvSpPr txBox="1"/>
          <p:nvPr/>
        </p:nvSpPr>
        <p:spPr>
          <a:xfrm>
            <a:off x="4520794" y="1287779"/>
            <a:ext cx="4320711" cy="261610"/>
          </a:xfrm>
          <a:prstGeom prst="rect">
            <a:avLst/>
          </a:prstGeom>
          <a:solidFill>
            <a:srgbClr val="7F94BA"/>
          </a:solidFill>
          <a:ln w="63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j-lt"/>
              </a:rPr>
              <a:t>Risk Decomposition by FX Exposure</a:t>
            </a:r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7CF8B335-84BD-19F5-3C3B-2FFA69D008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97673696"/>
              </p:ext>
            </p:extLst>
          </p:nvPr>
        </p:nvGraphicFramePr>
        <p:xfrm>
          <a:off x="416530" y="1736036"/>
          <a:ext cx="3636661" cy="40097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Oval 10">
            <a:extLst>
              <a:ext uri="{FF2B5EF4-FFF2-40B4-BE49-F238E27FC236}">
                <a16:creationId xmlns:a16="http://schemas.microsoft.com/office/drawing/2014/main" id="{AB950D54-8C89-40B7-6CFD-0A37722B79D8}"/>
              </a:ext>
            </a:extLst>
          </p:cNvPr>
          <p:cNvSpPr/>
          <p:nvPr/>
        </p:nvSpPr>
        <p:spPr>
          <a:xfrm>
            <a:off x="3636659" y="4793607"/>
            <a:ext cx="337721" cy="28534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6BBF2552-DA96-5A44-9E94-D86247C862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52460897"/>
              </p:ext>
            </p:extLst>
          </p:nvPr>
        </p:nvGraphicFramePr>
        <p:xfrm>
          <a:off x="4429327" y="1801810"/>
          <a:ext cx="4202349" cy="17062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4DED66C-AE00-1949-59D0-B0455183828A}"/>
              </a:ext>
            </a:extLst>
          </p:cNvPr>
          <p:cNvSpPr txBox="1"/>
          <p:nvPr/>
        </p:nvSpPr>
        <p:spPr>
          <a:xfrm>
            <a:off x="4474723" y="3740108"/>
            <a:ext cx="4252747" cy="261610"/>
          </a:xfrm>
          <a:prstGeom prst="rect">
            <a:avLst/>
          </a:prstGeom>
          <a:solidFill>
            <a:srgbClr val="7F94BA"/>
          </a:solidFill>
          <a:ln w="3175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j-lt"/>
              </a:rPr>
              <a:t>Portfolio Risk Under Various Currency Hedging Scenarios</a:t>
            </a:r>
          </a:p>
        </p:txBody>
      </p:sp>
      <p:graphicFrame>
        <p:nvGraphicFramePr>
          <p:cNvPr id="17" name="Chart 16">
            <a:extLst>
              <a:ext uri="{FF2B5EF4-FFF2-40B4-BE49-F238E27FC236}">
                <a16:creationId xmlns:a16="http://schemas.microsoft.com/office/drawing/2014/main" id="{C86B274B-F430-D553-8FEB-31F4119C3A7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26017234"/>
              </p:ext>
            </p:extLst>
          </p:nvPr>
        </p:nvGraphicFramePr>
        <p:xfrm>
          <a:off x="4753583" y="4090061"/>
          <a:ext cx="3761767" cy="18097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6157E1D-4D6A-EAB3-8A6E-CFF040D370F2}"/>
              </a:ext>
            </a:extLst>
          </p:cNvPr>
          <p:cNvSpPr txBox="1"/>
          <p:nvPr/>
        </p:nvSpPr>
        <p:spPr>
          <a:xfrm>
            <a:off x="416530" y="6005883"/>
            <a:ext cx="8215146" cy="276999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171450" indent="-171450" algn="ctr">
              <a:buFont typeface="Arial" panose="020B0604020202020204" pitchFamily="34" charset="0"/>
              <a:buChar char="•"/>
              <a:defRPr sz="11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Concentrated Positions lead to portfolio fragility</a:t>
            </a:r>
          </a:p>
        </p:txBody>
      </p:sp>
    </p:spTree>
    <p:extLst>
      <p:ext uri="{BB962C8B-B14F-4D97-AF65-F5344CB8AC3E}">
        <p14:creationId xmlns:p14="http://schemas.microsoft.com/office/powerpoint/2010/main" val="941580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547D3-69BF-4848-16EB-8DEE57A55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C8BF4C-58D3-640F-09F0-4D52535DBB73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Factor Decomposition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7F7F53-E1DC-4655-0406-D90A95A7F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7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9C7B6A-B837-FD6A-860C-D92BDB577F97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rgbClr val="151824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4C6099-039A-C340-A268-BD7F3DF29FB2}"/>
              </a:ext>
            </a:extLst>
          </p:cNvPr>
          <p:cNvSpPr txBox="1"/>
          <p:nvPr/>
        </p:nvSpPr>
        <p:spPr>
          <a:xfrm>
            <a:off x="302495" y="1243889"/>
            <a:ext cx="3998843" cy="276999"/>
          </a:xfrm>
          <a:prstGeom prst="rect">
            <a:avLst/>
          </a:prstGeom>
          <a:solidFill>
            <a:srgbClr val="7F94BA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Return Decomposition by Factor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6F0554-EBD5-6754-F517-9DE8E5BC07FB}"/>
              </a:ext>
            </a:extLst>
          </p:cNvPr>
          <p:cNvSpPr txBox="1"/>
          <p:nvPr/>
        </p:nvSpPr>
        <p:spPr>
          <a:xfrm>
            <a:off x="4520794" y="1235899"/>
            <a:ext cx="4320711" cy="276999"/>
          </a:xfrm>
          <a:prstGeom prst="rect">
            <a:avLst/>
          </a:prstGeom>
          <a:solidFill>
            <a:srgbClr val="7F94BA"/>
          </a:solidFill>
          <a:ln w="635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Risk Decomposition by Factor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749A33-B461-C8E7-3264-E3F6593343D5}"/>
              </a:ext>
            </a:extLst>
          </p:cNvPr>
          <p:cNvSpPr txBox="1"/>
          <p:nvPr/>
        </p:nvSpPr>
        <p:spPr>
          <a:xfrm>
            <a:off x="656353" y="5869623"/>
            <a:ext cx="7831295" cy="430887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171450" indent="-171450" algn="ctr">
              <a:buFont typeface="Arial" panose="020B0604020202020204" pitchFamily="34" charset="0"/>
              <a:buChar char="•"/>
              <a:defRPr sz="11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Concentrated positions make portfolios more susceptible to shocks. Close to 50% of the portfolio volatility is driven by exposure to US equities.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B9802A8-594D-AEE9-98F2-701F267832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3920205"/>
              </p:ext>
            </p:extLst>
          </p:nvPr>
        </p:nvGraphicFramePr>
        <p:xfrm>
          <a:off x="412480" y="1643239"/>
          <a:ext cx="3799499" cy="40078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695BF73-C10A-664E-8C63-150ADD6B80E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27159626"/>
              </p:ext>
            </p:extLst>
          </p:nvPr>
        </p:nvGraphicFramePr>
        <p:xfrm>
          <a:off x="4572000" y="1643240"/>
          <a:ext cx="4050323" cy="40078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18413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ED990-EDA5-93B9-1247-B2BA65E01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00000000-0008-0000-0400-00000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0916663"/>
              </p:ext>
            </p:extLst>
          </p:nvPr>
        </p:nvGraphicFramePr>
        <p:xfrm>
          <a:off x="338291" y="1451869"/>
          <a:ext cx="6027608" cy="40135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E44CBF-18DD-FBF1-51FE-E19366F1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8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721431-2CC8-123C-C694-FD7352C7CCC7}"/>
              </a:ext>
            </a:extLst>
          </p:cNvPr>
          <p:cNvSpPr txBox="1"/>
          <p:nvPr/>
        </p:nvSpPr>
        <p:spPr>
          <a:xfrm>
            <a:off x="302496" y="1023947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Portfolio Wealth Illustrations – Evolution of </a:t>
            </a:r>
            <a:r>
              <a:rPr lang="en-US" sz="1200" b="1" dirty="0">
                <a:solidFill>
                  <a:srgbClr val="FFFF00"/>
                </a:solidFill>
                <a:latin typeface="+mj-lt"/>
              </a:rPr>
              <a:t>Nominal</a:t>
            </a:r>
            <a:r>
              <a:rPr lang="en-US" sz="1200" b="1" dirty="0">
                <a:solidFill>
                  <a:schemeClr val="bg1"/>
                </a:solidFill>
                <a:latin typeface="+mj-lt"/>
              </a:rPr>
              <a:t> Portfolio Value Paths</a:t>
            </a:r>
            <a:endParaRPr lang="en-US" sz="1200" b="1" dirty="0">
              <a:solidFill>
                <a:srgbClr val="FFFF00"/>
              </a:solidFill>
              <a:latin typeface="+mj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BECEF5-8C2E-0B67-5638-CF5F6375D00B}"/>
              </a:ext>
            </a:extLst>
          </p:cNvPr>
          <p:cNvSpPr txBox="1"/>
          <p:nvPr/>
        </p:nvSpPr>
        <p:spPr>
          <a:xfrm>
            <a:off x="6702254" y="3487370"/>
            <a:ext cx="20573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Reference Portfolio Median Case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6050885-67A2-1CA1-F36C-E38993B1A687}"/>
              </a:ext>
            </a:extLst>
          </p:cNvPr>
          <p:cNvCxnSpPr/>
          <p:nvPr/>
        </p:nvCxnSpPr>
        <p:spPr>
          <a:xfrm flipH="1">
            <a:off x="6442679" y="3603501"/>
            <a:ext cx="22336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436186C-024D-7652-ADED-5A90AE8DEFBE}"/>
              </a:ext>
            </a:extLst>
          </p:cNvPr>
          <p:cNvSpPr txBox="1"/>
          <p:nvPr/>
        </p:nvSpPr>
        <p:spPr>
          <a:xfrm>
            <a:off x="6702254" y="3183584"/>
            <a:ext cx="20573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SAA Portfolio Median Case </a:t>
            </a:r>
            <a:r>
              <a:rPr lang="en-US" sz="1000" dirty="0">
                <a:solidFill>
                  <a:srgbClr val="7CC04D"/>
                </a:solidFill>
              </a:rPr>
              <a:t>(+74mn)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25912D7-CFD8-EE30-39EB-9BF033520932}"/>
              </a:ext>
            </a:extLst>
          </p:cNvPr>
          <p:cNvCxnSpPr/>
          <p:nvPr/>
        </p:nvCxnSpPr>
        <p:spPr>
          <a:xfrm flipH="1">
            <a:off x="6442679" y="3299715"/>
            <a:ext cx="22336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1BF37A9-8B5D-F983-1FC3-258D70E7A3FF}"/>
              </a:ext>
            </a:extLst>
          </p:cNvPr>
          <p:cNvSpPr txBox="1"/>
          <p:nvPr/>
        </p:nvSpPr>
        <p:spPr>
          <a:xfrm>
            <a:off x="781997" y="5537147"/>
            <a:ext cx="7831295" cy="769441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median case, the SAA portfolio would be expected to grow to around $373, in nominal terms, representing $74 additional growth over the reference portfolio over the 20-year horizon.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1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very bad case, the portfolio would still be expected to grow in nominal terms.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901AA9-D0BE-D819-A9C8-11348B06BC8C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Wealth Simulation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936D7F-89B8-C8B5-D050-7B14494E386D}"/>
              </a:ext>
            </a:extLst>
          </p:cNvPr>
          <p:cNvSpPr txBox="1"/>
          <p:nvPr/>
        </p:nvSpPr>
        <p:spPr>
          <a:xfrm>
            <a:off x="33829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Currency: USD. No Inflows or Outflows</a:t>
            </a:r>
          </a:p>
        </p:txBody>
      </p:sp>
    </p:spTree>
    <p:extLst>
      <p:ext uri="{BB962C8B-B14F-4D97-AF65-F5344CB8AC3E}">
        <p14:creationId xmlns:p14="http://schemas.microsoft.com/office/powerpoint/2010/main" val="2893091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79B18-5C03-7DE4-C300-C1716C05D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CFDCE1-07E4-B909-469A-36982C8D7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9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705782-CDF8-C9FF-834B-0B4607B4047C}"/>
              </a:ext>
            </a:extLst>
          </p:cNvPr>
          <p:cNvSpPr txBox="1"/>
          <p:nvPr/>
        </p:nvSpPr>
        <p:spPr>
          <a:xfrm>
            <a:off x="302496" y="1023947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Portfolio Wealth Illustrations – Distribution of Portfolio Returns </a:t>
            </a:r>
            <a:r>
              <a:rPr lang="en-US" sz="1200" b="1" dirty="0">
                <a:solidFill>
                  <a:srgbClr val="FFFF00"/>
                </a:solidFill>
                <a:latin typeface="+mj-lt"/>
              </a:rPr>
              <a:t>by Inflation Quintile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202164-536E-8FEC-A647-5FD92464C3C3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Wealth Simulation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896E5E-B1FD-B31A-2B67-6B2EFB027C1C}"/>
              </a:ext>
            </a:extLst>
          </p:cNvPr>
          <p:cNvSpPr txBox="1"/>
          <p:nvPr/>
        </p:nvSpPr>
        <p:spPr>
          <a:xfrm>
            <a:off x="338291" y="58860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Currency: USD. No Inflows or Outflows</a:t>
            </a:r>
          </a:p>
        </p:txBody>
      </p:sp>
    </p:spTree>
    <p:extLst>
      <p:ext uri="{BB962C8B-B14F-4D97-AF65-F5344CB8AC3E}">
        <p14:creationId xmlns:p14="http://schemas.microsoft.com/office/powerpoint/2010/main" val="2930918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06753-B0B4-376E-9014-32E18E3B9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CF33C7-9276-F324-2DCB-69624477106F}"/>
              </a:ext>
            </a:extLst>
          </p:cNvPr>
          <p:cNvSpPr txBox="1"/>
          <p:nvPr/>
        </p:nvSpPr>
        <p:spPr>
          <a:xfrm>
            <a:off x="338291" y="23326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Capital Preservation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038BE7-3B18-47CF-2761-808EA3350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10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6090D4-F37F-CE20-B207-BD276D0E5E63}"/>
              </a:ext>
            </a:extLst>
          </p:cNvPr>
          <p:cNvSpPr txBox="1"/>
          <p:nvPr/>
        </p:nvSpPr>
        <p:spPr>
          <a:xfrm>
            <a:off x="302496" y="940186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Portfolio Wealth Illustrations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BA0733-B160-F21F-F7CC-59D810F719E8}"/>
              </a:ext>
            </a:extLst>
          </p:cNvPr>
          <p:cNvSpPr txBox="1"/>
          <p:nvPr/>
        </p:nvSpPr>
        <p:spPr>
          <a:xfrm>
            <a:off x="338291" y="567664"/>
            <a:ext cx="7747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Grotesque Light" panose="020B0304020202020204" pitchFamily="34" charset="0"/>
              </a:rPr>
              <a:t>Currency: USD. 5.5 Million Yearly Spend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48886F-8D60-E291-30E0-633BA85B9EC4}"/>
              </a:ext>
            </a:extLst>
          </p:cNvPr>
          <p:cNvSpPr txBox="1"/>
          <p:nvPr/>
        </p:nvSpPr>
        <p:spPr>
          <a:xfrm>
            <a:off x="781997" y="5606947"/>
            <a:ext cx="7831295" cy="600164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With a spend of $5.5mm per year, some amount of real capital destruction would be expected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1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very bad case, the portfolio could experience full capital depletion within the 20-year investment horizon.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F78CF40-D4D8-9660-A548-E92F41683D22}"/>
              </a:ext>
            </a:extLst>
          </p:cNvPr>
          <p:cNvGrpSpPr/>
          <p:nvPr/>
        </p:nvGrpSpPr>
        <p:grpSpPr>
          <a:xfrm>
            <a:off x="302495" y="1642010"/>
            <a:ext cx="8539009" cy="3797339"/>
            <a:chOff x="302495" y="1530330"/>
            <a:chExt cx="8539009" cy="3797339"/>
          </a:xfrm>
        </p:grpSpPr>
        <p:graphicFrame>
          <p:nvGraphicFramePr>
            <p:cNvPr id="11" name="Chart 10">
              <a:extLst>
                <a:ext uri="{FF2B5EF4-FFF2-40B4-BE49-F238E27FC236}">
                  <a16:creationId xmlns:a16="http://schemas.microsoft.com/office/drawing/2014/main" id="{00000000-0008-0000-0A00-00000400000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383884479"/>
                </p:ext>
              </p:extLst>
            </p:nvPr>
          </p:nvGraphicFramePr>
          <p:xfrm>
            <a:off x="302495" y="1530330"/>
            <a:ext cx="8539009" cy="373152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12" name="Chart 11">
              <a:extLst>
                <a:ext uri="{FF2B5EF4-FFF2-40B4-BE49-F238E27FC236}">
                  <a16:creationId xmlns:a16="http://schemas.microsoft.com/office/drawing/2014/main" id="{00000000-0008-0000-0A00-00000200000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322794641"/>
                </p:ext>
              </p:extLst>
            </p:nvPr>
          </p:nvGraphicFramePr>
          <p:xfrm>
            <a:off x="4572000" y="1604152"/>
            <a:ext cx="4194356" cy="372351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A58B946-1E66-5757-23B5-C88CFA7B8CCC}"/>
              </a:ext>
            </a:extLst>
          </p:cNvPr>
          <p:cNvSpPr txBox="1"/>
          <p:nvPr/>
        </p:nvSpPr>
        <p:spPr>
          <a:xfrm>
            <a:off x="302495" y="1264829"/>
            <a:ext cx="3998843" cy="252000"/>
          </a:xfrm>
          <a:prstGeom prst="rect">
            <a:avLst/>
          </a:prstGeom>
          <a:solidFill>
            <a:srgbClr val="7F94BA"/>
          </a:solidFill>
          <a:ln w="3175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Portfolio Value Paths, Adjusted for Inflation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F41FD-7777-AE1B-F2E4-708DDEF2DFBD}"/>
              </a:ext>
            </a:extLst>
          </p:cNvPr>
          <p:cNvSpPr txBox="1"/>
          <p:nvPr/>
        </p:nvSpPr>
        <p:spPr>
          <a:xfrm>
            <a:off x="4520794" y="1270799"/>
            <a:ext cx="4320711" cy="252000"/>
          </a:xfrm>
          <a:prstGeom prst="rect">
            <a:avLst/>
          </a:prstGeom>
          <a:solidFill>
            <a:srgbClr val="7F94BA"/>
          </a:solidFill>
          <a:ln w="3175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Yearly Real Outflow Quantiles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3BDF97-9B99-2D27-41D9-DEC946834A66}"/>
              </a:ext>
            </a:extLst>
          </p:cNvPr>
          <p:cNvSpPr/>
          <p:nvPr/>
        </p:nvSpPr>
        <p:spPr>
          <a:xfrm>
            <a:off x="4069429" y="3706461"/>
            <a:ext cx="328067" cy="3141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E86B78B-78CC-57BB-7545-15F07EA2C1BC}"/>
              </a:ext>
            </a:extLst>
          </p:cNvPr>
          <p:cNvCxnSpPr/>
          <p:nvPr/>
        </p:nvCxnSpPr>
        <p:spPr>
          <a:xfrm>
            <a:off x="949301" y="3587798"/>
            <a:ext cx="335203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6202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47BA1-F357-E0B7-CABB-755AE6473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CC15D3C2-5CA1-C2CB-08BA-53429653B7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81687004"/>
              </p:ext>
            </p:extLst>
          </p:nvPr>
        </p:nvGraphicFramePr>
        <p:xfrm>
          <a:off x="506415" y="1394134"/>
          <a:ext cx="8131170" cy="42269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040C3-DBCE-44EA-1E31-B426D2AE916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Probability of Wealth Preservation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22878-CDA2-8B4C-B883-731A32609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11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7F05CC-8F1F-EA77-0228-AE616BC5229B}"/>
              </a:ext>
            </a:extLst>
          </p:cNvPr>
          <p:cNvSpPr txBox="1"/>
          <p:nvPr/>
        </p:nvSpPr>
        <p:spPr>
          <a:xfrm>
            <a:off x="302496" y="982066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Portfolio Wealth Illustrations – Probability of </a:t>
            </a:r>
            <a:r>
              <a:rPr lang="en-US" sz="1200" b="1" dirty="0">
                <a:solidFill>
                  <a:srgbClr val="FFFF00"/>
                </a:solidFill>
                <a:latin typeface="+mj-lt"/>
              </a:rPr>
              <a:t>Real Wealth Preservation </a:t>
            </a:r>
            <a:r>
              <a:rPr lang="en-US" sz="1200" b="1" dirty="0">
                <a:solidFill>
                  <a:schemeClr val="bg1"/>
                </a:solidFill>
                <a:latin typeface="+mj-lt"/>
              </a:rPr>
              <a:t>Across Spending Levels</a:t>
            </a:r>
            <a:endParaRPr lang="en-US" sz="1200" b="1" dirty="0">
              <a:solidFill>
                <a:srgbClr val="FFFF00"/>
              </a:solidFill>
              <a:latin typeface="+mj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20E49B-4298-6478-3440-3F151A56BC66}"/>
              </a:ext>
            </a:extLst>
          </p:cNvPr>
          <p:cNvSpPr txBox="1"/>
          <p:nvPr/>
        </p:nvSpPr>
        <p:spPr>
          <a:xfrm>
            <a:off x="768037" y="5756187"/>
            <a:ext cx="7831295" cy="600164"/>
          </a:xfrm>
          <a:prstGeom prst="rect">
            <a:avLst/>
          </a:prstGeom>
          <a:noFill/>
          <a:ln w="6350"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With a spend of $5.5mm per year, some amount of real capital destruction would be expected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1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100" dirty="0">
                <a:latin typeface="Calibri Light" panose="020F0302020204030204" pitchFamily="34" charset="0"/>
                <a:cs typeface="Calibri Light" panose="020F0302020204030204" pitchFamily="34" charset="0"/>
              </a:rPr>
              <a:t>In the very bad case, the portfolio could experience full capital depletion within the 20-year investment horizon.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7D334C0-FFCA-96A4-A6A0-0C57C89EAA6B}"/>
              </a:ext>
            </a:extLst>
          </p:cNvPr>
          <p:cNvCxnSpPr>
            <a:cxnSpLocks/>
          </p:cNvCxnSpPr>
          <p:nvPr/>
        </p:nvCxnSpPr>
        <p:spPr>
          <a:xfrm>
            <a:off x="1047022" y="3371414"/>
            <a:ext cx="740594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3247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AE7AB-3BA2-EB9A-40E3-B4974B1F0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A8FE67-AF09-F39A-85D4-C6541A9F65F0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Yield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0981A1-756B-9B87-80F3-945C31762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12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498BBE-9EFF-A4C1-6BF5-3F50123268F9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</p:spTree>
    <p:extLst>
      <p:ext uri="{BB962C8B-B14F-4D97-AF65-F5344CB8AC3E}">
        <p14:creationId xmlns:p14="http://schemas.microsoft.com/office/powerpoint/2010/main" val="2603843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62DE5-188A-AA6F-1724-32202943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B8CB784-6E4A-CCB1-7CC8-366C54608587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Portfolio Optimizations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0F9A17-DAEA-DF2D-9AD2-FE75D6D6B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13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6E708E-21BC-2282-9A13-2E5E58584EE4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</p:spTree>
    <p:extLst>
      <p:ext uri="{BB962C8B-B14F-4D97-AF65-F5344CB8AC3E}">
        <p14:creationId xmlns:p14="http://schemas.microsoft.com/office/powerpoint/2010/main" val="25184504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89C3F-D813-D027-1F00-1244E8081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722C5C-6D00-0F8E-A832-8C317339ADDF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Concentrated Equity Positions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9DE2CE-BEB5-C2D1-FCD8-2CEEC6C71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14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A2B41A-189A-6BFF-155D-4DBF5DF27FA6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</p:spTree>
    <p:extLst>
      <p:ext uri="{BB962C8B-B14F-4D97-AF65-F5344CB8AC3E}">
        <p14:creationId xmlns:p14="http://schemas.microsoft.com/office/powerpoint/2010/main" val="1790541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46D20-315D-F555-9389-750903EEC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A19030-9CE5-76E5-87FC-7FAA5049DD76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Diversifying Concentrated Equity Positions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7F2D7A-83F3-223D-8BBA-89BD7DFE4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15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F7DCD7-C1DF-277F-5BAE-99341680140D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</p:spTree>
    <p:extLst>
      <p:ext uri="{BB962C8B-B14F-4D97-AF65-F5344CB8AC3E}">
        <p14:creationId xmlns:p14="http://schemas.microsoft.com/office/powerpoint/2010/main" val="2684931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8E2A9-B068-2D8B-D3C3-FB0F3CBF9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B1ECD1-6320-2DBE-194E-1890AAD3A561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Optimizing Around Leverage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90E6E-AB34-363D-56C9-5148B5C31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16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78AD09-1790-4E2A-F252-079321639212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</p:spTree>
    <p:extLst>
      <p:ext uri="{BB962C8B-B14F-4D97-AF65-F5344CB8AC3E}">
        <p14:creationId xmlns:p14="http://schemas.microsoft.com/office/powerpoint/2010/main" val="1121902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0D355-1B48-CC9B-F75E-2A2142FF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AECA0EC-B52A-EC6D-2619-DBC2F7211A2A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Analyzing the Impact of Structured Notes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803CAA-76E4-E929-7F38-A5727D9EA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17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08CD30-0C0D-43AD-2D5B-C0E0C92DFB09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</p:spTree>
    <p:extLst>
      <p:ext uri="{BB962C8B-B14F-4D97-AF65-F5344CB8AC3E}">
        <p14:creationId xmlns:p14="http://schemas.microsoft.com/office/powerpoint/2010/main" val="1990234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B5422-98E0-D915-543E-D436A9AE5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625851-F13A-ED92-665D-79EB66EBCD0C}"/>
              </a:ext>
            </a:extLst>
          </p:cNvPr>
          <p:cNvSpPr txBox="1"/>
          <p:nvPr/>
        </p:nvSpPr>
        <p:spPr>
          <a:xfrm>
            <a:off x="338291" y="289102"/>
            <a:ext cx="7747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Grotesque Light" panose="020B0304020202020204" pitchFamily="34" charset="0"/>
              </a:rPr>
              <a:t>Parking Uncalled Capital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B2B4CA-3058-D110-E9EB-D0E79DC5A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47A49E-DC7B-E44E-B81C-A7ED720E17C2}" type="slidenum">
              <a:rPr lang="en-US" smtClean="0"/>
              <a:t>18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167B6A-E382-AC54-8DB9-04A5431C45CA}"/>
              </a:ext>
            </a:extLst>
          </p:cNvPr>
          <p:cNvSpPr txBox="1"/>
          <p:nvPr/>
        </p:nvSpPr>
        <p:spPr>
          <a:xfrm>
            <a:off x="302496" y="919246"/>
            <a:ext cx="8539009" cy="276999"/>
          </a:xfrm>
          <a:prstGeom prst="rect">
            <a:avLst/>
          </a:prstGeom>
          <a:solidFill>
            <a:srgbClr val="151824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  <a:latin typeface="+mj-lt"/>
              </a:rPr>
              <a:t>Forward Looking Portfolio Risk and Return Analytics </a:t>
            </a:r>
          </a:p>
        </p:txBody>
      </p:sp>
    </p:spTree>
    <p:extLst>
      <p:ext uri="{BB962C8B-B14F-4D97-AF65-F5344CB8AC3E}">
        <p14:creationId xmlns:p14="http://schemas.microsoft.com/office/powerpoint/2010/main" val="2407201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10288</TotalTime>
  <Words>658</Words>
  <Application>Microsoft Macintosh PowerPoint</Application>
  <PresentationFormat>On-screen Show (4:3)</PresentationFormat>
  <Paragraphs>118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Grotesque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Francis Barker</dc:creator>
  <cp:lastModifiedBy>Francis Barker</cp:lastModifiedBy>
  <cp:revision>34</cp:revision>
  <dcterms:created xsi:type="dcterms:W3CDTF">2024-02-09T09:35:44Z</dcterms:created>
  <dcterms:modified xsi:type="dcterms:W3CDTF">2025-06-30T18:46:06Z</dcterms:modified>
</cp:coreProperties>
</file>