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72" r:id="rId2"/>
    <p:sldId id="256" r:id="rId3"/>
    <p:sldId id="284" r:id="rId4"/>
    <p:sldId id="283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7D9BD3"/>
    <a:srgbClr val="151824"/>
    <a:srgbClr val="7395D3"/>
    <a:srgbClr val="000D67"/>
    <a:srgbClr val="A8B2BC"/>
    <a:srgbClr val="ADB9CA"/>
    <a:srgbClr val="7CC04D"/>
    <a:srgbClr val="0B0D37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78"/>
    <p:restoredTop sz="94639"/>
  </p:normalViewPr>
  <p:slideViewPr>
    <p:cSldViewPr snapToGrid="0">
      <p:cViewPr>
        <p:scale>
          <a:sx n="200" d="100"/>
          <a:sy n="200" d="100"/>
        </p:scale>
        <p:origin x="22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dkUpDiag">
                <a:fgClr>
                  <a:schemeClr val="tx2">
                    <a:lumMod val="20000"/>
                    <a:lumOff val="80000"/>
                  </a:schemeClr>
                </a:fgClr>
                <a:bgClr>
                  <a:srgbClr val="16537D"/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F86-F244-85C1-474F3562038C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658E00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F86-F244-85C1-474F3562038C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rgbClr val="B3783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F86-F244-85C1-474F3562038C}"/>
              </c:ext>
            </c:extLst>
          </c:dPt>
          <c:dPt>
            <c:idx val="4"/>
            <c:invertIfNegative val="0"/>
            <c:bubble3D val="0"/>
            <c:spPr>
              <a:pattFill prst="plaid">
                <a:fgClr>
                  <a:schemeClr val="bg1">
                    <a:lumMod val="95000"/>
                  </a:schemeClr>
                </a:fgClr>
                <a:bgClr>
                  <a:schemeClr val="tx1">
                    <a:lumMod val="50000"/>
                    <a:lumOff val="5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F86-F244-85C1-474F3562038C}"/>
              </c:ext>
            </c:extLst>
          </c:dPt>
          <c:dPt>
            <c:idx val="5"/>
            <c:invertIfNegative val="0"/>
            <c:bubble3D val="0"/>
            <c:spPr>
              <a:pattFill prst="solidDmnd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F86-F244-85C1-474F3562038C}"/>
              </c:ext>
            </c:extLst>
          </c:dPt>
          <c:dPt>
            <c:idx val="6"/>
            <c:invertIfNegative val="0"/>
            <c:bubble3D val="0"/>
            <c:spPr>
              <a:pattFill prst="smCheck">
                <a:fgClr>
                  <a:srgbClr val="DDA500"/>
                </a:fgClr>
                <a:bgClr>
                  <a:schemeClr val="accent6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F86-F244-85C1-474F3562038C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F86-F244-85C1-474F356203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95615184"/>
        <c:axId val="344716032"/>
      </c:barChart>
      <c:catAx>
        <c:axId val="295615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tickMarkSkip val="8"/>
        <c:noMultiLvlLbl val="0"/>
      </c:catAx>
      <c:valAx>
        <c:axId val="344716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dkUpDiag">
                <a:fgClr>
                  <a:schemeClr val="tx2">
                    <a:lumMod val="20000"/>
                    <a:lumOff val="80000"/>
                  </a:schemeClr>
                </a:fgClr>
                <a:bgClr>
                  <a:srgbClr val="16537D"/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97-1042-B22E-0CBC1E853EAB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658E00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97-1042-B22E-0CBC1E853EAB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rgbClr val="B3783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997-1042-B22E-0CBC1E853EAB}"/>
              </c:ext>
            </c:extLst>
          </c:dPt>
          <c:dPt>
            <c:idx val="4"/>
            <c:invertIfNegative val="0"/>
            <c:bubble3D val="0"/>
            <c:spPr>
              <a:pattFill prst="plaid">
                <a:fgClr>
                  <a:schemeClr val="bg1">
                    <a:lumMod val="95000"/>
                  </a:schemeClr>
                </a:fgClr>
                <a:bgClr>
                  <a:schemeClr val="tx1">
                    <a:lumMod val="50000"/>
                    <a:lumOff val="5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997-1042-B22E-0CBC1E853EAB}"/>
              </c:ext>
            </c:extLst>
          </c:dPt>
          <c:dPt>
            <c:idx val="5"/>
            <c:invertIfNegative val="0"/>
            <c:bubble3D val="0"/>
            <c:spPr>
              <a:pattFill prst="solidDmnd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997-1042-B22E-0CBC1E853EAB}"/>
              </c:ext>
            </c:extLst>
          </c:dPt>
          <c:dPt>
            <c:idx val="6"/>
            <c:invertIfNegative val="0"/>
            <c:bubble3D val="0"/>
            <c:spPr>
              <a:pattFill prst="smCheck">
                <a:fgClr>
                  <a:srgbClr val="DDA500"/>
                </a:fgClr>
                <a:bgClr>
                  <a:schemeClr val="accent6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997-1042-B22E-0CBC1E853EAB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997-1042-B22E-0CBC1E853E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95615184"/>
        <c:axId val="344716032"/>
      </c:barChart>
      <c:catAx>
        <c:axId val="295615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tickMarkSkip val="8"/>
        <c:noMultiLvlLbl val="0"/>
      </c:catAx>
      <c:valAx>
        <c:axId val="344716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dkUpDiag">
                <a:fgClr>
                  <a:schemeClr val="tx2">
                    <a:lumMod val="20000"/>
                    <a:lumOff val="80000"/>
                  </a:schemeClr>
                </a:fgClr>
                <a:bgClr>
                  <a:srgbClr val="16537D"/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02-A24A-8EFE-C21655D98D06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658E00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02-A24A-8EFE-C21655D98D06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rgbClr val="B3783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D02-A24A-8EFE-C21655D98D06}"/>
              </c:ext>
            </c:extLst>
          </c:dPt>
          <c:dPt>
            <c:idx val="4"/>
            <c:invertIfNegative val="0"/>
            <c:bubble3D val="0"/>
            <c:spPr>
              <a:pattFill prst="plaid">
                <a:fgClr>
                  <a:schemeClr val="bg1">
                    <a:lumMod val="95000"/>
                  </a:schemeClr>
                </a:fgClr>
                <a:bgClr>
                  <a:schemeClr val="tx1">
                    <a:lumMod val="50000"/>
                    <a:lumOff val="5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D02-A24A-8EFE-C21655D98D06}"/>
              </c:ext>
            </c:extLst>
          </c:dPt>
          <c:dPt>
            <c:idx val="5"/>
            <c:invertIfNegative val="0"/>
            <c:bubble3D val="0"/>
            <c:spPr>
              <a:pattFill prst="solidDmnd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D02-A24A-8EFE-C21655D98D06}"/>
              </c:ext>
            </c:extLst>
          </c:dPt>
          <c:dPt>
            <c:idx val="6"/>
            <c:invertIfNegative val="0"/>
            <c:bubble3D val="0"/>
            <c:spPr>
              <a:pattFill prst="smCheck">
                <a:fgClr>
                  <a:srgbClr val="DDA500"/>
                </a:fgClr>
                <a:bgClr>
                  <a:schemeClr val="accent6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D02-A24A-8EFE-C21655D98D06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D02-A24A-8EFE-C21655D98D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95615184"/>
        <c:axId val="344716032"/>
      </c:barChart>
      <c:catAx>
        <c:axId val="295615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tickMarkSkip val="8"/>
        <c:noMultiLvlLbl val="0"/>
      </c:catAx>
      <c:valAx>
        <c:axId val="344716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dkUpDiag">
                <a:fgClr>
                  <a:schemeClr val="tx2">
                    <a:lumMod val="20000"/>
                    <a:lumOff val="80000"/>
                  </a:schemeClr>
                </a:fgClr>
                <a:bgClr>
                  <a:srgbClr val="16537D"/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88-684F-886E-9C79A7C16C1A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658E00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88-684F-886E-9C79A7C16C1A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rgbClr val="B3783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88-684F-886E-9C79A7C16C1A}"/>
              </c:ext>
            </c:extLst>
          </c:dPt>
          <c:dPt>
            <c:idx val="4"/>
            <c:invertIfNegative val="0"/>
            <c:bubble3D val="0"/>
            <c:spPr>
              <a:pattFill prst="plaid">
                <a:fgClr>
                  <a:schemeClr val="bg1">
                    <a:lumMod val="95000"/>
                  </a:schemeClr>
                </a:fgClr>
                <a:bgClr>
                  <a:schemeClr val="tx1">
                    <a:lumMod val="50000"/>
                    <a:lumOff val="5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388-684F-886E-9C79A7C16C1A}"/>
              </c:ext>
            </c:extLst>
          </c:dPt>
          <c:dPt>
            <c:idx val="5"/>
            <c:invertIfNegative val="0"/>
            <c:bubble3D val="0"/>
            <c:spPr>
              <a:pattFill prst="solidDmnd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388-684F-886E-9C79A7C16C1A}"/>
              </c:ext>
            </c:extLst>
          </c:dPt>
          <c:dPt>
            <c:idx val="6"/>
            <c:invertIfNegative val="0"/>
            <c:bubble3D val="0"/>
            <c:spPr>
              <a:pattFill prst="smCheck">
                <a:fgClr>
                  <a:srgbClr val="DDA500"/>
                </a:fgClr>
                <a:bgClr>
                  <a:schemeClr val="accent6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388-684F-886E-9C79A7C16C1A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388-684F-886E-9C79A7C16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95615184"/>
        <c:axId val="344716032"/>
      </c:barChart>
      <c:catAx>
        <c:axId val="295615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tickMarkSkip val="8"/>
        <c:noMultiLvlLbl val="0"/>
      </c:catAx>
      <c:valAx>
        <c:axId val="344716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dkUpDiag">
                <a:fgClr>
                  <a:schemeClr val="tx2">
                    <a:lumMod val="20000"/>
                    <a:lumOff val="80000"/>
                  </a:schemeClr>
                </a:fgClr>
                <a:bgClr>
                  <a:srgbClr val="16537D"/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4F-4248-AE92-8D9C3261DEEA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658E00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4F-4248-AE92-8D9C3261DEEA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rgbClr val="B3783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44F-4248-AE92-8D9C3261DEEA}"/>
              </c:ext>
            </c:extLst>
          </c:dPt>
          <c:dPt>
            <c:idx val="4"/>
            <c:invertIfNegative val="0"/>
            <c:bubble3D val="0"/>
            <c:spPr>
              <a:pattFill prst="plaid">
                <a:fgClr>
                  <a:schemeClr val="bg1">
                    <a:lumMod val="95000"/>
                  </a:schemeClr>
                </a:fgClr>
                <a:bgClr>
                  <a:schemeClr val="tx1">
                    <a:lumMod val="50000"/>
                    <a:lumOff val="5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44F-4248-AE92-8D9C3261DEEA}"/>
              </c:ext>
            </c:extLst>
          </c:dPt>
          <c:dPt>
            <c:idx val="5"/>
            <c:invertIfNegative val="0"/>
            <c:bubble3D val="0"/>
            <c:spPr>
              <a:pattFill prst="solidDmnd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44F-4248-AE92-8D9C3261DEEA}"/>
              </c:ext>
            </c:extLst>
          </c:dPt>
          <c:dPt>
            <c:idx val="6"/>
            <c:invertIfNegative val="0"/>
            <c:bubble3D val="0"/>
            <c:spPr>
              <a:pattFill prst="smCheck">
                <a:fgClr>
                  <a:srgbClr val="DDA500"/>
                </a:fgClr>
                <a:bgClr>
                  <a:schemeClr val="accent6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44F-4248-AE92-8D9C3261DEEA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44F-4248-AE92-8D9C3261D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95615184"/>
        <c:axId val="344716032"/>
      </c:barChart>
      <c:catAx>
        <c:axId val="295615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tickMarkSkip val="8"/>
        <c:noMultiLvlLbl val="0"/>
      </c:catAx>
      <c:valAx>
        <c:axId val="344716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dkUpDiag">
                <a:fgClr>
                  <a:schemeClr val="tx2">
                    <a:lumMod val="20000"/>
                    <a:lumOff val="80000"/>
                  </a:schemeClr>
                </a:fgClr>
                <a:bgClr>
                  <a:srgbClr val="16537D"/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E7-A34F-8E37-374647514286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658E00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E7-A34F-8E37-374647514286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rgbClr val="B3783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8E7-A34F-8E37-374647514286}"/>
              </c:ext>
            </c:extLst>
          </c:dPt>
          <c:dPt>
            <c:idx val="4"/>
            <c:invertIfNegative val="0"/>
            <c:bubble3D val="0"/>
            <c:spPr>
              <a:pattFill prst="plaid">
                <a:fgClr>
                  <a:schemeClr val="bg1">
                    <a:lumMod val="95000"/>
                  </a:schemeClr>
                </a:fgClr>
                <a:bgClr>
                  <a:schemeClr val="tx1">
                    <a:lumMod val="50000"/>
                    <a:lumOff val="5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8E7-A34F-8E37-374647514286}"/>
              </c:ext>
            </c:extLst>
          </c:dPt>
          <c:dPt>
            <c:idx val="5"/>
            <c:invertIfNegative val="0"/>
            <c:bubble3D val="0"/>
            <c:spPr>
              <a:pattFill prst="solidDmnd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8E7-A34F-8E37-374647514286}"/>
              </c:ext>
            </c:extLst>
          </c:dPt>
          <c:dPt>
            <c:idx val="6"/>
            <c:invertIfNegative val="0"/>
            <c:bubble3D val="0"/>
            <c:spPr>
              <a:pattFill prst="smCheck">
                <a:fgClr>
                  <a:srgbClr val="DDA500"/>
                </a:fgClr>
                <a:bgClr>
                  <a:schemeClr val="accent6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8E7-A34F-8E37-374647514286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8E7-A34F-8E37-374647514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95615184"/>
        <c:axId val="344716032"/>
      </c:barChart>
      <c:catAx>
        <c:axId val="295615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tickMarkSkip val="8"/>
        <c:noMultiLvlLbl val="0"/>
      </c:catAx>
      <c:valAx>
        <c:axId val="344716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FBADA-4773-404F-874F-B3857A68950B}" type="datetimeFigureOut">
              <a:rPr lang="en-US" smtClean="0"/>
              <a:t>6/28/25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30C15-E458-4B43-AE0F-5F07CFCA4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2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B213-3102-C349-9554-E434846F78E6}" type="datetime1">
              <a:rPr lang="en-GB" smtClean="0"/>
              <a:t>28/06/2025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4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1742-974A-4443-8BE3-693B2B3ED8AD}" type="datetime1">
              <a:rPr lang="en-GB" smtClean="0"/>
              <a:t>28/06/2025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4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1FB4-6600-964E-87AE-7944E8A54BF4}" type="datetime1">
              <a:rPr lang="en-GB" smtClean="0"/>
              <a:t>28/06/2025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9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02E-8688-0D40-8D95-F6B633E19384}" type="datetime1">
              <a:rPr lang="en-GB" smtClean="0"/>
              <a:t>28/06/2025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8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2112C-A07D-0C49-83D0-97E7715572E8}" type="datetime1">
              <a:rPr lang="en-GB" smtClean="0"/>
              <a:t>28/06/2025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7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FB06-81A1-7145-AA10-23CB90609DB1}" type="datetime1">
              <a:rPr lang="en-GB" smtClean="0"/>
              <a:t>28/06/2025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3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6BF7C-B1D2-D341-B6EA-0F9EDB8B80EA}" type="datetime1">
              <a:rPr lang="en-GB" smtClean="0"/>
              <a:t>28/06/2025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714D-A05F-CA49-830F-7B0ACED6C706}" type="datetime1">
              <a:rPr lang="en-GB" smtClean="0"/>
              <a:t>28/06/2025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1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311A0-74F8-7840-9594-267945A9A042}" type="datetime1">
              <a:rPr lang="en-GB" smtClean="0"/>
              <a:t>28/06/2025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8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3922-980F-3047-91E3-B20D946F972E}" type="datetime1">
              <a:rPr lang="en-GB" smtClean="0"/>
              <a:t>28/06/2025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51C3-CB6C-CB43-A403-149A332B98B6}" type="datetime1">
              <a:rPr lang="en-GB" smtClean="0"/>
              <a:t>28/06/2025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1A623-B36F-C440-9672-F52869BB3AE9}" type="datetime1">
              <a:rPr lang="en-GB" smtClean="0"/>
              <a:t>28/06/2025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61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C78A4-0B54-333F-41FE-7DDDBAF6BE64}"/>
              </a:ext>
            </a:extLst>
          </p:cNvPr>
          <p:cNvSpPr txBox="1"/>
          <p:nvPr/>
        </p:nvSpPr>
        <p:spPr>
          <a:xfrm>
            <a:off x="-592451" y="895126"/>
            <a:ext cx="7238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Global Asset Allocation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21660-FF6A-2192-F126-372A80CD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1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9C917C-26C0-B913-1750-F780E06996F9}"/>
              </a:ext>
            </a:extLst>
          </p:cNvPr>
          <p:cNvCxnSpPr/>
          <p:nvPr/>
        </p:nvCxnSpPr>
        <p:spPr>
          <a:xfrm>
            <a:off x="-1181101" y="6233753"/>
            <a:ext cx="116322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52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C78A4-0B54-333F-41FE-7DDDBAF6BE64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The Advantages of Multi-Factor Approach to Asset Allocation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21660-FF6A-2192-F126-372A80CD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2</a:t>
            </a:fld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A7EDF923-5931-04E9-77D8-1E88AB4197A9}"/>
              </a:ext>
            </a:extLst>
          </p:cNvPr>
          <p:cNvSpPr/>
          <p:nvPr/>
        </p:nvSpPr>
        <p:spPr>
          <a:xfrm>
            <a:off x="5463493" y="1123951"/>
            <a:ext cx="3340800" cy="367200"/>
          </a:xfrm>
          <a:prstGeom prst="rightArrow">
            <a:avLst>
              <a:gd name="adj1" fmla="val 100000"/>
              <a:gd name="adj2" fmla="val 60145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Enhanced Estimates of Expected Return</a:t>
            </a:r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3FCBB0AF-C5DE-CDF5-F4A4-1BF7C5142F49}"/>
              </a:ext>
            </a:extLst>
          </p:cNvPr>
          <p:cNvSpPr/>
          <p:nvPr/>
        </p:nvSpPr>
        <p:spPr>
          <a:xfrm>
            <a:off x="380999" y="1123951"/>
            <a:ext cx="3340800" cy="367200"/>
          </a:xfrm>
          <a:prstGeom prst="leftArrow">
            <a:avLst>
              <a:gd name="adj1" fmla="val 10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Limited Understanding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60DA11-723F-8B0A-B8AC-A82D42E2A4B7}"/>
              </a:ext>
            </a:extLst>
          </p:cNvPr>
          <p:cNvSpPr txBox="1"/>
          <p:nvPr/>
        </p:nvSpPr>
        <p:spPr>
          <a:xfrm>
            <a:off x="3962401" y="999065"/>
            <a:ext cx="12615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rotesque Light" panose="020B0304020202020204" pitchFamily="34" charset="0"/>
              </a:rPr>
              <a:t>Understanding of Complex Investment Universe</a:t>
            </a:r>
          </a:p>
        </p:txBody>
      </p:sp>
    </p:spTree>
    <p:extLst>
      <p:ext uri="{BB962C8B-B14F-4D97-AF65-F5344CB8AC3E}">
        <p14:creationId xmlns:p14="http://schemas.microsoft.com/office/powerpoint/2010/main" val="97464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E9E8-C93A-AEB6-4824-CF9B242E6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F47F3580-8975-1F96-A3E8-73F215F6FF33}"/>
              </a:ext>
            </a:extLst>
          </p:cNvPr>
          <p:cNvSpPr txBox="1"/>
          <p:nvPr/>
        </p:nvSpPr>
        <p:spPr>
          <a:xfrm>
            <a:off x="567173" y="1475027"/>
            <a:ext cx="8009655" cy="261610"/>
          </a:xfrm>
          <a:prstGeom prst="rect">
            <a:avLst/>
          </a:prstGeom>
          <a:solidFill>
            <a:srgbClr val="7D9BD3"/>
          </a:solidFill>
          <a:ln w="6350">
            <a:solidFill>
              <a:srgbClr val="7D9BD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Single Factor Risk Premia Estimates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F58048-D2E5-E1B1-CCFE-02F19EEFE769}"/>
              </a:ext>
            </a:extLst>
          </p:cNvPr>
          <p:cNvSpPr txBox="1"/>
          <p:nvPr/>
        </p:nvSpPr>
        <p:spPr>
          <a:xfrm>
            <a:off x="567173" y="4278562"/>
            <a:ext cx="8009655" cy="261610"/>
          </a:xfrm>
          <a:prstGeom prst="rect">
            <a:avLst/>
          </a:prstGeom>
          <a:solidFill>
            <a:srgbClr val="7D9BD3"/>
          </a:solidFill>
          <a:ln w="6350">
            <a:solidFill>
              <a:srgbClr val="7D9BD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Multi-Factor Risk Premia Estimates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0B9EA-B3B6-1A34-0D32-9ED515F627CE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Factor Models Identify Sources of Long-Term Return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10832-8D30-7741-C932-72F4943B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3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0536FC-E423-FC8A-6BA9-844B9521DB02}"/>
              </a:ext>
            </a:extLst>
          </p:cNvPr>
          <p:cNvSpPr txBox="1"/>
          <p:nvPr/>
        </p:nvSpPr>
        <p:spPr>
          <a:xfrm>
            <a:off x="302496" y="1062681"/>
            <a:ext cx="8539009" cy="276999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Multi-Factor Modelling Enhances Our Understanding Of Return Drivers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A99244B-411B-154C-AD19-A5CB4AC690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1681982"/>
              </p:ext>
            </p:extLst>
          </p:nvPr>
        </p:nvGraphicFramePr>
        <p:xfrm>
          <a:off x="1188508" y="1811381"/>
          <a:ext cx="1670050" cy="1207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8D8B4278-B84F-2EA3-13C5-743A9EB65A49}"/>
              </a:ext>
            </a:extLst>
          </p:cNvPr>
          <p:cNvSpPr/>
          <p:nvPr/>
        </p:nvSpPr>
        <p:spPr>
          <a:xfrm>
            <a:off x="567172" y="1476194"/>
            <a:ext cx="8009655" cy="2077972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E6F662-9015-50BE-8018-0834EB540FA8}"/>
              </a:ext>
            </a:extLst>
          </p:cNvPr>
          <p:cNvSpPr txBox="1"/>
          <p:nvPr/>
        </p:nvSpPr>
        <p:spPr>
          <a:xfrm>
            <a:off x="338291" y="622539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Grotesque Light" panose="020B0304020202020204" pitchFamily="34" charset="0"/>
              </a:rPr>
              <a:t>Empowering Investors to Understand and Manage the Sources of Portfolio Risk</a:t>
            </a:r>
            <a:endParaRPr lang="en-US" sz="1000" dirty="0">
              <a:latin typeface="Grotesque Light" panose="020B0304020202020204" pitchFamily="34" charset="0"/>
            </a:endParaRP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E55B51B8-5523-2571-94F8-40CD502BDA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3271522"/>
              </p:ext>
            </p:extLst>
          </p:nvPr>
        </p:nvGraphicFramePr>
        <p:xfrm>
          <a:off x="6330950" y="1852973"/>
          <a:ext cx="1670050" cy="1212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61C01FA-3D76-8F93-B683-725618281FF9}"/>
              </a:ext>
            </a:extLst>
          </p:cNvPr>
          <p:cNvSpPr txBox="1"/>
          <p:nvPr/>
        </p:nvSpPr>
        <p:spPr>
          <a:xfrm>
            <a:off x="1040353" y="1833923"/>
            <a:ext cx="21509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Multi-Strategy Hedge Funds</a:t>
            </a: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5594181E-CBE7-8BC6-30CD-00DA431BE1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8675451"/>
              </p:ext>
            </p:extLst>
          </p:nvPr>
        </p:nvGraphicFramePr>
        <p:xfrm>
          <a:off x="3736975" y="1828705"/>
          <a:ext cx="1670050" cy="12364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4D35DB1B-87A1-2956-2A52-E47AFE5CCFD8}"/>
              </a:ext>
            </a:extLst>
          </p:cNvPr>
          <p:cNvSpPr txBox="1"/>
          <p:nvPr/>
        </p:nvSpPr>
        <p:spPr>
          <a:xfrm>
            <a:off x="3838962" y="1838011"/>
            <a:ext cx="1610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Emerging Markets Local Debt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AE15A7-7922-0371-276B-8B7D7193F69D}"/>
              </a:ext>
            </a:extLst>
          </p:cNvPr>
          <p:cNvSpPr txBox="1"/>
          <p:nvPr/>
        </p:nvSpPr>
        <p:spPr>
          <a:xfrm>
            <a:off x="6386465" y="1872826"/>
            <a:ext cx="13528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Buyout Private Equity</a:t>
            </a: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12CD40C7-83BD-7477-D2D1-C20E7ABEA1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9104168"/>
              </p:ext>
            </p:extLst>
          </p:nvPr>
        </p:nvGraphicFramePr>
        <p:xfrm>
          <a:off x="1188508" y="4595866"/>
          <a:ext cx="1670050" cy="1267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8EC2EFA7-9B45-BF6B-45C0-4FF87CCCC68F}"/>
              </a:ext>
            </a:extLst>
          </p:cNvPr>
          <p:cNvSpPr/>
          <p:nvPr/>
        </p:nvSpPr>
        <p:spPr>
          <a:xfrm>
            <a:off x="567172" y="4272211"/>
            <a:ext cx="8009655" cy="208413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C77E7240-4248-A48A-B6BA-2888FDC567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4570235"/>
              </p:ext>
            </p:extLst>
          </p:nvPr>
        </p:nvGraphicFramePr>
        <p:xfrm>
          <a:off x="6330950" y="4637458"/>
          <a:ext cx="1670050" cy="1270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D2EA214C-9ED4-056D-CB2C-E9BE594A60EB}"/>
              </a:ext>
            </a:extLst>
          </p:cNvPr>
          <p:cNvSpPr txBox="1"/>
          <p:nvPr/>
        </p:nvSpPr>
        <p:spPr>
          <a:xfrm>
            <a:off x="1030828" y="4629118"/>
            <a:ext cx="21509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Multi-Strategy Hedge Funds</a:t>
            </a:r>
          </a:p>
        </p:txBody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333B4E94-5EF9-5162-13F0-ACED55F823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6200264"/>
              </p:ext>
            </p:extLst>
          </p:nvPr>
        </p:nvGraphicFramePr>
        <p:xfrm>
          <a:off x="3736975" y="4613191"/>
          <a:ext cx="1670050" cy="1267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06752DE7-FA8A-047E-B521-34047CFD08BD}"/>
              </a:ext>
            </a:extLst>
          </p:cNvPr>
          <p:cNvSpPr txBox="1"/>
          <p:nvPr/>
        </p:nvSpPr>
        <p:spPr>
          <a:xfrm>
            <a:off x="3852197" y="4635196"/>
            <a:ext cx="1610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Emerging Markets Local Debt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80D9D3-C33C-BB1D-A07A-6132E2CFB400}"/>
              </a:ext>
            </a:extLst>
          </p:cNvPr>
          <p:cNvSpPr txBox="1"/>
          <p:nvPr/>
        </p:nvSpPr>
        <p:spPr>
          <a:xfrm>
            <a:off x="6219074" y="4635196"/>
            <a:ext cx="1352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Private Equity</a:t>
            </a:r>
          </a:p>
        </p:txBody>
      </p:sp>
      <p:sp>
        <p:nvSpPr>
          <p:cNvPr id="48" name="Down Arrow 47">
            <a:extLst>
              <a:ext uri="{FF2B5EF4-FFF2-40B4-BE49-F238E27FC236}">
                <a16:creationId xmlns:a16="http://schemas.microsoft.com/office/drawing/2014/main" id="{7B7E2306-3343-A47C-622A-FEF24807540D}"/>
              </a:ext>
            </a:extLst>
          </p:cNvPr>
          <p:cNvSpPr/>
          <p:nvPr/>
        </p:nvSpPr>
        <p:spPr>
          <a:xfrm>
            <a:off x="4251759" y="3740442"/>
            <a:ext cx="701675" cy="399463"/>
          </a:xfrm>
          <a:prstGeom prst="downArrow">
            <a:avLst>
              <a:gd name="adj1" fmla="val 52941"/>
              <a:gd name="adj2" fmla="val 77024"/>
            </a:avLst>
          </a:prstGeom>
          <a:solidFill>
            <a:srgbClr val="151824"/>
          </a:solidFill>
          <a:ln w="3175">
            <a:solidFill>
              <a:srgbClr val="7D9B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DC053-06FF-6A7E-69ED-6B251E5C7B1C}"/>
              </a:ext>
            </a:extLst>
          </p:cNvPr>
          <p:cNvSpPr txBox="1"/>
          <p:nvPr/>
        </p:nvSpPr>
        <p:spPr>
          <a:xfrm>
            <a:off x="567171" y="6053755"/>
            <a:ext cx="80096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Multi-Factor Doubles the Precision in Risk Premia Estimates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6F7A91-B3F9-8DD1-26F4-7358C4230898}"/>
              </a:ext>
            </a:extLst>
          </p:cNvPr>
          <p:cNvSpPr txBox="1"/>
          <p:nvPr/>
        </p:nvSpPr>
        <p:spPr>
          <a:xfrm>
            <a:off x="567173" y="3208129"/>
            <a:ext cx="80096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Single Factor Models Fail to Capture the Complex Investment Universe</a:t>
            </a:r>
          </a:p>
        </p:txBody>
      </p:sp>
    </p:spTree>
    <p:extLst>
      <p:ext uri="{BB962C8B-B14F-4D97-AF65-F5344CB8AC3E}">
        <p14:creationId xmlns:p14="http://schemas.microsoft.com/office/powerpoint/2010/main" val="90570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5D56-86AC-EF14-0DB2-D62181E3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6D4FCE-AD65-66BD-C89C-FE26FA1CC679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Better Understanding of Diversification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7CB25-0B57-3E8C-4FDB-59F6EC92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4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7B93F1-299E-60F2-3D45-1C2DAE7A2597}"/>
              </a:ext>
            </a:extLst>
          </p:cNvPr>
          <p:cNvSpPr txBox="1"/>
          <p:nvPr/>
        </p:nvSpPr>
        <p:spPr>
          <a:xfrm>
            <a:off x="488949" y="1187449"/>
            <a:ext cx="3676650" cy="276999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Portfolio 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A613B-E5C2-56F4-5A5F-E03A1C06EF09}"/>
              </a:ext>
            </a:extLst>
          </p:cNvPr>
          <p:cNvSpPr txBox="1"/>
          <p:nvPr/>
        </p:nvSpPr>
        <p:spPr>
          <a:xfrm>
            <a:off x="338291" y="622539"/>
            <a:ext cx="774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rotesque Light" panose="020B0304020202020204" pitchFamily="34" charset="0"/>
              </a:rPr>
              <a:t>Leading to More Resilient Asset Allocations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D4F196-6342-FE89-267B-B0FBD5EBC795}"/>
              </a:ext>
            </a:extLst>
          </p:cNvPr>
          <p:cNvSpPr/>
          <p:nvPr/>
        </p:nvSpPr>
        <p:spPr>
          <a:xfrm>
            <a:off x="488949" y="1187449"/>
            <a:ext cx="3676651" cy="391795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0CE1A7-4E6C-2BB3-7764-0B729BB82250}"/>
              </a:ext>
            </a:extLst>
          </p:cNvPr>
          <p:cNvSpPr txBox="1"/>
          <p:nvPr/>
        </p:nvSpPr>
        <p:spPr>
          <a:xfrm>
            <a:off x="4921249" y="1187449"/>
            <a:ext cx="3676650" cy="276999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Portfolio</a:t>
            </a:r>
            <a:r>
              <a:rPr lang="en-US" sz="1200" b="1" dirty="0">
                <a:solidFill>
                  <a:schemeClr val="bg1"/>
                </a:solidFill>
                <a:latin typeface="+mj-lt"/>
              </a:rPr>
              <a:t> B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93ECB96-65CC-9BFB-243B-57D7B6FF5A17}"/>
              </a:ext>
            </a:extLst>
          </p:cNvPr>
          <p:cNvSpPr/>
          <p:nvPr/>
        </p:nvSpPr>
        <p:spPr>
          <a:xfrm>
            <a:off x="4921249" y="1187449"/>
            <a:ext cx="3676651" cy="391795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F68117-76B1-D68E-7433-36EBC7B4FBC0}"/>
              </a:ext>
            </a:extLst>
          </p:cNvPr>
          <p:cNvSpPr txBox="1"/>
          <p:nvPr/>
        </p:nvSpPr>
        <p:spPr>
          <a:xfrm>
            <a:off x="488949" y="5224033"/>
            <a:ext cx="3676650" cy="246221"/>
          </a:xfrm>
          <a:prstGeom prst="rect">
            <a:avLst/>
          </a:prstGeom>
          <a:solidFill>
            <a:srgbClr val="C00000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solidFill>
                  <a:schemeClr val="bg1"/>
                </a:solidFill>
                <a:latin typeface="+mj-lt"/>
              </a:rPr>
              <a:t>Asset Class Diversification Can Be Misleading</a:t>
            </a:r>
            <a:endParaRPr lang="en-US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1332EB-25AA-1ECF-C6A0-6C35533911AC}"/>
              </a:ext>
            </a:extLst>
          </p:cNvPr>
          <p:cNvSpPr txBox="1"/>
          <p:nvPr/>
        </p:nvSpPr>
        <p:spPr>
          <a:xfrm>
            <a:off x="4921249" y="5233287"/>
            <a:ext cx="3676650" cy="246221"/>
          </a:xfrm>
          <a:prstGeom prst="rect">
            <a:avLst/>
          </a:prstGeom>
          <a:solidFill>
            <a:srgbClr val="70AD47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solidFill>
                  <a:schemeClr val="bg1"/>
                </a:solidFill>
                <a:latin typeface="+mj-lt"/>
              </a:rPr>
              <a:t>Factors Help Understand True Source of Diversification</a:t>
            </a:r>
            <a:endParaRPr lang="en-US" sz="1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6380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9871</TotalTime>
  <Words>126</Words>
  <Application>Microsoft Macintosh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Grotesque Light</vt:lpstr>
      <vt:lpstr>Office 2013 - 2022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Francis Barker</dc:creator>
  <cp:lastModifiedBy>Francis Barker</cp:lastModifiedBy>
  <cp:revision>27</cp:revision>
  <dcterms:created xsi:type="dcterms:W3CDTF">2024-02-09T09:35:44Z</dcterms:created>
  <dcterms:modified xsi:type="dcterms:W3CDTF">2025-06-28T16:42:49Z</dcterms:modified>
</cp:coreProperties>
</file>