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notesSlides/notesSlide1.xml" ContentType="application/vnd.openxmlformats-officedocument.presentationml.notesSlide+xml"/>
  <Override PartName="/ppt/charts/chart3.xml" ContentType="application/vnd.openxmlformats-officedocument.drawingml.chart+xml"/>
  <Override PartName="/ppt/charts/style2.xml" ContentType="application/vnd.ms-office.chartstyle+xml"/>
  <Override PartName="/ppt/charts/colors2.xml" ContentType="application/vnd.ms-office.chartcolorstyle+xml"/>
  <Override PartName="/ppt/charts/chart4.xml" ContentType="application/vnd.openxmlformats-officedocument.drawingml.chart+xml"/>
  <Override PartName="/ppt/charts/style3.xml" ContentType="application/vnd.ms-office.chartstyle+xml"/>
  <Override PartName="/ppt/charts/colors3.xml" ContentType="application/vnd.ms-office.chartcolorstyle+xml"/>
  <Override PartName="/ppt/charts/chart5.xml" ContentType="application/vnd.openxmlformats-officedocument.drawingml.chart+xml"/>
  <Override PartName="/ppt/charts/style4.xml" ContentType="application/vnd.ms-office.chartstyle+xml"/>
  <Override PartName="/ppt/charts/colors4.xml" ContentType="application/vnd.ms-office.chartcolorstyle+xml"/>
  <Override PartName="/ppt/notesSlides/notesSlide2.xml" ContentType="application/vnd.openxmlformats-officedocument.presentationml.notesSlide+xml"/>
  <Override PartName="/ppt/charts/chart6.xml" ContentType="application/vnd.openxmlformats-officedocument.drawingml.chart+xml"/>
  <Override PartName="/ppt/charts/style5.xml" ContentType="application/vnd.ms-office.chartstyle+xml"/>
  <Override PartName="/ppt/charts/colors5.xml" ContentType="application/vnd.ms-office.chartcolorstyle+xml"/>
  <Override PartName="/ppt/charts/chart7.xml" ContentType="application/vnd.openxmlformats-officedocument.drawingml.chart+xml"/>
  <Override PartName="/ppt/charts/style6.xml" ContentType="application/vnd.ms-office.chartstyle+xml"/>
  <Override PartName="/ppt/charts/colors6.xml" ContentType="application/vnd.ms-office.chartcolorstyle+xml"/>
  <Override PartName="/ppt/charts/chart8.xml" ContentType="application/vnd.openxmlformats-officedocument.drawingml.chart+xml"/>
  <Override PartName="/ppt/notesSlides/notesSlide3.xml" ContentType="application/vnd.openxmlformats-officedocument.presentationml.notesSlide+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style7.xml" ContentType="application/vnd.ms-office.chartstyle+xml"/>
  <Override PartName="/ppt/charts/colors7.xml" ContentType="application/vnd.ms-office.chartcolorstyle+xml"/>
  <Override PartName="/ppt/charts/chart12.xml" ContentType="application/vnd.openxmlformats-officedocument.drawingml.chart+xml"/>
  <Override PartName="/ppt/charts/style8.xml" ContentType="application/vnd.ms-office.chartstyle+xml"/>
  <Override PartName="/ppt/charts/colors8.xml" ContentType="application/vnd.ms-office.chartcolorstyle+xml"/>
  <Override PartName="/ppt/charts/chart13.xml" ContentType="application/vnd.openxmlformats-officedocument.drawingml.char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rts/chart14.xml" ContentType="application/vnd.openxmlformats-officedocument.drawingml.chart+xml"/>
  <Override PartName="/ppt/charts/style9.xml" ContentType="application/vnd.ms-office.chartstyle+xml"/>
  <Override PartName="/ppt/charts/colors9.xml" ContentType="application/vnd.ms-office.chartcolorstyle+xml"/>
  <Override PartName="/ppt/charts/chart15.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6.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7.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8.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19.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20.xml" ContentType="application/vnd.openxmlformats-officedocument.drawingml.chart+xml"/>
  <Override PartName="/ppt/drawings/drawing1.xml" ContentType="application/vnd.openxmlformats-officedocument.drawingml.chartshapes+xml"/>
  <Override PartName="/ppt/charts/chart21.xml" ContentType="application/vnd.openxmlformats-officedocument.drawingml.chart+xml"/>
  <Override PartName="/ppt/charts/style15.xml" ContentType="application/vnd.ms-office.chartstyle+xml"/>
  <Override PartName="/ppt/charts/colors15.xml" ContentType="application/vnd.ms-office.chartcolorstyle+xml"/>
  <Override PartName="/ppt/charts/chart22.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23.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24.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25.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26.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27.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28.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29.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30.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31.xml" ContentType="application/vnd.openxmlformats-officedocument.drawingml.chart+xml"/>
  <Override PartName="/ppt/charts/style25.xml" ContentType="application/vnd.ms-office.chartstyle+xml"/>
  <Override PartName="/ppt/charts/colors25.xml" ContentType="application/vnd.ms-office.chartcolorstyle+xml"/>
  <Override PartName="/ppt/charts/chart32.xml" ContentType="application/vnd.openxmlformats-officedocument.drawingml.chart+xml"/>
  <Override PartName="/ppt/charts/style26.xml" ContentType="application/vnd.ms-office.chartstyle+xml"/>
  <Override PartName="/ppt/charts/colors26.xml" ContentType="application/vnd.ms-office.chartcolorstyle+xml"/>
  <Override PartName="/ppt/drawings/drawing2.xml" ContentType="application/vnd.openxmlformats-officedocument.drawingml.chartshapes+xml"/>
  <Override PartName="/ppt/charts/chart33.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45"/>
  </p:notesMasterIdLst>
  <p:sldIdLst>
    <p:sldId id="272" r:id="rId2"/>
    <p:sldId id="317" r:id="rId3"/>
    <p:sldId id="318" r:id="rId4"/>
    <p:sldId id="312" r:id="rId5"/>
    <p:sldId id="314" r:id="rId6"/>
    <p:sldId id="316" r:id="rId7"/>
    <p:sldId id="319" r:id="rId8"/>
    <p:sldId id="285" r:id="rId9"/>
    <p:sldId id="286" r:id="rId10"/>
    <p:sldId id="288" r:id="rId11"/>
    <p:sldId id="290" r:id="rId12"/>
    <p:sldId id="287" r:id="rId13"/>
    <p:sldId id="291" r:id="rId14"/>
    <p:sldId id="333" r:id="rId15"/>
    <p:sldId id="322" r:id="rId16"/>
    <p:sldId id="325" r:id="rId17"/>
    <p:sldId id="326" r:id="rId18"/>
    <p:sldId id="327" r:id="rId19"/>
    <p:sldId id="328" r:id="rId20"/>
    <p:sldId id="329" r:id="rId21"/>
    <p:sldId id="331" r:id="rId22"/>
    <p:sldId id="334" r:id="rId23"/>
    <p:sldId id="330" r:id="rId24"/>
    <p:sldId id="335" r:id="rId25"/>
    <p:sldId id="320" r:id="rId26"/>
    <p:sldId id="299" r:id="rId27"/>
    <p:sldId id="293" r:id="rId28"/>
    <p:sldId id="295" r:id="rId29"/>
    <p:sldId id="302" r:id="rId30"/>
    <p:sldId id="300" r:id="rId31"/>
    <p:sldId id="296" r:id="rId32"/>
    <p:sldId id="321" r:id="rId33"/>
    <p:sldId id="297" r:id="rId34"/>
    <p:sldId id="304" r:id="rId35"/>
    <p:sldId id="303" r:id="rId36"/>
    <p:sldId id="323" r:id="rId37"/>
    <p:sldId id="305" r:id="rId38"/>
    <p:sldId id="306" r:id="rId39"/>
    <p:sldId id="307" r:id="rId40"/>
    <p:sldId id="308" r:id="rId41"/>
    <p:sldId id="309" r:id="rId42"/>
    <p:sldId id="310" r:id="rId43"/>
    <p:sldId id="324" r:id="rId4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FF"/>
    <a:srgbClr val="B4C7E7"/>
    <a:srgbClr val="0B0D37"/>
    <a:srgbClr val="7CC04D"/>
    <a:srgbClr val="151824"/>
    <a:srgbClr val="7F94BA"/>
    <a:srgbClr val="721624"/>
    <a:srgbClr val="70AD47"/>
    <a:srgbClr val="DAE3F3"/>
    <a:srgbClr val="000D67"/>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834"/>
    <p:restoredTop sz="94626"/>
  </p:normalViewPr>
  <p:slideViewPr>
    <p:cSldViewPr snapToGrid="0">
      <p:cViewPr>
        <p:scale>
          <a:sx n="120" d="100"/>
          <a:sy n="120" d="100"/>
        </p:scale>
        <p:origin x="1640" y="200"/>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rts/_rels/chart1.xml.rels><?xml version="1.0" encoding="UTF-8" standalone="yes"?>
<Relationships xmlns="http://schemas.openxmlformats.org/package/2006/relationships"><Relationship Id="rId3" Type="http://schemas.openxmlformats.org/officeDocument/2006/relationships/oleObject" Target="file:////Users/francisbarker/repo/epsilon-psi/epsilon-phi-core/src/python/epsilonPhi/ep_saa/marketing/Marketing%20Charts.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1" Type="http://schemas.openxmlformats.org/officeDocument/2006/relationships/oleObject" Target="file:////Users/francisbarker/repo/epsilon-psi/epsilon-phi-core/src/python/epsilonPhi/ep_saa/marketing/Marketing%20Charts.xlsx" TargetMode="External"/></Relationships>
</file>

<file path=ppt/charts/_rels/chart3.xml.rels><?xml version="1.0" encoding="UTF-8" standalone="yes"?>
<Relationships xmlns="http://schemas.openxmlformats.org/package/2006/relationships"><Relationship Id="rId3" Type="http://schemas.openxmlformats.org/officeDocument/2006/relationships/oleObject" Target="file:////Users/francisbarker/Repositories/Python/epsilon-phi/epsilon-phi-core/src/Scripts/Case%20Studies/1.%20Portfolio%20Analysis/Simple%20Portfolio%20Report_new_pe.xlsx" TargetMode="External"/><Relationship Id="rId2" Type="http://schemas.microsoft.com/office/2011/relationships/chartColorStyle" Target="colors2.xml"/><Relationship Id="rId1" Type="http://schemas.microsoft.com/office/2011/relationships/chartStyle" Target="style2.xml"/></Relationships>
</file>

<file path=ppt/charts/_rels/chart4.xml.rels><?xml version="1.0" encoding="UTF-8" standalone="yes"?>
<Relationships xmlns="http://schemas.openxmlformats.org/package/2006/relationships"><Relationship Id="rId3" Type="http://schemas.openxmlformats.org/officeDocument/2006/relationships/oleObject" Target="file:////Users/francisbarker/Repositories/Python/epsilon-phi/epsilon-phi-core/src/Scripts/Case%20Studies/1.%20Portfolio%20Analysis/Simple%20Portfolio%20Report_new_pe.xlsx" TargetMode="External"/><Relationship Id="rId2" Type="http://schemas.microsoft.com/office/2011/relationships/chartColorStyle" Target="colors3.xml"/><Relationship Id="rId1" Type="http://schemas.microsoft.com/office/2011/relationships/chartStyle" Target="style3.xml"/></Relationships>
</file>

<file path=ppt/charts/_rels/chart5.xml.rels><?xml version="1.0" encoding="UTF-8" standalone="yes"?>
<Relationships xmlns="http://schemas.openxmlformats.org/package/2006/relationships"><Relationship Id="rId3" Type="http://schemas.openxmlformats.org/officeDocument/2006/relationships/oleObject" Target="file:////Users/francisbarker/repo/epsilon-psi/epsilon-phi-core/src/Scripts/Case%20Studies/1.%20Portfolio%20Analysis/Simple%20Portfolio%20Report_new_pe.xlsx" TargetMode="External"/><Relationship Id="rId2" Type="http://schemas.microsoft.com/office/2011/relationships/chartColorStyle" Target="colors4.xml"/><Relationship Id="rId1" Type="http://schemas.microsoft.com/office/2011/relationships/chartStyle" Target="style4.xml"/></Relationships>
</file>

<file path=ppt/charts/_rels/chart6.xml.rels><?xml version="1.0" encoding="UTF-8" standalone="yes"?>
<Relationships xmlns="http://schemas.openxmlformats.org/package/2006/relationships"><Relationship Id="rId3" Type="http://schemas.openxmlformats.org/officeDocument/2006/relationships/oleObject" Target="file:////Users/francisbarker/Repositories/Python/epsilon-phi/epsilon-phi-core/src/Scripts/Case%20Studies/1.%20Portfolio%20Analysis/Simple%20Portfolio%20Report_new_pe.xlsx" TargetMode="External"/><Relationship Id="rId2" Type="http://schemas.microsoft.com/office/2011/relationships/chartColorStyle" Target="colors5.xml"/><Relationship Id="rId1" Type="http://schemas.microsoft.com/office/2011/relationships/chartStyle" Target="style5.xml"/></Relationships>
</file>

<file path=ppt/charts/_rels/chart7.xml.rels><?xml version="1.0" encoding="UTF-8" standalone="yes"?>
<Relationships xmlns="http://schemas.openxmlformats.org/package/2006/relationships"><Relationship Id="rId3" Type="http://schemas.openxmlformats.org/officeDocument/2006/relationships/oleObject" Target="Book1" TargetMode="External"/><Relationship Id="rId2" Type="http://schemas.microsoft.com/office/2011/relationships/chartColorStyle" Target="colors6.xml"/><Relationship Id="rId1" Type="http://schemas.microsoft.com/office/2011/relationships/chartStyle" Target="style6.xml"/></Relationships>
</file>

<file path=ppt/charts/_rels/chart8.xml.rels><?xml version="1.0" encoding="UTF-8" standalone="yes"?>
<Relationships xmlns="http://schemas.openxmlformats.org/package/2006/relationships"><Relationship Id="rId1" Type="http://schemas.openxmlformats.org/officeDocument/2006/relationships/oleObject" Target="file:////Users/francisbarker/Repositories/Python/epsilon-phi/epsilon-phi-core/src/Scripts/Case%20Studies/1.%20Portfolio%20Analysis/Simple%20Portfolio%20Report_new_pe.xlsx" TargetMode="External"/></Relationships>
</file>

<file path=ppt/charts/_rels/chart9.xml.rels><?xml version="1.0" encoding="UTF-8" standalone="yes"?>
<Relationships xmlns="http://schemas.openxmlformats.org/package/2006/relationships"><Relationship Id="rId1" Type="http://schemas.openxmlformats.org/officeDocument/2006/relationships/oleObject" Target="file:////Users/francisbarker/Repositories/Python/epsilon-phi/epsilon-phi-core/src/Scripts/Case%20Studies/1.%20Portfolio%20Analysis/Simple%20Portfolio%20Report%20Spending.xlsx" TargetMode="External"/></Relationships>
</file>

<file path=ppt/charts/_rels/chart10.xml.rels><?xml version="1.0" encoding="UTF-8" standalone="yes"?>
<Relationships xmlns="http://schemas.openxmlformats.org/package/2006/relationships"><Relationship Id="rId1" Type="http://schemas.openxmlformats.org/officeDocument/2006/relationships/oleObject" Target="file:////Users/francisbarker/Repositories/Python/epsilon-phi/epsilon-phi-core/src/Scripts/Case%20Studies/1.%20Portfolio%20Analysis/Simple%20Portfolio%20Report%20Spending.xlsx" TargetMode="External"/></Relationships>
</file>

<file path=ppt/charts/_rels/chart11.xml.rels><?xml version="1.0" encoding="UTF-8" standalone="yes"?>
<Relationships xmlns="http://schemas.openxmlformats.org/package/2006/relationships"><Relationship Id="rId3" Type="http://schemas.openxmlformats.org/officeDocument/2006/relationships/oleObject" Target="file:////Users/francisbarker/Repositories/Python/epsilon-phi/epsilon-phi-core/src/Scripts/Case%20Studies/1.%20Portfolio%20Analysis/Simple%20Portfolio%20Report_new_pe.xlsx" TargetMode="External"/><Relationship Id="rId2" Type="http://schemas.microsoft.com/office/2011/relationships/chartColorStyle" Target="colors7.xml"/><Relationship Id="rId1" Type="http://schemas.microsoft.com/office/2011/relationships/chartStyle" Target="style7.xml"/></Relationships>
</file>

<file path=ppt/charts/_rels/chart12.xml.rels><?xml version="1.0" encoding="UTF-8" standalone="yes"?>
<Relationships xmlns="http://schemas.openxmlformats.org/package/2006/relationships"><Relationship Id="rId3" Type="http://schemas.openxmlformats.org/officeDocument/2006/relationships/oleObject" Target="file:////Users/francisbarker/Repositories/Python/epsilon-phi/epsilon-phi-core/src/Scripts/Case%20Studies/2.%20Optimizations/Real%20Return%20with%20Spending.xlsx" TargetMode="External"/><Relationship Id="rId2" Type="http://schemas.microsoft.com/office/2011/relationships/chartColorStyle" Target="colors8.xml"/><Relationship Id="rId1" Type="http://schemas.microsoft.com/office/2011/relationships/chartStyle" Target="style8.xml"/></Relationships>
</file>

<file path=ppt/charts/_rels/chart13.xml.rels><?xml version="1.0" encoding="UTF-8" standalone="yes"?>
<Relationships xmlns="http://schemas.openxmlformats.org/package/2006/relationships"><Relationship Id="rId1" Type="http://schemas.openxmlformats.org/officeDocument/2006/relationships/oleObject" Target="file:////Users/francisbarker/Repositories/Python/epsilon-phi/epsilon-phi-core/src/Scripts/Case%20Studies/2.%20Optimizations/Real%20Return%20with%20Spending.xlsx" TargetMode="External"/></Relationships>
</file>

<file path=ppt/charts/_rels/chart14.xml.rels><?xml version="1.0" encoding="UTF-8" standalone="yes"?>
<Relationships xmlns="http://schemas.openxmlformats.org/package/2006/relationships"><Relationship Id="rId3" Type="http://schemas.openxmlformats.org/officeDocument/2006/relationships/oleObject" Target="file:////Users/francisbarker/Repositories/Python/epsilon-phi/epsilon-phi-core/src/Scripts/Case%20Studies/3.%20Single%20Stock%20Analysis/Single%20Stock%20Analysis.xlsx" TargetMode="External"/><Relationship Id="rId2" Type="http://schemas.microsoft.com/office/2011/relationships/chartColorStyle" Target="colors9.xml"/><Relationship Id="rId1" Type="http://schemas.microsoft.com/office/2011/relationships/chartStyle" Target="style9.xml"/></Relationships>
</file>

<file path=ppt/charts/_rels/chart15.xml.rels><?xml version="1.0" encoding="UTF-8" standalone="yes"?>
<Relationships xmlns="http://schemas.openxmlformats.org/package/2006/relationships"><Relationship Id="rId3" Type="http://schemas.openxmlformats.org/officeDocument/2006/relationships/oleObject" Target="file:////Users/francisbarker/Repositories/Python/epsilon-phi/epsilon-phi-core/src/Scripts/Case%20Studies/3.%20Single%20Stock%20Analysis/Single%20Stock%20Analysis.xlsx" TargetMode="External"/><Relationship Id="rId2" Type="http://schemas.microsoft.com/office/2011/relationships/chartColorStyle" Target="colors10.xml"/><Relationship Id="rId1" Type="http://schemas.microsoft.com/office/2011/relationships/chartStyle" Target="style10.xml"/></Relationships>
</file>

<file path=ppt/charts/_rels/chart16.xml.rels><?xml version="1.0" encoding="UTF-8" standalone="yes"?>
<Relationships xmlns="http://schemas.openxmlformats.org/package/2006/relationships"><Relationship Id="rId3" Type="http://schemas.openxmlformats.org/officeDocument/2006/relationships/oleObject" Target="file:////Users/francisbarker/Repositories/Python/epsilon-phi/epsilon-phi-core/src/Scripts/Case%20Studies/3.%20Single%20Stock%20Analysis/Single%20Stock%20Analysis.xlsx" TargetMode="External"/><Relationship Id="rId2" Type="http://schemas.microsoft.com/office/2011/relationships/chartColorStyle" Target="colors11.xml"/><Relationship Id="rId1" Type="http://schemas.microsoft.com/office/2011/relationships/chartStyle" Target="style11.xml"/></Relationships>
</file>

<file path=ppt/charts/_rels/chart17.xml.rels><?xml version="1.0" encoding="UTF-8" standalone="yes"?>
<Relationships xmlns="http://schemas.openxmlformats.org/package/2006/relationships"><Relationship Id="rId3" Type="http://schemas.openxmlformats.org/officeDocument/2006/relationships/oleObject" Target="file:////Users/francisbarker/Repositories/Python/epsilon-phi/epsilon-phi-core/src/Scripts/Case%20Studies/3.%20Single%20Stock%20Analysis/Single%20Stock%20Analysis.xlsx" TargetMode="External"/><Relationship Id="rId2" Type="http://schemas.microsoft.com/office/2011/relationships/chartColorStyle" Target="colors12.xml"/><Relationship Id="rId1" Type="http://schemas.microsoft.com/office/2011/relationships/chartStyle" Target="style12.xml"/></Relationships>
</file>

<file path=ppt/charts/_rels/chart18.xml.rels><?xml version="1.0" encoding="UTF-8" standalone="yes"?>
<Relationships xmlns="http://schemas.openxmlformats.org/package/2006/relationships"><Relationship Id="rId3" Type="http://schemas.openxmlformats.org/officeDocument/2006/relationships/oleObject" Target="file:////Users/francisbarker/Repositories/Python/epsilon-phi/epsilon-phi-core/src/Scripts/Case%20Studies/3.%20Single%20Stock%20Analysis/Single%20Stock%20Analysis.xlsx" TargetMode="External"/><Relationship Id="rId2" Type="http://schemas.microsoft.com/office/2011/relationships/chartColorStyle" Target="colors13.xml"/><Relationship Id="rId1" Type="http://schemas.microsoft.com/office/2011/relationships/chartStyle" Target="style13.xml"/></Relationships>
</file>

<file path=ppt/charts/_rels/chart19.xml.rels><?xml version="1.0" encoding="UTF-8" standalone="yes"?>
<Relationships xmlns="http://schemas.openxmlformats.org/package/2006/relationships"><Relationship Id="rId3" Type="http://schemas.openxmlformats.org/officeDocument/2006/relationships/oleObject" Target="file:////Users/francisbarker/Repositories/Python/epsilon-phi/epsilon-phi-core/src/Scripts/Case%20Studies/3.%20Single%20Stock%20Analysis/Staged%20Sell%20Down.xlsx" TargetMode="External"/><Relationship Id="rId2" Type="http://schemas.microsoft.com/office/2011/relationships/chartColorStyle" Target="colors14.xml"/><Relationship Id="rId1" Type="http://schemas.microsoft.com/office/2011/relationships/chartStyle" Target="style14.xml"/></Relationships>
</file>

<file path=ppt/charts/_rels/chart20.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Users/francisbarker/Repositories/Python/epsilon-phi/epsilon-phi-core/src/Scripts/Case%20Studies/3.%20Single%20Stock%20Analysis/Single%20Stock%20Analysis.xlsx" TargetMode="External"/></Relationships>
</file>

<file path=ppt/charts/_rels/chart21.xml.rels><?xml version="1.0" encoding="UTF-8" standalone="yes"?>
<Relationships xmlns="http://schemas.openxmlformats.org/package/2006/relationships"><Relationship Id="rId3" Type="http://schemas.openxmlformats.org/officeDocument/2006/relationships/oleObject" Target="file:////Users/francisbarker/Repositories/Python/epsilon-phi/epsilon-phi-core/src/Scripts/Case%20Studies/4.%20Structured%20Notes/Autocallable/Strucutred%20Notes.xlsx" TargetMode="External"/><Relationship Id="rId2" Type="http://schemas.microsoft.com/office/2011/relationships/chartColorStyle" Target="colors15.xml"/><Relationship Id="rId1" Type="http://schemas.microsoft.com/office/2011/relationships/chartStyle" Target="style15.xml"/></Relationships>
</file>

<file path=ppt/charts/_rels/chart22.xml.rels><?xml version="1.0" encoding="UTF-8" standalone="yes"?>
<Relationships xmlns="http://schemas.openxmlformats.org/package/2006/relationships"><Relationship Id="rId3" Type="http://schemas.openxmlformats.org/officeDocument/2006/relationships/oleObject" Target="file:////Users/francisbarker/Repositories/Python/epsilon-phi/epsilon-phi-core/src/Scripts/Case%20Studies/4.%20Structured%20Notes/Autocallable/Strucutred%20Notes%20Report.xlsx" TargetMode="External"/><Relationship Id="rId2" Type="http://schemas.microsoft.com/office/2011/relationships/chartColorStyle" Target="colors16.xml"/><Relationship Id="rId1" Type="http://schemas.microsoft.com/office/2011/relationships/chartStyle" Target="style16.xml"/></Relationships>
</file>

<file path=ppt/charts/_rels/chart23.xml.rels><?xml version="1.0" encoding="UTF-8" standalone="yes"?>
<Relationships xmlns="http://schemas.openxmlformats.org/package/2006/relationships"><Relationship Id="rId3" Type="http://schemas.openxmlformats.org/officeDocument/2006/relationships/oleObject" Target="file:////Users/francisbarker/Repositories/Python/epsilon-phi/epsilon-phi-core/src/Scripts/Case%20Studies/4.%20Structured%20Notes/Autocallable/Strucutred%20Notes%20Report.xlsx" TargetMode="External"/><Relationship Id="rId2" Type="http://schemas.microsoft.com/office/2011/relationships/chartColorStyle" Target="colors17.xml"/><Relationship Id="rId1" Type="http://schemas.microsoft.com/office/2011/relationships/chartStyle" Target="style17.xml"/></Relationships>
</file>

<file path=ppt/charts/_rels/chart24.xml.rels><?xml version="1.0" encoding="UTF-8" standalone="yes"?>
<Relationships xmlns="http://schemas.openxmlformats.org/package/2006/relationships"><Relationship Id="rId3" Type="http://schemas.openxmlformats.org/officeDocument/2006/relationships/oleObject" Target="file:////Users/francisbarker/Repositories/Python/epsilon-phi/epsilon-phi-core/src/Scripts/Case%20Studies/4.%20Structured%20Notes/Autocallable/Strucutred%20Notes%20Report.xlsx" TargetMode="External"/><Relationship Id="rId2" Type="http://schemas.microsoft.com/office/2011/relationships/chartColorStyle" Target="colors18.xml"/><Relationship Id="rId1" Type="http://schemas.microsoft.com/office/2011/relationships/chartStyle" Target="style18.xml"/></Relationships>
</file>

<file path=ppt/charts/_rels/chart25.xml.rels><?xml version="1.0" encoding="UTF-8" standalone="yes"?>
<Relationships xmlns="http://schemas.openxmlformats.org/package/2006/relationships"><Relationship Id="rId3" Type="http://schemas.openxmlformats.org/officeDocument/2006/relationships/oleObject" Target="file:////Users/francisbarker/Repositories/Python/epsilon-phi/epsilon-phi-core/src/Scripts/Case%20Studies/4.%20Structured%20Notes/Autocallable/Strucutred%20Notes%20Report.xlsx" TargetMode="External"/><Relationship Id="rId2" Type="http://schemas.microsoft.com/office/2011/relationships/chartColorStyle" Target="colors19.xml"/><Relationship Id="rId1" Type="http://schemas.microsoft.com/office/2011/relationships/chartStyle" Target="style19.xml"/></Relationships>
</file>

<file path=ppt/charts/_rels/chart26.xml.rels><?xml version="1.0" encoding="UTF-8" standalone="yes"?>
<Relationships xmlns="http://schemas.openxmlformats.org/package/2006/relationships"><Relationship Id="rId3" Type="http://schemas.openxmlformats.org/officeDocument/2006/relationships/oleObject" Target="file:////Users/francisbarker/repo/epsilon-psi/epsilon-phi-core/src/Scripts/Case%20Studies/Private%20Assets/Private%20Assets%20Investing.xlsx" TargetMode="External"/><Relationship Id="rId2" Type="http://schemas.microsoft.com/office/2011/relationships/chartColorStyle" Target="colors20.xml"/><Relationship Id="rId1" Type="http://schemas.microsoft.com/office/2011/relationships/chartStyle" Target="style20.xml"/></Relationships>
</file>

<file path=ppt/charts/_rels/chart27.xml.rels><?xml version="1.0" encoding="UTF-8" standalone="yes"?>
<Relationships xmlns="http://schemas.openxmlformats.org/package/2006/relationships"><Relationship Id="rId3" Type="http://schemas.openxmlformats.org/officeDocument/2006/relationships/oleObject" Target="file:////Users/francisbarker/repo/epsilon-psi/epsilon-phi-core/src/Scripts/Case%20Studies/Private%20Assets/Private%20Assets%20Investing.xlsx" TargetMode="External"/><Relationship Id="rId2" Type="http://schemas.microsoft.com/office/2011/relationships/chartColorStyle" Target="colors21.xml"/><Relationship Id="rId1" Type="http://schemas.microsoft.com/office/2011/relationships/chartStyle" Target="style21.xml"/></Relationships>
</file>

<file path=ppt/charts/_rels/chart28.xml.rels><?xml version="1.0" encoding="UTF-8" standalone="yes"?>
<Relationships xmlns="http://schemas.openxmlformats.org/package/2006/relationships"><Relationship Id="rId3" Type="http://schemas.openxmlformats.org/officeDocument/2006/relationships/oleObject" Target="file:////Users/francisbarker/Repositories/Python/epsilon-phi/epsilon-phi-core/src/Scripts/Case%20Studies/Private%20Assets/Private%20Assets%20Investing.xlsx" TargetMode="External"/><Relationship Id="rId2" Type="http://schemas.microsoft.com/office/2011/relationships/chartColorStyle" Target="colors22.xml"/><Relationship Id="rId1" Type="http://schemas.microsoft.com/office/2011/relationships/chartStyle" Target="style22.xml"/></Relationships>
</file>

<file path=ppt/charts/_rels/chart29.xml.rels><?xml version="1.0" encoding="UTF-8" standalone="yes"?>
<Relationships xmlns="http://schemas.openxmlformats.org/package/2006/relationships"><Relationship Id="rId3" Type="http://schemas.openxmlformats.org/officeDocument/2006/relationships/oleObject" Target="file:////Users/francisbarker/repo/epsilon-psi/epsilon-phi-core/src/Scripts/Case%20Studies/Private%20Assets/Private%20Assets%20Investing.xlsx" TargetMode="External"/><Relationship Id="rId2" Type="http://schemas.microsoft.com/office/2011/relationships/chartColorStyle" Target="colors23.xml"/><Relationship Id="rId1" Type="http://schemas.microsoft.com/office/2011/relationships/chartStyle" Target="style23.xml"/></Relationships>
</file>

<file path=ppt/charts/_rels/chart30.xml.rels><?xml version="1.0" encoding="UTF-8" standalone="yes"?>
<Relationships xmlns="http://schemas.openxmlformats.org/package/2006/relationships"><Relationship Id="rId3" Type="http://schemas.openxmlformats.org/officeDocument/2006/relationships/oleObject" Target="file:////Users/francisbarker/repo/epsilon-psi/epsilon-phi-core/src/Scripts/Case%20Studies/Private%20Assets/Commitment%20Pacing%20Analysis.xlsx" TargetMode="External"/><Relationship Id="rId2" Type="http://schemas.microsoft.com/office/2011/relationships/chartColorStyle" Target="colors24.xml"/><Relationship Id="rId1" Type="http://schemas.microsoft.com/office/2011/relationships/chartStyle" Target="style24.xml"/></Relationships>
</file>

<file path=ppt/charts/_rels/chart31.xml.rels><?xml version="1.0" encoding="UTF-8" standalone="yes"?>
<Relationships xmlns="http://schemas.openxmlformats.org/package/2006/relationships"><Relationship Id="rId3" Type="http://schemas.openxmlformats.org/officeDocument/2006/relationships/oleObject" Target="file:////Users/francisbarker/Repositories/Python/epsilon-phi/epsilon-phi-core/src/Scripts/Case%20Studies/Private%20Assets/Commitment%20Pacing%20Analysis.xlsx" TargetMode="External"/><Relationship Id="rId2" Type="http://schemas.microsoft.com/office/2011/relationships/chartColorStyle" Target="colors25.xml"/><Relationship Id="rId1" Type="http://schemas.microsoft.com/office/2011/relationships/chartStyle" Target="style25.xml"/></Relationships>
</file>

<file path=ppt/charts/_rels/chart32.xml.rels><?xml version="1.0" encoding="UTF-8" standalone="yes"?>
<Relationships xmlns="http://schemas.openxmlformats.org/package/2006/relationships"><Relationship Id="rId3" Type="http://schemas.openxmlformats.org/officeDocument/2006/relationships/oleObject" Target="file:////Users/francisbarker/repo/epsilon-psi/epsilon-phi-core/src/Scripts/Case%20Studies/Private%20Assets/Commitment%20Pacing%20Analysis.xlsx" TargetMode="External"/><Relationship Id="rId2" Type="http://schemas.microsoft.com/office/2011/relationships/chartColorStyle" Target="colors26.xml"/><Relationship Id="rId1" Type="http://schemas.microsoft.com/office/2011/relationships/chartStyle" Target="style26.xml"/><Relationship Id="rId4" Type="http://schemas.openxmlformats.org/officeDocument/2006/relationships/chartUserShapes" Target="../drawings/drawing2.xml"/></Relationships>
</file>

<file path=ppt/charts/_rels/chart33.xml.rels><?xml version="1.0" encoding="UTF-8" standalone="yes"?>
<Relationships xmlns="http://schemas.openxmlformats.org/package/2006/relationships"><Relationship Id="rId1" Type="http://schemas.openxmlformats.org/officeDocument/2006/relationships/oleObject" Target="file:////Users/francisbarker/Repositories/Python/epsilon-phi/epsilon-phi-core/src/Scripts/Case%20Studies/Private%20Assets/Comittment%20Pacing%20Portfolios.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spPr>
            <a:solidFill>
              <a:schemeClr val="accent1"/>
            </a:solidFill>
            <a:ln w="3175">
              <a:solidFill>
                <a:schemeClr val="bg1">
                  <a:lumMod val="95000"/>
                </a:schemeClr>
              </a:solidFill>
            </a:ln>
            <a:effectLst/>
          </c:spPr>
          <c:invertIfNegative val="0"/>
          <c:dPt>
            <c:idx val="1"/>
            <c:invertIfNegative val="0"/>
            <c:bubble3D val="0"/>
            <c:spPr>
              <a:solidFill>
                <a:srgbClr val="0B3040"/>
              </a:solidFill>
              <a:ln w="3175">
                <a:solidFill>
                  <a:schemeClr val="bg1">
                    <a:lumMod val="95000"/>
                  </a:schemeClr>
                </a:solidFill>
              </a:ln>
              <a:effectLst/>
            </c:spPr>
            <c:extLst>
              <c:ext xmlns:c16="http://schemas.microsoft.com/office/drawing/2014/chart" uri="{C3380CC4-5D6E-409C-BE32-E72D297353CC}">
                <c16:uniqueId val="{00000001-9E69-FB4D-AAB8-C476AD83A2A6}"/>
              </c:ext>
            </c:extLst>
          </c:dPt>
          <c:dPt>
            <c:idx val="2"/>
            <c:invertIfNegative val="0"/>
            <c:bubble3D val="0"/>
            <c:spPr>
              <a:solidFill>
                <a:srgbClr val="215C98"/>
              </a:solidFill>
              <a:ln w="3175">
                <a:solidFill>
                  <a:schemeClr val="bg1">
                    <a:lumMod val="95000"/>
                  </a:schemeClr>
                </a:solidFill>
              </a:ln>
              <a:effectLst/>
            </c:spPr>
            <c:extLst>
              <c:ext xmlns:c16="http://schemas.microsoft.com/office/drawing/2014/chart" uri="{C3380CC4-5D6E-409C-BE32-E72D297353CC}">
                <c16:uniqueId val="{00000003-9E69-FB4D-AAB8-C476AD83A2A6}"/>
              </c:ext>
            </c:extLst>
          </c:dPt>
          <c:dPt>
            <c:idx val="3"/>
            <c:invertIfNegative val="0"/>
            <c:bubble3D val="0"/>
            <c:spPr>
              <a:solidFill>
                <a:srgbClr val="4D93D9"/>
              </a:solidFill>
              <a:ln w="3175">
                <a:solidFill>
                  <a:schemeClr val="bg1">
                    <a:lumMod val="95000"/>
                  </a:schemeClr>
                </a:solidFill>
              </a:ln>
              <a:effectLst/>
            </c:spPr>
            <c:extLst>
              <c:ext xmlns:c16="http://schemas.microsoft.com/office/drawing/2014/chart" uri="{C3380CC4-5D6E-409C-BE32-E72D297353CC}">
                <c16:uniqueId val="{00000005-9E69-FB4D-AAB8-C476AD83A2A6}"/>
              </c:ext>
            </c:extLst>
          </c:dPt>
          <c:dPt>
            <c:idx val="4"/>
            <c:invertIfNegative val="0"/>
            <c:bubble3D val="0"/>
            <c:spPr>
              <a:solidFill>
                <a:srgbClr val="A6C9EC"/>
              </a:solidFill>
              <a:ln w="3175">
                <a:solidFill>
                  <a:schemeClr val="bg1">
                    <a:lumMod val="95000"/>
                  </a:schemeClr>
                </a:solidFill>
              </a:ln>
              <a:effectLst/>
            </c:spPr>
            <c:extLst>
              <c:ext xmlns:c16="http://schemas.microsoft.com/office/drawing/2014/chart" uri="{C3380CC4-5D6E-409C-BE32-E72D297353CC}">
                <c16:uniqueId val="{00000007-9E69-FB4D-AAB8-C476AD83A2A6}"/>
              </c:ext>
            </c:extLst>
          </c:dPt>
          <c:dPt>
            <c:idx val="5"/>
            <c:invertIfNegative val="0"/>
            <c:bubble3D val="0"/>
            <c:spPr>
              <a:solidFill>
                <a:srgbClr val="DAE9F8"/>
              </a:solidFill>
              <a:ln w="3175">
                <a:solidFill>
                  <a:schemeClr val="bg1">
                    <a:lumMod val="95000"/>
                  </a:schemeClr>
                </a:solidFill>
              </a:ln>
              <a:effectLst/>
            </c:spPr>
            <c:extLst>
              <c:ext xmlns:c16="http://schemas.microsoft.com/office/drawing/2014/chart" uri="{C3380CC4-5D6E-409C-BE32-E72D297353CC}">
                <c16:uniqueId val="{00000009-9E69-FB4D-AAB8-C476AD83A2A6}"/>
              </c:ext>
            </c:extLst>
          </c:dPt>
          <c:dPt>
            <c:idx val="6"/>
            <c:invertIfNegative val="0"/>
            <c:bubble3D val="0"/>
            <c:spPr>
              <a:solidFill>
                <a:schemeClr val="bg1">
                  <a:lumMod val="85000"/>
                </a:schemeClr>
              </a:solidFill>
              <a:ln w="3175">
                <a:solidFill>
                  <a:schemeClr val="bg1">
                    <a:lumMod val="95000"/>
                  </a:schemeClr>
                </a:solidFill>
              </a:ln>
              <a:effectLst/>
            </c:spPr>
            <c:extLst>
              <c:ext xmlns:c16="http://schemas.microsoft.com/office/drawing/2014/chart" uri="{C3380CC4-5D6E-409C-BE32-E72D297353CC}">
                <c16:uniqueId val="{0000000B-9E69-FB4D-AAB8-C476AD83A2A6}"/>
              </c:ext>
            </c:extLst>
          </c:dPt>
          <c:val>
            <c:numRef>
              <c:f>Sheet2!$D$3:$D$10</c:f>
              <c:numCache>
                <c:formatCode>0.0%</c:formatCode>
                <c:ptCount val="8"/>
                <c:pt idx="0" formatCode="General">
                  <c:v>#N/A</c:v>
                </c:pt>
                <c:pt idx="1">
                  <c:v>1.47229339532977E-2</c:v>
                </c:pt>
                <c:pt idx="2">
                  <c:v>-2.2850820509186802E-3</c:v>
                </c:pt>
                <c:pt idx="3">
                  <c:v>4.4626087906761997E-3</c:v>
                </c:pt>
                <c:pt idx="4">
                  <c:v>2.562196973119E-3</c:v>
                </c:pt>
                <c:pt idx="5">
                  <c:v>-4.29657055318064E-4</c:v>
                </c:pt>
                <c:pt idx="6">
                  <c:v>1.6512662048122099E-3</c:v>
                </c:pt>
                <c:pt idx="7" formatCode="General">
                  <c:v>#N/A</c:v>
                </c:pt>
              </c:numCache>
            </c:numRef>
          </c:val>
          <c:extLst>
            <c:ext xmlns:c16="http://schemas.microsoft.com/office/drawing/2014/chart" uri="{C3380CC4-5D6E-409C-BE32-E72D297353CC}">
              <c16:uniqueId val="{0000000C-9E69-FB4D-AAB8-C476AD83A2A6}"/>
            </c:ext>
          </c:extLst>
        </c:ser>
        <c:dLbls>
          <c:showLegendKey val="0"/>
          <c:showVal val="0"/>
          <c:showCatName val="0"/>
          <c:showSerName val="0"/>
          <c:showPercent val="0"/>
          <c:showBubbleSize val="0"/>
        </c:dLbls>
        <c:gapWidth val="0"/>
        <c:overlap val="-47"/>
        <c:axId val="17650656"/>
        <c:axId val="17652368"/>
      </c:barChart>
      <c:catAx>
        <c:axId val="17650656"/>
        <c:scaling>
          <c:orientation val="minMax"/>
        </c:scaling>
        <c:delete val="0"/>
        <c:axPos val="l"/>
        <c:majorTickMark val="none"/>
        <c:minorTickMark val="none"/>
        <c:tickLblPos val="none"/>
        <c:spPr>
          <a:noFill/>
          <a:ln w="12700" cap="flat" cmpd="sng" algn="ctr">
            <a:solidFill>
              <a:schemeClr val="dk1"/>
            </a:solidFill>
            <a:prstDash val="solid"/>
            <a:miter lim="800000"/>
          </a:ln>
          <a:effectLst/>
        </c:spPr>
        <c:txPr>
          <a:bodyPr rot="-6000000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crossAx val="17652368"/>
        <c:crosses val="autoZero"/>
        <c:auto val="1"/>
        <c:lblAlgn val="ctr"/>
        <c:lblOffset val="100"/>
        <c:noMultiLvlLbl val="0"/>
      </c:catAx>
      <c:valAx>
        <c:axId val="17652368"/>
        <c:scaling>
          <c:orientation val="minMax"/>
        </c:scaling>
        <c:delete val="0"/>
        <c:axPos val="b"/>
        <c:numFmt formatCode="General" sourceLinked="1"/>
        <c:majorTickMark val="none"/>
        <c:minorTickMark val="none"/>
        <c:tickLblPos val="none"/>
        <c:spPr>
          <a:noFill/>
          <a:ln w="12700" cap="flat" cmpd="sng" algn="ctr">
            <a:solidFill>
              <a:schemeClr val="dk1"/>
            </a:solidFill>
            <a:prstDash val="solid"/>
            <a:miter lim="800000"/>
          </a:ln>
          <a:effectLst/>
        </c:spPr>
        <c:txPr>
          <a:bodyPr rot="-6000000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crossAx val="1765065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b="0" i="0">
          <a:solidFill>
            <a:schemeClr val="tx1"/>
          </a:solidFill>
          <a:latin typeface="Aptos" panose="020B0004020202020204" pitchFamily="34" charset="0"/>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spPr>
            <a:solidFill>
              <a:schemeClr val="accent1"/>
            </a:solidFill>
            <a:ln w="3175">
              <a:solidFill>
                <a:schemeClr val="bg1">
                  <a:lumMod val="85000"/>
                </a:schemeClr>
              </a:solidFill>
            </a:ln>
            <a:effectLst/>
          </c:spPr>
          <c:invertIfNegative val="0"/>
          <c:dPt>
            <c:idx val="1"/>
            <c:invertIfNegative val="0"/>
            <c:bubble3D val="0"/>
            <c:spPr>
              <a:solidFill>
                <a:srgbClr val="0B3040"/>
              </a:solidFill>
              <a:ln w="3175">
                <a:solidFill>
                  <a:schemeClr val="bg1">
                    <a:lumMod val="85000"/>
                  </a:schemeClr>
                </a:solidFill>
              </a:ln>
              <a:effectLst/>
            </c:spPr>
            <c:extLst>
              <c:ext xmlns:c16="http://schemas.microsoft.com/office/drawing/2014/chart" uri="{C3380CC4-5D6E-409C-BE32-E72D297353CC}">
                <c16:uniqueId val="{00000001-A000-DA46-93B4-5D3A1E494154}"/>
              </c:ext>
            </c:extLst>
          </c:dPt>
          <c:dPt>
            <c:idx val="2"/>
            <c:invertIfNegative val="0"/>
            <c:bubble3D val="0"/>
            <c:spPr>
              <a:solidFill>
                <a:srgbClr val="215C98"/>
              </a:solidFill>
              <a:ln w="3175">
                <a:solidFill>
                  <a:schemeClr val="bg1">
                    <a:lumMod val="85000"/>
                  </a:schemeClr>
                </a:solidFill>
              </a:ln>
              <a:effectLst/>
            </c:spPr>
            <c:extLst>
              <c:ext xmlns:c16="http://schemas.microsoft.com/office/drawing/2014/chart" uri="{C3380CC4-5D6E-409C-BE32-E72D297353CC}">
                <c16:uniqueId val="{00000003-A000-DA46-93B4-5D3A1E494154}"/>
              </c:ext>
            </c:extLst>
          </c:dPt>
          <c:dPt>
            <c:idx val="3"/>
            <c:invertIfNegative val="0"/>
            <c:bubble3D val="0"/>
            <c:spPr>
              <a:solidFill>
                <a:srgbClr val="4D93D9"/>
              </a:solidFill>
              <a:ln w="3175">
                <a:solidFill>
                  <a:schemeClr val="bg1">
                    <a:lumMod val="85000"/>
                  </a:schemeClr>
                </a:solidFill>
              </a:ln>
              <a:effectLst/>
            </c:spPr>
            <c:extLst>
              <c:ext xmlns:c16="http://schemas.microsoft.com/office/drawing/2014/chart" uri="{C3380CC4-5D6E-409C-BE32-E72D297353CC}">
                <c16:uniqueId val="{00000005-A000-DA46-93B4-5D3A1E494154}"/>
              </c:ext>
            </c:extLst>
          </c:dPt>
          <c:dPt>
            <c:idx val="4"/>
            <c:invertIfNegative val="0"/>
            <c:bubble3D val="0"/>
            <c:spPr>
              <a:solidFill>
                <a:srgbClr val="A6C9EC"/>
              </a:solidFill>
              <a:ln w="3175">
                <a:solidFill>
                  <a:schemeClr val="bg1">
                    <a:lumMod val="85000"/>
                  </a:schemeClr>
                </a:solidFill>
              </a:ln>
              <a:effectLst/>
            </c:spPr>
            <c:extLst>
              <c:ext xmlns:c16="http://schemas.microsoft.com/office/drawing/2014/chart" uri="{C3380CC4-5D6E-409C-BE32-E72D297353CC}">
                <c16:uniqueId val="{00000007-A000-DA46-93B4-5D3A1E494154}"/>
              </c:ext>
            </c:extLst>
          </c:dPt>
          <c:dPt>
            <c:idx val="5"/>
            <c:invertIfNegative val="0"/>
            <c:bubble3D val="0"/>
            <c:spPr>
              <a:solidFill>
                <a:srgbClr val="DAE9F8"/>
              </a:solidFill>
              <a:ln w="3175">
                <a:solidFill>
                  <a:schemeClr val="bg1">
                    <a:lumMod val="85000"/>
                  </a:schemeClr>
                </a:solidFill>
              </a:ln>
              <a:effectLst/>
            </c:spPr>
            <c:extLst>
              <c:ext xmlns:c16="http://schemas.microsoft.com/office/drawing/2014/chart" uri="{C3380CC4-5D6E-409C-BE32-E72D297353CC}">
                <c16:uniqueId val="{00000009-A000-DA46-93B4-5D3A1E494154}"/>
              </c:ext>
            </c:extLst>
          </c:dPt>
          <c:dPt>
            <c:idx val="6"/>
            <c:invertIfNegative val="0"/>
            <c:bubble3D val="0"/>
            <c:spPr>
              <a:solidFill>
                <a:schemeClr val="bg1">
                  <a:lumMod val="85000"/>
                </a:schemeClr>
              </a:solidFill>
              <a:ln w="3175">
                <a:solidFill>
                  <a:schemeClr val="bg1">
                    <a:lumMod val="85000"/>
                  </a:schemeClr>
                </a:solidFill>
              </a:ln>
              <a:effectLst/>
            </c:spPr>
            <c:extLst>
              <c:ext xmlns:c16="http://schemas.microsoft.com/office/drawing/2014/chart" uri="{C3380CC4-5D6E-409C-BE32-E72D297353CC}">
                <c16:uniqueId val="{0000000B-A000-DA46-93B4-5D3A1E494154}"/>
              </c:ext>
            </c:extLst>
          </c:dPt>
          <c:val>
            <c:numRef>
              <c:f>Sheet2!$E$3:$E$10</c:f>
              <c:numCache>
                <c:formatCode>0.0%</c:formatCode>
                <c:ptCount val="8"/>
                <c:pt idx="0" formatCode="General">
                  <c:v>#N/A</c:v>
                </c:pt>
                <c:pt idx="1">
                  <c:v>2.3749941759744E-2</c:v>
                </c:pt>
                <c:pt idx="2">
                  <c:v>1.67532432398701E-2</c:v>
                </c:pt>
                <c:pt idx="3">
                  <c:v>6.7089062690208899E-4</c:v>
                </c:pt>
                <c:pt idx="4">
                  <c:v>1.78828545086307E-4</c:v>
                </c:pt>
                <c:pt idx="5">
                  <c:v>9.3892461246148696E-4</c:v>
                </c:pt>
                <c:pt idx="6">
                  <c:v>6.4800589036583898E-3</c:v>
                </c:pt>
                <c:pt idx="7" formatCode="General">
                  <c:v>#N/A</c:v>
                </c:pt>
              </c:numCache>
            </c:numRef>
          </c:val>
          <c:extLst>
            <c:ext xmlns:c16="http://schemas.microsoft.com/office/drawing/2014/chart" uri="{C3380CC4-5D6E-409C-BE32-E72D297353CC}">
              <c16:uniqueId val="{0000000C-A000-DA46-93B4-5D3A1E494154}"/>
            </c:ext>
          </c:extLst>
        </c:ser>
        <c:dLbls>
          <c:showLegendKey val="0"/>
          <c:showVal val="0"/>
          <c:showCatName val="0"/>
          <c:showSerName val="0"/>
          <c:showPercent val="0"/>
          <c:showBubbleSize val="0"/>
        </c:dLbls>
        <c:gapWidth val="0"/>
        <c:overlap val="-47"/>
        <c:axId val="17650656"/>
        <c:axId val="17652368"/>
      </c:barChart>
      <c:catAx>
        <c:axId val="17650656"/>
        <c:scaling>
          <c:orientation val="minMax"/>
        </c:scaling>
        <c:delete val="0"/>
        <c:axPos val="l"/>
        <c:majorTickMark val="none"/>
        <c:minorTickMark val="none"/>
        <c:tickLblPos val="none"/>
        <c:spPr>
          <a:noFill/>
          <a:ln w="12700" cap="flat" cmpd="sng" algn="ctr">
            <a:solidFill>
              <a:schemeClr val="dk1"/>
            </a:solidFill>
            <a:prstDash val="solid"/>
            <a:miter lim="800000"/>
          </a:ln>
          <a:effectLst/>
        </c:spPr>
        <c:txPr>
          <a:bodyPr rot="-6000000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crossAx val="17652368"/>
        <c:crosses val="autoZero"/>
        <c:auto val="1"/>
        <c:lblAlgn val="ctr"/>
        <c:lblOffset val="100"/>
        <c:noMultiLvlLbl val="0"/>
      </c:catAx>
      <c:valAx>
        <c:axId val="17652368"/>
        <c:scaling>
          <c:orientation val="minMax"/>
          <c:max val="0.03"/>
          <c:min val="-5.0000000000000001E-3"/>
        </c:scaling>
        <c:delete val="0"/>
        <c:axPos val="b"/>
        <c:numFmt formatCode="General" sourceLinked="1"/>
        <c:majorTickMark val="none"/>
        <c:minorTickMark val="none"/>
        <c:tickLblPos val="none"/>
        <c:spPr>
          <a:noFill/>
          <a:ln w="12700" cap="flat" cmpd="sng" algn="ctr">
            <a:solidFill>
              <a:schemeClr val="dk1"/>
            </a:solidFill>
            <a:prstDash val="solid"/>
            <a:miter lim="800000"/>
          </a:ln>
          <a:effectLst/>
        </c:spPr>
        <c:txPr>
          <a:bodyPr rot="-6000000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crossAx val="17650656"/>
        <c:crosses val="autoZero"/>
        <c:crossBetween val="between"/>
      </c:valAx>
    </c:plotArea>
    <c:plotVisOnly val="1"/>
    <c:dispBlanksAs val="gap"/>
    <c:showDLblsOverMax val="0"/>
    <c:extLst/>
  </c:chart>
  <c:spPr>
    <a:noFill/>
    <a:ln w="9525" cap="flat" cmpd="sng" algn="ctr">
      <a:noFill/>
      <a:round/>
    </a:ln>
    <a:effectLst/>
  </c:spPr>
  <c:txPr>
    <a:bodyPr/>
    <a:lstStyle/>
    <a:p>
      <a:pPr>
        <a:defRPr b="0" i="0">
          <a:solidFill>
            <a:schemeClr val="tx1"/>
          </a:solidFill>
          <a:latin typeface="Aptos" panose="020B0004020202020204" pitchFamily="34" charset="0"/>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7501228346456691"/>
          <c:y val="4.1509433962264149E-2"/>
          <c:w val="0.66847433070866147"/>
          <c:h val="0.87094993314514935"/>
        </c:manualLayout>
      </c:layout>
      <c:barChart>
        <c:barDir val="bar"/>
        <c:grouping val="clustered"/>
        <c:varyColors val="0"/>
        <c:ser>
          <c:idx val="0"/>
          <c:order val="0"/>
          <c:spPr>
            <a:solidFill>
              <a:schemeClr val="tx2">
                <a:lumMod val="50000"/>
              </a:schemeClr>
            </a:solidFill>
            <a:ln w="6350">
              <a:solidFill>
                <a:schemeClr val="bg1">
                  <a:lumMod val="75000"/>
                </a:schemeClr>
              </a:solid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tx1">
                        <a:lumMod val="75000"/>
                        <a:lumOff val="25000"/>
                      </a:schemeClr>
                    </a:solidFill>
                    <a:latin typeface="Aptos" panose="020B0004020202020204" pitchFamily="34" charset="0"/>
                    <a:ea typeface="+mn-ea"/>
                    <a:cs typeface="Arial" panose="020B060402020202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'Risk Decomposition'!$A$2:$A$23</c:f>
              <c:strCache>
                <c:ptCount val="19"/>
                <c:pt idx="0">
                  <c:v>US Dollar Debt</c:v>
                </c:pt>
                <c:pt idx="1">
                  <c:v>US High Yield</c:v>
                </c:pt>
                <c:pt idx="2">
                  <c:v>US Equity</c:v>
                </c:pt>
                <c:pt idx="3">
                  <c:v>Europe ex-UK Equity</c:v>
                </c:pt>
                <c:pt idx="4">
                  <c:v>UK Equity</c:v>
                </c:pt>
                <c:pt idx="5">
                  <c:v>Japanese Equity</c:v>
                </c:pt>
                <c:pt idx="6">
                  <c:v>Asia-Pacific Equity</c:v>
                </c:pt>
                <c:pt idx="7">
                  <c:v>Emerging Market Equity</c:v>
                </c:pt>
                <c:pt idx="8">
                  <c:v>Global REITs</c:v>
                </c:pt>
                <c:pt idx="9">
                  <c:v>Infrastructure Equity</c:v>
                </c:pt>
                <c:pt idx="10">
                  <c:v>Event Driven</c:v>
                </c:pt>
                <c:pt idx="11">
                  <c:v>Equity Long/Short</c:v>
                </c:pt>
                <c:pt idx="12">
                  <c:v>Tactical Trading</c:v>
                </c:pt>
                <c:pt idx="13">
                  <c:v>Buyout</c:v>
                </c:pt>
                <c:pt idx="14">
                  <c:v>Growth</c:v>
                </c:pt>
                <c:pt idx="15">
                  <c:v>Venture</c:v>
                </c:pt>
                <c:pt idx="16">
                  <c:v>Private Credit</c:v>
                </c:pt>
                <c:pt idx="17">
                  <c:v>Core Real Estate</c:v>
                </c:pt>
                <c:pt idx="18">
                  <c:v>Infrastructure</c:v>
                </c:pt>
              </c:strCache>
            </c:strRef>
          </c:cat>
          <c:val>
            <c:numRef>
              <c:f>'Risk Decomposition'!$B$2:$B$23</c:f>
              <c:numCache>
                <c:formatCode>0%</c:formatCode>
                <c:ptCount val="19"/>
                <c:pt idx="0">
                  <c:v>8.6024742893045791E-3</c:v>
                </c:pt>
                <c:pt idx="1">
                  <c:v>3.2801500345226997E-2</c:v>
                </c:pt>
                <c:pt idx="2">
                  <c:v>0.4582721463401897</c:v>
                </c:pt>
                <c:pt idx="3">
                  <c:v>7.3157780722153398E-2</c:v>
                </c:pt>
                <c:pt idx="4">
                  <c:v>1.87236840825202E-2</c:v>
                </c:pt>
                <c:pt idx="5">
                  <c:v>2.97933991652987E-2</c:v>
                </c:pt>
                <c:pt idx="6">
                  <c:v>1.54976214370223E-2</c:v>
                </c:pt>
                <c:pt idx="7">
                  <c:v>1.97275781635846E-2</c:v>
                </c:pt>
                <c:pt idx="8">
                  <c:v>1.01151456589024E-2</c:v>
                </c:pt>
                <c:pt idx="9">
                  <c:v>1.17981976649371E-2</c:v>
                </c:pt>
                <c:pt idx="10">
                  <c:v>5.1275847854916597E-3</c:v>
                </c:pt>
                <c:pt idx="11">
                  <c:v>1.5793800933559501E-2</c:v>
                </c:pt>
                <c:pt idx="12">
                  <c:v>3.4977493858902998E-3</c:v>
                </c:pt>
                <c:pt idx="13">
                  <c:v>0.15256482789336701</c:v>
                </c:pt>
                <c:pt idx="14">
                  <c:v>5.3093620137906E-2</c:v>
                </c:pt>
                <c:pt idx="15">
                  <c:v>1.5460685206523699E-2</c:v>
                </c:pt>
                <c:pt idx="16">
                  <c:v>3.23569923114434E-2</c:v>
                </c:pt>
                <c:pt idx="17">
                  <c:v>2.0805473063830501E-2</c:v>
                </c:pt>
                <c:pt idx="18">
                  <c:v>2.28097384128455E-2</c:v>
                </c:pt>
              </c:numCache>
            </c:numRef>
          </c:val>
          <c:extLst>
            <c:ext xmlns:c16="http://schemas.microsoft.com/office/drawing/2014/chart" uri="{C3380CC4-5D6E-409C-BE32-E72D297353CC}">
              <c16:uniqueId val="{00000000-2583-B54D-ABC2-41ED282D4E51}"/>
            </c:ext>
          </c:extLst>
        </c:ser>
        <c:dLbls>
          <c:showLegendKey val="0"/>
          <c:showVal val="0"/>
          <c:showCatName val="0"/>
          <c:showSerName val="0"/>
          <c:showPercent val="0"/>
          <c:showBubbleSize val="0"/>
        </c:dLbls>
        <c:gapWidth val="57"/>
        <c:axId val="241575423"/>
        <c:axId val="241577183"/>
      </c:barChart>
      <c:catAx>
        <c:axId val="241575423"/>
        <c:scaling>
          <c:orientation val="minMax"/>
        </c:scaling>
        <c:delete val="0"/>
        <c:axPos val="l"/>
        <c:majorGridlines>
          <c:spPr>
            <a:ln w="6350" cap="flat" cmpd="sng" algn="ctr">
              <a:solidFill>
                <a:schemeClr val="bg1">
                  <a:lumMod val="75000"/>
                </a:schemeClr>
              </a:solidFill>
              <a:round/>
            </a:ln>
            <a:effectLst/>
          </c:spPr>
        </c:majorGridlines>
        <c:numFmt formatCode="General" sourceLinked="1"/>
        <c:majorTickMark val="cross"/>
        <c:minorTickMark val="none"/>
        <c:tickLblPos val="nextTo"/>
        <c:spPr>
          <a:noFill/>
          <a:ln w="9525" cap="flat" cmpd="sng" algn="ctr">
            <a:solidFill>
              <a:schemeClr val="dk1">
                <a:shade val="95000"/>
                <a:satMod val="10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Arial" panose="020B0604020202020204" pitchFamily="34" charset="0"/>
              </a:defRPr>
            </a:pPr>
            <a:endParaRPr lang="en-US"/>
          </a:p>
        </c:txPr>
        <c:crossAx val="241577183"/>
        <c:crosses val="autoZero"/>
        <c:auto val="1"/>
        <c:lblAlgn val="ctr"/>
        <c:lblOffset val="100"/>
        <c:noMultiLvlLbl val="0"/>
      </c:catAx>
      <c:valAx>
        <c:axId val="241577183"/>
        <c:scaling>
          <c:orientation val="minMax"/>
        </c:scaling>
        <c:delete val="0"/>
        <c:axPos val="b"/>
        <c:numFmt formatCode="0%" sourceLinked="1"/>
        <c:majorTickMark val="none"/>
        <c:minorTickMark val="none"/>
        <c:tickLblPos val="nextTo"/>
        <c:spPr>
          <a:noFill/>
          <a:ln w="9525" cap="flat" cmpd="sng" algn="ctr">
            <a:solidFill>
              <a:schemeClr val="dk1">
                <a:shade val="95000"/>
                <a:satMod val="105000"/>
              </a:schemeClr>
            </a:solidFill>
            <a:prstDash val="soli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Arial" panose="020B0604020202020204" pitchFamily="34" charset="0"/>
              </a:defRPr>
            </a:pPr>
            <a:endParaRPr lang="en-US"/>
          </a:p>
        </c:txPr>
        <c:crossAx val="241575423"/>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800" b="0" i="0">
          <a:latin typeface="Aptos" panose="020B0004020202020204" pitchFamily="34" charset="0"/>
          <a:cs typeface="Arial" panose="020B0604020202020204" pitchFamily="34" charset="0"/>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8344231841796694E-2"/>
          <c:y val="5.011389521640091E-2"/>
          <c:w val="0.92331153631640661"/>
          <c:h val="0.69963830333842636"/>
        </c:manualLayout>
      </c:layout>
      <c:barChart>
        <c:barDir val="col"/>
        <c:grouping val="clustered"/>
        <c:varyColors val="0"/>
        <c:ser>
          <c:idx val="0"/>
          <c:order val="0"/>
          <c:spPr>
            <a:solidFill>
              <a:schemeClr val="accent6">
                <a:lumMod val="75000"/>
              </a:schemeClr>
            </a:solidFill>
            <a:ln w="6350">
              <a:solidFill>
                <a:schemeClr val="bg1">
                  <a:lumMod val="75000"/>
                </a:schemeClr>
              </a:solid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tx1">
                        <a:lumMod val="75000"/>
                        <a:lumOff val="25000"/>
                      </a:schemeClr>
                    </a:solidFill>
                    <a:latin typeface="Aptos" panose="020B0004020202020204" pitchFamily="34" charset="0"/>
                    <a:ea typeface="+mn-ea"/>
                    <a:cs typeface="Arial" panose="020B060402020202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'Currency Hedging'!$B$3:$B$6</c:f>
              <c:numCache>
                <c:formatCode>0%</c:formatCode>
                <c:ptCount val="4"/>
                <c:pt idx="0">
                  <c:v>0</c:v>
                </c:pt>
                <c:pt idx="1">
                  <c:v>0.5</c:v>
                </c:pt>
                <c:pt idx="2">
                  <c:v>0.7</c:v>
                </c:pt>
                <c:pt idx="3">
                  <c:v>1</c:v>
                </c:pt>
              </c:numCache>
            </c:numRef>
          </c:cat>
          <c:val>
            <c:numRef>
              <c:f>'Currency Hedging'!$C$3:$C$6</c:f>
              <c:numCache>
                <c:formatCode>0.0%</c:formatCode>
                <c:ptCount val="4"/>
                <c:pt idx="0">
                  <c:v>7.61400749455894E-2</c:v>
                </c:pt>
                <c:pt idx="1">
                  <c:v>7.5265245665851105E-2</c:v>
                </c:pt>
                <c:pt idx="2">
                  <c:v>7.4936639097747296E-2</c:v>
                </c:pt>
                <c:pt idx="3">
                  <c:v>7.4466879106657904E-2</c:v>
                </c:pt>
              </c:numCache>
            </c:numRef>
          </c:val>
          <c:extLst>
            <c:ext xmlns:c16="http://schemas.microsoft.com/office/drawing/2014/chart" uri="{C3380CC4-5D6E-409C-BE32-E72D297353CC}">
              <c16:uniqueId val="{00000000-7DCA-7A4E-96FE-893893E15044}"/>
            </c:ext>
          </c:extLst>
        </c:ser>
        <c:dLbls>
          <c:showLegendKey val="0"/>
          <c:showVal val="0"/>
          <c:showCatName val="0"/>
          <c:showSerName val="0"/>
          <c:showPercent val="0"/>
          <c:showBubbleSize val="0"/>
        </c:dLbls>
        <c:gapWidth val="173"/>
        <c:overlap val="-27"/>
        <c:axId val="1996417584"/>
        <c:axId val="1997040144"/>
      </c:barChart>
      <c:catAx>
        <c:axId val="1996417584"/>
        <c:scaling>
          <c:orientation val="minMax"/>
        </c:scaling>
        <c:delete val="0"/>
        <c:axPos val="b"/>
        <c:title>
          <c:tx>
            <c:rich>
              <a:bodyPr rot="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Arial" panose="020B0604020202020204" pitchFamily="34" charset="0"/>
                  </a:defRPr>
                </a:pPr>
                <a:r>
                  <a:rPr lang="en-GB" dirty="0"/>
                  <a:t>Portfolio Currency Hedging Level</a:t>
                </a:r>
              </a:p>
            </c:rich>
          </c:tx>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Arial" panose="020B0604020202020204" pitchFamily="34" charset="0"/>
                </a:defRPr>
              </a:pPr>
              <a:endParaRPr lang="en-GB"/>
            </a:p>
          </c:txPr>
        </c:title>
        <c:numFmt formatCode="0%" sourceLinked="1"/>
        <c:majorTickMark val="none"/>
        <c:minorTickMark val="none"/>
        <c:tickLblPos val="nextTo"/>
        <c:spPr>
          <a:noFill/>
          <a:ln w="9525" cap="flat" cmpd="sng" algn="ctr">
            <a:solidFill>
              <a:schemeClr val="dk1">
                <a:shade val="95000"/>
                <a:satMod val="10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Arial" panose="020B0604020202020204" pitchFamily="34" charset="0"/>
              </a:defRPr>
            </a:pPr>
            <a:endParaRPr lang="en-US"/>
          </a:p>
        </c:txPr>
        <c:crossAx val="1997040144"/>
        <c:crosses val="autoZero"/>
        <c:auto val="1"/>
        <c:lblAlgn val="ctr"/>
        <c:lblOffset val="100"/>
        <c:noMultiLvlLbl val="0"/>
      </c:catAx>
      <c:valAx>
        <c:axId val="1997040144"/>
        <c:scaling>
          <c:orientation val="minMax"/>
        </c:scaling>
        <c:delete val="1"/>
        <c:axPos val="l"/>
        <c:numFmt formatCode="0.0%" sourceLinked="1"/>
        <c:majorTickMark val="none"/>
        <c:minorTickMark val="none"/>
        <c:tickLblPos val="nextTo"/>
        <c:crossAx val="1996417584"/>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800" b="0" i="0">
          <a:latin typeface="Aptos" panose="020B0004020202020204" pitchFamily="34" charset="0"/>
          <a:cs typeface="Arial" panose="020B0604020202020204" pitchFamily="34" charset="0"/>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spPr>
            <a:solidFill>
              <a:srgbClr val="C00000"/>
            </a:solidFill>
            <a:ln>
              <a:noFill/>
            </a:ln>
            <a:effectLst/>
          </c:spPr>
          <c:invertIfNegative val="0"/>
          <c:cat>
            <c:strRef>
              <c:f>'Risk Decomposition'!$A$41:$A$46</c:f>
              <c:strCache>
                <c:ptCount val="6"/>
                <c:pt idx="0">
                  <c:v>EUR</c:v>
                </c:pt>
                <c:pt idx="1">
                  <c:v>GBP</c:v>
                </c:pt>
                <c:pt idx="2">
                  <c:v>JPY</c:v>
                </c:pt>
                <c:pt idx="3">
                  <c:v>AUD</c:v>
                </c:pt>
                <c:pt idx="4">
                  <c:v>EM</c:v>
                </c:pt>
                <c:pt idx="5">
                  <c:v>Other</c:v>
                </c:pt>
              </c:strCache>
            </c:strRef>
          </c:cat>
          <c:val>
            <c:numRef>
              <c:f>'Risk Decomposition'!$B$41:$B$46</c:f>
              <c:numCache>
                <c:formatCode>0.0%</c:formatCode>
                <c:ptCount val="6"/>
                <c:pt idx="0">
                  <c:v>1.9086594707416901E-2</c:v>
                </c:pt>
                <c:pt idx="1">
                  <c:v>6.6725975927464697E-3</c:v>
                </c:pt>
                <c:pt idx="2">
                  <c:v>3.5395217114644602E-3</c:v>
                </c:pt>
                <c:pt idx="3">
                  <c:v>5.0000000000000001E-3</c:v>
                </c:pt>
                <c:pt idx="4">
                  <c:v>5.8650377463103599E-3</c:v>
                </c:pt>
                <c:pt idx="5">
                  <c:v>3.3038021272114027E-3</c:v>
                </c:pt>
              </c:numCache>
            </c:numRef>
          </c:val>
          <c:extLst>
            <c:ext xmlns:c16="http://schemas.microsoft.com/office/drawing/2014/chart" uri="{C3380CC4-5D6E-409C-BE32-E72D297353CC}">
              <c16:uniqueId val="{00000000-FC35-7F40-A7C7-FD452A4EDA27}"/>
            </c:ext>
          </c:extLst>
        </c:ser>
        <c:dLbls>
          <c:showLegendKey val="0"/>
          <c:showVal val="0"/>
          <c:showCatName val="0"/>
          <c:showSerName val="0"/>
          <c:showPercent val="0"/>
          <c:showBubbleSize val="0"/>
        </c:dLbls>
        <c:gapWidth val="127"/>
        <c:axId val="362838607"/>
        <c:axId val="463133311"/>
      </c:barChart>
      <c:catAx>
        <c:axId val="3628386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cross"/>
        <c:minorTickMark val="none"/>
        <c:tickLblPos val="nextTo"/>
        <c:spPr>
          <a:noFill/>
          <a:ln w="9525" cap="flat" cmpd="sng" algn="ctr">
            <a:solidFill>
              <a:schemeClr val="dk1">
                <a:shade val="95000"/>
                <a:satMod val="10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463133311"/>
        <c:crosses val="autoZero"/>
        <c:auto val="1"/>
        <c:lblAlgn val="ctr"/>
        <c:lblOffset val="100"/>
        <c:noMultiLvlLbl val="0"/>
      </c:catAx>
      <c:valAx>
        <c:axId val="463133311"/>
        <c:scaling>
          <c:orientation val="minMax"/>
        </c:scaling>
        <c:delete val="0"/>
        <c:axPos val="b"/>
        <c:numFmt formatCode="0.0%" sourceLinked="1"/>
        <c:majorTickMark val="none"/>
        <c:minorTickMark val="none"/>
        <c:tickLblPos val="nextTo"/>
        <c:spPr>
          <a:noFill/>
          <a:ln w="9525" cap="flat" cmpd="sng" algn="ctr">
            <a:solidFill>
              <a:schemeClr val="dk1">
                <a:shade val="95000"/>
                <a:satMod val="105000"/>
              </a:schemeClr>
            </a:solidFill>
            <a:prstDash val="soli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362838607"/>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800" b="0" i="0">
          <a:latin typeface="Aptos" panose="020B0004020202020204" pitchFamily="34" charset="0"/>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spPr>
            <a:solidFill>
              <a:schemeClr val="tx2">
                <a:lumMod val="75000"/>
              </a:schemeClr>
            </a:solidFill>
            <a:ln w="3175">
              <a:solidFill>
                <a:schemeClr val="bg1">
                  <a:lumMod val="75000"/>
                </a:schemeClr>
              </a:solidFill>
            </a:ln>
            <a:effectLst/>
          </c:spPr>
          <c:invertIfNegative val="0"/>
          <c:dPt>
            <c:idx val="0"/>
            <c:invertIfNegative val="0"/>
            <c:bubble3D val="0"/>
            <c:spPr>
              <a:solidFill>
                <a:schemeClr val="accent1">
                  <a:lumMod val="40000"/>
                  <a:lumOff val="60000"/>
                </a:schemeClr>
              </a:solidFill>
              <a:ln w="3175">
                <a:solidFill>
                  <a:schemeClr val="bg1">
                    <a:lumMod val="75000"/>
                  </a:schemeClr>
                </a:solidFill>
              </a:ln>
              <a:effectLst/>
            </c:spPr>
            <c:extLst>
              <c:ext xmlns:c16="http://schemas.microsoft.com/office/drawing/2014/chart" uri="{C3380CC4-5D6E-409C-BE32-E72D297353CC}">
                <c16:uniqueId val="{00000001-2EE1-8C4F-B93F-E546FDDBB52F}"/>
              </c:ext>
            </c:extLst>
          </c:dPt>
          <c:dPt>
            <c:idx val="1"/>
            <c:invertIfNegative val="0"/>
            <c:bubble3D val="0"/>
            <c:spPr>
              <a:solidFill>
                <a:schemeClr val="tx2">
                  <a:lumMod val="75000"/>
                </a:schemeClr>
              </a:solidFill>
              <a:ln w="3175">
                <a:solidFill>
                  <a:schemeClr val="bg1">
                    <a:lumMod val="75000"/>
                  </a:schemeClr>
                </a:solidFill>
              </a:ln>
              <a:effectLst/>
            </c:spPr>
            <c:extLst>
              <c:ext xmlns:c16="http://schemas.microsoft.com/office/drawing/2014/chart" uri="{C3380CC4-5D6E-409C-BE32-E72D297353CC}">
                <c16:uniqueId val="{00000003-2EE1-8C4F-B93F-E546FDDBB52F}"/>
              </c:ext>
            </c:extLst>
          </c:dPt>
          <c:dPt>
            <c:idx val="3"/>
            <c:invertIfNegative val="0"/>
            <c:bubble3D val="0"/>
            <c:spPr>
              <a:solidFill>
                <a:schemeClr val="tx2">
                  <a:lumMod val="75000"/>
                </a:schemeClr>
              </a:solidFill>
              <a:ln w="3175">
                <a:solidFill>
                  <a:schemeClr val="bg1">
                    <a:lumMod val="75000"/>
                  </a:schemeClr>
                </a:solidFill>
              </a:ln>
              <a:effectLst/>
            </c:spPr>
            <c:extLst>
              <c:ext xmlns:c16="http://schemas.microsoft.com/office/drawing/2014/chart" uri="{C3380CC4-5D6E-409C-BE32-E72D297353CC}">
                <c16:uniqueId val="{00000005-2EE1-8C4F-B93F-E546FDDBB52F}"/>
              </c:ext>
            </c:extLst>
          </c:dPt>
          <c:dPt>
            <c:idx val="4"/>
            <c:invertIfNegative val="0"/>
            <c:bubble3D val="0"/>
            <c:spPr>
              <a:solidFill>
                <a:schemeClr val="tx2">
                  <a:lumMod val="75000"/>
                </a:schemeClr>
              </a:solidFill>
              <a:ln w="3175">
                <a:solidFill>
                  <a:schemeClr val="bg1">
                    <a:lumMod val="75000"/>
                  </a:schemeClr>
                </a:solidFill>
              </a:ln>
              <a:effectLst/>
            </c:spPr>
            <c:extLst>
              <c:ext xmlns:c16="http://schemas.microsoft.com/office/drawing/2014/chart" uri="{C3380CC4-5D6E-409C-BE32-E72D297353CC}">
                <c16:uniqueId val="{00000007-2EE1-8C4F-B93F-E546FDDBB52F}"/>
              </c:ext>
            </c:extLst>
          </c:dPt>
          <c:dPt>
            <c:idx val="5"/>
            <c:invertIfNegative val="0"/>
            <c:bubble3D val="0"/>
            <c:spPr>
              <a:solidFill>
                <a:schemeClr val="tx2">
                  <a:lumMod val="75000"/>
                </a:schemeClr>
              </a:solidFill>
              <a:ln w="3175">
                <a:solidFill>
                  <a:schemeClr val="bg1">
                    <a:lumMod val="75000"/>
                  </a:schemeClr>
                </a:solidFill>
              </a:ln>
              <a:effectLst/>
            </c:spPr>
            <c:extLst>
              <c:ext xmlns:c16="http://schemas.microsoft.com/office/drawing/2014/chart" uri="{C3380CC4-5D6E-409C-BE32-E72D297353CC}">
                <c16:uniqueId val="{00000009-2EE1-8C4F-B93F-E546FDDBB52F}"/>
              </c:ext>
            </c:extLst>
          </c:dPt>
          <c:dLbls>
            <c:numFmt formatCode="0.0%" sourceLinked="0"/>
            <c:spPr>
              <a:noFill/>
              <a:ln>
                <a:noFill/>
              </a:ln>
              <a:effectLst/>
            </c:spPr>
            <c:txPr>
              <a:bodyPr rot="0" spcFirstLastPara="1" vertOverflow="ellipsis" vert="horz" wrap="square" anchor="ctr" anchorCtr="1"/>
              <a:lstStyle/>
              <a:p>
                <a:pPr>
                  <a:defRPr sz="800" b="0" i="0" u="none" strike="noStrike" kern="1200" baseline="0">
                    <a:solidFill>
                      <a:schemeClr val="tx1">
                        <a:lumMod val="95000"/>
                        <a:lumOff val="5000"/>
                      </a:schemeClr>
                    </a:solidFill>
                    <a:latin typeface="Aptos" panose="020B0004020202020204" pitchFamily="34" charset="0"/>
                    <a:ea typeface="+mn-ea"/>
                    <a:cs typeface="Arial" panose="020B0604020202020204" pitchFamily="34" charset="0"/>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'Risk Premias'!$B$2:$B$8</c:f>
              <c:strCache>
                <c:ptCount val="7"/>
                <c:pt idx="0">
                  <c:v>Total</c:v>
                </c:pt>
                <c:pt idx="1">
                  <c:v>Emerging Market</c:v>
                </c:pt>
                <c:pt idx="2">
                  <c:v>Carry</c:v>
                </c:pt>
                <c:pt idx="3">
                  <c:v>Liquidity</c:v>
                </c:pt>
                <c:pt idx="4">
                  <c:v>Leverage</c:v>
                </c:pt>
                <c:pt idx="5">
                  <c:v>Term</c:v>
                </c:pt>
                <c:pt idx="6">
                  <c:v>Equity</c:v>
                </c:pt>
              </c:strCache>
            </c:strRef>
          </c:cat>
          <c:val>
            <c:numRef>
              <c:f>'Risk Premias'!$C$2:$C$8</c:f>
              <c:numCache>
                <c:formatCode>0.0%</c:formatCode>
                <c:ptCount val="7"/>
                <c:pt idx="0">
                  <c:v>3.9323104932666136E-2</c:v>
                </c:pt>
                <c:pt idx="1">
                  <c:v>7.0898094817600603E-4</c:v>
                </c:pt>
                <c:pt idx="2">
                  <c:v>-7.31425731588811E-5</c:v>
                </c:pt>
                <c:pt idx="3">
                  <c:v>5.2595580514326603E-3</c:v>
                </c:pt>
                <c:pt idx="4">
                  <c:v>3.2283957050202399E-3</c:v>
                </c:pt>
                <c:pt idx="5">
                  <c:v>5.9454343476038098E-3</c:v>
                </c:pt>
                <c:pt idx="6">
                  <c:v>2.4253878453592299E-2</c:v>
                </c:pt>
              </c:numCache>
            </c:numRef>
          </c:val>
          <c:extLst>
            <c:ext xmlns:c16="http://schemas.microsoft.com/office/drawing/2014/chart" uri="{C3380CC4-5D6E-409C-BE32-E72D297353CC}">
              <c16:uniqueId val="{0000000A-2EE1-8C4F-B93F-E546FDDBB52F}"/>
            </c:ext>
          </c:extLst>
        </c:ser>
        <c:dLbls>
          <c:showLegendKey val="0"/>
          <c:showVal val="0"/>
          <c:showCatName val="0"/>
          <c:showSerName val="0"/>
          <c:showPercent val="0"/>
          <c:showBubbleSize val="0"/>
        </c:dLbls>
        <c:gapWidth val="108"/>
        <c:overlap val="-2"/>
        <c:axId val="1996777520"/>
        <c:axId val="1997081584"/>
      </c:barChart>
      <c:catAx>
        <c:axId val="1996777520"/>
        <c:scaling>
          <c:orientation val="minMax"/>
        </c:scaling>
        <c:delete val="0"/>
        <c:axPos val="l"/>
        <c:majorGridlines>
          <c:spPr>
            <a:ln w="6350" cap="flat" cmpd="sng" algn="ctr">
              <a:solidFill>
                <a:schemeClr val="bg1">
                  <a:lumMod val="75000"/>
                </a:schemeClr>
              </a:solidFill>
              <a:round/>
            </a:ln>
            <a:effectLst/>
          </c:spPr>
        </c:majorGridlines>
        <c:numFmt formatCode="General" sourceLinked="1"/>
        <c:majorTickMark val="out"/>
        <c:minorTickMark val="none"/>
        <c:tickLblPos val="low"/>
        <c:spPr>
          <a:noFill/>
          <a:ln w="9525" cap="flat" cmpd="sng" algn="ctr">
            <a:solidFill>
              <a:schemeClr val="dk1">
                <a:shade val="95000"/>
                <a:satMod val="10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lumMod val="95000"/>
                    <a:lumOff val="5000"/>
                  </a:schemeClr>
                </a:solidFill>
                <a:latin typeface="Aptos" panose="020B0004020202020204" pitchFamily="34" charset="0"/>
                <a:ea typeface="+mn-ea"/>
                <a:cs typeface="Arial" panose="020B0604020202020204" pitchFamily="34" charset="0"/>
              </a:defRPr>
            </a:pPr>
            <a:endParaRPr lang="en-US"/>
          </a:p>
        </c:txPr>
        <c:crossAx val="1997081584"/>
        <c:crosses val="autoZero"/>
        <c:auto val="1"/>
        <c:lblAlgn val="ctr"/>
        <c:lblOffset val="100"/>
        <c:noMultiLvlLbl val="0"/>
      </c:catAx>
      <c:valAx>
        <c:axId val="1997081584"/>
        <c:scaling>
          <c:orientation val="minMax"/>
          <c:min val="0"/>
        </c:scaling>
        <c:delete val="1"/>
        <c:axPos val="b"/>
        <c:numFmt formatCode="0.0%" sourceLinked="1"/>
        <c:majorTickMark val="none"/>
        <c:minorTickMark val="none"/>
        <c:tickLblPos val="nextTo"/>
        <c:crossAx val="1996777520"/>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800" b="0" i="0">
          <a:solidFill>
            <a:schemeClr val="tx1">
              <a:lumMod val="95000"/>
              <a:lumOff val="5000"/>
            </a:schemeClr>
          </a:solidFill>
          <a:latin typeface="Aptos" panose="020B0004020202020204" pitchFamily="34" charset="0"/>
          <a:cs typeface="Arial" panose="020B0604020202020204" pitchFamily="34" charset="0"/>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1"/>
          <c:order val="0"/>
          <c:tx>
            <c:strRef>
              <c:f>Sheet1!$D$3</c:f>
              <c:strCache>
                <c:ptCount val="1"/>
                <c:pt idx="0">
                  <c:v>Over 1 Month</c:v>
                </c:pt>
              </c:strCache>
            </c:strRef>
          </c:tx>
          <c:spPr>
            <a:solidFill>
              <a:srgbClr val="721624"/>
            </a:solidFill>
            <a:ln w="3175">
              <a:solidFill>
                <a:schemeClr val="bg1">
                  <a:lumMod val="75000"/>
                </a:schemeClr>
              </a:solidFill>
            </a:ln>
            <a:effectLst/>
          </c:spPr>
          <c:invertIfNegative val="0"/>
          <c:dLbls>
            <c:spPr>
              <a:noFill/>
              <a:ln>
                <a:noFill/>
              </a:ln>
              <a:effectLst/>
            </c:spPr>
            <c:txPr>
              <a:bodyPr rot="0" spcFirstLastPara="1" vertOverflow="ellipsis" vert="horz" wrap="square" anchor="ctr" anchorCtr="1"/>
              <a:lstStyle/>
              <a:p>
                <a:pPr>
                  <a:defRPr sz="1000" b="0" i="0" u="none" strike="noStrike" kern="1200" baseline="0">
                    <a:solidFill>
                      <a:schemeClr val="tx1">
                        <a:lumMod val="95000"/>
                        <a:lumOff val="5000"/>
                      </a:schemeClr>
                    </a:solidFill>
                    <a:latin typeface="Aptos" panose="020B00040202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Sheet1!$B$4:$B$9</c:f>
              <c:strCache>
                <c:ptCount val="6"/>
                <c:pt idx="0">
                  <c:v>Emerging Equity</c:v>
                </c:pt>
                <c:pt idx="1">
                  <c:v>Carry</c:v>
                </c:pt>
                <c:pt idx="2">
                  <c:v>Liquidity</c:v>
                </c:pt>
                <c:pt idx="3">
                  <c:v>Funding</c:v>
                </c:pt>
                <c:pt idx="4">
                  <c:v>Term</c:v>
                </c:pt>
                <c:pt idx="5">
                  <c:v>Equity</c:v>
                </c:pt>
              </c:strCache>
            </c:strRef>
          </c:cat>
          <c:val>
            <c:numRef>
              <c:f>Sheet1!$D$4:$D$9</c:f>
              <c:numCache>
                <c:formatCode>0.0%</c:formatCode>
                <c:ptCount val="6"/>
                <c:pt idx="0">
                  <c:v>2.0070188103500802E-3</c:v>
                </c:pt>
                <c:pt idx="1">
                  <c:v>1.1533191337533199E-2</c:v>
                </c:pt>
                <c:pt idx="2">
                  <c:v>1.9097868310067299E-2</c:v>
                </c:pt>
                <c:pt idx="3">
                  <c:v>2.9984788424161701E-2</c:v>
                </c:pt>
                <c:pt idx="4">
                  <c:v>2.1696266369707E-2</c:v>
                </c:pt>
                <c:pt idx="5">
                  <c:v>4.9845832259403103E-2</c:v>
                </c:pt>
              </c:numCache>
            </c:numRef>
          </c:val>
          <c:extLst>
            <c:ext xmlns:c16="http://schemas.microsoft.com/office/drawing/2014/chart" uri="{C3380CC4-5D6E-409C-BE32-E72D297353CC}">
              <c16:uniqueId val="{00000000-4131-8D4B-A331-C96214022655}"/>
            </c:ext>
          </c:extLst>
        </c:ser>
        <c:ser>
          <c:idx val="0"/>
          <c:order val="1"/>
          <c:tx>
            <c:strRef>
              <c:f>Sheet1!$E$3</c:f>
              <c:strCache>
                <c:ptCount val="1"/>
                <c:pt idx="0">
                  <c:v>Over 3 Months</c:v>
                </c:pt>
              </c:strCache>
            </c:strRef>
          </c:tx>
          <c:spPr>
            <a:solidFill>
              <a:srgbClr val="C00000"/>
            </a:solidFill>
            <a:ln w="3175">
              <a:solidFill>
                <a:schemeClr val="bg1">
                  <a:lumMod val="75000"/>
                </a:schemeClr>
              </a:solidFill>
            </a:ln>
            <a:effectLst/>
          </c:spPr>
          <c:invertIfNegative val="0"/>
          <c:dLbls>
            <c:spPr>
              <a:noFill/>
              <a:ln>
                <a:noFill/>
              </a:ln>
              <a:effectLst/>
            </c:spPr>
            <c:txPr>
              <a:bodyPr rot="0" spcFirstLastPara="1" vertOverflow="ellipsis" vert="horz" wrap="square" anchor="ctr" anchorCtr="1"/>
              <a:lstStyle/>
              <a:p>
                <a:pPr>
                  <a:defRPr sz="1000" b="0" i="0" u="none" strike="noStrike" kern="1200" baseline="0">
                    <a:solidFill>
                      <a:schemeClr val="tx1">
                        <a:lumMod val="95000"/>
                        <a:lumOff val="5000"/>
                      </a:schemeClr>
                    </a:solidFill>
                    <a:latin typeface="Aptos" panose="020B00040202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Sheet1!$B$4:$B$9</c:f>
              <c:strCache>
                <c:ptCount val="6"/>
                <c:pt idx="0">
                  <c:v>Emerging Equity</c:v>
                </c:pt>
                <c:pt idx="1">
                  <c:v>Carry</c:v>
                </c:pt>
                <c:pt idx="2">
                  <c:v>Liquidity</c:v>
                </c:pt>
                <c:pt idx="3">
                  <c:v>Funding</c:v>
                </c:pt>
                <c:pt idx="4">
                  <c:v>Term</c:v>
                </c:pt>
                <c:pt idx="5">
                  <c:v>Equity</c:v>
                </c:pt>
              </c:strCache>
            </c:strRef>
          </c:cat>
          <c:val>
            <c:numRef>
              <c:f>Sheet1!$E$4:$E$9</c:f>
              <c:numCache>
                <c:formatCode>0.0%</c:formatCode>
                <c:ptCount val="6"/>
                <c:pt idx="0">
                  <c:v>2.4066967964924298E-2</c:v>
                </c:pt>
                <c:pt idx="1">
                  <c:v>2.0670152890742199E-2</c:v>
                </c:pt>
                <c:pt idx="2">
                  <c:v>2.64217996817603E-2</c:v>
                </c:pt>
                <c:pt idx="3">
                  <c:v>3.5749966067414297E-2</c:v>
                </c:pt>
                <c:pt idx="4">
                  <c:v>2.6817476466793801E-2</c:v>
                </c:pt>
                <c:pt idx="5">
                  <c:v>8.39509614821317E-2</c:v>
                </c:pt>
              </c:numCache>
            </c:numRef>
          </c:val>
          <c:extLst>
            <c:ext xmlns:c16="http://schemas.microsoft.com/office/drawing/2014/chart" uri="{C3380CC4-5D6E-409C-BE32-E72D297353CC}">
              <c16:uniqueId val="{00000001-4131-8D4B-A331-C96214022655}"/>
            </c:ext>
          </c:extLst>
        </c:ser>
        <c:dLbls>
          <c:showLegendKey val="0"/>
          <c:showVal val="0"/>
          <c:showCatName val="0"/>
          <c:showSerName val="0"/>
          <c:showPercent val="0"/>
          <c:showBubbleSize val="0"/>
        </c:dLbls>
        <c:gapWidth val="182"/>
        <c:axId val="405985375"/>
        <c:axId val="337447343"/>
      </c:barChart>
      <c:catAx>
        <c:axId val="405985375"/>
        <c:scaling>
          <c:orientation val="minMax"/>
        </c:scaling>
        <c:delete val="0"/>
        <c:axPos val="l"/>
        <c:majorGridlines>
          <c:spPr>
            <a:ln w="6350" cap="flat" cmpd="sng" algn="ctr">
              <a:solidFill>
                <a:schemeClr val="bg1">
                  <a:lumMod val="75000"/>
                </a:schemeClr>
              </a:solidFill>
              <a:round/>
            </a:ln>
            <a:effectLst/>
          </c:spPr>
        </c:majorGridlines>
        <c:numFmt formatCode="General" sourceLinked="1"/>
        <c:majorTickMark val="out"/>
        <c:minorTickMark val="none"/>
        <c:tickLblPos val="nextTo"/>
        <c:spPr>
          <a:noFill/>
          <a:ln w="12700" cap="flat" cmpd="sng" algn="ctr">
            <a:solidFill>
              <a:schemeClr val="dk1"/>
            </a:solidFill>
            <a:prstDash val="solid"/>
            <a:miter lim="800000"/>
          </a:ln>
          <a:effectLst/>
        </c:spPr>
        <c:txPr>
          <a:bodyPr rot="-60000000" spcFirstLastPara="1" vertOverflow="ellipsis" vert="horz" wrap="square" anchor="ctr" anchorCtr="1"/>
          <a:lstStyle/>
          <a:p>
            <a:pPr>
              <a:defRPr sz="900" b="0" i="0" u="none" strike="noStrike" kern="1200" baseline="0">
                <a:solidFill>
                  <a:schemeClr val="tx1">
                    <a:lumMod val="95000"/>
                    <a:lumOff val="5000"/>
                  </a:schemeClr>
                </a:solidFill>
                <a:latin typeface="Aptos" panose="020B0004020202020204" pitchFamily="34" charset="0"/>
                <a:ea typeface="+mn-ea"/>
                <a:cs typeface="+mn-cs"/>
              </a:defRPr>
            </a:pPr>
            <a:endParaRPr lang="en-US"/>
          </a:p>
        </c:txPr>
        <c:crossAx val="337447343"/>
        <c:crosses val="autoZero"/>
        <c:auto val="1"/>
        <c:lblAlgn val="ctr"/>
        <c:lblOffset val="100"/>
        <c:noMultiLvlLbl val="0"/>
      </c:catAx>
      <c:valAx>
        <c:axId val="337447343"/>
        <c:scaling>
          <c:orientation val="minMax"/>
        </c:scaling>
        <c:delete val="1"/>
        <c:axPos val="b"/>
        <c:numFmt formatCode="0.0%" sourceLinked="1"/>
        <c:majorTickMark val="none"/>
        <c:minorTickMark val="none"/>
        <c:tickLblPos val="nextTo"/>
        <c:crossAx val="405985375"/>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95000"/>
                  <a:lumOff val="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1000" b="0" i="0">
          <a:solidFill>
            <a:schemeClr val="tx1">
              <a:lumMod val="95000"/>
              <a:lumOff val="5000"/>
            </a:schemeClr>
          </a:solidFill>
          <a:latin typeface="Aptos" panose="020B0004020202020204" pitchFamily="34" charset="0"/>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10371394423791327"/>
          <c:y val="9.4532373527128344E-2"/>
          <c:w val="0.8625745071676858"/>
          <c:h val="0.76907794223024384"/>
        </c:manualLayout>
      </c:layout>
      <c:lineChart>
        <c:grouping val="standard"/>
        <c:varyColors val="0"/>
        <c:ser>
          <c:idx val="0"/>
          <c:order val="0"/>
          <c:tx>
            <c:strRef>
              <c:f>ws_Strategic_Asset_Allocation!$B$2</c:f>
              <c:strCache>
                <c:ptCount val="1"/>
                <c:pt idx="0">
                  <c:v>1st %ile</c:v>
                </c:pt>
              </c:strCache>
            </c:strRef>
          </c:tx>
          <c:spPr>
            <a:ln w="12700">
              <a:solidFill>
                <a:srgbClr val="C00000"/>
              </a:solidFill>
              <a:prstDash val="solid"/>
            </a:ln>
          </c:spPr>
          <c:marker>
            <c:symbol val="none"/>
          </c:marker>
          <c:dLbls>
            <c:dLbl>
              <c:idx val="2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3F0C-AB44-91AB-F35FD994F663}"/>
                </c:ext>
              </c:extLst>
            </c:dLbl>
            <c:numFmt formatCode="#,##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ws_Strategic_Asset_Allocation!$A$3:$A$23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ws_Strategic_Asset_Allocation!$B$3:$B$23</c:f>
              <c:numCache>
                <c:formatCode>General</c:formatCode>
                <c:ptCount val="21"/>
                <c:pt idx="0">
                  <c:v>100</c:v>
                </c:pt>
                <c:pt idx="1">
                  <c:v>89.11357616559873</c:v>
                </c:pt>
                <c:pt idx="2">
                  <c:v>91.60162953348572</c:v>
                </c:pt>
                <c:pt idx="3">
                  <c:v>93.815829158247922</c:v>
                </c:pt>
                <c:pt idx="4">
                  <c:v>94.79355662644069</c:v>
                </c:pt>
                <c:pt idx="5">
                  <c:v>96.786940383185495</c:v>
                </c:pt>
                <c:pt idx="6">
                  <c:v>99.596967260218321</c:v>
                </c:pt>
                <c:pt idx="7">
                  <c:v>100.39224283924069</c:v>
                </c:pt>
                <c:pt idx="8">
                  <c:v>102.0470254834844</c:v>
                </c:pt>
                <c:pt idx="9">
                  <c:v>102.1158985111246</c:v>
                </c:pt>
                <c:pt idx="10">
                  <c:v>104.08395598869581</c:v>
                </c:pt>
                <c:pt idx="11">
                  <c:v>107.0044382754448</c:v>
                </c:pt>
                <c:pt idx="12">
                  <c:v>108.8131712443323</c:v>
                </c:pt>
                <c:pt idx="13">
                  <c:v>111.6787628594856</c:v>
                </c:pt>
                <c:pt idx="14">
                  <c:v>114.1648306006793</c:v>
                </c:pt>
                <c:pt idx="15">
                  <c:v>116.94846470249441</c:v>
                </c:pt>
                <c:pt idx="16">
                  <c:v>120.6895388076103</c:v>
                </c:pt>
                <c:pt idx="17">
                  <c:v>124.5827568264387</c:v>
                </c:pt>
                <c:pt idx="18">
                  <c:v>130.08039162075499</c:v>
                </c:pt>
                <c:pt idx="19">
                  <c:v>135.07466130722719</c:v>
                </c:pt>
                <c:pt idx="20">
                  <c:v>138.38754880809691</c:v>
                </c:pt>
              </c:numCache>
            </c:numRef>
          </c:val>
          <c:smooth val="0"/>
          <c:extLst>
            <c:ext xmlns:c16="http://schemas.microsoft.com/office/drawing/2014/chart" uri="{C3380CC4-5D6E-409C-BE32-E72D297353CC}">
              <c16:uniqueId val="{00000000-3F0C-AB44-91AB-F35FD994F663}"/>
            </c:ext>
          </c:extLst>
        </c:ser>
        <c:ser>
          <c:idx val="1"/>
          <c:order val="1"/>
          <c:tx>
            <c:strRef>
              <c:f>ws_Strategic_Asset_Allocation!$C$2</c:f>
              <c:strCache>
                <c:ptCount val="1"/>
                <c:pt idx="0">
                  <c:v>10th %ile</c:v>
                </c:pt>
              </c:strCache>
            </c:strRef>
          </c:tx>
          <c:spPr>
            <a:ln w="12700">
              <a:solidFill>
                <a:srgbClr val="8064A2"/>
              </a:solidFill>
              <a:prstDash val="solid"/>
            </a:ln>
          </c:spPr>
          <c:marker>
            <c:symbol val="none"/>
          </c:marker>
          <c:cat>
            <c:numRef>
              <c:f>ws_Strategic_Asset_Allocation!$A$3:$A$23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ws_Strategic_Asset_Allocation!$C$3:$C$23</c:f>
              <c:numCache>
                <c:formatCode>General</c:formatCode>
                <c:ptCount val="21"/>
                <c:pt idx="0">
                  <c:v>100</c:v>
                </c:pt>
                <c:pt idx="1">
                  <c:v>98.377106810551254</c:v>
                </c:pt>
                <c:pt idx="2">
                  <c:v>101.8607356065238</c:v>
                </c:pt>
                <c:pt idx="3">
                  <c:v>107.4832677914452</c:v>
                </c:pt>
                <c:pt idx="4">
                  <c:v>112.2630908977339</c:v>
                </c:pt>
                <c:pt idx="5">
                  <c:v>117.8643420081454</c:v>
                </c:pt>
                <c:pt idx="6">
                  <c:v>124.1799184920722</c:v>
                </c:pt>
                <c:pt idx="7">
                  <c:v>128.6287755349901</c:v>
                </c:pt>
                <c:pt idx="8">
                  <c:v>134.10051095898541</c:v>
                </c:pt>
                <c:pt idx="9">
                  <c:v>138.9213988405281</c:v>
                </c:pt>
                <c:pt idx="10">
                  <c:v>144.71403399354139</c:v>
                </c:pt>
                <c:pt idx="11">
                  <c:v>150.14126855313401</c:v>
                </c:pt>
                <c:pt idx="12">
                  <c:v>156.35042246148811</c:v>
                </c:pt>
                <c:pt idx="13">
                  <c:v>162.3720167266743</c:v>
                </c:pt>
                <c:pt idx="14">
                  <c:v>169.87041053254299</c:v>
                </c:pt>
                <c:pt idx="15">
                  <c:v>176.44797315684929</c:v>
                </c:pt>
                <c:pt idx="16">
                  <c:v>184.5582878586122</c:v>
                </c:pt>
                <c:pt idx="17">
                  <c:v>192.04470625572819</c:v>
                </c:pt>
                <c:pt idx="18">
                  <c:v>200.11230718843879</c:v>
                </c:pt>
                <c:pt idx="19">
                  <c:v>209.18238170025961</c:v>
                </c:pt>
                <c:pt idx="20">
                  <c:v>219.44408933557989</c:v>
                </c:pt>
              </c:numCache>
            </c:numRef>
          </c:val>
          <c:smooth val="0"/>
          <c:extLst>
            <c:ext xmlns:c16="http://schemas.microsoft.com/office/drawing/2014/chart" uri="{C3380CC4-5D6E-409C-BE32-E72D297353CC}">
              <c16:uniqueId val="{00000001-3F0C-AB44-91AB-F35FD994F663}"/>
            </c:ext>
          </c:extLst>
        </c:ser>
        <c:ser>
          <c:idx val="2"/>
          <c:order val="2"/>
          <c:tx>
            <c:strRef>
              <c:f>ws_Strategic_Asset_Allocation!$D$2</c:f>
              <c:strCache>
                <c:ptCount val="1"/>
                <c:pt idx="0">
                  <c:v>50th %ile</c:v>
                </c:pt>
              </c:strCache>
            </c:strRef>
          </c:tx>
          <c:spPr>
            <a:ln w="12700">
              <a:solidFill>
                <a:srgbClr val="376092"/>
              </a:solidFill>
              <a:prstDash val="solid"/>
            </a:ln>
          </c:spPr>
          <c:marker>
            <c:symbol val="none"/>
          </c:marker>
          <c:dLbls>
            <c:dLbl>
              <c:idx val="2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3F0C-AB44-91AB-F35FD994F663}"/>
                </c:ext>
              </c:extLst>
            </c:dLbl>
            <c:numFmt formatCode="#,##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ws_Strategic_Asset_Allocation!$A$3:$A$23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ws_Strategic_Asset_Allocation!$D$3:$D$23</c:f>
              <c:numCache>
                <c:formatCode>General</c:formatCode>
                <c:ptCount val="21"/>
                <c:pt idx="0">
                  <c:v>100</c:v>
                </c:pt>
                <c:pt idx="1">
                  <c:v>108.59586455235851</c:v>
                </c:pt>
                <c:pt idx="2">
                  <c:v>117.14981335783359</c:v>
                </c:pt>
                <c:pt idx="3">
                  <c:v>125.36579844410799</c:v>
                </c:pt>
                <c:pt idx="4">
                  <c:v>134.91119833162739</c:v>
                </c:pt>
                <c:pt idx="5">
                  <c:v>145.53600021109381</c:v>
                </c:pt>
                <c:pt idx="6">
                  <c:v>156.4400157783241</c:v>
                </c:pt>
                <c:pt idx="7">
                  <c:v>167.6614924555582</c:v>
                </c:pt>
                <c:pt idx="8">
                  <c:v>179.25308156343809</c:v>
                </c:pt>
                <c:pt idx="9">
                  <c:v>190.96096500480641</c:v>
                </c:pt>
                <c:pt idx="10">
                  <c:v>203.34764359664979</c:v>
                </c:pt>
                <c:pt idx="11">
                  <c:v>216.0159713047079</c:v>
                </c:pt>
                <c:pt idx="12">
                  <c:v>229.3666317573612</c:v>
                </c:pt>
                <c:pt idx="13">
                  <c:v>243.8584651128759</c:v>
                </c:pt>
                <c:pt idx="14">
                  <c:v>259.51652380798532</c:v>
                </c:pt>
                <c:pt idx="15">
                  <c:v>275.57435981139378</c:v>
                </c:pt>
                <c:pt idx="16">
                  <c:v>292.86879908284271</c:v>
                </c:pt>
                <c:pt idx="17">
                  <c:v>310.44299751964542</c:v>
                </c:pt>
                <c:pt idx="18">
                  <c:v>330.63599007274888</c:v>
                </c:pt>
                <c:pt idx="19">
                  <c:v>351.34384128399489</c:v>
                </c:pt>
                <c:pt idx="20">
                  <c:v>373.17103675181261</c:v>
                </c:pt>
              </c:numCache>
            </c:numRef>
          </c:val>
          <c:smooth val="0"/>
          <c:extLst>
            <c:ext xmlns:c16="http://schemas.microsoft.com/office/drawing/2014/chart" uri="{C3380CC4-5D6E-409C-BE32-E72D297353CC}">
              <c16:uniqueId val="{00000002-3F0C-AB44-91AB-F35FD994F663}"/>
            </c:ext>
          </c:extLst>
        </c:ser>
        <c:ser>
          <c:idx val="3"/>
          <c:order val="3"/>
          <c:tx>
            <c:strRef>
              <c:f>ws_Strategic_Asset_Allocation!$E$2</c:f>
              <c:strCache>
                <c:ptCount val="1"/>
                <c:pt idx="0">
                  <c:v>90th %ile</c:v>
                </c:pt>
              </c:strCache>
            </c:strRef>
          </c:tx>
          <c:spPr>
            <a:ln w="12700">
              <a:solidFill>
                <a:srgbClr val="77933C"/>
              </a:solidFill>
              <a:prstDash val="solid"/>
            </a:ln>
          </c:spPr>
          <c:marker>
            <c:symbol val="none"/>
          </c:marker>
          <c:dLbls>
            <c:dLbl>
              <c:idx val="2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3F0C-AB44-91AB-F35FD994F663}"/>
                </c:ext>
              </c:extLst>
            </c:dLbl>
            <c:numFmt formatCode="#,##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ws_Strategic_Asset_Allocation!$A$3:$A$23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ws_Strategic_Asset_Allocation!$E$3:$E$23</c:f>
              <c:numCache>
                <c:formatCode>General</c:formatCode>
                <c:ptCount val="21"/>
                <c:pt idx="0">
                  <c:v>100</c:v>
                </c:pt>
                <c:pt idx="1">
                  <c:v>118.3350197366818</c:v>
                </c:pt>
                <c:pt idx="2">
                  <c:v>131.0753382616993</c:v>
                </c:pt>
                <c:pt idx="3">
                  <c:v>144.254048051712</c:v>
                </c:pt>
                <c:pt idx="4">
                  <c:v>159.54073836732519</c:v>
                </c:pt>
                <c:pt idx="5">
                  <c:v>176.23558047964991</c:v>
                </c:pt>
                <c:pt idx="6">
                  <c:v>193.44167042286151</c:v>
                </c:pt>
                <c:pt idx="7">
                  <c:v>212.1082464211369</c:v>
                </c:pt>
                <c:pt idx="8">
                  <c:v>232.20702757592409</c:v>
                </c:pt>
                <c:pt idx="9">
                  <c:v>253.28245819085791</c:v>
                </c:pt>
                <c:pt idx="10">
                  <c:v>276.25314088452672</c:v>
                </c:pt>
                <c:pt idx="11">
                  <c:v>299.92736851466429</c:v>
                </c:pt>
                <c:pt idx="12">
                  <c:v>326.72795378761089</c:v>
                </c:pt>
                <c:pt idx="13">
                  <c:v>353.93469583325208</c:v>
                </c:pt>
                <c:pt idx="14">
                  <c:v>385.32973347398939</c:v>
                </c:pt>
                <c:pt idx="15">
                  <c:v>415.47706928552731</c:v>
                </c:pt>
                <c:pt idx="16">
                  <c:v>449.87075797114511</c:v>
                </c:pt>
                <c:pt idx="17">
                  <c:v>487.7088127375024</c:v>
                </c:pt>
                <c:pt idx="18">
                  <c:v>527.08095101682204</c:v>
                </c:pt>
                <c:pt idx="19">
                  <c:v>567.21766387124046</c:v>
                </c:pt>
                <c:pt idx="20">
                  <c:v>615.12421059398446</c:v>
                </c:pt>
              </c:numCache>
            </c:numRef>
          </c:val>
          <c:smooth val="0"/>
          <c:extLst>
            <c:ext xmlns:c16="http://schemas.microsoft.com/office/drawing/2014/chart" uri="{C3380CC4-5D6E-409C-BE32-E72D297353CC}">
              <c16:uniqueId val="{00000003-3F0C-AB44-91AB-F35FD994F663}"/>
            </c:ext>
          </c:extLst>
        </c:ser>
        <c:ser>
          <c:idx val="4"/>
          <c:order val="4"/>
          <c:tx>
            <c:strRef>
              <c:f>ws_Strategic_Asset_Allocation!$F$2</c:f>
              <c:strCache>
                <c:ptCount val="1"/>
              </c:strCache>
            </c:strRef>
          </c:tx>
          <c:spPr>
            <a:ln w="12700">
              <a:solidFill>
                <a:schemeClr val="dk1">
                  <a:shade val="95000"/>
                  <a:satMod val="105000"/>
                </a:schemeClr>
              </a:solidFill>
              <a:prstDash val="sysDash"/>
            </a:ln>
          </c:spPr>
          <c:marker>
            <c:symbol val="none"/>
          </c:marker>
          <c:dLbls>
            <c:dLbl>
              <c:idx val="2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3F0C-AB44-91AB-F35FD994F663}"/>
                </c:ext>
              </c:extLst>
            </c:dLbl>
            <c:numFmt formatCode="#,##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ws_Strategic_Asset_Allocation!$A$3:$A$23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ws_Strategic_Asset_Allocation!$F$3:$F$23</c:f>
              <c:numCache>
                <c:formatCode>General</c:formatCode>
                <c:ptCount val="21"/>
                <c:pt idx="0">
                  <c:v>100</c:v>
                </c:pt>
                <c:pt idx="1">
                  <c:v>107.2964246392673</c:v>
                </c:pt>
                <c:pt idx="2">
                  <c:v>113.7138018902814</c:v>
                </c:pt>
                <c:pt idx="3">
                  <c:v>120.26903593377649</c:v>
                </c:pt>
                <c:pt idx="4">
                  <c:v>127.9854010950353</c:v>
                </c:pt>
                <c:pt idx="5">
                  <c:v>136.3763430569168</c:v>
                </c:pt>
                <c:pt idx="6">
                  <c:v>144.99552644687711</c:v>
                </c:pt>
                <c:pt idx="7">
                  <c:v>153.97465830705951</c:v>
                </c:pt>
                <c:pt idx="8">
                  <c:v>162.42977116175831</c:v>
                </c:pt>
                <c:pt idx="9">
                  <c:v>171.63207254495529</c:v>
                </c:pt>
                <c:pt idx="10">
                  <c:v>180.52228230756191</c:v>
                </c:pt>
                <c:pt idx="11">
                  <c:v>190.33769459995139</c:v>
                </c:pt>
                <c:pt idx="12">
                  <c:v>200.03641835794909</c:v>
                </c:pt>
                <c:pt idx="13">
                  <c:v>210.30699708041709</c:v>
                </c:pt>
                <c:pt idx="14">
                  <c:v>221.33505062412209</c:v>
                </c:pt>
                <c:pt idx="15">
                  <c:v>232.53450843709851</c:v>
                </c:pt>
                <c:pt idx="16">
                  <c:v>244.89506125768489</c:v>
                </c:pt>
                <c:pt idx="17">
                  <c:v>257.31929415272668</c:v>
                </c:pt>
                <c:pt idx="18">
                  <c:v>270.40073261624838</c:v>
                </c:pt>
                <c:pt idx="19">
                  <c:v>284.41271952023618</c:v>
                </c:pt>
                <c:pt idx="20">
                  <c:v>298.96127257995357</c:v>
                </c:pt>
              </c:numCache>
            </c:numRef>
          </c:val>
          <c:smooth val="0"/>
          <c:extLst>
            <c:ext xmlns:c16="http://schemas.microsoft.com/office/drawing/2014/chart" uri="{C3380CC4-5D6E-409C-BE32-E72D297353CC}">
              <c16:uniqueId val="{00000004-3F0C-AB44-91AB-F35FD994F663}"/>
            </c:ext>
          </c:extLst>
        </c:ser>
        <c:dLbls>
          <c:showLegendKey val="0"/>
          <c:showVal val="0"/>
          <c:showCatName val="0"/>
          <c:showSerName val="0"/>
          <c:showPercent val="0"/>
          <c:showBubbleSize val="0"/>
        </c:dLbls>
        <c:smooth val="0"/>
        <c:axId val="10"/>
        <c:axId val="100"/>
      </c:lineChart>
      <c:catAx>
        <c:axId val="10"/>
        <c:scaling>
          <c:orientation val="minMax"/>
        </c:scaling>
        <c:delete val="0"/>
        <c:axPos val="b"/>
        <c:title>
          <c:tx>
            <c:rich>
              <a:bodyPr/>
              <a:lstStyle/>
              <a:p>
                <a:pPr>
                  <a:defRPr/>
                </a:pPr>
                <a:r>
                  <a:rPr lang="en-GB" sz="900" b="0">
                    <a:latin typeface="Aptos"/>
                  </a:rPr>
                  <a:t>Year</a:t>
                </a:r>
              </a:p>
            </c:rich>
          </c:tx>
          <c:overlay val="0"/>
        </c:title>
        <c:numFmt formatCode="General" sourceLinked="1"/>
        <c:majorTickMark val="none"/>
        <c:minorTickMark val="none"/>
        <c:tickLblPos val="nextTo"/>
        <c:txPr>
          <a:bodyPr/>
          <a:lstStyle/>
          <a:p>
            <a:pPr>
              <a:defRPr sz="900" b="0">
                <a:latin typeface="Aptos"/>
              </a:defRPr>
            </a:pPr>
            <a:endParaRPr lang="en-US"/>
          </a:p>
        </c:txPr>
        <c:crossAx val="100"/>
        <c:crosses val="autoZero"/>
        <c:auto val="0"/>
        <c:lblAlgn val="ctr"/>
        <c:lblOffset val="100"/>
        <c:tickLblSkip val="5"/>
        <c:tickMarkSkip val="5"/>
        <c:noMultiLvlLbl val="0"/>
      </c:catAx>
      <c:valAx>
        <c:axId val="100"/>
        <c:scaling>
          <c:orientation val="minMax"/>
        </c:scaling>
        <c:delete val="0"/>
        <c:axPos val="l"/>
        <c:majorGridlines>
          <c:spPr>
            <a:ln w="6350">
              <a:solidFill>
                <a:schemeClr val="bg1">
                  <a:lumMod val="85000"/>
                </a:schemeClr>
              </a:solidFill>
            </a:ln>
          </c:spPr>
        </c:majorGridlines>
        <c:title>
          <c:tx>
            <c:rich>
              <a:bodyPr/>
              <a:lstStyle/>
              <a:p>
                <a:pPr>
                  <a:defRPr/>
                </a:pPr>
                <a:r>
                  <a:rPr lang="en-GB" sz="900" b="0">
                    <a:latin typeface="Aptos"/>
                  </a:rPr>
                  <a:t>Nominal Portfolio Values ($)</a:t>
                </a:r>
              </a:p>
            </c:rich>
          </c:tx>
          <c:overlay val="0"/>
        </c:title>
        <c:numFmt formatCode="General" sourceLinked="1"/>
        <c:majorTickMark val="cross"/>
        <c:minorTickMark val="none"/>
        <c:tickLblPos val="nextTo"/>
        <c:txPr>
          <a:bodyPr/>
          <a:lstStyle/>
          <a:p>
            <a:pPr>
              <a:defRPr sz="900" b="0">
                <a:latin typeface="Aptos"/>
              </a:defRPr>
            </a:pPr>
            <a:endParaRPr lang="en-US"/>
          </a:p>
        </c:txPr>
        <c:crossAx val="10"/>
        <c:crosses val="autoZero"/>
        <c:crossBetween val="between"/>
      </c:valAx>
    </c:plotArea>
    <c:legend>
      <c:legendPos val="t"/>
      <c:legendEntry>
        <c:idx val="4"/>
        <c:delete val="1"/>
      </c:legendEntry>
      <c:layout>
        <c:manualLayout>
          <c:xMode val="edge"/>
          <c:yMode val="edge"/>
          <c:x val="2.1069717871500603E-2"/>
          <c:y val="1.4066060120915477E-2"/>
          <c:w val="0.97893028212849942"/>
          <c:h val="7.4882625745152268E-2"/>
        </c:manualLayout>
      </c:layout>
      <c:overlay val="0"/>
      <c:txPr>
        <a:bodyPr/>
        <a:lstStyle/>
        <a:p>
          <a:pPr>
            <a:defRPr sz="900" b="0">
              <a:latin typeface="Aptos"/>
            </a:defRPr>
          </a:pPr>
          <a:endParaRPr lang="en-US"/>
        </a:p>
      </c:txPr>
    </c:legend>
    <c:plotVisOnly val="1"/>
    <c:dispBlanksAs val="gap"/>
    <c:showDLblsOverMax val="0"/>
  </c:chart>
  <c:spPr>
    <a:noFill/>
    <a:ln>
      <a:noFill/>
    </a:ln>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7.3210720354083242E-2"/>
          <c:y val="0.11529161370580265"/>
          <c:w val="0.37649122983709232"/>
          <c:h val="0.66313379850458087"/>
        </c:manualLayout>
      </c:layout>
      <c:lineChart>
        <c:grouping val="standard"/>
        <c:varyColors val="0"/>
        <c:ser>
          <c:idx val="0"/>
          <c:order val="0"/>
          <c:tx>
            <c:strRef>
              <c:f>'ws_SAA_6.0%'!$F$2</c:f>
              <c:strCache>
                <c:ptCount val="1"/>
                <c:pt idx="0">
                  <c:v>1st %ile</c:v>
                </c:pt>
              </c:strCache>
            </c:strRef>
          </c:tx>
          <c:spPr>
            <a:ln w="12700">
              <a:solidFill>
                <a:srgbClr val="C00000"/>
              </a:solidFill>
              <a:prstDash val="solid"/>
            </a:ln>
          </c:spPr>
          <c:marker>
            <c:symbol val="none"/>
          </c:marker>
          <c:cat>
            <c:numRef>
              <c:f>'ws_SAA_6.0%'!$A$3:$A$23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'ws_SAA_6.0%'!$F$3:$F$23</c:f>
              <c:numCache>
                <c:formatCode>General</c:formatCode>
                <c:ptCount val="21"/>
                <c:pt idx="0">
                  <c:v>100</c:v>
                </c:pt>
                <c:pt idx="1">
                  <c:v>80.881108386509325</c:v>
                </c:pt>
                <c:pt idx="2">
                  <c:v>75.875063562083866</c:v>
                </c:pt>
                <c:pt idx="3">
                  <c:v>71.049605028464256</c:v>
                </c:pt>
                <c:pt idx="4">
                  <c:v>65.614858238206864</c:v>
                </c:pt>
                <c:pt idx="5">
                  <c:v>61.293350654655526</c:v>
                </c:pt>
                <c:pt idx="6">
                  <c:v>57.055472873577393</c:v>
                </c:pt>
                <c:pt idx="7">
                  <c:v>51.668811690304139</c:v>
                </c:pt>
                <c:pt idx="8">
                  <c:v>46.54192958163452</c:v>
                </c:pt>
                <c:pt idx="9">
                  <c:v>41.594811858807518</c:v>
                </c:pt>
                <c:pt idx="10">
                  <c:v>36.385280680028103</c:v>
                </c:pt>
                <c:pt idx="11">
                  <c:v>31.551381586112981</c:v>
                </c:pt>
                <c:pt idx="12">
                  <c:v>26.549189548788959</c:v>
                </c:pt>
                <c:pt idx="13">
                  <c:v>21.7875474894687</c:v>
                </c:pt>
                <c:pt idx="14">
                  <c:v>16.671261012842528</c:v>
                </c:pt>
                <c:pt idx="15">
                  <c:v>11.60172975157665</c:v>
                </c:pt>
                <c:pt idx="16">
                  <c:v>6.673333797598981</c:v>
                </c:pt>
                <c:pt idx="17">
                  <c:v>1.383046262470867</c:v>
                </c:pt>
                <c:pt idx="18">
                  <c:v>0</c:v>
                </c:pt>
                <c:pt idx="19">
                  <c:v>0</c:v>
                </c:pt>
                <c:pt idx="20">
                  <c:v>0</c:v>
                </c:pt>
              </c:numCache>
            </c:numRef>
          </c:val>
          <c:smooth val="0"/>
          <c:extLst>
            <c:ext xmlns:c16="http://schemas.microsoft.com/office/drawing/2014/chart" uri="{C3380CC4-5D6E-409C-BE32-E72D297353CC}">
              <c16:uniqueId val="{00000000-B5FE-FF4C-80C6-EF50D8326743}"/>
            </c:ext>
          </c:extLst>
        </c:ser>
        <c:ser>
          <c:idx val="1"/>
          <c:order val="1"/>
          <c:tx>
            <c:strRef>
              <c:f>'ws_SAA_6.0%'!$G$2</c:f>
              <c:strCache>
                <c:ptCount val="1"/>
                <c:pt idx="0">
                  <c:v>10th %ile</c:v>
                </c:pt>
              </c:strCache>
            </c:strRef>
          </c:tx>
          <c:spPr>
            <a:ln w="12700">
              <a:solidFill>
                <a:srgbClr val="8064A2"/>
              </a:solidFill>
              <a:prstDash val="solid"/>
            </a:ln>
          </c:spPr>
          <c:marker>
            <c:symbol val="none"/>
          </c:marker>
          <c:cat>
            <c:numRef>
              <c:f>'ws_SAA_6.0%'!$A$3:$A$23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'ws_SAA_6.0%'!$G$3:$G$23</c:f>
              <c:numCache>
                <c:formatCode>General</c:formatCode>
                <c:ptCount val="21"/>
                <c:pt idx="0">
                  <c:v>100</c:v>
                </c:pt>
                <c:pt idx="1">
                  <c:v>90.656623826287927</c:v>
                </c:pt>
                <c:pt idx="2">
                  <c:v>86.135404009133723</c:v>
                </c:pt>
                <c:pt idx="3">
                  <c:v>83.690249585605883</c:v>
                </c:pt>
                <c:pt idx="4">
                  <c:v>80.33979480091817</c:v>
                </c:pt>
                <c:pt idx="5">
                  <c:v>77.2697154812858</c:v>
                </c:pt>
                <c:pt idx="6">
                  <c:v>74.574054487448109</c:v>
                </c:pt>
                <c:pt idx="7">
                  <c:v>70.855689172568802</c:v>
                </c:pt>
                <c:pt idx="8">
                  <c:v>67.201499381749485</c:v>
                </c:pt>
                <c:pt idx="9">
                  <c:v>63.182661304099248</c:v>
                </c:pt>
                <c:pt idx="10">
                  <c:v>59.805368260078552</c:v>
                </c:pt>
                <c:pt idx="11">
                  <c:v>55.856579377394873</c:v>
                </c:pt>
                <c:pt idx="12">
                  <c:v>51.532612499001402</c:v>
                </c:pt>
                <c:pt idx="13">
                  <c:v>47.665604519093073</c:v>
                </c:pt>
                <c:pt idx="14">
                  <c:v>43.640675236164753</c:v>
                </c:pt>
                <c:pt idx="15">
                  <c:v>39.795895809931572</c:v>
                </c:pt>
                <c:pt idx="16">
                  <c:v>35.468983410151239</c:v>
                </c:pt>
                <c:pt idx="17">
                  <c:v>31.373125965412491</c:v>
                </c:pt>
                <c:pt idx="18">
                  <c:v>26.71427019483346</c:v>
                </c:pt>
                <c:pt idx="19">
                  <c:v>22.03041235473183</c:v>
                </c:pt>
                <c:pt idx="20">
                  <c:v>17.31424260592479</c:v>
                </c:pt>
              </c:numCache>
            </c:numRef>
          </c:val>
          <c:smooth val="0"/>
          <c:extLst>
            <c:ext xmlns:c16="http://schemas.microsoft.com/office/drawing/2014/chart" uri="{C3380CC4-5D6E-409C-BE32-E72D297353CC}">
              <c16:uniqueId val="{00000001-B5FE-FF4C-80C6-EF50D8326743}"/>
            </c:ext>
          </c:extLst>
        </c:ser>
        <c:ser>
          <c:idx val="2"/>
          <c:order val="2"/>
          <c:tx>
            <c:strRef>
              <c:f>'ws_SAA_6.0%'!$H$2</c:f>
              <c:strCache>
                <c:ptCount val="1"/>
                <c:pt idx="0">
                  <c:v>50th %ile</c:v>
                </c:pt>
              </c:strCache>
            </c:strRef>
          </c:tx>
          <c:spPr>
            <a:ln w="12700">
              <a:solidFill>
                <a:srgbClr val="376092"/>
              </a:solidFill>
              <a:prstDash val="solid"/>
            </a:ln>
          </c:spPr>
          <c:marker>
            <c:symbol val="none"/>
          </c:marker>
          <c:dLbls>
            <c:dLbl>
              <c:idx val="2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B5FE-FF4C-80C6-EF50D8326743}"/>
                </c:ext>
              </c:extLst>
            </c:dLbl>
            <c:numFmt formatCode="#,##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'ws_SAA_6.0%'!$A$3:$A$23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'ws_SAA_6.0%'!$H$3:$H$23</c:f>
              <c:numCache>
                <c:formatCode>General</c:formatCode>
                <c:ptCount val="21"/>
                <c:pt idx="0">
                  <c:v>100</c:v>
                </c:pt>
                <c:pt idx="1">
                  <c:v>100.6701908618946</c:v>
                </c:pt>
                <c:pt idx="2">
                  <c:v>100.8847004991072</c:v>
                </c:pt>
                <c:pt idx="3">
                  <c:v>100.31721298800529</c:v>
                </c:pt>
                <c:pt idx="4">
                  <c:v>100.0966204184468</c:v>
                </c:pt>
                <c:pt idx="5">
                  <c:v>100.24301586024841</c:v>
                </c:pt>
                <c:pt idx="6">
                  <c:v>100.0959770230684</c:v>
                </c:pt>
                <c:pt idx="7">
                  <c:v>99.728073953715509</c:v>
                </c:pt>
                <c:pt idx="8">
                  <c:v>98.830059175420757</c:v>
                </c:pt>
                <c:pt idx="9">
                  <c:v>97.800158034979205</c:v>
                </c:pt>
                <c:pt idx="10">
                  <c:v>96.55471120124173</c:v>
                </c:pt>
                <c:pt idx="11">
                  <c:v>94.849486471141446</c:v>
                </c:pt>
                <c:pt idx="12">
                  <c:v>93.154436362870683</c:v>
                </c:pt>
                <c:pt idx="13">
                  <c:v>91.755879186972479</c:v>
                </c:pt>
                <c:pt idx="14">
                  <c:v>90.334040104371837</c:v>
                </c:pt>
                <c:pt idx="15">
                  <c:v>88.462010634309479</c:v>
                </c:pt>
                <c:pt idx="16">
                  <c:v>86.832615976326849</c:v>
                </c:pt>
                <c:pt idx="17">
                  <c:v>84.723926304902449</c:v>
                </c:pt>
                <c:pt idx="18">
                  <c:v>82.734930155012847</c:v>
                </c:pt>
                <c:pt idx="19">
                  <c:v>80.862223630725651</c:v>
                </c:pt>
                <c:pt idx="20">
                  <c:v>78.71416052227292</c:v>
                </c:pt>
              </c:numCache>
            </c:numRef>
          </c:val>
          <c:smooth val="0"/>
          <c:extLst>
            <c:ext xmlns:c16="http://schemas.microsoft.com/office/drawing/2014/chart" uri="{C3380CC4-5D6E-409C-BE32-E72D297353CC}">
              <c16:uniqueId val="{00000002-B5FE-FF4C-80C6-EF50D8326743}"/>
            </c:ext>
          </c:extLst>
        </c:ser>
        <c:ser>
          <c:idx val="3"/>
          <c:order val="3"/>
          <c:tx>
            <c:strRef>
              <c:f>'ws_SAA_6.0%'!$I$2</c:f>
              <c:strCache>
                <c:ptCount val="1"/>
                <c:pt idx="0">
                  <c:v>90th %ile</c:v>
                </c:pt>
              </c:strCache>
            </c:strRef>
          </c:tx>
          <c:spPr>
            <a:ln w="12700">
              <a:solidFill>
                <a:srgbClr val="77933C"/>
              </a:solidFill>
              <a:prstDash val="solid"/>
            </a:ln>
          </c:spPr>
          <c:marker>
            <c:symbol val="none"/>
          </c:marker>
          <c:cat>
            <c:numRef>
              <c:f>'ws_SAA_6.0%'!$A$3:$A$23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'ws_SAA_6.0%'!$I$3:$I$23</c:f>
              <c:numCache>
                <c:formatCode>General</c:formatCode>
                <c:ptCount val="21"/>
                <c:pt idx="0">
                  <c:v>100</c:v>
                </c:pt>
                <c:pt idx="1">
                  <c:v>110.65351065355431</c:v>
                </c:pt>
                <c:pt idx="2">
                  <c:v>114.48726505919019</c:v>
                </c:pt>
                <c:pt idx="3">
                  <c:v>117.551049996096</c:v>
                </c:pt>
                <c:pt idx="4">
                  <c:v>121.86166248005659</c:v>
                </c:pt>
                <c:pt idx="5">
                  <c:v>125.9233775547105</c:v>
                </c:pt>
                <c:pt idx="6">
                  <c:v>129.66578687040919</c:v>
                </c:pt>
                <c:pt idx="7">
                  <c:v>133.4535924157779</c:v>
                </c:pt>
                <c:pt idx="8">
                  <c:v>137.22099082389701</c:v>
                </c:pt>
                <c:pt idx="9">
                  <c:v>140.95441957263051</c:v>
                </c:pt>
                <c:pt idx="10">
                  <c:v>145.10348725988109</c:v>
                </c:pt>
                <c:pt idx="11">
                  <c:v>147.92520681617219</c:v>
                </c:pt>
                <c:pt idx="12">
                  <c:v>151.85764617678581</c:v>
                </c:pt>
                <c:pt idx="13">
                  <c:v>155.07760419177981</c:v>
                </c:pt>
                <c:pt idx="14">
                  <c:v>159.01075820592251</c:v>
                </c:pt>
                <c:pt idx="15">
                  <c:v>161.8148330899273</c:v>
                </c:pt>
                <c:pt idx="16">
                  <c:v>165.87862694105431</c:v>
                </c:pt>
                <c:pt idx="17">
                  <c:v>170.36133204410339</c:v>
                </c:pt>
                <c:pt idx="18">
                  <c:v>173.55744963176031</c:v>
                </c:pt>
                <c:pt idx="19">
                  <c:v>176.72698547965101</c:v>
                </c:pt>
                <c:pt idx="20">
                  <c:v>180.3882978136858</c:v>
                </c:pt>
              </c:numCache>
            </c:numRef>
          </c:val>
          <c:smooth val="0"/>
          <c:extLst>
            <c:ext xmlns:c16="http://schemas.microsoft.com/office/drawing/2014/chart" uri="{C3380CC4-5D6E-409C-BE32-E72D297353CC}">
              <c16:uniqueId val="{00000003-B5FE-FF4C-80C6-EF50D8326743}"/>
            </c:ext>
          </c:extLst>
        </c:ser>
        <c:dLbls>
          <c:showLegendKey val="0"/>
          <c:showVal val="0"/>
          <c:showCatName val="0"/>
          <c:showSerName val="0"/>
          <c:showPercent val="0"/>
          <c:showBubbleSize val="0"/>
        </c:dLbls>
        <c:smooth val="0"/>
        <c:axId val="10"/>
        <c:axId val="100"/>
      </c:lineChart>
      <c:catAx>
        <c:axId val="10"/>
        <c:scaling>
          <c:orientation val="minMax"/>
        </c:scaling>
        <c:delete val="0"/>
        <c:axPos val="b"/>
        <c:title>
          <c:tx>
            <c:rich>
              <a:bodyPr/>
              <a:lstStyle/>
              <a:p>
                <a:pPr>
                  <a:defRPr/>
                </a:pPr>
                <a:r>
                  <a:rPr lang="en-GB" sz="900" b="0">
                    <a:latin typeface="Aptos"/>
                  </a:rPr>
                  <a:t>Year</a:t>
                </a:r>
              </a:p>
            </c:rich>
          </c:tx>
          <c:overlay val="0"/>
        </c:title>
        <c:numFmt formatCode="General" sourceLinked="1"/>
        <c:majorTickMark val="none"/>
        <c:minorTickMark val="none"/>
        <c:tickLblPos val="nextTo"/>
        <c:txPr>
          <a:bodyPr/>
          <a:lstStyle/>
          <a:p>
            <a:pPr>
              <a:defRPr sz="900" b="0">
                <a:latin typeface="Aptos"/>
              </a:defRPr>
            </a:pPr>
            <a:endParaRPr lang="en-US"/>
          </a:p>
        </c:txPr>
        <c:crossAx val="100"/>
        <c:crosses val="autoZero"/>
        <c:auto val="0"/>
        <c:lblAlgn val="ctr"/>
        <c:lblOffset val="100"/>
        <c:tickLblSkip val="5"/>
        <c:tickMarkSkip val="5"/>
        <c:noMultiLvlLbl val="0"/>
      </c:catAx>
      <c:valAx>
        <c:axId val="100"/>
        <c:scaling>
          <c:orientation val="minMax"/>
        </c:scaling>
        <c:delete val="0"/>
        <c:axPos val="l"/>
        <c:title>
          <c:tx>
            <c:rich>
              <a:bodyPr/>
              <a:lstStyle/>
              <a:p>
                <a:pPr>
                  <a:defRPr/>
                </a:pPr>
                <a:r>
                  <a:rPr lang="en-GB" sz="900" b="0" dirty="0">
                    <a:latin typeface="Aptos"/>
                  </a:rPr>
                  <a:t>Real Portfolio Values ($mm)</a:t>
                </a:r>
              </a:p>
            </c:rich>
          </c:tx>
          <c:overlay val="0"/>
        </c:title>
        <c:numFmt formatCode="General" sourceLinked="1"/>
        <c:majorTickMark val="cross"/>
        <c:minorTickMark val="none"/>
        <c:tickLblPos val="nextTo"/>
        <c:txPr>
          <a:bodyPr/>
          <a:lstStyle/>
          <a:p>
            <a:pPr>
              <a:defRPr sz="900" b="0">
                <a:latin typeface="Aptos"/>
              </a:defRPr>
            </a:pPr>
            <a:endParaRPr lang="en-US"/>
          </a:p>
        </c:txPr>
        <c:crossAx val="10"/>
        <c:crosses val="autoZero"/>
        <c:crossBetween val="between"/>
      </c:valAx>
    </c:plotArea>
    <c:legend>
      <c:legendPos val="t"/>
      <c:layout>
        <c:manualLayout>
          <c:xMode val="edge"/>
          <c:yMode val="edge"/>
          <c:x val="0.21565734384399876"/>
          <c:y val="0.93253998561983575"/>
          <c:w val="0.59396927676267819"/>
          <c:h val="6.5965720754146626E-2"/>
        </c:manualLayout>
      </c:layout>
      <c:overlay val="0"/>
      <c:spPr>
        <a:ln w="6350">
          <a:solidFill>
            <a:schemeClr val="bg1">
              <a:lumMod val="50000"/>
            </a:schemeClr>
          </a:solidFill>
        </a:ln>
      </c:spPr>
      <c:txPr>
        <a:bodyPr/>
        <a:lstStyle/>
        <a:p>
          <a:pPr>
            <a:defRPr sz="900" b="0">
              <a:latin typeface="Aptos"/>
            </a:defRPr>
          </a:pPr>
          <a:endParaRPr lang="en-US"/>
        </a:p>
      </c:txPr>
    </c:legend>
    <c:plotVisOnly val="1"/>
    <c:dispBlanksAs val="gap"/>
    <c:showDLblsOverMax val="0"/>
  </c:chart>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14376128301937174"/>
          <c:y val="9.9348008885148095E-2"/>
          <c:w val="0.7956811486673997"/>
          <c:h val="0.67015351346589802"/>
        </c:manualLayout>
      </c:layout>
      <c:lineChart>
        <c:grouping val="standard"/>
        <c:varyColors val="0"/>
        <c:ser>
          <c:idx val="0"/>
          <c:order val="0"/>
          <c:tx>
            <c:strRef>
              <c:f>'ws_SAA_6.0%'!$J$2</c:f>
              <c:strCache>
                <c:ptCount val="1"/>
                <c:pt idx="0">
                  <c:v>1st %ile</c:v>
                </c:pt>
              </c:strCache>
            </c:strRef>
          </c:tx>
          <c:spPr>
            <a:ln w="12700">
              <a:solidFill>
                <a:srgbClr val="C00000"/>
              </a:solidFill>
              <a:prstDash val="solid"/>
            </a:ln>
          </c:spPr>
          <c:marker>
            <c:symbol val="none"/>
          </c:marker>
          <c:dLbls>
            <c:dLbl>
              <c:idx val="20"/>
              <c:numFmt formatCode="#,##0.0" sourceLinked="0"/>
              <c:spPr>
                <a:noFill/>
                <a:ln>
                  <a:noFill/>
                </a:ln>
                <a:effectLst/>
              </c:spPr>
              <c:txPr>
                <a:bodyPr wrap="square" lIns="38100" tIns="19050" rIns="38100" bIns="19050" anchor="ctr">
                  <a:spAutoFit/>
                </a:bodyPr>
                <a:lstStyle/>
                <a:p>
                  <a:pPr>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1D4C-8249-8F67-96F0357FC96B}"/>
                </c:ext>
              </c:extLst>
            </c:dLbl>
            <c:numFmt formatCode="#,##0.0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'ws_SAA_6.0%'!$A$3:$A$23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'ws_SAA_6.0%'!$J$3:$J$23</c:f>
              <c:numCache>
                <c:formatCode>General</c:formatCode>
                <c:ptCount val="21"/>
                <c:pt idx="0">
                  <c:v>#N/A</c:v>
                </c:pt>
                <c:pt idx="1">
                  <c:v>5.4999999999999991</c:v>
                </c:pt>
                <c:pt idx="2">
                  <c:v>5.721517128537589</c:v>
                </c:pt>
                <c:pt idx="3">
                  <c:v>5.8904300441037298</c:v>
                </c:pt>
                <c:pt idx="4">
                  <c:v>6.0453427380911782</c:v>
                </c:pt>
                <c:pt idx="5">
                  <c:v>6.2688480472024137</c:v>
                </c:pt>
                <c:pt idx="6">
                  <c:v>6.523438439591752</c:v>
                </c:pt>
                <c:pt idx="7">
                  <c:v>6.7491090862543066</c:v>
                </c:pt>
                <c:pt idx="8">
                  <c:v>6.9343052205253306</c:v>
                </c:pt>
                <c:pt idx="9">
                  <c:v>7.1634684064317478</c:v>
                </c:pt>
                <c:pt idx="10">
                  <c:v>7.3684346180972113</c:v>
                </c:pt>
                <c:pt idx="11">
                  <c:v>7.5771341906883816</c:v>
                </c:pt>
                <c:pt idx="12">
                  <c:v>7.7978115441727729</c:v>
                </c:pt>
                <c:pt idx="13">
                  <c:v>8.0253156198406241</c:v>
                </c:pt>
                <c:pt idx="14">
                  <c:v>8.2274191155727276</c:v>
                </c:pt>
                <c:pt idx="15">
                  <c:v>8.4512669524336221</c:v>
                </c:pt>
                <c:pt idx="16">
                  <c:v>8.6535543496732839</c:v>
                </c:pt>
                <c:pt idx="17">
                  <c:v>8.8794052513698549</c:v>
                </c:pt>
                <c:pt idx="18">
                  <c:v>9.1050428328520976</c:v>
                </c:pt>
                <c:pt idx="19">
                  <c:v>9.3700215807687233</c:v>
                </c:pt>
                <c:pt idx="20">
                  <c:v>9.5915964634707205</c:v>
                </c:pt>
              </c:numCache>
            </c:numRef>
          </c:val>
          <c:smooth val="0"/>
          <c:extLst>
            <c:ext xmlns:c16="http://schemas.microsoft.com/office/drawing/2014/chart" uri="{C3380CC4-5D6E-409C-BE32-E72D297353CC}">
              <c16:uniqueId val="{00000000-1D4C-8249-8F67-96F0357FC96B}"/>
            </c:ext>
          </c:extLst>
        </c:ser>
        <c:ser>
          <c:idx val="1"/>
          <c:order val="1"/>
          <c:tx>
            <c:strRef>
              <c:f>'ws_SAA_6.0%'!$K$2</c:f>
              <c:strCache>
                <c:ptCount val="1"/>
                <c:pt idx="0">
                  <c:v>10th %ile</c:v>
                </c:pt>
              </c:strCache>
            </c:strRef>
          </c:tx>
          <c:spPr>
            <a:ln w="12700">
              <a:solidFill>
                <a:srgbClr val="8064A2"/>
              </a:solidFill>
              <a:prstDash val="solid"/>
            </a:ln>
          </c:spPr>
          <c:marker>
            <c:symbol val="none"/>
          </c:marker>
          <c:dLbls>
            <c:dLbl>
              <c:idx val="2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1D4C-8249-8F67-96F0357FC96B}"/>
                </c:ext>
              </c:extLst>
            </c:dLbl>
            <c:numFmt formatCode="#,##0.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'ws_SAA_6.0%'!$A$3:$A$23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'ws_SAA_6.0%'!$K$3:$K$23</c:f>
              <c:numCache>
                <c:formatCode>General</c:formatCode>
                <c:ptCount val="21"/>
                <c:pt idx="0">
                  <c:v>#N/A</c:v>
                </c:pt>
                <c:pt idx="1">
                  <c:v>5.4999999999999991</c:v>
                </c:pt>
                <c:pt idx="2">
                  <c:v>5.6725907460240412</c:v>
                </c:pt>
                <c:pt idx="3">
                  <c:v>5.8251220585055803</c:v>
                </c:pt>
                <c:pt idx="4">
                  <c:v>5.9653124986822261</c:v>
                </c:pt>
                <c:pt idx="5">
                  <c:v>6.1311286428921079</c:v>
                </c:pt>
                <c:pt idx="6">
                  <c:v>6.3002141273595571</c:v>
                </c:pt>
                <c:pt idx="7">
                  <c:v>6.464812325254524</c:v>
                </c:pt>
                <c:pt idx="8">
                  <c:v>6.6402079924613453</c:v>
                </c:pt>
                <c:pt idx="9">
                  <c:v>6.8212590709781962</c:v>
                </c:pt>
                <c:pt idx="10">
                  <c:v>7.0032279090854326</c:v>
                </c:pt>
                <c:pt idx="11">
                  <c:v>7.1863249698691547</c:v>
                </c:pt>
                <c:pt idx="12">
                  <c:v>7.3625664133636377</c:v>
                </c:pt>
                <c:pt idx="13">
                  <c:v>7.5401835131755712</c:v>
                </c:pt>
                <c:pt idx="14">
                  <c:v>7.7249776889592443</c:v>
                </c:pt>
                <c:pt idx="15">
                  <c:v>7.9134729394014434</c:v>
                </c:pt>
                <c:pt idx="16">
                  <c:v>8.0988105212672732</c:v>
                </c:pt>
                <c:pt idx="17">
                  <c:v>8.284824749298128</c:v>
                </c:pt>
                <c:pt idx="18">
                  <c:v>8.4775595339985674</c:v>
                </c:pt>
                <c:pt idx="19">
                  <c:v>8.6717125236727526</c:v>
                </c:pt>
                <c:pt idx="20">
                  <c:v>8.8773034842119891</c:v>
                </c:pt>
              </c:numCache>
            </c:numRef>
          </c:val>
          <c:smooth val="0"/>
          <c:extLst>
            <c:ext xmlns:c16="http://schemas.microsoft.com/office/drawing/2014/chart" uri="{C3380CC4-5D6E-409C-BE32-E72D297353CC}">
              <c16:uniqueId val="{00000001-1D4C-8249-8F67-96F0357FC96B}"/>
            </c:ext>
          </c:extLst>
        </c:ser>
        <c:ser>
          <c:idx val="2"/>
          <c:order val="2"/>
          <c:tx>
            <c:strRef>
              <c:f>'ws_SAA_6.0%'!$L$2</c:f>
              <c:strCache>
                <c:ptCount val="1"/>
                <c:pt idx="0">
                  <c:v>50th %ile</c:v>
                </c:pt>
              </c:strCache>
            </c:strRef>
          </c:tx>
          <c:spPr>
            <a:ln w="12700">
              <a:solidFill>
                <a:srgbClr val="376092"/>
              </a:solidFill>
              <a:prstDash val="solid"/>
            </a:ln>
          </c:spPr>
          <c:marker>
            <c:symbol val="none"/>
          </c:marker>
          <c:dLbls>
            <c:dLbl>
              <c:idx val="2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1D4C-8249-8F67-96F0357FC96B}"/>
                </c:ext>
              </c:extLst>
            </c:dLbl>
            <c:numFmt formatCode="#,##0.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'ws_SAA_6.0%'!$A$3:$A$23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'ws_SAA_6.0%'!$L$3:$L$23</c:f>
              <c:numCache>
                <c:formatCode>General</c:formatCode>
                <c:ptCount val="21"/>
                <c:pt idx="0">
                  <c:v>#N/A</c:v>
                </c:pt>
                <c:pt idx="1">
                  <c:v>5.4999999999999991</c:v>
                </c:pt>
                <c:pt idx="2">
                  <c:v>5.624666962335735</c:v>
                </c:pt>
                <c:pt idx="3">
                  <c:v>5.7589219730703176</c:v>
                </c:pt>
                <c:pt idx="4">
                  <c:v>5.8832320398655931</c:v>
                </c:pt>
                <c:pt idx="5">
                  <c:v>6.0095405264334758</c:v>
                </c:pt>
                <c:pt idx="6">
                  <c:v>6.13509046183888</c:v>
                </c:pt>
                <c:pt idx="7">
                  <c:v>6.2594720699713973</c:v>
                </c:pt>
                <c:pt idx="8">
                  <c:v>6.3900136494039854</c:v>
                </c:pt>
                <c:pt idx="9">
                  <c:v>6.517811082654644</c:v>
                </c:pt>
                <c:pt idx="10">
                  <c:v>6.6442208328249794</c:v>
                </c:pt>
                <c:pt idx="11">
                  <c:v>6.7773320780336679</c:v>
                </c:pt>
                <c:pt idx="12">
                  <c:v>6.913039040200978</c:v>
                </c:pt>
                <c:pt idx="13">
                  <c:v>7.0479473344761718</c:v>
                </c:pt>
                <c:pt idx="14">
                  <c:v>7.1912476031979757</c:v>
                </c:pt>
                <c:pt idx="15">
                  <c:v>7.3349368283746532</c:v>
                </c:pt>
                <c:pt idx="16">
                  <c:v>7.4805137733576892</c:v>
                </c:pt>
                <c:pt idx="17">
                  <c:v>7.6308743331755489</c:v>
                </c:pt>
                <c:pt idx="18">
                  <c:v>7.7826942161794914</c:v>
                </c:pt>
                <c:pt idx="19">
                  <c:v>7.9372343249275543</c:v>
                </c:pt>
                <c:pt idx="20">
                  <c:v>8.0977893310743934</c:v>
                </c:pt>
              </c:numCache>
            </c:numRef>
          </c:val>
          <c:smooth val="0"/>
          <c:extLst>
            <c:ext xmlns:c16="http://schemas.microsoft.com/office/drawing/2014/chart" uri="{C3380CC4-5D6E-409C-BE32-E72D297353CC}">
              <c16:uniqueId val="{00000002-1D4C-8249-8F67-96F0357FC96B}"/>
            </c:ext>
          </c:extLst>
        </c:ser>
        <c:ser>
          <c:idx val="3"/>
          <c:order val="3"/>
          <c:tx>
            <c:strRef>
              <c:f>'ws_SAA_6.0%'!$M$2</c:f>
              <c:strCache>
                <c:ptCount val="1"/>
                <c:pt idx="0">
                  <c:v>90th %ile</c:v>
                </c:pt>
              </c:strCache>
            </c:strRef>
          </c:tx>
          <c:spPr>
            <a:ln w="12700">
              <a:solidFill>
                <a:srgbClr val="77933C"/>
              </a:solidFill>
              <a:prstDash val="solid"/>
            </a:ln>
          </c:spPr>
          <c:marker>
            <c:symbol val="none"/>
          </c:marker>
          <c:dLbls>
            <c:dLbl>
              <c:idx val="2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D4C-8249-8F67-96F0357FC96B}"/>
                </c:ext>
              </c:extLst>
            </c:dLbl>
            <c:numFmt formatCode="#,##0.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'ws_SAA_6.0%'!$A$3:$A$23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'ws_SAA_6.0%'!$M$3:$M$23</c:f>
              <c:numCache>
                <c:formatCode>General</c:formatCode>
                <c:ptCount val="21"/>
                <c:pt idx="0">
                  <c:v>#N/A</c:v>
                </c:pt>
                <c:pt idx="1">
                  <c:v>5.4999999999999991</c:v>
                </c:pt>
                <c:pt idx="2">
                  <c:v>5.5846164124535926</c:v>
                </c:pt>
                <c:pt idx="3">
                  <c:v>5.6947159928254338</c:v>
                </c:pt>
                <c:pt idx="4">
                  <c:v>5.8073685327793614</c:v>
                </c:pt>
                <c:pt idx="5">
                  <c:v>5.8994414001413276</c:v>
                </c:pt>
                <c:pt idx="6">
                  <c:v>5.9988270672511659</c:v>
                </c:pt>
                <c:pt idx="7">
                  <c:v>6.0976447509514662</c:v>
                </c:pt>
                <c:pt idx="8">
                  <c:v>6.1832978707848714</c:v>
                </c:pt>
                <c:pt idx="9">
                  <c:v>6.272245223941721</c:v>
                </c:pt>
                <c:pt idx="10">
                  <c:v>6.3637105803935743</c:v>
                </c:pt>
                <c:pt idx="11">
                  <c:v>6.4586305848701304</c:v>
                </c:pt>
                <c:pt idx="12">
                  <c:v>6.5551185946427051</c:v>
                </c:pt>
                <c:pt idx="13">
                  <c:v>6.6579993484041813</c:v>
                </c:pt>
                <c:pt idx="14">
                  <c:v>6.7590723984197441</c:v>
                </c:pt>
                <c:pt idx="15">
                  <c:v>6.8693876065385604</c:v>
                </c:pt>
                <c:pt idx="16">
                  <c:v>6.9817053491498928</c:v>
                </c:pt>
                <c:pt idx="17">
                  <c:v>7.0925513038358314</c:v>
                </c:pt>
                <c:pt idx="18">
                  <c:v>7.2072909247299348</c:v>
                </c:pt>
                <c:pt idx="19">
                  <c:v>7.3289497481818584</c:v>
                </c:pt>
                <c:pt idx="20">
                  <c:v>7.4524684019050067</c:v>
                </c:pt>
              </c:numCache>
            </c:numRef>
          </c:val>
          <c:smooth val="0"/>
          <c:extLst>
            <c:ext xmlns:c16="http://schemas.microsoft.com/office/drawing/2014/chart" uri="{C3380CC4-5D6E-409C-BE32-E72D297353CC}">
              <c16:uniqueId val="{00000003-1D4C-8249-8F67-96F0357FC96B}"/>
            </c:ext>
          </c:extLst>
        </c:ser>
        <c:dLbls>
          <c:showLegendKey val="0"/>
          <c:showVal val="0"/>
          <c:showCatName val="0"/>
          <c:showSerName val="0"/>
          <c:showPercent val="0"/>
          <c:showBubbleSize val="0"/>
        </c:dLbls>
        <c:smooth val="0"/>
        <c:axId val="10"/>
        <c:axId val="100"/>
      </c:lineChart>
      <c:catAx>
        <c:axId val="10"/>
        <c:scaling>
          <c:orientation val="minMax"/>
        </c:scaling>
        <c:delete val="0"/>
        <c:axPos val="b"/>
        <c:title>
          <c:tx>
            <c:rich>
              <a:bodyPr/>
              <a:lstStyle/>
              <a:p>
                <a:pPr>
                  <a:defRPr/>
                </a:pPr>
                <a:r>
                  <a:rPr lang="en-GB" sz="900" b="0">
                    <a:latin typeface="Aptos"/>
                  </a:rPr>
                  <a:t>Year</a:t>
                </a:r>
              </a:p>
            </c:rich>
          </c:tx>
          <c:layout>
            <c:manualLayout>
              <c:xMode val="edge"/>
              <c:yMode val="edge"/>
              <c:x val="0.5046843901662138"/>
              <c:y val="0.82588799782571154"/>
            </c:manualLayout>
          </c:layout>
          <c:overlay val="0"/>
        </c:title>
        <c:numFmt formatCode="General" sourceLinked="1"/>
        <c:majorTickMark val="none"/>
        <c:minorTickMark val="none"/>
        <c:tickLblPos val="low"/>
        <c:txPr>
          <a:bodyPr/>
          <a:lstStyle/>
          <a:p>
            <a:pPr>
              <a:defRPr sz="900" b="0">
                <a:latin typeface="Aptos"/>
              </a:defRPr>
            </a:pPr>
            <a:endParaRPr lang="en-US"/>
          </a:p>
        </c:txPr>
        <c:crossAx val="100"/>
        <c:crosses val="autoZero"/>
        <c:auto val="0"/>
        <c:lblAlgn val="ctr"/>
        <c:lblOffset val="100"/>
        <c:tickLblSkip val="5"/>
        <c:tickMarkSkip val="5"/>
        <c:noMultiLvlLbl val="0"/>
      </c:catAx>
      <c:valAx>
        <c:axId val="100"/>
        <c:scaling>
          <c:orientation val="minMax"/>
          <c:max val="10"/>
        </c:scaling>
        <c:delete val="0"/>
        <c:axPos val="l"/>
        <c:title>
          <c:tx>
            <c:rich>
              <a:bodyPr/>
              <a:lstStyle/>
              <a:p>
                <a:pPr>
                  <a:defRPr/>
                </a:pPr>
                <a:r>
                  <a:rPr lang="en-GB" sz="900" b="0" dirty="0">
                    <a:latin typeface="Aptos"/>
                  </a:rPr>
                  <a:t>Net Flows ($mm)</a:t>
                </a:r>
              </a:p>
            </c:rich>
          </c:tx>
          <c:overlay val="0"/>
        </c:title>
        <c:numFmt formatCode="General" sourceLinked="1"/>
        <c:majorTickMark val="cross"/>
        <c:minorTickMark val="none"/>
        <c:tickLblPos val="nextTo"/>
        <c:txPr>
          <a:bodyPr/>
          <a:lstStyle/>
          <a:p>
            <a:pPr>
              <a:defRPr sz="900" b="0">
                <a:latin typeface="Aptos"/>
              </a:defRPr>
            </a:pPr>
            <a:endParaRPr lang="en-US"/>
          </a:p>
        </c:txPr>
        <c:crossAx val="10"/>
        <c:crosses val="autoZero"/>
        <c:crossBetween val="between"/>
      </c:valAx>
    </c:plotArea>
    <c:plotVisOnly val="1"/>
    <c:dispBlanksAs val="gap"/>
    <c:showDLblsOverMax val="0"/>
  </c:chart>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8624481311769292E-2"/>
          <c:y val="8.1866191560268878E-2"/>
          <c:w val="0.9097857247726272"/>
          <c:h val="0.77005916513030692"/>
        </c:manualLayout>
      </c:layout>
      <c:lineChart>
        <c:grouping val="standard"/>
        <c:varyColors val="0"/>
        <c:ser>
          <c:idx val="0"/>
          <c:order val="0"/>
          <c:spPr>
            <a:ln w="28575" cap="rnd">
              <a:solidFill>
                <a:schemeClr val="accent1"/>
              </a:solidFill>
              <a:round/>
            </a:ln>
            <a:effectLst/>
          </c:spPr>
          <c:marker>
            <c:symbol val="none"/>
          </c:marker>
          <c:cat>
            <c:numRef>
              <c:f>Sheet2!$B$1:$L$1</c:f>
              <c:numCache>
                <c:formatCode>0.0%</c:formatCode>
                <c:ptCount val="11"/>
                <c:pt idx="0">
                  <c:v>0.01</c:v>
                </c:pt>
                <c:pt idx="1">
                  <c:v>1.4999999999999999E-2</c:v>
                </c:pt>
                <c:pt idx="2">
                  <c:v>0.02</c:v>
                </c:pt>
                <c:pt idx="3">
                  <c:v>2.5000000000000001E-2</c:v>
                </c:pt>
                <c:pt idx="4">
                  <c:v>3.0000000000000002E-2</c:v>
                </c:pt>
                <c:pt idx="5">
                  <c:v>3.5000000000000003E-2</c:v>
                </c:pt>
                <c:pt idx="6">
                  <c:v>0.04</c:v>
                </c:pt>
                <c:pt idx="7">
                  <c:v>4.4999999999999998E-2</c:v>
                </c:pt>
                <c:pt idx="8">
                  <c:v>4.9999999999999996E-2</c:v>
                </c:pt>
                <c:pt idx="9">
                  <c:v>5.4999999999999993E-2</c:v>
                </c:pt>
                <c:pt idx="10">
                  <c:v>5.9999999999999991E-2</c:v>
                </c:pt>
              </c:numCache>
            </c:numRef>
          </c:cat>
          <c:val>
            <c:numRef>
              <c:f>Sheet2!$B$4:$L$4</c:f>
            </c:numRef>
          </c:val>
          <c:smooth val="0"/>
          <c:extLst>
            <c:ext xmlns:c16="http://schemas.microsoft.com/office/drawing/2014/chart" uri="{C3380CC4-5D6E-409C-BE32-E72D297353CC}">
              <c16:uniqueId val="{00000000-37DA-F349-AECD-4B25D58A8893}"/>
            </c:ext>
          </c:extLst>
        </c:ser>
        <c:ser>
          <c:idx val="1"/>
          <c:order val="1"/>
          <c:spPr>
            <a:ln w="28575" cap="rnd">
              <a:solidFill>
                <a:schemeClr val="accent2"/>
              </a:solidFill>
              <a:round/>
            </a:ln>
            <a:effectLst/>
          </c:spPr>
          <c:marker>
            <c:symbol val="none"/>
          </c:marker>
          <c:cat>
            <c:numRef>
              <c:f>Sheet2!$B$1:$L$1</c:f>
              <c:numCache>
                <c:formatCode>0.0%</c:formatCode>
                <c:ptCount val="11"/>
                <c:pt idx="0">
                  <c:v>0.01</c:v>
                </c:pt>
                <c:pt idx="1">
                  <c:v>1.4999999999999999E-2</c:v>
                </c:pt>
                <c:pt idx="2">
                  <c:v>0.02</c:v>
                </c:pt>
                <c:pt idx="3">
                  <c:v>2.5000000000000001E-2</c:v>
                </c:pt>
                <c:pt idx="4">
                  <c:v>3.0000000000000002E-2</c:v>
                </c:pt>
                <c:pt idx="5">
                  <c:v>3.5000000000000003E-2</c:v>
                </c:pt>
                <c:pt idx="6">
                  <c:v>0.04</c:v>
                </c:pt>
                <c:pt idx="7">
                  <c:v>4.4999999999999998E-2</c:v>
                </c:pt>
                <c:pt idx="8">
                  <c:v>4.9999999999999996E-2</c:v>
                </c:pt>
                <c:pt idx="9">
                  <c:v>5.4999999999999993E-2</c:v>
                </c:pt>
                <c:pt idx="10">
                  <c:v>5.9999999999999991E-2</c:v>
                </c:pt>
              </c:numCache>
            </c:numRef>
          </c:cat>
          <c:val>
            <c:numRef>
              <c:f>Sheet2!$B$5:$L$5</c:f>
            </c:numRef>
          </c:val>
          <c:smooth val="0"/>
          <c:extLst>
            <c:ext xmlns:c16="http://schemas.microsoft.com/office/drawing/2014/chart" uri="{C3380CC4-5D6E-409C-BE32-E72D297353CC}">
              <c16:uniqueId val="{00000001-37DA-F349-AECD-4B25D58A8893}"/>
            </c:ext>
          </c:extLst>
        </c:ser>
        <c:ser>
          <c:idx val="2"/>
          <c:order val="2"/>
          <c:spPr>
            <a:ln w="28575" cap="rnd">
              <a:solidFill>
                <a:schemeClr val="accent3"/>
              </a:solidFill>
              <a:round/>
            </a:ln>
            <a:effectLst/>
          </c:spPr>
          <c:marker>
            <c:symbol val="none"/>
          </c:marker>
          <c:cat>
            <c:numRef>
              <c:f>Sheet2!$B$1:$L$1</c:f>
              <c:numCache>
                <c:formatCode>0.0%</c:formatCode>
                <c:ptCount val="11"/>
                <c:pt idx="0">
                  <c:v>0.01</c:v>
                </c:pt>
                <c:pt idx="1">
                  <c:v>1.4999999999999999E-2</c:v>
                </c:pt>
                <c:pt idx="2">
                  <c:v>0.02</c:v>
                </c:pt>
                <c:pt idx="3">
                  <c:v>2.5000000000000001E-2</c:v>
                </c:pt>
                <c:pt idx="4">
                  <c:v>3.0000000000000002E-2</c:v>
                </c:pt>
                <c:pt idx="5">
                  <c:v>3.5000000000000003E-2</c:v>
                </c:pt>
                <c:pt idx="6">
                  <c:v>0.04</c:v>
                </c:pt>
                <c:pt idx="7">
                  <c:v>4.4999999999999998E-2</c:v>
                </c:pt>
                <c:pt idx="8">
                  <c:v>4.9999999999999996E-2</c:v>
                </c:pt>
                <c:pt idx="9">
                  <c:v>5.4999999999999993E-2</c:v>
                </c:pt>
                <c:pt idx="10">
                  <c:v>5.9999999999999991E-2</c:v>
                </c:pt>
              </c:numCache>
            </c:numRef>
          </c:cat>
          <c:val>
            <c:numRef>
              <c:f>Sheet2!$B$6:$L$6</c:f>
            </c:numRef>
          </c:val>
          <c:smooth val="0"/>
          <c:extLst>
            <c:ext xmlns:c16="http://schemas.microsoft.com/office/drawing/2014/chart" uri="{C3380CC4-5D6E-409C-BE32-E72D297353CC}">
              <c16:uniqueId val="{00000002-37DA-F349-AECD-4B25D58A8893}"/>
            </c:ext>
          </c:extLst>
        </c:ser>
        <c:ser>
          <c:idx val="3"/>
          <c:order val="3"/>
          <c:spPr>
            <a:ln w="28575" cap="rnd">
              <a:solidFill>
                <a:schemeClr val="accent4"/>
              </a:solidFill>
              <a:round/>
            </a:ln>
            <a:effectLst/>
          </c:spPr>
          <c:marker>
            <c:symbol val="none"/>
          </c:marker>
          <c:cat>
            <c:numRef>
              <c:f>Sheet2!$B$1:$L$1</c:f>
              <c:numCache>
                <c:formatCode>0.0%</c:formatCode>
                <c:ptCount val="11"/>
                <c:pt idx="0">
                  <c:v>0.01</c:v>
                </c:pt>
                <c:pt idx="1">
                  <c:v>1.4999999999999999E-2</c:v>
                </c:pt>
                <c:pt idx="2">
                  <c:v>0.02</c:v>
                </c:pt>
                <c:pt idx="3">
                  <c:v>2.5000000000000001E-2</c:v>
                </c:pt>
                <c:pt idx="4">
                  <c:v>3.0000000000000002E-2</c:v>
                </c:pt>
                <c:pt idx="5">
                  <c:v>3.5000000000000003E-2</c:v>
                </c:pt>
                <c:pt idx="6">
                  <c:v>0.04</c:v>
                </c:pt>
                <c:pt idx="7">
                  <c:v>4.4999999999999998E-2</c:v>
                </c:pt>
                <c:pt idx="8">
                  <c:v>4.9999999999999996E-2</c:v>
                </c:pt>
                <c:pt idx="9">
                  <c:v>5.4999999999999993E-2</c:v>
                </c:pt>
                <c:pt idx="10">
                  <c:v>5.9999999999999991E-2</c:v>
                </c:pt>
              </c:numCache>
            </c:numRef>
          </c:cat>
          <c:val>
            <c:numRef>
              <c:f>Sheet2!$B$7:$L$7</c:f>
            </c:numRef>
          </c:val>
          <c:smooth val="0"/>
          <c:extLst>
            <c:ext xmlns:c16="http://schemas.microsoft.com/office/drawing/2014/chart" uri="{C3380CC4-5D6E-409C-BE32-E72D297353CC}">
              <c16:uniqueId val="{00000003-37DA-F349-AECD-4B25D58A8893}"/>
            </c:ext>
          </c:extLst>
        </c:ser>
        <c:ser>
          <c:idx val="4"/>
          <c:order val="4"/>
          <c:tx>
            <c:v>Over 5 Years</c:v>
          </c:tx>
          <c:spPr>
            <a:ln w="28575" cap="rnd">
              <a:solidFill>
                <a:schemeClr val="tx2">
                  <a:lumMod val="50000"/>
                </a:schemeClr>
              </a:solidFill>
              <a:round/>
            </a:ln>
            <a:effectLst/>
          </c:spPr>
          <c:marker>
            <c:symbol val="none"/>
          </c:marker>
          <c:cat>
            <c:numRef>
              <c:f>Sheet2!$B$1:$L$1</c:f>
              <c:numCache>
                <c:formatCode>0.0%</c:formatCode>
                <c:ptCount val="11"/>
                <c:pt idx="0">
                  <c:v>0.01</c:v>
                </c:pt>
                <c:pt idx="1">
                  <c:v>1.4999999999999999E-2</c:v>
                </c:pt>
                <c:pt idx="2">
                  <c:v>0.02</c:v>
                </c:pt>
                <c:pt idx="3">
                  <c:v>2.5000000000000001E-2</c:v>
                </c:pt>
                <c:pt idx="4">
                  <c:v>3.0000000000000002E-2</c:v>
                </c:pt>
                <c:pt idx="5">
                  <c:v>3.5000000000000003E-2</c:v>
                </c:pt>
                <c:pt idx="6">
                  <c:v>0.04</c:v>
                </c:pt>
                <c:pt idx="7">
                  <c:v>4.4999999999999998E-2</c:v>
                </c:pt>
                <c:pt idx="8">
                  <c:v>4.9999999999999996E-2</c:v>
                </c:pt>
                <c:pt idx="9">
                  <c:v>5.4999999999999993E-2</c:v>
                </c:pt>
                <c:pt idx="10">
                  <c:v>5.9999999999999991E-2</c:v>
                </c:pt>
              </c:numCache>
            </c:numRef>
          </c:cat>
          <c:val>
            <c:numRef>
              <c:f>Sheet2!$B$8:$L$8</c:f>
              <c:numCache>
                <c:formatCode>0%</c:formatCode>
                <c:ptCount val="11"/>
                <c:pt idx="0">
                  <c:v>0.89715</c:v>
                </c:pt>
                <c:pt idx="1">
                  <c:v>0.87119999999999997</c:v>
                </c:pt>
                <c:pt idx="2">
                  <c:v>0.84065000000000001</c:v>
                </c:pt>
                <c:pt idx="3">
                  <c:v>0.80395000000000005</c:v>
                </c:pt>
                <c:pt idx="4">
                  <c:v>0.76329999999999998</c:v>
                </c:pt>
                <c:pt idx="5">
                  <c:v>0.72004999999999997</c:v>
                </c:pt>
                <c:pt idx="6">
                  <c:v>0.67290000000000005</c:v>
                </c:pt>
                <c:pt idx="7">
                  <c:v>0.61814999999999998</c:v>
                </c:pt>
                <c:pt idx="8">
                  <c:v>0.56084999999999996</c:v>
                </c:pt>
                <c:pt idx="9">
                  <c:v>0.50544999999999995</c:v>
                </c:pt>
                <c:pt idx="10">
                  <c:v>0.4451</c:v>
                </c:pt>
              </c:numCache>
            </c:numRef>
          </c:val>
          <c:smooth val="0"/>
          <c:extLst>
            <c:ext xmlns:c16="http://schemas.microsoft.com/office/drawing/2014/chart" uri="{C3380CC4-5D6E-409C-BE32-E72D297353CC}">
              <c16:uniqueId val="{00000004-37DA-F349-AECD-4B25D58A8893}"/>
            </c:ext>
          </c:extLst>
        </c:ser>
        <c:ser>
          <c:idx val="5"/>
          <c:order val="5"/>
          <c:spPr>
            <a:ln w="28575" cap="rnd">
              <a:solidFill>
                <a:schemeClr val="accent6"/>
              </a:solidFill>
              <a:round/>
            </a:ln>
            <a:effectLst/>
          </c:spPr>
          <c:marker>
            <c:symbol val="none"/>
          </c:marker>
          <c:cat>
            <c:numRef>
              <c:f>Sheet2!$B$1:$L$1</c:f>
              <c:numCache>
                <c:formatCode>0.0%</c:formatCode>
                <c:ptCount val="11"/>
                <c:pt idx="0">
                  <c:v>0.01</c:v>
                </c:pt>
                <c:pt idx="1">
                  <c:v>1.4999999999999999E-2</c:v>
                </c:pt>
                <c:pt idx="2">
                  <c:v>0.02</c:v>
                </c:pt>
                <c:pt idx="3">
                  <c:v>2.5000000000000001E-2</c:v>
                </c:pt>
                <c:pt idx="4">
                  <c:v>3.0000000000000002E-2</c:v>
                </c:pt>
                <c:pt idx="5">
                  <c:v>3.5000000000000003E-2</c:v>
                </c:pt>
                <c:pt idx="6">
                  <c:v>0.04</c:v>
                </c:pt>
                <c:pt idx="7">
                  <c:v>4.4999999999999998E-2</c:v>
                </c:pt>
                <c:pt idx="8">
                  <c:v>4.9999999999999996E-2</c:v>
                </c:pt>
                <c:pt idx="9">
                  <c:v>5.4999999999999993E-2</c:v>
                </c:pt>
                <c:pt idx="10">
                  <c:v>5.9999999999999991E-2</c:v>
                </c:pt>
              </c:numCache>
            </c:numRef>
          </c:cat>
          <c:val>
            <c:numRef>
              <c:f>Sheet2!$B$9:$L$9</c:f>
            </c:numRef>
          </c:val>
          <c:smooth val="0"/>
          <c:extLst>
            <c:ext xmlns:c16="http://schemas.microsoft.com/office/drawing/2014/chart" uri="{C3380CC4-5D6E-409C-BE32-E72D297353CC}">
              <c16:uniqueId val="{00000005-37DA-F349-AECD-4B25D58A8893}"/>
            </c:ext>
          </c:extLst>
        </c:ser>
        <c:ser>
          <c:idx val="6"/>
          <c:order val="6"/>
          <c:spPr>
            <a:ln w="28575" cap="rnd">
              <a:solidFill>
                <a:schemeClr val="accent1">
                  <a:lumMod val="60000"/>
                </a:schemeClr>
              </a:solidFill>
              <a:round/>
            </a:ln>
            <a:effectLst/>
          </c:spPr>
          <c:marker>
            <c:symbol val="none"/>
          </c:marker>
          <c:cat>
            <c:numRef>
              <c:f>Sheet2!$B$1:$L$1</c:f>
              <c:numCache>
                <c:formatCode>0.0%</c:formatCode>
                <c:ptCount val="11"/>
                <c:pt idx="0">
                  <c:v>0.01</c:v>
                </c:pt>
                <c:pt idx="1">
                  <c:v>1.4999999999999999E-2</c:v>
                </c:pt>
                <c:pt idx="2">
                  <c:v>0.02</c:v>
                </c:pt>
                <c:pt idx="3">
                  <c:v>2.5000000000000001E-2</c:v>
                </c:pt>
                <c:pt idx="4">
                  <c:v>3.0000000000000002E-2</c:v>
                </c:pt>
                <c:pt idx="5">
                  <c:v>3.5000000000000003E-2</c:v>
                </c:pt>
                <c:pt idx="6">
                  <c:v>0.04</c:v>
                </c:pt>
                <c:pt idx="7">
                  <c:v>4.4999999999999998E-2</c:v>
                </c:pt>
                <c:pt idx="8">
                  <c:v>4.9999999999999996E-2</c:v>
                </c:pt>
                <c:pt idx="9">
                  <c:v>5.4999999999999993E-2</c:v>
                </c:pt>
                <c:pt idx="10">
                  <c:v>5.9999999999999991E-2</c:v>
                </c:pt>
              </c:numCache>
            </c:numRef>
          </c:cat>
          <c:val>
            <c:numRef>
              <c:f>Sheet2!$B$10:$L$10</c:f>
            </c:numRef>
          </c:val>
          <c:smooth val="0"/>
          <c:extLst>
            <c:ext xmlns:c16="http://schemas.microsoft.com/office/drawing/2014/chart" uri="{C3380CC4-5D6E-409C-BE32-E72D297353CC}">
              <c16:uniqueId val="{00000006-37DA-F349-AECD-4B25D58A8893}"/>
            </c:ext>
          </c:extLst>
        </c:ser>
        <c:ser>
          <c:idx val="7"/>
          <c:order val="7"/>
          <c:spPr>
            <a:ln w="28575" cap="rnd">
              <a:solidFill>
                <a:schemeClr val="accent2">
                  <a:lumMod val="60000"/>
                </a:schemeClr>
              </a:solidFill>
              <a:round/>
            </a:ln>
            <a:effectLst/>
          </c:spPr>
          <c:marker>
            <c:symbol val="none"/>
          </c:marker>
          <c:cat>
            <c:numRef>
              <c:f>Sheet2!$B$1:$L$1</c:f>
              <c:numCache>
                <c:formatCode>0.0%</c:formatCode>
                <c:ptCount val="11"/>
                <c:pt idx="0">
                  <c:v>0.01</c:v>
                </c:pt>
                <c:pt idx="1">
                  <c:v>1.4999999999999999E-2</c:v>
                </c:pt>
                <c:pt idx="2">
                  <c:v>0.02</c:v>
                </c:pt>
                <c:pt idx="3">
                  <c:v>2.5000000000000001E-2</c:v>
                </c:pt>
                <c:pt idx="4">
                  <c:v>3.0000000000000002E-2</c:v>
                </c:pt>
                <c:pt idx="5">
                  <c:v>3.5000000000000003E-2</c:v>
                </c:pt>
                <c:pt idx="6">
                  <c:v>0.04</c:v>
                </c:pt>
                <c:pt idx="7">
                  <c:v>4.4999999999999998E-2</c:v>
                </c:pt>
                <c:pt idx="8">
                  <c:v>4.9999999999999996E-2</c:v>
                </c:pt>
                <c:pt idx="9">
                  <c:v>5.4999999999999993E-2</c:v>
                </c:pt>
                <c:pt idx="10">
                  <c:v>5.9999999999999991E-2</c:v>
                </c:pt>
              </c:numCache>
            </c:numRef>
          </c:cat>
          <c:val>
            <c:numRef>
              <c:f>Sheet2!$B$11:$L$11</c:f>
            </c:numRef>
          </c:val>
          <c:smooth val="0"/>
          <c:extLst>
            <c:ext xmlns:c16="http://schemas.microsoft.com/office/drawing/2014/chart" uri="{C3380CC4-5D6E-409C-BE32-E72D297353CC}">
              <c16:uniqueId val="{00000007-37DA-F349-AECD-4B25D58A8893}"/>
            </c:ext>
          </c:extLst>
        </c:ser>
        <c:ser>
          <c:idx val="8"/>
          <c:order val="8"/>
          <c:spPr>
            <a:ln w="28575" cap="rnd">
              <a:solidFill>
                <a:schemeClr val="accent3">
                  <a:lumMod val="60000"/>
                </a:schemeClr>
              </a:solidFill>
              <a:round/>
            </a:ln>
            <a:effectLst/>
          </c:spPr>
          <c:marker>
            <c:symbol val="none"/>
          </c:marker>
          <c:cat>
            <c:numRef>
              <c:f>Sheet2!$B$1:$L$1</c:f>
              <c:numCache>
                <c:formatCode>0.0%</c:formatCode>
                <c:ptCount val="11"/>
                <c:pt idx="0">
                  <c:v>0.01</c:v>
                </c:pt>
                <c:pt idx="1">
                  <c:v>1.4999999999999999E-2</c:v>
                </c:pt>
                <c:pt idx="2">
                  <c:v>0.02</c:v>
                </c:pt>
                <c:pt idx="3">
                  <c:v>2.5000000000000001E-2</c:v>
                </c:pt>
                <c:pt idx="4">
                  <c:v>3.0000000000000002E-2</c:v>
                </c:pt>
                <c:pt idx="5">
                  <c:v>3.5000000000000003E-2</c:v>
                </c:pt>
                <c:pt idx="6">
                  <c:v>0.04</c:v>
                </c:pt>
                <c:pt idx="7">
                  <c:v>4.4999999999999998E-2</c:v>
                </c:pt>
                <c:pt idx="8">
                  <c:v>4.9999999999999996E-2</c:v>
                </c:pt>
                <c:pt idx="9">
                  <c:v>5.4999999999999993E-2</c:v>
                </c:pt>
                <c:pt idx="10">
                  <c:v>5.9999999999999991E-2</c:v>
                </c:pt>
              </c:numCache>
            </c:numRef>
          </c:cat>
          <c:val>
            <c:numRef>
              <c:f>Sheet2!$B$12:$L$12</c:f>
            </c:numRef>
          </c:val>
          <c:smooth val="0"/>
          <c:extLst>
            <c:ext xmlns:c16="http://schemas.microsoft.com/office/drawing/2014/chart" uri="{C3380CC4-5D6E-409C-BE32-E72D297353CC}">
              <c16:uniqueId val="{00000008-37DA-F349-AECD-4B25D58A8893}"/>
            </c:ext>
          </c:extLst>
        </c:ser>
        <c:ser>
          <c:idx val="9"/>
          <c:order val="9"/>
          <c:tx>
            <c:v>Over 10 Years</c:v>
          </c:tx>
          <c:spPr>
            <a:ln w="28575" cap="rnd">
              <a:solidFill>
                <a:schemeClr val="tx2">
                  <a:lumMod val="60000"/>
                  <a:lumOff val="40000"/>
                </a:schemeClr>
              </a:solidFill>
              <a:round/>
            </a:ln>
            <a:effectLst/>
          </c:spPr>
          <c:marker>
            <c:symbol val="none"/>
          </c:marker>
          <c:cat>
            <c:numRef>
              <c:f>Sheet2!$B$1:$L$1</c:f>
              <c:numCache>
                <c:formatCode>0.0%</c:formatCode>
                <c:ptCount val="11"/>
                <c:pt idx="0">
                  <c:v>0.01</c:v>
                </c:pt>
                <c:pt idx="1">
                  <c:v>1.4999999999999999E-2</c:v>
                </c:pt>
                <c:pt idx="2">
                  <c:v>0.02</c:v>
                </c:pt>
                <c:pt idx="3">
                  <c:v>2.5000000000000001E-2</c:v>
                </c:pt>
                <c:pt idx="4">
                  <c:v>3.0000000000000002E-2</c:v>
                </c:pt>
                <c:pt idx="5">
                  <c:v>3.5000000000000003E-2</c:v>
                </c:pt>
                <c:pt idx="6">
                  <c:v>0.04</c:v>
                </c:pt>
                <c:pt idx="7">
                  <c:v>4.4999999999999998E-2</c:v>
                </c:pt>
                <c:pt idx="8">
                  <c:v>4.9999999999999996E-2</c:v>
                </c:pt>
                <c:pt idx="9">
                  <c:v>5.4999999999999993E-2</c:v>
                </c:pt>
                <c:pt idx="10">
                  <c:v>5.9999999999999991E-2</c:v>
                </c:pt>
              </c:numCache>
            </c:numRef>
          </c:cat>
          <c:val>
            <c:numRef>
              <c:f>Sheet2!$B$13:$L$13</c:f>
              <c:numCache>
                <c:formatCode>0%</c:formatCode>
                <c:ptCount val="11"/>
                <c:pt idx="0">
                  <c:v>0.93115000000000003</c:v>
                </c:pt>
                <c:pt idx="1">
                  <c:v>0.90690000000000004</c:v>
                </c:pt>
                <c:pt idx="2">
                  <c:v>0.87309999999999999</c:v>
                </c:pt>
                <c:pt idx="3">
                  <c:v>0.83379999999999999</c:v>
                </c:pt>
                <c:pt idx="4">
                  <c:v>0.78664999999999996</c:v>
                </c:pt>
                <c:pt idx="5">
                  <c:v>0.73399999999999999</c:v>
                </c:pt>
                <c:pt idx="6">
                  <c:v>0.67225000000000001</c:v>
                </c:pt>
                <c:pt idx="7">
                  <c:v>0.60235000000000005</c:v>
                </c:pt>
                <c:pt idx="8">
                  <c:v>0.53005000000000002</c:v>
                </c:pt>
                <c:pt idx="9">
                  <c:v>0.45765</c:v>
                </c:pt>
                <c:pt idx="10">
                  <c:v>0.38114999999999999</c:v>
                </c:pt>
              </c:numCache>
            </c:numRef>
          </c:val>
          <c:smooth val="0"/>
          <c:extLst>
            <c:ext xmlns:c16="http://schemas.microsoft.com/office/drawing/2014/chart" uri="{C3380CC4-5D6E-409C-BE32-E72D297353CC}">
              <c16:uniqueId val="{00000009-37DA-F349-AECD-4B25D58A8893}"/>
            </c:ext>
          </c:extLst>
        </c:ser>
        <c:ser>
          <c:idx val="10"/>
          <c:order val="10"/>
          <c:spPr>
            <a:ln w="28575" cap="rnd">
              <a:solidFill>
                <a:schemeClr val="accent5">
                  <a:lumMod val="60000"/>
                </a:schemeClr>
              </a:solidFill>
              <a:round/>
            </a:ln>
            <a:effectLst/>
          </c:spPr>
          <c:marker>
            <c:symbol val="none"/>
          </c:marker>
          <c:cat>
            <c:numRef>
              <c:f>Sheet2!$B$1:$L$1</c:f>
              <c:numCache>
                <c:formatCode>0.0%</c:formatCode>
                <c:ptCount val="11"/>
                <c:pt idx="0">
                  <c:v>0.01</c:v>
                </c:pt>
                <c:pt idx="1">
                  <c:v>1.4999999999999999E-2</c:v>
                </c:pt>
                <c:pt idx="2">
                  <c:v>0.02</c:v>
                </c:pt>
                <c:pt idx="3">
                  <c:v>2.5000000000000001E-2</c:v>
                </c:pt>
                <c:pt idx="4">
                  <c:v>3.0000000000000002E-2</c:v>
                </c:pt>
                <c:pt idx="5">
                  <c:v>3.5000000000000003E-2</c:v>
                </c:pt>
                <c:pt idx="6">
                  <c:v>0.04</c:v>
                </c:pt>
                <c:pt idx="7">
                  <c:v>4.4999999999999998E-2</c:v>
                </c:pt>
                <c:pt idx="8">
                  <c:v>4.9999999999999996E-2</c:v>
                </c:pt>
                <c:pt idx="9">
                  <c:v>5.4999999999999993E-2</c:v>
                </c:pt>
                <c:pt idx="10">
                  <c:v>5.9999999999999991E-2</c:v>
                </c:pt>
              </c:numCache>
            </c:numRef>
          </c:cat>
          <c:val>
            <c:numRef>
              <c:f>Sheet2!$B$14:$L$14</c:f>
            </c:numRef>
          </c:val>
          <c:smooth val="0"/>
          <c:extLst>
            <c:ext xmlns:c16="http://schemas.microsoft.com/office/drawing/2014/chart" uri="{C3380CC4-5D6E-409C-BE32-E72D297353CC}">
              <c16:uniqueId val="{0000000A-37DA-F349-AECD-4B25D58A8893}"/>
            </c:ext>
          </c:extLst>
        </c:ser>
        <c:ser>
          <c:idx val="11"/>
          <c:order val="11"/>
          <c:spPr>
            <a:ln w="28575" cap="rnd">
              <a:solidFill>
                <a:schemeClr val="accent6">
                  <a:lumMod val="60000"/>
                </a:schemeClr>
              </a:solidFill>
              <a:round/>
            </a:ln>
            <a:effectLst/>
          </c:spPr>
          <c:marker>
            <c:symbol val="none"/>
          </c:marker>
          <c:cat>
            <c:numRef>
              <c:f>Sheet2!$B$1:$L$1</c:f>
              <c:numCache>
                <c:formatCode>0.0%</c:formatCode>
                <c:ptCount val="11"/>
                <c:pt idx="0">
                  <c:v>0.01</c:v>
                </c:pt>
                <c:pt idx="1">
                  <c:v>1.4999999999999999E-2</c:v>
                </c:pt>
                <c:pt idx="2">
                  <c:v>0.02</c:v>
                </c:pt>
                <c:pt idx="3">
                  <c:v>2.5000000000000001E-2</c:v>
                </c:pt>
                <c:pt idx="4">
                  <c:v>3.0000000000000002E-2</c:v>
                </c:pt>
                <c:pt idx="5">
                  <c:v>3.5000000000000003E-2</c:v>
                </c:pt>
                <c:pt idx="6">
                  <c:v>0.04</c:v>
                </c:pt>
                <c:pt idx="7">
                  <c:v>4.4999999999999998E-2</c:v>
                </c:pt>
                <c:pt idx="8">
                  <c:v>4.9999999999999996E-2</c:v>
                </c:pt>
                <c:pt idx="9">
                  <c:v>5.4999999999999993E-2</c:v>
                </c:pt>
                <c:pt idx="10">
                  <c:v>5.9999999999999991E-2</c:v>
                </c:pt>
              </c:numCache>
            </c:numRef>
          </c:cat>
          <c:val>
            <c:numRef>
              <c:f>Sheet2!$B$15:$L$15</c:f>
            </c:numRef>
          </c:val>
          <c:smooth val="0"/>
          <c:extLst>
            <c:ext xmlns:c16="http://schemas.microsoft.com/office/drawing/2014/chart" uri="{C3380CC4-5D6E-409C-BE32-E72D297353CC}">
              <c16:uniqueId val="{0000000B-37DA-F349-AECD-4B25D58A8893}"/>
            </c:ext>
          </c:extLst>
        </c:ser>
        <c:ser>
          <c:idx val="12"/>
          <c:order val="12"/>
          <c:spPr>
            <a:ln w="28575" cap="rnd">
              <a:solidFill>
                <a:schemeClr val="accent1">
                  <a:lumMod val="80000"/>
                  <a:lumOff val="20000"/>
                </a:schemeClr>
              </a:solidFill>
              <a:round/>
            </a:ln>
            <a:effectLst/>
          </c:spPr>
          <c:marker>
            <c:symbol val="none"/>
          </c:marker>
          <c:cat>
            <c:numRef>
              <c:f>Sheet2!$B$1:$L$1</c:f>
              <c:numCache>
                <c:formatCode>0.0%</c:formatCode>
                <c:ptCount val="11"/>
                <c:pt idx="0">
                  <c:v>0.01</c:v>
                </c:pt>
                <c:pt idx="1">
                  <c:v>1.4999999999999999E-2</c:v>
                </c:pt>
                <c:pt idx="2">
                  <c:v>0.02</c:v>
                </c:pt>
                <c:pt idx="3">
                  <c:v>2.5000000000000001E-2</c:v>
                </c:pt>
                <c:pt idx="4">
                  <c:v>3.0000000000000002E-2</c:v>
                </c:pt>
                <c:pt idx="5">
                  <c:v>3.5000000000000003E-2</c:v>
                </c:pt>
                <c:pt idx="6">
                  <c:v>0.04</c:v>
                </c:pt>
                <c:pt idx="7">
                  <c:v>4.4999999999999998E-2</c:v>
                </c:pt>
                <c:pt idx="8">
                  <c:v>4.9999999999999996E-2</c:v>
                </c:pt>
                <c:pt idx="9">
                  <c:v>5.4999999999999993E-2</c:v>
                </c:pt>
                <c:pt idx="10">
                  <c:v>5.9999999999999991E-2</c:v>
                </c:pt>
              </c:numCache>
            </c:numRef>
          </c:cat>
          <c:val>
            <c:numRef>
              <c:f>Sheet2!$B$16:$L$16</c:f>
            </c:numRef>
          </c:val>
          <c:smooth val="0"/>
          <c:extLst>
            <c:ext xmlns:c16="http://schemas.microsoft.com/office/drawing/2014/chart" uri="{C3380CC4-5D6E-409C-BE32-E72D297353CC}">
              <c16:uniqueId val="{0000000C-37DA-F349-AECD-4B25D58A8893}"/>
            </c:ext>
          </c:extLst>
        </c:ser>
        <c:ser>
          <c:idx val="13"/>
          <c:order val="13"/>
          <c:spPr>
            <a:ln w="28575" cap="rnd">
              <a:solidFill>
                <a:schemeClr val="accent2">
                  <a:lumMod val="80000"/>
                  <a:lumOff val="20000"/>
                </a:schemeClr>
              </a:solidFill>
              <a:round/>
            </a:ln>
            <a:effectLst/>
          </c:spPr>
          <c:marker>
            <c:symbol val="none"/>
          </c:marker>
          <c:cat>
            <c:numRef>
              <c:f>Sheet2!$B$1:$L$1</c:f>
              <c:numCache>
                <c:formatCode>0.0%</c:formatCode>
                <c:ptCount val="11"/>
                <c:pt idx="0">
                  <c:v>0.01</c:v>
                </c:pt>
                <c:pt idx="1">
                  <c:v>1.4999999999999999E-2</c:v>
                </c:pt>
                <c:pt idx="2">
                  <c:v>0.02</c:v>
                </c:pt>
                <c:pt idx="3">
                  <c:v>2.5000000000000001E-2</c:v>
                </c:pt>
                <c:pt idx="4">
                  <c:v>3.0000000000000002E-2</c:v>
                </c:pt>
                <c:pt idx="5">
                  <c:v>3.5000000000000003E-2</c:v>
                </c:pt>
                <c:pt idx="6">
                  <c:v>0.04</c:v>
                </c:pt>
                <c:pt idx="7">
                  <c:v>4.4999999999999998E-2</c:v>
                </c:pt>
                <c:pt idx="8">
                  <c:v>4.9999999999999996E-2</c:v>
                </c:pt>
                <c:pt idx="9">
                  <c:v>5.4999999999999993E-2</c:v>
                </c:pt>
                <c:pt idx="10">
                  <c:v>5.9999999999999991E-2</c:v>
                </c:pt>
              </c:numCache>
            </c:numRef>
          </c:cat>
          <c:val>
            <c:numRef>
              <c:f>Sheet2!$B$17:$L$17</c:f>
            </c:numRef>
          </c:val>
          <c:smooth val="0"/>
          <c:extLst>
            <c:ext xmlns:c16="http://schemas.microsoft.com/office/drawing/2014/chart" uri="{C3380CC4-5D6E-409C-BE32-E72D297353CC}">
              <c16:uniqueId val="{0000000D-37DA-F349-AECD-4B25D58A8893}"/>
            </c:ext>
          </c:extLst>
        </c:ser>
        <c:ser>
          <c:idx val="14"/>
          <c:order val="14"/>
          <c:tx>
            <c:v>Over 15 Years</c:v>
          </c:tx>
          <c:spPr>
            <a:ln w="28575" cap="rnd">
              <a:solidFill>
                <a:schemeClr val="accent1">
                  <a:lumMod val="60000"/>
                  <a:lumOff val="40000"/>
                </a:schemeClr>
              </a:solidFill>
              <a:round/>
            </a:ln>
            <a:effectLst/>
          </c:spPr>
          <c:marker>
            <c:symbol val="none"/>
          </c:marker>
          <c:cat>
            <c:numRef>
              <c:f>Sheet2!$B$1:$L$1</c:f>
              <c:numCache>
                <c:formatCode>0.0%</c:formatCode>
                <c:ptCount val="11"/>
                <c:pt idx="0">
                  <c:v>0.01</c:v>
                </c:pt>
                <c:pt idx="1">
                  <c:v>1.4999999999999999E-2</c:v>
                </c:pt>
                <c:pt idx="2">
                  <c:v>0.02</c:v>
                </c:pt>
                <c:pt idx="3">
                  <c:v>2.5000000000000001E-2</c:v>
                </c:pt>
                <c:pt idx="4">
                  <c:v>3.0000000000000002E-2</c:v>
                </c:pt>
                <c:pt idx="5">
                  <c:v>3.5000000000000003E-2</c:v>
                </c:pt>
                <c:pt idx="6">
                  <c:v>0.04</c:v>
                </c:pt>
                <c:pt idx="7">
                  <c:v>4.4999999999999998E-2</c:v>
                </c:pt>
                <c:pt idx="8">
                  <c:v>4.9999999999999996E-2</c:v>
                </c:pt>
                <c:pt idx="9">
                  <c:v>5.4999999999999993E-2</c:v>
                </c:pt>
                <c:pt idx="10">
                  <c:v>5.9999999999999991E-2</c:v>
                </c:pt>
              </c:numCache>
            </c:numRef>
          </c:cat>
          <c:val>
            <c:numRef>
              <c:f>Sheet2!$B$18:$L$18</c:f>
              <c:numCache>
                <c:formatCode>0%</c:formatCode>
                <c:ptCount val="11"/>
                <c:pt idx="0">
                  <c:v>0.94489999999999996</c:v>
                </c:pt>
                <c:pt idx="1">
                  <c:v>0.91930000000000001</c:v>
                </c:pt>
                <c:pt idx="2">
                  <c:v>0.88639999999999997</c:v>
                </c:pt>
                <c:pt idx="3">
                  <c:v>0.84330000000000005</c:v>
                </c:pt>
                <c:pt idx="4">
                  <c:v>0.78985000000000005</c:v>
                </c:pt>
                <c:pt idx="5">
                  <c:v>0.72499999999999998</c:v>
                </c:pt>
                <c:pt idx="6">
                  <c:v>0.65359999999999996</c:v>
                </c:pt>
                <c:pt idx="7">
                  <c:v>0.57694999999999996</c:v>
                </c:pt>
                <c:pt idx="8">
                  <c:v>0.48845</c:v>
                </c:pt>
                <c:pt idx="9">
                  <c:v>0.40200000000000002</c:v>
                </c:pt>
                <c:pt idx="10">
                  <c:v>0.32450000000000001</c:v>
                </c:pt>
              </c:numCache>
            </c:numRef>
          </c:val>
          <c:smooth val="0"/>
          <c:extLst>
            <c:ext xmlns:c16="http://schemas.microsoft.com/office/drawing/2014/chart" uri="{C3380CC4-5D6E-409C-BE32-E72D297353CC}">
              <c16:uniqueId val="{0000000E-37DA-F349-AECD-4B25D58A8893}"/>
            </c:ext>
          </c:extLst>
        </c:ser>
        <c:ser>
          <c:idx val="15"/>
          <c:order val="15"/>
          <c:spPr>
            <a:ln w="28575" cap="rnd">
              <a:solidFill>
                <a:schemeClr val="accent4">
                  <a:lumMod val="80000"/>
                  <a:lumOff val="20000"/>
                </a:schemeClr>
              </a:solidFill>
              <a:round/>
            </a:ln>
            <a:effectLst/>
          </c:spPr>
          <c:marker>
            <c:symbol val="none"/>
          </c:marker>
          <c:cat>
            <c:numRef>
              <c:f>Sheet2!$B$1:$L$1</c:f>
              <c:numCache>
                <c:formatCode>0.0%</c:formatCode>
                <c:ptCount val="11"/>
                <c:pt idx="0">
                  <c:v>0.01</c:v>
                </c:pt>
                <c:pt idx="1">
                  <c:v>1.4999999999999999E-2</c:v>
                </c:pt>
                <c:pt idx="2">
                  <c:v>0.02</c:v>
                </c:pt>
                <c:pt idx="3">
                  <c:v>2.5000000000000001E-2</c:v>
                </c:pt>
                <c:pt idx="4">
                  <c:v>3.0000000000000002E-2</c:v>
                </c:pt>
                <c:pt idx="5">
                  <c:v>3.5000000000000003E-2</c:v>
                </c:pt>
                <c:pt idx="6">
                  <c:v>0.04</c:v>
                </c:pt>
                <c:pt idx="7">
                  <c:v>4.4999999999999998E-2</c:v>
                </c:pt>
                <c:pt idx="8">
                  <c:v>4.9999999999999996E-2</c:v>
                </c:pt>
                <c:pt idx="9">
                  <c:v>5.4999999999999993E-2</c:v>
                </c:pt>
                <c:pt idx="10">
                  <c:v>5.9999999999999991E-2</c:v>
                </c:pt>
              </c:numCache>
            </c:numRef>
          </c:cat>
          <c:val>
            <c:numRef>
              <c:f>Sheet2!$B$19:$L$19</c:f>
            </c:numRef>
          </c:val>
          <c:smooth val="0"/>
          <c:extLst>
            <c:ext xmlns:c16="http://schemas.microsoft.com/office/drawing/2014/chart" uri="{C3380CC4-5D6E-409C-BE32-E72D297353CC}">
              <c16:uniqueId val="{0000000F-37DA-F349-AECD-4B25D58A8893}"/>
            </c:ext>
          </c:extLst>
        </c:ser>
        <c:ser>
          <c:idx val="16"/>
          <c:order val="16"/>
          <c:spPr>
            <a:ln w="28575" cap="rnd">
              <a:solidFill>
                <a:schemeClr val="accent5">
                  <a:lumMod val="80000"/>
                  <a:lumOff val="20000"/>
                </a:schemeClr>
              </a:solidFill>
              <a:round/>
            </a:ln>
            <a:effectLst/>
          </c:spPr>
          <c:marker>
            <c:symbol val="none"/>
          </c:marker>
          <c:cat>
            <c:numRef>
              <c:f>Sheet2!$B$1:$L$1</c:f>
              <c:numCache>
                <c:formatCode>0.0%</c:formatCode>
                <c:ptCount val="11"/>
                <c:pt idx="0">
                  <c:v>0.01</c:v>
                </c:pt>
                <c:pt idx="1">
                  <c:v>1.4999999999999999E-2</c:v>
                </c:pt>
                <c:pt idx="2">
                  <c:v>0.02</c:v>
                </c:pt>
                <c:pt idx="3">
                  <c:v>2.5000000000000001E-2</c:v>
                </c:pt>
                <c:pt idx="4">
                  <c:v>3.0000000000000002E-2</c:v>
                </c:pt>
                <c:pt idx="5">
                  <c:v>3.5000000000000003E-2</c:v>
                </c:pt>
                <c:pt idx="6">
                  <c:v>0.04</c:v>
                </c:pt>
                <c:pt idx="7">
                  <c:v>4.4999999999999998E-2</c:v>
                </c:pt>
                <c:pt idx="8">
                  <c:v>4.9999999999999996E-2</c:v>
                </c:pt>
                <c:pt idx="9">
                  <c:v>5.4999999999999993E-2</c:v>
                </c:pt>
                <c:pt idx="10">
                  <c:v>5.9999999999999991E-2</c:v>
                </c:pt>
              </c:numCache>
            </c:numRef>
          </c:cat>
          <c:val>
            <c:numRef>
              <c:f>Sheet2!$B$20:$L$20</c:f>
            </c:numRef>
          </c:val>
          <c:smooth val="0"/>
          <c:extLst>
            <c:ext xmlns:c16="http://schemas.microsoft.com/office/drawing/2014/chart" uri="{C3380CC4-5D6E-409C-BE32-E72D297353CC}">
              <c16:uniqueId val="{00000010-37DA-F349-AECD-4B25D58A8893}"/>
            </c:ext>
          </c:extLst>
        </c:ser>
        <c:ser>
          <c:idx val="17"/>
          <c:order val="17"/>
          <c:spPr>
            <a:ln w="28575" cap="rnd">
              <a:solidFill>
                <a:schemeClr val="accent6">
                  <a:lumMod val="80000"/>
                  <a:lumOff val="20000"/>
                </a:schemeClr>
              </a:solidFill>
              <a:round/>
            </a:ln>
            <a:effectLst/>
          </c:spPr>
          <c:marker>
            <c:symbol val="none"/>
          </c:marker>
          <c:cat>
            <c:numRef>
              <c:f>Sheet2!$B$1:$L$1</c:f>
              <c:numCache>
                <c:formatCode>0.0%</c:formatCode>
                <c:ptCount val="11"/>
                <c:pt idx="0">
                  <c:v>0.01</c:v>
                </c:pt>
                <c:pt idx="1">
                  <c:v>1.4999999999999999E-2</c:v>
                </c:pt>
                <c:pt idx="2">
                  <c:v>0.02</c:v>
                </c:pt>
                <c:pt idx="3">
                  <c:v>2.5000000000000001E-2</c:v>
                </c:pt>
                <c:pt idx="4">
                  <c:v>3.0000000000000002E-2</c:v>
                </c:pt>
                <c:pt idx="5">
                  <c:v>3.5000000000000003E-2</c:v>
                </c:pt>
                <c:pt idx="6">
                  <c:v>0.04</c:v>
                </c:pt>
                <c:pt idx="7">
                  <c:v>4.4999999999999998E-2</c:v>
                </c:pt>
                <c:pt idx="8">
                  <c:v>4.9999999999999996E-2</c:v>
                </c:pt>
                <c:pt idx="9">
                  <c:v>5.4999999999999993E-2</c:v>
                </c:pt>
                <c:pt idx="10">
                  <c:v>5.9999999999999991E-2</c:v>
                </c:pt>
              </c:numCache>
            </c:numRef>
          </c:cat>
          <c:val>
            <c:numRef>
              <c:f>Sheet2!$B$21:$L$21</c:f>
            </c:numRef>
          </c:val>
          <c:smooth val="0"/>
          <c:extLst>
            <c:ext xmlns:c16="http://schemas.microsoft.com/office/drawing/2014/chart" uri="{C3380CC4-5D6E-409C-BE32-E72D297353CC}">
              <c16:uniqueId val="{00000011-37DA-F349-AECD-4B25D58A8893}"/>
            </c:ext>
          </c:extLst>
        </c:ser>
        <c:ser>
          <c:idx val="18"/>
          <c:order val="18"/>
          <c:spPr>
            <a:ln w="28575" cap="rnd">
              <a:solidFill>
                <a:schemeClr val="accent1">
                  <a:lumMod val="80000"/>
                </a:schemeClr>
              </a:solidFill>
              <a:round/>
            </a:ln>
            <a:effectLst/>
          </c:spPr>
          <c:marker>
            <c:symbol val="none"/>
          </c:marker>
          <c:cat>
            <c:numRef>
              <c:f>Sheet2!$B$1:$L$1</c:f>
              <c:numCache>
                <c:formatCode>0.0%</c:formatCode>
                <c:ptCount val="11"/>
                <c:pt idx="0">
                  <c:v>0.01</c:v>
                </c:pt>
                <c:pt idx="1">
                  <c:v>1.4999999999999999E-2</c:v>
                </c:pt>
                <c:pt idx="2">
                  <c:v>0.02</c:v>
                </c:pt>
                <c:pt idx="3">
                  <c:v>2.5000000000000001E-2</c:v>
                </c:pt>
                <c:pt idx="4">
                  <c:v>3.0000000000000002E-2</c:v>
                </c:pt>
                <c:pt idx="5">
                  <c:v>3.5000000000000003E-2</c:v>
                </c:pt>
                <c:pt idx="6">
                  <c:v>0.04</c:v>
                </c:pt>
                <c:pt idx="7">
                  <c:v>4.4999999999999998E-2</c:v>
                </c:pt>
                <c:pt idx="8">
                  <c:v>4.9999999999999996E-2</c:v>
                </c:pt>
                <c:pt idx="9">
                  <c:v>5.4999999999999993E-2</c:v>
                </c:pt>
                <c:pt idx="10">
                  <c:v>5.9999999999999991E-2</c:v>
                </c:pt>
              </c:numCache>
            </c:numRef>
          </c:cat>
          <c:val>
            <c:numRef>
              <c:f>Sheet2!$B$22:$L$22</c:f>
            </c:numRef>
          </c:val>
          <c:smooth val="0"/>
          <c:extLst>
            <c:ext xmlns:c16="http://schemas.microsoft.com/office/drawing/2014/chart" uri="{C3380CC4-5D6E-409C-BE32-E72D297353CC}">
              <c16:uniqueId val="{00000012-37DA-F349-AECD-4B25D58A8893}"/>
            </c:ext>
          </c:extLst>
        </c:ser>
        <c:ser>
          <c:idx val="19"/>
          <c:order val="19"/>
          <c:tx>
            <c:v>Over 20 Years</c:v>
          </c:tx>
          <c:spPr>
            <a:ln w="28575" cap="rnd">
              <a:solidFill>
                <a:schemeClr val="tx2">
                  <a:lumMod val="20000"/>
                  <a:lumOff val="80000"/>
                </a:schemeClr>
              </a:solidFill>
              <a:round/>
            </a:ln>
            <a:effectLst/>
          </c:spPr>
          <c:marker>
            <c:symbol val="none"/>
          </c:marker>
          <c:cat>
            <c:numRef>
              <c:f>Sheet2!$B$1:$L$1</c:f>
              <c:numCache>
                <c:formatCode>0.0%</c:formatCode>
                <c:ptCount val="11"/>
                <c:pt idx="0">
                  <c:v>0.01</c:v>
                </c:pt>
                <c:pt idx="1">
                  <c:v>1.4999999999999999E-2</c:v>
                </c:pt>
                <c:pt idx="2">
                  <c:v>0.02</c:v>
                </c:pt>
                <c:pt idx="3">
                  <c:v>2.5000000000000001E-2</c:v>
                </c:pt>
                <c:pt idx="4">
                  <c:v>3.0000000000000002E-2</c:v>
                </c:pt>
                <c:pt idx="5">
                  <c:v>3.5000000000000003E-2</c:v>
                </c:pt>
                <c:pt idx="6">
                  <c:v>0.04</c:v>
                </c:pt>
                <c:pt idx="7">
                  <c:v>4.4999999999999998E-2</c:v>
                </c:pt>
                <c:pt idx="8">
                  <c:v>4.9999999999999996E-2</c:v>
                </c:pt>
                <c:pt idx="9">
                  <c:v>5.4999999999999993E-2</c:v>
                </c:pt>
                <c:pt idx="10">
                  <c:v>5.9999999999999991E-2</c:v>
                </c:pt>
              </c:numCache>
            </c:numRef>
          </c:cat>
          <c:val>
            <c:numRef>
              <c:f>Sheet2!$B$23:$L$23</c:f>
              <c:numCache>
                <c:formatCode>0%</c:formatCode>
                <c:ptCount val="11"/>
                <c:pt idx="0">
                  <c:v>0.95694999999999997</c:v>
                </c:pt>
                <c:pt idx="1">
                  <c:v>0.93169999999999997</c:v>
                </c:pt>
                <c:pt idx="2">
                  <c:v>0.89949999999999997</c:v>
                </c:pt>
                <c:pt idx="3">
                  <c:v>0.85399999999999998</c:v>
                </c:pt>
                <c:pt idx="4">
                  <c:v>0.79774999999999996</c:v>
                </c:pt>
                <c:pt idx="5">
                  <c:v>0.72529999999999994</c:v>
                </c:pt>
                <c:pt idx="6">
                  <c:v>0.64480000000000004</c:v>
                </c:pt>
                <c:pt idx="7">
                  <c:v>0.55700000000000005</c:v>
                </c:pt>
                <c:pt idx="8">
                  <c:v>0.46465000000000001</c:v>
                </c:pt>
                <c:pt idx="9">
                  <c:v>0.373</c:v>
                </c:pt>
                <c:pt idx="10">
                  <c:v>0.28820000000000001</c:v>
                </c:pt>
              </c:numCache>
            </c:numRef>
          </c:val>
          <c:smooth val="0"/>
          <c:extLst>
            <c:ext xmlns:c16="http://schemas.microsoft.com/office/drawing/2014/chart" uri="{C3380CC4-5D6E-409C-BE32-E72D297353CC}">
              <c16:uniqueId val="{00000013-37DA-F349-AECD-4B25D58A8893}"/>
            </c:ext>
          </c:extLst>
        </c:ser>
        <c:dLbls>
          <c:showLegendKey val="0"/>
          <c:showVal val="0"/>
          <c:showCatName val="0"/>
          <c:showSerName val="0"/>
          <c:showPercent val="0"/>
          <c:showBubbleSize val="0"/>
        </c:dLbls>
        <c:smooth val="0"/>
        <c:axId val="1561759248"/>
        <c:axId val="1776207024"/>
      </c:lineChart>
      <c:catAx>
        <c:axId val="1561759248"/>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Arial" panose="020B0604020202020204" pitchFamily="34" charset="0"/>
                    <a:ea typeface="+mn-ea"/>
                    <a:cs typeface="Arial" panose="020B0604020202020204" pitchFamily="34" charset="0"/>
                  </a:defRPr>
                </a:pPr>
                <a:r>
                  <a:rPr lang="en-GB"/>
                  <a:t>Assumed Yearly Spend</a:t>
                </a:r>
                <a:r>
                  <a:rPr lang="en-GB" baseline="0"/>
                  <a:t> (% of Initial Portfolio Value, Adjusted for Inflation)</a:t>
                </a:r>
                <a:endParaRPr lang="en-GB"/>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Arial" panose="020B0604020202020204" pitchFamily="34" charset="0"/>
                  <a:ea typeface="+mn-ea"/>
                  <a:cs typeface="Arial" panose="020B0604020202020204" pitchFamily="34" charset="0"/>
                </a:defRPr>
              </a:pPr>
              <a:endParaRPr lang="en-GB"/>
            </a:p>
          </c:txPr>
        </c:title>
        <c:numFmt formatCode="0.0%" sourceLinked="1"/>
        <c:majorTickMark val="none"/>
        <c:minorTickMark val="none"/>
        <c:tickLblPos val="nextTo"/>
        <c:spPr>
          <a:noFill/>
          <a:ln w="9525" cap="flat" cmpd="sng" algn="ctr">
            <a:solidFill>
              <a:schemeClr val="dk1">
                <a:shade val="95000"/>
                <a:satMod val="105000"/>
              </a:schemeClr>
            </a:solidFill>
            <a:prstDash val="solid"/>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Arial" panose="020B0604020202020204" pitchFamily="34" charset="0"/>
                <a:ea typeface="+mn-ea"/>
                <a:cs typeface="Arial" panose="020B0604020202020204" pitchFamily="34" charset="0"/>
              </a:defRPr>
            </a:pPr>
            <a:endParaRPr lang="en-US"/>
          </a:p>
        </c:txPr>
        <c:crossAx val="1776207024"/>
        <c:crosses val="autoZero"/>
        <c:auto val="1"/>
        <c:lblAlgn val="ctr"/>
        <c:lblOffset val="100"/>
        <c:noMultiLvlLbl val="0"/>
      </c:catAx>
      <c:valAx>
        <c:axId val="1776207024"/>
        <c:scaling>
          <c:orientation val="minMax"/>
          <c:max val="1"/>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w="9525" cap="flat" cmpd="sng" algn="ctr">
            <a:solidFill>
              <a:schemeClr val="dk1">
                <a:shade val="95000"/>
                <a:satMod val="105000"/>
              </a:schemeClr>
            </a:solidFill>
            <a:prstDash val="soli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Arial" panose="020B0604020202020204" pitchFamily="34" charset="0"/>
                <a:ea typeface="+mn-ea"/>
                <a:cs typeface="Arial" panose="020B0604020202020204" pitchFamily="34" charset="0"/>
              </a:defRPr>
            </a:pPr>
            <a:endParaRPr lang="en-US"/>
          </a:p>
        </c:txPr>
        <c:crossAx val="1561759248"/>
        <c:crosses val="autoZero"/>
        <c:crossBetween val="between"/>
      </c:valAx>
      <c:spPr>
        <a:noFill/>
        <a:ln>
          <a:no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Arial" panose="020B0604020202020204" pitchFamily="34" charset="0"/>
              <a:ea typeface="+mn-ea"/>
              <a:cs typeface="Arial" panose="020B0604020202020204" pitchFamily="34" charset="0"/>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b="0" i="0">
          <a:latin typeface="Arial" panose="020B0604020202020204" pitchFamily="34" charset="0"/>
          <a:cs typeface="Arial" panose="020B0604020202020204" pitchFamily="34" charset="0"/>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tx>
            <c:strRef>
              <c:f>Sheet1!$A$3</c:f>
              <c:strCache>
                <c:ptCount val="1"/>
                <c:pt idx="0">
                  <c:v>10</c:v>
                </c:pt>
              </c:strCache>
            </c:strRef>
          </c:tx>
          <c:spPr>
            <a:solidFill>
              <a:schemeClr val="tx2">
                <a:lumMod val="75000"/>
              </a:schemeClr>
            </a:solidFill>
            <a:ln>
              <a:solidFill>
                <a:schemeClr val="bg1">
                  <a:lumMod val="85000"/>
                </a:schemeClr>
              </a:solidFill>
            </a:ln>
            <a:effectLst/>
          </c:spPr>
          <c:invertIfNegative val="0"/>
          <c:cat>
            <c:numRef>
              <c:f>Sheet1!$A$3:$A$5</c:f>
              <c:numCache>
                <c:formatCode>General</c:formatCode>
                <c:ptCount val="3"/>
                <c:pt idx="0">
                  <c:v>10</c:v>
                </c:pt>
                <c:pt idx="1">
                  <c:v>15</c:v>
                </c:pt>
                <c:pt idx="2">
                  <c:v>20</c:v>
                </c:pt>
              </c:numCache>
            </c:numRef>
          </c:cat>
          <c:val>
            <c:numRef>
              <c:f>Sheet1!$B$7:$B$10</c:f>
              <c:numCache>
                <c:formatCode>0.0%</c:formatCode>
                <c:ptCount val="3"/>
                <c:pt idx="0">
                  <c:v>-3.2199627044427963E-2</c:v>
                </c:pt>
                <c:pt idx="1">
                  <c:v>-2.681158090149148E-2</c:v>
                </c:pt>
                <c:pt idx="2">
                  <c:v>-2.263340052860633E-2</c:v>
                </c:pt>
              </c:numCache>
            </c:numRef>
          </c:val>
          <c:extLst>
            <c:ext xmlns:c16="http://schemas.microsoft.com/office/drawing/2014/chart" uri="{C3380CC4-5D6E-409C-BE32-E72D297353CC}">
              <c16:uniqueId val="{00000000-F7DE-7944-8923-07BD5E716737}"/>
            </c:ext>
          </c:extLst>
        </c:ser>
        <c:ser>
          <c:idx val="1"/>
          <c:order val="1"/>
          <c:tx>
            <c:strRef>
              <c:f>Sheet1!$I$15</c:f>
              <c:strCache>
                <c:ptCount val="1"/>
                <c:pt idx="0">
                  <c:v>1st to 10th &amp; 90th to 99th</c:v>
                </c:pt>
              </c:strCache>
            </c:strRef>
          </c:tx>
          <c:spPr>
            <a:solidFill>
              <a:schemeClr val="accent1">
                <a:lumMod val="40000"/>
                <a:lumOff val="60000"/>
              </a:schemeClr>
            </a:solidFill>
            <a:ln>
              <a:solidFill>
                <a:schemeClr val="bg1">
                  <a:lumMod val="85000"/>
                </a:schemeClr>
              </a:solidFill>
            </a:ln>
            <a:effectLst/>
          </c:spPr>
          <c:invertIfNegative val="0"/>
          <c:cat>
            <c:numRef>
              <c:f>Sheet1!$A$3:$A$5</c:f>
              <c:numCache>
                <c:formatCode>General</c:formatCode>
                <c:ptCount val="3"/>
                <c:pt idx="0">
                  <c:v>10</c:v>
                </c:pt>
                <c:pt idx="1">
                  <c:v>15</c:v>
                </c:pt>
                <c:pt idx="2">
                  <c:v>20</c:v>
                </c:pt>
              </c:numCache>
            </c:numRef>
          </c:cat>
          <c:val>
            <c:numRef>
              <c:f>Sheet1!$C$7:$C$10</c:f>
              <c:numCache>
                <c:formatCode>0.0%</c:formatCode>
                <c:ptCount val="3"/>
                <c:pt idx="0">
                  <c:v>-9.5498889043043392E-3</c:v>
                </c:pt>
                <c:pt idx="1">
                  <c:v>-8.9130139378868194E-3</c:v>
                </c:pt>
                <c:pt idx="2">
                  <c:v>-7.9845283678684695E-3</c:v>
                </c:pt>
              </c:numCache>
            </c:numRef>
          </c:val>
          <c:extLst>
            <c:ext xmlns:c16="http://schemas.microsoft.com/office/drawing/2014/chart" uri="{C3380CC4-5D6E-409C-BE32-E72D297353CC}">
              <c16:uniqueId val="{00000001-F7DE-7944-8923-07BD5E716737}"/>
            </c:ext>
          </c:extLst>
        </c:ser>
        <c:ser>
          <c:idx val="2"/>
          <c:order val="2"/>
          <c:tx>
            <c:strRef>
              <c:f>Sheet1!$I$13</c:f>
              <c:strCache>
                <c:ptCount val="1"/>
                <c:pt idx="0">
                  <c:v>10th to 90th</c:v>
                </c:pt>
              </c:strCache>
            </c:strRef>
          </c:tx>
          <c:spPr>
            <a:solidFill>
              <a:schemeClr val="tx2">
                <a:lumMod val="75000"/>
              </a:schemeClr>
            </a:solidFill>
            <a:ln>
              <a:solidFill>
                <a:schemeClr val="bg1">
                  <a:lumMod val="85000"/>
                </a:schemeClr>
              </a:solidFill>
            </a:ln>
            <a:effectLst/>
          </c:spPr>
          <c:invertIfNegative val="0"/>
          <c:cat>
            <c:numRef>
              <c:f>Sheet1!$A$3:$A$5</c:f>
              <c:numCache>
                <c:formatCode>General</c:formatCode>
                <c:ptCount val="3"/>
                <c:pt idx="0">
                  <c:v>10</c:v>
                </c:pt>
                <c:pt idx="1">
                  <c:v>15</c:v>
                </c:pt>
                <c:pt idx="2">
                  <c:v>20</c:v>
                </c:pt>
              </c:numCache>
            </c:numRef>
          </c:cat>
          <c:val>
            <c:numRef>
              <c:f>Sheet1!$D$7:$D$10</c:f>
              <c:numCache>
                <c:formatCode>0.0%</c:formatCode>
                <c:ptCount val="3"/>
                <c:pt idx="0">
                  <c:v>6.0671217036501898E-2</c:v>
                </c:pt>
                <c:pt idx="1">
                  <c:v>5.2178029936329799E-2</c:v>
                </c:pt>
                <c:pt idx="2">
                  <c:v>4.6403635775740699E-2</c:v>
                </c:pt>
              </c:numCache>
            </c:numRef>
          </c:val>
          <c:extLst>
            <c:ext xmlns:c16="http://schemas.microsoft.com/office/drawing/2014/chart" uri="{C3380CC4-5D6E-409C-BE32-E72D297353CC}">
              <c16:uniqueId val="{00000002-F7DE-7944-8923-07BD5E716737}"/>
            </c:ext>
          </c:extLst>
        </c:ser>
        <c:ser>
          <c:idx val="3"/>
          <c:order val="3"/>
          <c:spPr>
            <a:solidFill>
              <a:schemeClr val="accent1">
                <a:lumMod val="40000"/>
                <a:lumOff val="60000"/>
              </a:schemeClr>
            </a:solidFill>
            <a:ln>
              <a:solidFill>
                <a:schemeClr val="bg1">
                  <a:lumMod val="85000"/>
                </a:schemeClr>
              </a:solidFill>
            </a:ln>
            <a:effectLst/>
          </c:spPr>
          <c:invertIfNegative val="0"/>
          <c:cat>
            <c:numRef>
              <c:f>Sheet1!$A$3:$A$5</c:f>
              <c:numCache>
                <c:formatCode>General</c:formatCode>
                <c:ptCount val="3"/>
                <c:pt idx="0">
                  <c:v>10</c:v>
                </c:pt>
                <c:pt idx="1">
                  <c:v>15</c:v>
                </c:pt>
                <c:pt idx="2">
                  <c:v>20</c:v>
                </c:pt>
              </c:numCache>
            </c:numRef>
          </c:cat>
          <c:val>
            <c:numRef>
              <c:f>Sheet1!$E$7:$E$10</c:f>
              <c:numCache>
                <c:formatCode>0.0%</c:formatCode>
                <c:ptCount val="3"/>
                <c:pt idx="0">
                  <c:v>2.6168201533834007E-2</c:v>
                </c:pt>
                <c:pt idx="1">
                  <c:v>2.35861551448849E-2</c:v>
                </c:pt>
                <c:pt idx="2">
                  <c:v>2.2319924745029494E-2</c:v>
                </c:pt>
              </c:numCache>
            </c:numRef>
          </c:val>
          <c:extLst>
            <c:ext xmlns:c16="http://schemas.microsoft.com/office/drawing/2014/chart" uri="{C3380CC4-5D6E-409C-BE32-E72D297353CC}">
              <c16:uniqueId val="{00000003-F7DE-7944-8923-07BD5E716737}"/>
            </c:ext>
          </c:extLst>
        </c:ser>
        <c:dLbls>
          <c:showLegendKey val="0"/>
          <c:showVal val="0"/>
          <c:showCatName val="0"/>
          <c:showSerName val="0"/>
          <c:showPercent val="0"/>
          <c:showBubbleSize val="0"/>
        </c:dLbls>
        <c:gapWidth val="150"/>
        <c:overlap val="100"/>
        <c:axId val="837847088"/>
        <c:axId val="800971248"/>
      </c:barChart>
      <c:lineChart>
        <c:grouping val="standard"/>
        <c:varyColors val="0"/>
        <c:ser>
          <c:idx val="4"/>
          <c:order val="4"/>
          <c:tx>
            <c:strRef>
              <c:f>Sheet1!$I$14</c:f>
              <c:strCache>
                <c:ptCount val="1"/>
                <c:pt idx="0">
                  <c:v>Median</c:v>
                </c:pt>
              </c:strCache>
            </c:strRef>
          </c:tx>
          <c:spPr>
            <a:ln w="28575" cap="rnd">
              <a:noFill/>
              <a:round/>
            </a:ln>
            <a:effectLst/>
          </c:spPr>
          <c:marker>
            <c:symbol val="dash"/>
            <c:size val="34"/>
            <c:spPr>
              <a:solidFill>
                <a:schemeClr val="bg1"/>
              </a:solidFill>
              <a:ln w="9525">
                <a:solidFill>
                  <a:schemeClr val="dk1">
                    <a:shade val="95000"/>
                    <a:satMod val="105000"/>
                  </a:schemeClr>
                </a:solidFill>
              </a:ln>
              <a:effectLst/>
            </c:spPr>
          </c:marker>
          <c:dLbls>
            <c:dLbl>
              <c:idx val="0"/>
              <c:layout>
                <c:manualLayout>
                  <c:x val="-0.10963217846272527"/>
                  <c:y val="-5.702154197048368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F7DE-7944-8923-07BD5E716737}"/>
                </c:ext>
              </c:extLst>
            </c:dLbl>
            <c:dLbl>
              <c:idx val="1"/>
              <c:layout>
                <c:manualLayout>
                  <c:x val="-0.11295990793456478"/>
                  <c:y val="-4.801459456443731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F7DE-7944-8923-07BD5E716737}"/>
                </c:ext>
              </c:extLst>
            </c:dLbl>
            <c:dLbl>
              <c:idx val="2"/>
              <c:layout>
                <c:manualLayout>
                  <c:x val="-0.11295990793456478"/>
                  <c:y val="-4.8014594564437206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F7DE-7944-8923-07BD5E716737}"/>
                </c:ext>
              </c:extLst>
            </c:dLbl>
            <c:spPr>
              <a:noFill/>
              <a:ln>
                <a:noFill/>
              </a:ln>
              <a:effectLst/>
            </c:spPr>
            <c:txPr>
              <a:bodyPr rot="0" spcFirstLastPara="1" vertOverflow="ellipsis" vert="horz" wrap="square" anchor="ctr" anchorCtr="1"/>
              <a:lstStyle/>
              <a:p>
                <a:pPr>
                  <a:defRPr sz="1050" b="0" i="0" u="none" strike="noStrike" kern="1200" baseline="0">
                    <a:solidFill>
                      <a:schemeClr val="bg1"/>
                    </a:solidFill>
                    <a:latin typeface="Aptos" panose="020B0004020202020204" pitchFamily="34" charset="0"/>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val>
            <c:numRef>
              <c:f>Sheet1!$D$3:$D$5</c:f>
              <c:numCache>
                <c:formatCode>0.0%</c:formatCode>
                <c:ptCount val="3"/>
                <c:pt idx="0">
                  <c:v>2.65715589184175E-2</c:v>
                </c:pt>
                <c:pt idx="1">
                  <c:v>2.1935977257973902E-2</c:v>
                </c:pt>
                <c:pt idx="2">
                  <c:v>2.0006459726786201E-2</c:v>
                </c:pt>
              </c:numCache>
            </c:numRef>
          </c:val>
          <c:smooth val="0"/>
          <c:extLst>
            <c:ext xmlns:c16="http://schemas.microsoft.com/office/drawing/2014/chart" uri="{C3380CC4-5D6E-409C-BE32-E72D297353CC}">
              <c16:uniqueId val="{00000004-F7DE-7944-8923-07BD5E716737}"/>
            </c:ext>
          </c:extLst>
        </c:ser>
        <c:dLbls>
          <c:showLegendKey val="0"/>
          <c:showVal val="0"/>
          <c:showCatName val="0"/>
          <c:showSerName val="0"/>
          <c:showPercent val="0"/>
          <c:showBubbleSize val="0"/>
        </c:dLbls>
        <c:marker val="1"/>
        <c:smooth val="0"/>
        <c:axId val="837847088"/>
        <c:axId val="800971248"/>
      </c:lineChart>
      <c:catAx>
        <c:axId val="837847088"/>
        <c:scaling>
          <c:orientation val="minMax"/>
        </c:scaling>
        <c:delete val="0"/>
        <c:axPos val="b"/>
        <c:numFmt formatCode="General" sourceLinked="1"/>
        <c:majorTickMark val="none"/>
        <c:minorTickMark val="none"/>
        <c:tickLblPos val="low"/>
        <c:spPr>
          <a:noFill/>
          <a:ln w="9525" cap="flat" cmpd="sng" algn="ctr">
            <a:solidFill>
              <a:schemeClr val="dk1">
                <a:shade val="95000"/>
                <a:satMod val="105000"/>
              </a:schemeClr>
            </a:solidFill>
            <a:prstDash val="solid"/>
            <a:round/>
          </a:ln>
          <a:effectLst/>
        </c:spPr>
        <c:txPr>
          <a:bodyPr rot="-60000000" spcFirstLastPara="1" vertOverflow="ellipsis" vert="horz" wrap="square" anchor="ctr" anchorCtr="1"/>
          <a:lstStyle/>
          <a:p>
            <a:pPr>
              <a:defRPr sz="105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800971248"/>
        <c:crosses val="autoZero"/>
        <c:auto val="1"/>
        <c:lblAlgn val="ctr"/>
        <c:lblOffset val="100"/>
        <c:noMultiLvlLbl val="0"/>
      </c:catAx>
      <c:valAx>
        <c:axId val="800971248"/>
        <c:scaling>
          <c:orientation val="minMax"/>
        </c:scaling>
        <c:delete val="0"/>
        <c:axPos val="l"/>
        <c:numFmt formatCode="0.0%" sourceLinked="1"/>
        <c:majorTickMark val="none"/>
        <c:minorTickMark val="none"/>
        <c:tickLblPos val="nextTo"/>
        <c:spPr>
          <a:noFill/>
          <a:ln w="9525" cap="flat" cmpd="sng" algn="ctr">
            <a:solidFill>
              <a:schemeClr val="dk1">
                <a:shade val="95000"/>
                <a:satMod val="105000"/>
              </a:schemeClr>
            </a:solidFill>
            <a:prstDash val="solid"/>
          </a:ln>
          <a:effectLst/>
        </c:spPr>
        <c:txPr>
          <a:bodyPr rot="-60000000" spcFirstLastPara="1" vertOverflow="ellipsis" vert="horz" wrap="square" anchor="ctr" anchorCtr="1"/>
          <a:lstStyle/>
          <a:p>
            <a:pPr>
              <a:defRPr sz="105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837847088"/>
        <c:crosses val="autoZero"/>
        <c:crossBetween val="between"/>
      </c:valAx>
      <c:spPr>
        <a:noFill/>
        <a:ln>
          <a:noFill/>
        </a:ln>
        <a:effectLst/>
      </c:spPr>
    </c:plotArea>
    <c:legend>
      <c:legendPos val="t"/>
      <c:legendEntry>
        <c:idx val="0"/>
        <c:delete val="1"/>
      </c:legendEntry>
      <c:legendEntry>
        <c:idx val="3"/>
        <c:delete val="1"/>
      </c:legendEntry>
      <c:layout>
        <c:manualLayout>
          <c:xMode val="edge"/>
          <c:yMode val="edge"/>
          <c:x val="5.0000052405188532E-2"/>
          <c:y val="0"/>
          <c:w val="0.89999989518962298"/>
          <c:h val="5.6088932849306439E-2"/>
        </c:manualLayout>
      </c:layout>
      <c:overlay val="0"/>
      <c:spPr>
        <a:noFill/>
        <a:ln>
          <a:noFill/>
        </a:ln>
        <a:effectLst/>
      </c:spPr>
      <c:txPr>
        <a:bodyPr rot="0" spcFirstLastPara="1" vertOverflow="ellipsis" vert="horz" wrap="square" anchor="ctr" anchorCtr="1"/>
        <a:lstStyle/>
        <a:p>
          <a:pPr>
            <a:defRPr sz="105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1050" b="0" i="0">
          <a:latin typeface="Aptos" panose="020B0004020202020204" pitchFamily="34" charset="0"/>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1074326460012346"/>
          <c:y val="0.11068779082900965"/>
          <c:w val="0.86949701373684352"/>
          <c:h val="0.74847108137577723"/>
        </c:manualLayout>
      </c:layout>
      <c:lineChart>
        <c:grouping val="standard"/>
        <c:varyColors val="0"/>
        <c:ser>
          <c:idx val="0"/>
          <c:order val="0"/>
          <c:tx>
            <c:strRef>
              <c:f>ws_Optimized_Portfolio!$B$2</c:f>
              <c:strCache>
                <c:ptCount val="1"/>
                <c:pt idx="0">
                  <c:v>1st %ile</c:v>
                </c:pt>
              </c:strCache>
            </c:strRef>
          </c:tx>
          <c:spPr>
            <a:ln w="12700">
              <a:solidFill>
                <a:srgbClr val="C00000"/>
              </a:solidFill>
              <a:prstDash val="solid"/>
            </a:ln>
          </c:spPr>
          <c:marker>
            <c:symbol val="none"/>
          </c:marker>
          <c:dLbls>
            <c:dLbl>
              <c:idx val="2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CE48-2842-AC8B-BE784B05D300}"/>
                </c:ext>
              </c:extLst>
            </c:dLbl>
            <c:numFmt formatCode="#,##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ws_Optimized_Portfolio!$A$3:$A$23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ws_Optimized_Portfolio!$B$3:$B$23</c:f>
              <c:numCache>
                <c:formatCode>General</c:formatCode>
                <c:ptCount val="21"/>
                <c:pt idx="0">
                  <c:v>100</c:v>
                </c:pt>
                <c:pt idx="1">
                  <c:v>86.894229622402094</c:v>
                </c:pt>
                <c:pt idx="2">
                  <c:v>87.160679882565006</c:v>
                </c:pt>
                <c:pt idx="3">
                  <c:v>87.562519466778184</c:v>
                </c:pt>
                <c:pt idx="4">
                  <c:v>86.590712607638622</c:v>
                </c:pt>
                <c:pt idx="5">
                  <c:v>87.05943961898366</c:v>
                </c:pt>
                <c:pt idx="6">
                  <c:v>87.450620792458764</c:v>
                </c:pt>
                <c:pt idx="7">
                  <c:v>84.352444101340566</c:v>
                </c:pt>
                <c:pt idx="8">
                  <c:v>83.424315903933788</c:v>
                </c:pt>
                <c:pt idx="9">
                  <c:v>81.038933847823046</c:v>
                </c:pt>
                <c:pt idx="10">
                  <c:v>80.303178014959414</c:v>
                </c:pt>
                <c:pt idx="11">
                  <c:v>79.583601326913055</c:v>
                </c:pt>
                <c:pt idx="12">
                  <c:v>80.201474463797823</c:v>
                </c:pt>
                <c:pt idx="13">
                  <c:v>78.940099450654017</c:v>
                </c:pt>
                <c:pt idx="14">
                  <c:v>78.798663111589079</c:v>
                </c:pt>
                <c:pt idx="15">
                  <c:v>78.273689115033321</c:v>
                </c:pt>
                <c:pt idx="16">
                  <c:v>77.347414575673298</c:v>
                </c:pt>
                <c:pt idx="17">
                  <c:v>78.667424152504964</c:v>
                </c:pt>
                <c:pt idx="18">
                  <c:v>79.216913992349262</c:v>
                </c:pt>
                <c:pt idx="19">
                  <c:v>79.585407130289866</c:v>
                </c:pt>
                <c:pt idx="20">
                  <c:v>79.296290672821797</c:v>
                </c:pt>
              </c:numCache>
            </c:numRef>
          </c:val>
          <c:smooth val="0"/>
          <c:extLst>
            <c:ext xmlns:c16="http://schemas.microsoft.com/office/drawing/2014/chart" uri="{C3380CC4-5D6E-409C-BE32-E72D297353CC}">
              <c16:uniqueId val="{00000000-CE48-2842-AC8B-BE784B05D300}"/>
            </c:ext>
          </c:extLst>
        </c:ser>
        <c:ser>
          <c:idx val="1"/>
          <c:order val="1"/>
          <c:tx>
            <c:strRef>
              <c:f>ws_Optimized_Portfolio!$C$2</c:f>
              <c:strCache>
                <c:ptCount val="1"/>
                <c:pt idx="0">
                  <c:v>10th %ile</c:v>
                </c:pt>
              </c:strCache>
            </c:strRef>
          </c:tx>
          <c:spPr>
            <a:ln w="12700">
              <a:solidFill>
                <a:srgbClr val="8064A2"/>
              </a:solidFill>
              <a:prstDash val="solid"/>
            </a:ln>
          </c:spPr>
          <c:marker>
            <c:symbol val="none"/>
          </c:marker>
          <c:dLbls>
            <c:dLbl>
              <c:idx val="2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CE48-2842-AC8B-BE784B05D300}"/>
                </c:ext>
              </c:extLst>
            </c:dLbl>
            <c:numFmt formatCode="#,##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ws_Optimized_Portfolio!$A$3:$A$23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ws_Optimized_Portfolio!$C$3:$C$23</c:f>
              <c:numCache>
                <c:formatCode>General</c:formatCode>
                <c:ptCount val="21"/>
                <c:pt idx="0">
                  <c:v>100</c:v>
                </c:pt>
                <c:pt idx="1">
                  <c:v>96.237734130289496</c:v>
                </c:pt>
                <c:pt idx="2">
                  <c:v>97.635365528236704</c:v>
                </c:pt>
                <c:pt idx="3">
                  <c:v>100.65187102068749</c:v>
                </c:pt>
                <c:pt idx="4">
                  <c:v>102.7821564979466</c:v>
                </c:pt>
                <c:pt idx="5">
                  <c:v>105.7682076865501</c:v>
                </c:pt>
                <c:pt idx="6">
                  <c:v>109.1203383118612</c:v>
                </c:pt>
                <c:pt idx="7">
                  <c:v>109.9896120920354</c:v>
                </c:pt>
                <c:pt idx="8">
                  <c:v>110.9645950681675</c:v>
                </c:pt>
                <c:pt idx="9">
                  <c:v>111.5851918620377</c:v>
                </c:pt>
                <c:pt idx="10">
                  <c:v>112.5838535055248</c:v>
                </c:pt>
                <c:pt idx="11">
                  <c:v>113.8882861756633</c:v>
                </c:pt>
                <c:pt idx="12">
                  <c:v>115.2838569500756</c:v>
                </c:pt>
                <c:pt idx="13">
                  <c:v>116.2709982506428</c:v>
                </c:pt>
                <c:pt idx="14">
                  <c:v>118.0223512042692</c:v>
                </c:pt>
                <c:pt idx="15">
                  <c:v>119.28755426536981</c:v>
                </c:pt>
                <c:pt idx="16">
                  <c:v>121.11981114233249</c:v>
                </c:pt>
                <c:pt idx="17">
                  <c:v>122.8511741080063</c:v>
                </c:pt>
                <c:pt idx="18">
                  <c:v>124.55515537426029</c:v>
                </c:pt>
                <c:pt idx="19">
                  <c:v>125.91980536264801</c:v>
                </c:pt>
                <c:pt idx="20">
                  <c:v>128.14299938571739</c:v>
                </c:pt>
              </c:numCache>
            </c:numRef>
          </c:val>
          <c:smooth val="0"/>
          <c:extLst>
            <c:ext xmlns:c16="http://schemas.microsoft.com/office/drawing/2014/chart" uri="{C3380CC4-5D6E-409C-BE32-E72D297353CC}">
              <c16:uniqueId val="{00000001-CE48-2842-AC8B-BE784B05D300}"/>
            </c:ext>
          </c:extLst>
        </c:ser>
        <c:ser>
          <c:idx val="2"/>
          <c:order val="2"/>
          <c:tx>
            <c:strRef>
              <c:f>ws_Optimized_Portfolio!$D$2</c:f>
              <c:strCache>
                <c:ptCount val="1"/>
                <c:pt idx="0">
                  <c:v>50th %ile</c:v>
                </c:pt>
              </c:strCache>
            </c:strRef>
          </c:tx>
          <c:spPr>
            <a:ln w="12700">
              <a:solidFill>
                <a:srgbClr val="376092"/>
              </a:solidFill>
              <a:prstDash val="solid"/>
            </a:ln>
          </c:spPr>
          <c:marker>
            <c:symbol val="none"/>
          </c:marker>
          <c:dLbls>
            <c:dLbl>
              <c:idx val="2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CE48-2842-AC8B-BE784B05D300}"/>
                </c:ext>
              </c:extLst>
            </c:dLbl>
            <c:numFmt formatCode="#,##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ws_Optimized_Portfolio!$A$3:$A$23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ws_Optimized_Portfolio!$D$3:$D$23</c:f>
              <c:numCache>
                <c:formatCode>General</c:formatCode>
                <c:ptCount val="21"/>
                <c:pt idx="0">
                  <c:v>100</c:v>
                </c:pt>
                <c:pt idx="1">
                  <c:v>106.2881594218982</c:v>
                </c:pt>
                <c:pt idx="2">
                  <c:v>112.0377987477533</c:v>
                </c:pt>
                <c:pt idx="3">
                  <c:v>117.6324474307111</c:v>
                </c:pt>
                <c:pt idx="4">
                  <c:v>124.18361195491281</c:v>
                </c:pt>
                <c:pt idx="5">
                  <c:v>131.4632560506891</c:v>
                </c:pt>
                <c:pt idx="6">
                  <c:v>138.6133770565136</c:v>
                </c:pt>
                <c:pt idx="7">
                  <c:v>144.31132064749119</c:v>
                </c:pt>
                <c:pt idx="8">
                  <c:v>150.11939616711069</c:v>
                </c:pt>
                <c:pt idx="9">
                  <c:v>155.32554684678769</c:v>
                </c:pt>
                <c:pt idx="10">
                  <c:v>161.02281177675741</c:v>
                </c:pt>
                <c:pt idx="11">
                  <c:v>166.46497547832169</c:v>
                </c:pt>
                <c:pt idx="12">
                  <c:v>171.52784822952779</c:v>
                </c:pt>
                <c:pt idx="13">
                  <c:v>177.38487594696349</c:v>
                </c:pt>
                <c:pt idx="14">
                  <c:v>183.59848765147169</c:v>
                </c:pt>
                <c:pt idx="15">
                  <c:v>189.3015468147504</c:v>
                </c:pt>
                <c:pt idx="16">
                  <c:v>195.13536196363299</c:v>
                </c:pt>
                <c:pt idx="17">
                  <c:v>201.24665718651809</c:v>
                </c:pt>
                <c:pt idx="18">
                  <c:v>208.6410581532239</c:v>
                </c:pt>
                <c:pt idx="19">
                  <c:v>215.7270800928415</c:v>
                </c:pt>
                <c:pt idx="20">
                  <c:v>222.8537272085668</c:v>
                </c:pt>
              </c:numCache>
            </c:numRef>
          </c:val>
          <c:smooth val="0"/>
          <c:extLst>
            <c:ext xmlns:c16="http://schemas.microsoft.com/office/drawing/2014/chart" uri="{C3380CC4-5D6E-409C-BE32-E72D297353CC}">
              <c16:uniqueId val="{00000002-CE48-2842-AC8B-BE784B05D300}"/>
            </c:ext>
          </c:extLst>
        </c:ser>
        <c:ser>
          <c:idx val="3"/>
          <c:order val="3"/>
          <c:tx>
            <c:strRef>
              <c:f>ws_Optimized_Portfolio!$E$2</c:f>
              <c:strCache>
                <c:ptCount val="1"/>
                <c:pt idx="0">
                  <c:v>90th %ile</c:v>
                </c:pt>
              </c:strCache>
            </c:strRef>
          </c:tx>
          <c:spPr>
            <a:ln w="12700">
              <a:solidFill>
                <a:srgbClr val="77933C"/>
              </a:solidFill>
              <a:prstDash val="solid"/>
            </a:ln>
          </c:spPr>
          <c:marker>
            <c:symbol val="none"/>
          </c:marker>
          <c:dLbls>
            <c:dLbl>
              <c:idx val="2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CE48-2842-AC8B-BE784B05D300}"/>
                </c:ext>
              </c:extLst>
            </c:dLbl>
            <c:numFmt formatCode="#,##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ws_Optimized_Portfolio!$A$3:$A$23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ws_Optimized_Portfolio!$E$3:$E$23</c:f>
              <c:numCache>
                <c:formatCode>General</c:formatCode>
                <c:ptCount val="21"/>
                <c:pt idx="0">
                  <c:v>100</c:v>
                </c:pt>
                <c:pt idx="1">
                  <c:v>116.2142580248201</c:v>
                </c:pt>
                <c:pt idx="2">
                  <c:v>126.2371261678696</c:v>
                </c:pt>
                <c:pt idx="3">
                  <c:v>136.05222896056139</c:v>
                </c:pt>
                <c:pt idx="4">
                  <c:v>147.93539233478461</c:v>
                </c:pt>
                <c:pt idx="5">
                  <c:v>160.34299629754139</c:v>
                </c:pt>
                <c:pt idx="6">
                  <c:v>172.43418940169059</c:v>
                </c:pt>
                <c:pt idx="7">
                  <c:v>184.47582514947339</c:v>
                </c:pt>
                <c:pt idx="8">
                  <c:v>196.54701515006559</c:v>
                </c:pt>
                <c:pt idx="9">
                  <c:v>208.95581336879849</c:v>
                </c:pt>
                <c:pt idx="10">
                  <c:v>221.23072806830609</c:v>
                </c:pt>
                <c:pt idx="11">
                  <c:v>233.57028087825671</c:v>
                </c:pt>
                <c:pt idx="12">
                  <c:v>247.97361658290461</c:v>
                </c:pt>
                <c:pt idx="13">
                  <c:v>261.03071924490172</c:v>
                </c:pt>
                <c:pt idx="14">
                  <c:v>275.83029489274912</c:v>
                </c:pt>
                <c:pt idx="15">
                  <c:v>291.47063548389929</c:v>
                </c:pt>
                <c:pt idx="16">
                  <c:v>307.30511022195009</c:v>
                </c:pt>
                <c:pt idx="17">
                  <c:v>323.33555402657572</c:v>
                </c:pt>
                <c:pt idx="18">
                  <c:v>340.46087263986459</c:v>
                </c:pt>
                <c:pt idx="19">
                  <c:v>356.64818017230408</c:v>
                </c:pt>
                <c:pt idx="20">
                  <c:v>374.06673247537418</c:v>
                </c:pt>
              </c:numCache>
            </c:numRef>
          </c:val>
          <c:smooth val="0"/>
          <c:extLst>
            <c:ext xmlns:c16="http://schemas.microsoft.com/office/drawing/2014/chart" uri="{C3380CC4-5D6E-409C-BE32-E72D297353CC}">
              <c16:uniqueId val="{00000003-CE48-2842-AC8B-BE784B05D300}"/>
            </c:ext>
          </c:extLst>
        </c:ser>
        <c:dLbls>
          <c:showLegendKey val="0"/>
          <c:showVal val="0"/>
          <c:showCatName val="0"/>
          <c:showSerName val="0"/>
          <c:showPercent val="0"/>
          <c:showBubbleSize val="0"/>
        </c:dLbls>
        <c:smooth val="0"/>
        <c:axId val="10"/>
        <c:axId val="100"/>
      </c:lineChart>
      <c:catAx>
        <c:axId val="10"/>
        <c:scaling>
          <c:orientation val="minMax"/>
        </c:scaling>
        <c:delete val="0"/>
        <c:axPos val="b"/>
        <c:title>
          <c:tx>
            <c:rich>
              <a:bodyPr/>
              <a:lstStyle/>
              <a:p>
                <a:pPr>
                  <a:defRPr/>
                </a:pPr>
                <a:r>
                  <a:rPr lang="en-GB" sz="900" b="0">
                    <a:latin typeface="Aptos"/>
                  </a:rPr>
                  <a:t>Year</a:t>
                </a:r>
              </a:p>
            </c:rich>
          </c:tx>
          <c:overlay val="0"/>
        </c:title>
        <c:numFmt formatCode="General" sourceLinked="1"/>
        <c:majorTickMark val="none"/>
        <c:minorTickMark val="none"/>
        <c:tickLblPos val="nextTo"/>
        <c:txPr>
          <a:bodyPr/>
          <a:lstStyle/>
          <a:p>
            <a:pPr>
              <a:defRPr sz="900" b="0">
                <a:latin typeface="Aptos"/>
              </a:defRPr>
            </a:pPr>
            <a:endParaRPr lang="en-US"/>
          </a:p>
        </c:txPr>
        <c:crossAx val="100"/>
        <c:crosses val="autoZero"/>
        <c:auto val="0"/>
        <c:lblAlgn val="ctr"/>
        <c:lblOffset val="100"/>
        <c:tickLblSkip val="5"/>
        <c:tickMarkSkip val="5"/>
        <c:noMultiLvlLbl val="0"/>
      </c:catAx>
      <c:valAx>
        <c:axId val="100"/>
        <c:scaling>
          <c:orientation val="minMax"/>
          <c:max val="450"/>
        </c:scaling>
        <c:delete val="0"/>
        <c:axPos val="l"/>
        <c:title>
          <c:tx>
            <c:rich>
              <a:bodyPr/>
              <a:lstStyle/>
              <a:p>
                <a:pPr>
                  <a:defRPr/>
                </a:pPr>
                <a:r>
                  <a:rPr lang="en-GB" sz="900" b="0">
                    <a:latin typeface="Aptos"/>
                  </a:rPr>
                  <a:t>Nominal Portfolio Values ($)</a:t>
                </a:r>
              </a:p>
            </c:rich>
          </c:tx>
          <c:overlay val="0"/>
        </c:title>
        <c:numFmt formatCode="General" sourceLinked="1"/>
        <c:majorTickMark val="cross"/>
        <c:minorTickMark val="none"/>
        <c:tickLblPos val="nextTo"/>
        <c:txPr>
          <a:bodyPr/>
          <a:lstStyle/>
          <a:p>
            <a:pPr>
              <a:defRPr sz="900" b="0">
                <a:latin typeface="Aptos"/>
              </a:defRPr>
            </a:pPr>
            <a:endParaRPr lang="en-US"/>
          </a:p>
        </c:txPr>
        <c:crossAx val="10"/>
        <c:crosses val="autoZero"/>
        <c:crossBetween val="between"/>
      </c:valAx>
    </c:plotArea>
    <c:legend>
      <c:legendPos val="t"/>
      <c:layout>
        <c:manualLayout>
          <c:xMode val="edge"/>
          <c:yMode val="edge"/>
          <c:x val="0.25"/>
          <c:y val="1.4066060120915477E-2"/>
          <c:w val="1"/>
          <c:h val="0.1"/>
        </c:manualLayout>
      </c:layout>
      <c:overlay val="0"/>
      <c:txPr>
        <a:bodyPr/>
        <a:lstStyle/>
        <a:p>
          <a:pPr>
            <a:defRPr sz="900" b="0">
              <a:latin typeface="Aptos"/>
            </a:defRPr>
          </a:pPr>
          <a:endParaRPr lang="en-US"/>
        </a:p>
      </c:txPr>
    </c:legend>
    <c:plotVisOnly val="1"/>
    <c:dispBlanksAs val="gap"/>
    <c:showDLblsOverMax val="0"/>
  </c:chart>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stacked"/>
        <c:varyColors val="0"/>
        <c:ser>
          <c:idx val="0"/>
          <c:order val="0"/>
          <c:tx>
            <c:strRef>
              <c:f>risk_dashboard!$B$38</c:f>
              <c:strCache>
                <c:ptCount val="1"/>
                <c:pt idx="0">
                  <c:v>Exc. Single Stock</c:v>
                </c:pt>
              </c:strCache>
            </c:strRef>
          </c:tx>
          <c:spPr>
            <a:solidFill>
              <a:schemeClr val="tx2">
                <a:lumMod val="75000"/>
              </a:schemeClr>
            </a:solidFill>
            <a:ln w="6350">
              <a:solidFill>
                <a:schemeClr val="bg1">
                  <a:lumMod val="85000"/>
                </a:schemeClr>
              </a:solidFill>
            </a:ln>
            <a:effectLst/>
          </c:spPr>
          <c:invertIfNegative val="0"/>
          <c:dLbls>
            <c:dLbl>
              <c:idx val="0"/>
              <c:layout>
                <c:manualLayout>
                  <c:x val="2.6191113817624411E-2"/>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8F92-EB40-81C9-1A53F17B2406}"/>
                </c:ext>
              </c:extLst>
            </c:dLbl>
            <c:dLbl>
              <c:idx val="1"/>
              <c:layout>
                <c:manualLayout>
                  <c:x val="-7.4831753764641167E-3"/>
                  <c:y val="0"/>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8F92-EB40-81C9-1A53F17B2406}"/>
                </c:ext>
              </c:extLst>
            </c:dLbl>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ptos" panose="020B00040202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risk_dashboard!$A$39:$A$41</c:f>
              <c:strCache>
                <c:ptCount val="3"/>
                <c:pt idx="0">
                  <c:v>Over 1 Month</c:v>
                </c:pt>
                <c:pt idx="1">
                  <c:v>Over 1 Year</c:v>
                </c:pt>
                <c:pt idx="2">
                  <c:v>Over 3 Years</c:v>
                </c:pt>
              </c:strCache>
            </c:strRef>
          </c:cat>
          <c:val>
            <c:numRef>
              <c:f>risk_dashboard!$B$39:$B$41</c:f>
              <c:numCache>
                <c:formatCode>0.0%</c:formatCode>
                <c:ptCount val="3"/>
                <c:pt idx="0">
                  <c:v>4.1420284237808191E-2</c:v>
                </c:pt>
                <c:pt idx="1">
                  <c:v>0.11542478822860409</c:v>
                </c:pt>
                <c:pt idx="2">
                  <c:v>0.12168605450324201</c:v>
                </c:pt>
              </c:numCache>
            </c:numRef>
          </c:val>
          <c:extLst>
            <c:ext xmlns:c16="http://schemas.microsoft.com/office/drawing/2014/chart" uri="{C3380CC4-5D6E-409C-BE32-E72D297353CC}">
              <c16:uniqueId val="{00000000-8F92-EB40-81C9-1A53F17B2406}"/>
            </c:ext>
          </c:extLst>
        </c:ser>
        <c:ser>
          <c:idx val="1"/>
          <c:order val="1"/>
          <c:tx>
            <c:strRef>
              <c:f>risk_dashboard!$C$38</c:f>
              <c:strCache>
                <c:ptCount val="1"/>
                <c:pt idx="0">
                  <c:v>Inc. Single Stock</c:v>
                </c:pt>
              </c:strCache>
            </c:strRef>
          </c:tx>
          <c:spPr>
            <a:solidFill>
              <a:schemeClr val="accent1">
                <a:lumMod val="40000"/>
                <a:lumOff val="60000"/>
              </a:schemeClr>
            </a:solidFill>
            <a:ln w="6350">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tx1">
                        <a:lumMod val="75000"/>
                        <a:lumOff val="25000"/>
                      </a:schemeClr>
                    </a:solidFill>
                    <a:latin typeface="Aptos" panose="020B00040202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risk_dashboard!$A$39:$A$41</c:f>
              <c:strCache>
                <c:ptCount val="3"/>
                <c:pt idx="0">
                  <c:v>Over 1 Month</c:v>
                </c:pt>
                <c:pt idx="1">
                  <c:v>Over 1 Year</c:v>
                </c:pt>
                <c:pt idx="2">
                  <c:v>Over 3 Years</c:v>
                </c:pt>
              </c:strCache>
            </c:strRef>
          </c:cat>
          <c:val>
            <c:numRef>
              <c:f>risk_dashboard!$C$39:$C$41</c:f>
              <c:numCache>
                <c:formatCode>0.0%</c:formatCode>
                <c:ptCount val="3"/>
                <c:pt idx="0">
                  <c:v>0.56914782945731501</c:v>
                </c:pt>
                <c:pt idx="1">
                  <c:v>0.52474512706283738</c:v>
                </c:pt>
                <c:pt idx="2">
                  <c:v>0.52098836729805487</c:v>
                </c:pt>
              </c:numCache>
            </c:numRef>
          </c:val>
          <c:extLst>
            <c:ext xmlns:c16="http://schemas.microsoft.com/office/drawing/2014/chart" uri="{C3380CC4-5D6E-409C-BE32-E72D297353CC}">
              <c16:uniqueId val="{00000001-8F92-EB40-81C9-1A53F17B2406}"/>
            </c:ext>
          </c:extLst>
        </c:ser>
        <c:ser>
          <c:idx val="2"/>
          <c:order val="2"/>
          <c:tx>
            <c:strRef>
              <c:f>risk_dashboard!$D$38</c:f>
              <c:strCache>
                <c:ptCount val="1"/>
              </c:strCache>
            </c:strRef>
          </c:tx>
          <c:spPr>
            <a:no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tx1">
                        <a:lumMod val="75000"/>
                        <a:lumOff val="25000"/>
                      </a:schemeClr>
                    </a:solidFill>
                    <a:latin typeface="Aptos" panose="020B0004020202020204" pitchFamily="34" charset="0"/>
                    <a:ea typeface="+mn-ea"/>
                    <a:cs typeface="+mn-cs"/>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risk_dashboard!$A$39:$A$41</c:f>
              <c:strCache>
                <c:ptCount val="3"/>
                <c:pt idx="0">
                  <c:v>Over 1 Month</c:v>
                </c:pt>
                <c:pt idx="1">
                  <c:v>Over 1 Year</c:v>
                </c:pt>
                <c:pt idx="2">
                  <c:v>Over 3 Years</c:v>
                </c:pt>
              </c:strCache>
            </c:strRef>
          </c:cat>
          <c:val>
            <c:numRef>
              <c:f>risk_dashboard!$D$39:$D$41</c:f>
              <c:numCache>
                <c:formatCode>0.0%</c:formatCode>
                <c:ptCount val="3"/>
                <c:pt idx="0">
                  <c:v>0.6105681136951232</c:v>
                </c:pt>
                <c:pt idx="1">
                  <c:v>0.64016991529144152</c:v>
                </c:pt>
                <c:pt idx="2">
                  <c:v>0.64267442180129686</c:v>
                </c:pt>
              </c:numCache>
            </c:numRef>
          </c:val>
          <c:extLst>
            <c:ext xmlns:c16="http://schemas.microsoft.com/office/drawing/2014/chart" uri="{C3380CC4-5D6E-409C-BE32-E72D297353CC}">
              <c16:uniqueId val="{00000002-8F92-EB40-81C9-1A53F17B2406}"/>
            </c:ext>
          </c:extLst>
        </c:ser>
        <c:dLbls>
          <c:showLegendKey val="0"/>
          <c:showVal val="0"/>
          <c:showCatName val="0"/>
          <c:showSerName val="0"/>
          <c:showPercent val="0"/>
          <c:showBubbleSize val="0"/>
        </c:dLbls>
        <c:gapWidth val="141"/>
        <c:overlap val="100"/>
        <c:axId val="1645031424"/>
        <c:axId val="1567600816"/>
      </c:barChart>
      <c:catAx>
        <c:axId val="1645031424"/>
        <c:scaling>
          <c:orientation val="minMax"/>
        </c:scaling>
        <c:delete val="0"/>
        <c:axPos val="l"/>
        <c:numFmt formatCode="General" sourceLinked="1"/>
        <c:majorTickMark val="none"/>
        <c:minorTickMark val="none"/>
        <c:tickLblPos val="nextTo"/>
        <c:spPr>
          <a:noFill/>
          <a:ln w="9525" cap="flat" cmpd="sng" algn="ctr">
            <a:solidFill>
              <a:schemeClr val="dk1">
                <a:shade val="95000"/>
                <a:satMod val="10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1567600816"/>
        <c:crosses val="autoZero"/>
        <c:auto val="1"/>
        <c:lblAlgn val="ctr"/>
        <c:lblOffset val="100"/>
        <c:noMultiLvlLbl val="0"/>
      </c:catAx>
      <c:valAx>
        <c:axId val="1567600816"/>
        <c:scaling>
          <c:orientation val="minMax"/>
          <c:max val="0.8"/>
          <c:min val="0"/>
        </c:scaling>
        <c:delete val="1"/>
        <c:axPos val="b"/>
        <c:numFmt formatCode="0.0%" sourceLinked="1"/>
        <c:majorTickMark val="out"/>
        <c:minorTickMark val="none"/>
        <c:tickLblPos val="nextTo"/>
        <c:crossAx val="1645031424"/>
        <c:crosses val="autoZero"/>
        <c:crossBetween val="between"/>
      </c:valAx>
      <c:spPr>
        <a:noFill/>
        <a:ln>
          <a:noFill/>
        </a:ln>
        <a:effectLst/>
      </c:spPr>
    </c:plotArea>
    <c:legend>
      <c:legendPos val="b"/>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800" b="0" i="0">
          <a:latin typeface="Aptos" panose="020B0004020202020204" pitchFamily="34" charset="0"/>
        </a:defRPr>
      </a:pPr>
      <a:endParaRPr lang="en-US"/>
    </a:p>
  </c:txPr>
  <c:externalData r:id="rId3">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2438517338995045"/>
          <c:y val="7.7611111111111117E-2"/>
          <c:w val="0.69374941023826375"/>
          <c:h val="0.68998611111111108"/>
        </c:manualLayout>
      </c:layout>
      <c:barChart>
        <c:barDir val="bar"/>
        <c:grouping val="stacked"/>
        <c:varyColors val="0"/>
        <c:ser>
          <c:idx val="0"/>
          <c:order val="0"/>
          <c:tx>
            <c:strRef>
              <c:f>risk_dashboard!$B$38</c:f>
              <c:strCache>
                <c:ptCount val="1"/>
                <c:pt idx="0">
                  <c:v>Exc. Single Stock</c:v>
                </c:pt>
              </c:strCache>
            </c:strRef>
          </c:tx>
          <c:spPr>
            <a:solidFill>
              <a:schemeClr val="tx2">
                <a:lumMod val="75000"/>
              </a:schemeClr>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bg1"/>
                    </a:solidFill>
                    <a:latin typeface="Aptos" panose="020B00040202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risk_dashboard!$A$42:$A$44</c:f>
              <c:strCache>
                <c:ptCount val="3"/>
                <c:pt idx="0">
                  <c:v>Over 1 Month</c:v>
                </c:pt>
                <c:pt idx="1">
                  <c:v>Over 1 Year</c:v>
                </c:pt>
                <c:pt idx="2">
                  <c:v>Over 3 Years</c:v>
                </c:pt>
              </c:strCache>
            </c:strRef>
          </c:cat>
          <c:val>
            <c:numRef>
              <c:f>risk_dashboard!$B$42:$B$44</c:f>
              <c:numCache>
                <c:formatCode>0.0%</c:formatCode>
                <c:ptCount val="3"/>
                <c:pt idx="0">
                  <c:v>0.32540000000000002</c:v>
                </c:pt>
                <c:pt idx="1">
                  <c:v>0.14615</c:v>
                </c:pt>
                <c:pt idx="2">
                  <c:v>7.4300000000000005E-2</c:v>
                </c:pt>
              </c:numCache>
            </c:numRef>
          </c:val>
          <c:extLst>
            <c:ext xmlns:c16="http://schemas.microsoft.com/office/drawing/2014/chart" uri="{C3380CC4-5D6E-409C-BE32-E72D297353CC}">
              <c16:uniqueId val="{00000000-24B5-DA45-B62A-70241AA7DB25}"/>
            </c:ext>
          </c:extLst>
        </c:ser>
        <c:ser>
          <c:idx val="1"/>
          <c:order val="1"/>
          <c:tx>
            <c:strRef>
              <c:f>risk_dashboard!$C$38</c:f>
              <c:strCache>
                <c:ptCount val="1"/>
                <c:pt idx="0">
                  <c:v>Inc. Single Stock</c:v>
                </c:pt>
              </c:strCache>
            </c:strRef>
          </c:tx>
          <c:spPr>
            <a:solidFill>
              <a:schemeClr val="accent1">
                <a:lumMod val="40000"/>
                <a:lumOff val="60000"/>
              </a:schemeClr>
            </a:solid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tx1">
                        <a:lumMod val="75000"/>
                        <a:lumOff val="25000"/>
                      </a:schemeClr>
                    </a:solidFill>
                    <a:latin typeface="Aptos" panose="020B00040202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risk_dashboard!$A$42:$A$44</c:f>
              <c:strCache>
                <c:ptCount val="3"/>
                <c:pt idx="0">
                  <c:v>Over 1 Month</c:v>
                </c:pt>
                <c:pt idx="1">
                  <c:v>Over 1 Year</c:v>
                </c:pt>
                <c:pt idx="2">
                  <c:v>Over 3 Years</c:v>
                </c:pt>
              </c:strCache>
            </c:strRef>
          </c:cat>
          <c:val>
            <c:numRef>
              <c:f>risk_dashboard!$C$42:$C$44</c:f>
              <c:numCache>
                <c:formatCode>0.0%</c:formatCode>
                <c:ptCount val="3"/>
                <c:pt idx="0">
                  <c:v>0.12484999999999996</c:v>
                </c:pt>
                <c:pt idx="1">
                  <c:v>0.25235000000000002</c:v>
                </c:pt>
                <c:pt idx="2">
                  <c:v>0.28120000000000001</c:v>
                </c:pt>
              </c:numCache>
            </c:numRef>
          </c:val>
          <c:extLst>
            <c:ext xmlns:c16="http://schemas.microsoft.com/office/drawing/2014/chart" uri="{C3380CC4-5D6E-409C-BE32-E72D297353CC}">
              <c16:uniqueId val="{00000001-24B5-DA45-B62A-70241AA7DB25}"/>
            </c:ext>
          </c:extLst>
        </c:ser>
        <c:ser>
          <c:idx val="2"/>
          <c:order val="2"/>
          <c:tx>
            <c:strRef>
              <c:f>risk_dashboard!$D$38</c:f>
              <c:strCache>
                <c:ptCount val="1"/>
              </c:strCache>
            </c:strRef>
          </c:tx>
          <c:spPr>
            <a:noFill/>
            <a:ln>
              <a:noFill/>
            </a:ln>
            <a:effectLst/>
          </c:spPr>
          <c:invertIfNegative val="0"/>
          <c:dLbls>
            <c:spPr>
              <a:noFill/>
              <a:ln>
                <a:noFill/>
              </a:ln>
              <a:effectLst/>
            </c:spPr>
            <c:txPr>
              <a:bodyPr rot="0" spcFirstLastPara="1" vertOverflow="ellipsis" vert="horz" wrap="square" anchor="ctr" anchorCtr="1"/>
              <a:lstStyle/>
              <a:p>
                <a:pPr>
                  <a:defRPr sz="800" b="0" i="0" u="none" strike="noStrike" kern="1200" baseline="0">
                    <a:solidFill>
                      <a:schemeClr val="tx1">
                        <a:lumMod val="75000"/>
                        <a:lumOff val="25000"/>
                      </a:schemeClr>
                    </a:solidFill>
                    <a:latin typeface="Aptos" panose="020B0004020202020204" pitchFamily="34" charset="0"/>
                    <a:ea typeface="+mn-ea"/>
                    <a:cs typeface="+mn-cs"/>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risk_dashboard!$A$42:$A$44</c:f>
              <c:strCache>
                <c:ptCount val="3"/>
                <c:pt idx="0">
                  <c:v>Over 1 Month</c:v>
                </c:pt>
                <c:pt idx="1">
                  <c:v>Over 1 Year</c:v>
                </c:pt>
                <c:pt idx="2">
                  <c:v>Over 3 Years</c:v>
                </c:pt>
              </c:strCache>
            </c:strRef>
          </c:cat>
          <c:val>
            <c:numRef>
              <c:f>risk_dashboard!$D$42:$D$44</c:f>
              <c:numCache>
                <c:formatCode>0.0%</c:formatCode>
                <c:ptCount val="3"/>
                <c:pt idx="0">
                  <c:v>0.45024999999999998</c:v>
                </c:pt>
                <c:pt idx="1">
                  <c:v>0.39850000000000002</c:v>
                </c:pt>
                <c:pt idx="2">
                  <c:v>0.35550000000000004</c:v>
                </c:pt>
              </c:numCache>
            </c:numRef>
          </c:val>
          <c:extLst>
            <c:ext xmlns:c16="http://schemas.microsoft.com/office/drawing/2014/chart" uri="{C3380CC4-5D6E-409C-BE32-E72D297353CC}">
              <c16:uniqueId val="{00000002-24B5-DA45-B62A-70241AA7DB25}"/>
            </c:ext>
          </c:extLst>
        </c:ser>
        <c:dLbls>
          <c:showLegendKey val="0"/>
          <c:showVal val="0"/>
          <c:showCatName val="0"/>
          <c:showSerName val="0"/>
          <c:showPercent val="0"/>
          <c:showBubbleSize val="0"/>
        </c:dLbls>
        <c:gapWidth val="141"/>
        <c:overlap val="100"/>
        <c:axId val="1645031424"/>
        <c:axId val="1567600816"/>
      </c:barChart>
      <c:catAx>
        <c:axId val="1645031424"/>
        <c:scaling>
          <c:orientation val="minMax"/>
        </c:scaling>
        <c:delete val="0"/>
        <c:axPos val="l"/>
        <c:numFmt formatCode="General" sourceLinked="1"/>
        <c:majorTickMark val="none"/>
        <c:minorTickMark val="none"/>
        <c:tickLblPos val="nextTo"/>
        <c:spPr>
          <a:noFill/>
          <a:ln w="9525" cap="flat" cmpd="sng" algn="ctr">
            <a:solidFill>
              <a:schemeClr val="dk1">
                <a:shade val="95000"/>
                <a:satMod val="10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1567600816"/>
        <c:crosses val="autoZero"/>
        <c:auto val="1"/>
        <c:lblAlgn val="ctr"/>
        <c:lblOffset val="100"/>
        <c:noMultiLvlLbl val="0"/>
      </c:catAx>
      <c:valAx>
        <c:axId val="1567600816"/>
        <c:scaling>
          <c:orientation val="minMax"/>
          <c:max val="0.5"/>
          <c:min val="0"/>
        </c:scaling>
        <c:delete val="0"/>
        <c:axPos val="b"/>
        <c:numFmt formatCode="0.0%" sourceLinked="1"/>
        <c:majorTickMark val="out"/>
        <c:minorTickMark val="none"/>
        <c:tickLblPos val="nextTo"/>
        <c:spPr>
          <a:solidFill>
            <a:schemeClr val="bg1"/>
          </a:solidFill>
          <a:ln>
            <a:noFill/>
          </a:ln>
          <a:effectLst/>
        </c:spPr>
        <c:txPr>
          <a:bodyPr rot="-60000000" spcFirstLastPara="1" vertOverflow="ellipsis" vert="horz" wrap="square" anchor="ctr" anchorCtr="1"/>
          <a:lstStyle/>
          <a:p>
            <a:pPr>
              <a:defRPr sz="800" b="0" i="0" u="none" strike="noStrike" kern="1200" baseline="0">
                <a:solidFill>
                  <a:schemeClr val="bg1"/>
                </a:solidFill>
                <a:latin typeface="Aptos" panose="020B0004020202020204" pitchFamily="34" charset="0"/>
                <a:ea typeface="+mn-ea"/>
                <a:cs typeface="+mn-cs"/>
              </a:defRPr>
            </a:pPr>
            <a:endParaRPr lang="en-US"/>
          </a:p>
        </c:txPr>
        <c:crossAx val="1645031424"/>
        <c:crosses val="autoZero"/>
        <c:crossBetween val="between"/>
      </c:valAx>
      <c:spPr>
        <a:noFill/>
        <a:ln>
          <a:noFill/>
        </a:ln>
        <a:effectLst/>
      </c:spPr>
    </c:plotArea>
    <c:legend>
      <c:legendPos val="b"/>
      <c:layout>
        <c:manualLayout>
          <c:xMode val="edge"/>
          <c:yMode val="edge"/>
          <c:x val="0.24395026116784907"/>
          <c:y val="0.90640885406565574"/>
          <c:w val="0.63091135885242067"/>
          <c:h val="6.7318567937628485E-2"/>
        </c:manualLayout>
      </c:layout>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800" b="0" i="0">
          <a:latin typeface="Aptos" panose="020B0004020202020204" pitchFamily="34" charset="0"/>
        </a:defRPr>
      </a:pPr>
      <a:endParaRPr lang="en-US"/>
    </a:p>
  </c:txPr>
  <c:externalData r:id="rId3">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spPr>
            <a:solidFill>
              <a:schemeClr val="accent1"/>
            </a:solidFill>
            <a:ln>
              <a:noFill/>
            </a:ln>
            <a:effectLst/>
          </c:spPr>
          <c:invertIfNegative val="0"/>
          <c:dPt>
            <c:idx val="0"/>
            <c:invertIfNegative val="0"/>
            <c:bubble3D val="0"/>
            <c:spPr>
              <a:solidFill>
                <a:schemeClr val="tx2">
                  <a:lumMod val="50000"/>
                </a:schemeClr>
              </a:solidFill>
              <a:ln w="6350">
                <a:solidFill>
                  <a:schemeClr val="bg1">
                    <a:lumMod val="75000"/>
                  </a:schemeClr>
                </a:solidFill>
              </a:ln>
              <a:effectLst/>
            </c:spPr>
            <c:extLst>
              <c:ext xmlns:c16="http://schemas.microsoft.com/office/drawing/2014/chart" uri="{C3380CC4-5D6E-409C-BE32-E72D297353CC}">
                <c16:uniqueId val="{00000001-0C8C-1949-84FB-F3B6584BCAA7}"/>
              </c:ext>
            </c:extLst>
          </c:dPt>
          <c:dPt>
            <c:idx val="1"/>
            <c:invertIfNegative val="0"/>
            <c:bubble3D val="0"/>
            <c:spPr>
              <a:noFill/>
              <a:ln>
                <a:noFill/>
              </a:ln>
              <a:effectLst/>
            </c:spPr>
            <c:extLst>
              <c:ext xmlns:c16="http://schemas.microsoft.com/office/drawing/2014/chart" uri="{C3380CC4-5D6E-409C-BE32-E72D297353CC}">
                <c16:uniqueId val="{00000003-0C8C-1949-84FB-F3B6584BCAA7}"/>
              </c:ext>
            </c:extLst>
          </c:dPt>
          <c:dPt>
            <c:idx val="2"/>
            <c:invertIfNegative val="0"/>
            <c:bubble3D val="0"/>
            <c:spPr>
              <a:pattFill prst="dkDnDiag">
                <a:fgClr>
                  <a:srgbClr val="C00000"/>
                </a:fgClr>
                <a:bgClr>
                  <a:schemeClr val="bg1"/>
                </a:bgClr>
              </a:pattFill>
              <a:ln w="6350">
                <a:solidFill>
                  <a:schemeClr val="bg1">
                    <a:lumMod val="75000"/>
                  </a:schemeClr>
                </a:solidFill>
              </a:ln>
              <a:effectLst/>
            </c:spPr>
            <c:extLst>
              <c:ext xmlns:c16="http://schemas.microsoft.com/office/drawing/2014/chart" uri="{C3380CC4-5D6E-409C-BE32-E72D297353CC}">
                <c16:uniqueId val="{00000005-0C8C-1949-84FB-F3B6584BCAA7}"/>
              </c:ext>
            </c:extLst>
          </c:dPt>
          <c:dLbls>
            <c:dLbl>
              <c:idx val="0"/>
              <c:dLblPos val="inEnd"/>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0C8C-1949-84FB-F3B6584BCAA7}"/>
                </c:ext>
              </c:extLst>
            </c:dLbl>
            <c:dLbl>
              <c:idx val="2"/>
              <c:layout>
                <c:manualLayout>
                  <c:x val="0"/>
                  <c:y val="-0.32247286763713429"/>
                </c:manualLayout>
              </c:layout>
              <c:tx>
                <c:rich>
                  <a:bodyPr/>
                  <a:lstStyle/>
                  <a:p>
                    <a:fld id="{4C2890AE-E757-BF45-8D5F-F41ABA9F5704}" type="VALUE">
                      <a:rPr lang="en-US">
                        <a:solidFill>
                          <a:schemeClr val="tx1"/>
                        </a:solidFill>
                      </a:rPr>
                      <a:pPr/>
                      <a:t>[VALUE]</a:t>
                    </a:fld>
                    <a:endParaRPr lang="en-US"/>
                  </a:p>
                </c:rich>
              </c:tx>
              <c:dLblPos val="ctr"/>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5-0C8C-1949-84FB-F3B6584BCAA7}"/>
                </c:ext>
              </c:extLst>
            </c:dLbl>
            <c:spPr>
              <a:noFill/>
              <a:ln>
                <a:noFill/>
              </a:ln>
              <a:effectLst/>
            </c:spPr>
            <c:txPr>
              <a:bodyPr rot="0" spcFirstLastPara="1" vertOverflow="ellipsis" vert="horz" wrap="square" anchor="ctr" anchorCtr="1"/>
              <a:lstStyle/>
              <a:p>
                <a:pPr>
                  <a:defRPr sz="700" b="0" i="0" u="none" strike="noStrike" kern="1200" baseline="0">
                    <a:solidFill>
                      <a:schemeClr val="bg1"/>
                    </a:solidFill>
                    <a:latin typeface="Aptos" panose="020B0004020202020204" pitchFamily="34" charset="0"/>
                    <a:ea typeface="+mn-ea"/>
                    <a:cs typeface="+mn-cs"/>
                  </a:defRPr>
                </a:pPr>
                <a:endParaRPr lang="en-US"/>
              </a:p>
            </c:txPr>
            <c:dLblPos val="inEnd"/>
            <c:showLegendKey val="0"/>
            <c:showVal val="0"/>
            <c:showCatName val="0"/>
            <c:showSerName val="0"/>
            <c:showPercent val="0"/>
            <c:showBubbleSize val="0"/>
            <c:extLst>
              <c:ext xmlns:c15="http://schemas.microsoft.com/office/drawing/2012/chart" uri="{CE6537A1-D6FC-4f65-9D91-7224C49458BB}">
                <c15:showLeaderLines val="0"/>
              </c:ext>
            </c:extLst>
          </c:dLbls>
          <c:cat>
            <c:strRef>
              <c:f>risk_dashboard!$F$80:$F$82</c:f>
              <c:strCache>
                <c:ptCount val="3"/>
                <c:pt idx="0">
                  <c:v>Implied Return</c:v>
                </c:pt>
                <c:pt idx="1">
                  <c:v>Risk Premia</c:v>
                </c:pt>
                <c:pt idx="2">
                  <c:v>Implied Alpha</c:v>
                </c:pt>
              </c:strCache>
            </c:strRef>
          </c:cat>
          <c:val>
            <c:numRef>
              <c:f>risk_dashboard!$G$80:$G$82</c:f>
              <c:numCache>
                <c:formatCode>0%</c:formatCode>
                <c:ptCount val="3"/>
                <c:pt idx="0">
                  <c:v>0.54768797000000002</c:v>
                </c:pt>
                <c:pt idx="1">
                  <c:v>0.50268796999999998</c:v>
                </c:pt>
                <c:pt idx="2">
                  <c:v>0.50268796999999998</c:v>
                </c:pt>
              </c:numCache>
            </c:numRef>
          </c:val>
          <c:extLst>
            <c:ext xmlns:c16="http://schemas.microsoft.com/office/drawing/2014/chart" uri="{C3380CC4-5D6E-409C-BE32-E72D297353CC}">
              <c16:uniqueId val="{00000006-0C8C-1949-84FB-F3B6584BCAA7}"/>
            </c:ext>
          </c:extLst>
        </c:ser>
        <c:ser>
          <c:idx val="1"/>
          <c:order val="1"/>
          <c:spPr>
            <a:solidFill>
              <a:schemeClr val="accent2"/>
            </a:solidFill>
            <a:ln>
              <a:noFill/>
            </a:ln>
            <a:effectLst/>
          </c:spPr>
          <c:invertIfNegative val="0"/>
          <c:dPt>
            <c:idx val="1"/>
            <c:invertIfNegative val="0"/>
            <c:bubble3D val="0"/>
            <c:spPr>
              <a:solidFill>
                <a:schemeClr val="tx2">
                  <a:lumMod val="60000"/>
                  <a:lumOff val="40000"/>
                </a:schemeClr>
              </a:solidFill>
              <a:ln w="6350">
                <a:solidFill>
                  <a:schemeClr val="bg1">
                    <a:lumMod val="75000"/>
                  </a:schemeClr>
                </a:solidFill>
              </a:ln>
              <a:effectLst/>
            </c:spPr>
            <c:extLst>
              <c:ext xmlns:c16="http://schemas.microsoft.com/office/drawing/2014/chart" uri="{C3380CC4-5D6E-409C-BE32-E72D297353CC}">
                <c16:uniqueId val="{00000008-0C8C-1949-84FB-F3B6584BCAA7}"/>
              </c:ext>
            </c:extLst>
          </c:dPt>
          <c:dPt>
            <c:idx val="2"/>
            <c:invertIfNegative val="0"/>
            <c:bubble3D val="0"/>
            <c:spPr>
              <a:noFill/>
              <a:ln>
                <a:noFill/>
              </a:ln>
              <a:effectLst/>
            </c:spPr>
            <c:extLst>
              <c:ext xmlns:c16="http://schemas.microsoft.com/office/drawing/2014/chart" uri="{C3380CC4-5D6E-409C-BE32-E72D297353CC}">
                <c16:uniqueId val="{0000000A-0C8C-1949-84FB-F3B6584BCAA7}"/>
              </c:ext>
            </c:extLst>
          </c:dPt>
          <c:dLbls>
            <c:dLbl>
              <c:idx val="1"/>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0C8C-1949-84FB-F3B6584BCAA7}"/>
                </c:ext>
              </c:extLst>
            </c:dLbl>
            <c:spPr>
              <a:noFill/>
              <a:ln>
                <a:noFill/>
              </a:ln>
              <a:effectLst/>
            </c:spPr>
            <c:txPr>
              <a:bodyPr rot="0" spcFirstLastPara="1" vertOverflow="ellipsis" vert="horz" wrap="square" anchor="ctr" anchorCtr="1"/>
              <a:lstStyle/>
              <a:p>
                <a:pPr>
                  <a:defRPr sz="700" b="0" i="0" u="none" strike="noStrike" kern="1200" baseline="0">
                    <a:solidFill>
                      <a:schemeClr val="bg1"/>
                    </a:solidFill>
                    <a:latin typeface="Aptos" panose="020B0004020202020204" pitchFamily="34" charset="0"/>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risk_dashboard!$F$80:$F$82</c:f>
              <c:strCache>
                <c:ptCount val="3"/>
                <c:pt idx="0">
                  <c:v>Implied Return</c:v>
                </c:pt>
                <c:pt idx="1">
                  <c:v>Risk Premia</c:v>
                </c:pt>
                <c:pt idx="2">
                  <c:v>Implied Alpha</c:v>
                </c:pt>
              </c:strCache>
            </c:strRef>
          </c:cat>
          <c:val>
            <c:numRef>
              <c:f>risk_dashboard!$H$80:$H$82</c:f>
              <c:numCache>
                <c:formatCode>0%</c:formatCode>
                <c:ptCount val="3"/>
                <c:pt idx="0">
                  <c:v>0</c:v>
                </c:pt>
                <c:pt idx="1">
                  <c:v>4.4999999999999998E-2</c:v>
                </c:pt>
                <c:pt idx="2">
                  <c:v>4.500000000000004E-2</c:v>
                </c:pt>
              </c:numCache>
            </c:numRef>
          </c:val>
          <c:extLst>
            <c:ext xmlns:c16="http://schemas.microsoft.com/office/drawing/2014/chart" uri="{C3380CC4-5D6E-409C-BE32-E72D297353CC}">
              <c16:uniqueId val="{0000000B-0C8C-1949-84FB-F3B6584BCAA7}"/>
            </c:ext>
          </c:extLst>
        </c:ser>
        <c:dLbls>
          <c:showLegendKey val="0"/>
          <c:showVal val="0"/>
          <c:showCatName val="0"/>
          <c:showSerName val="0"/>
          <c:showPercent val="0"/>
          <c:showBubbleSize val="0"/>
        </c:dLbls>
        <c:gapWidth val="150"/>
        <c:overlap val="100"/>
        <c:axId val="1486061296"/>
        <c:axId val="1401510192"/>
      </c:barChart>
      <c:catAx>
        <c:axId val="1486061296"/>
        <c:scaling>
          <c:orientation val="minMax"/>
        </c:scaling>
        <c:delete val="0"/>
        <c:axPos val="b"/>
        <c:numFmt formatCode="General" sourceLinked="1"/>
        <c:majorTickMark val="none"/>
        <c:minorTickMark val="none"/>
        <c:tickLblPos val="nextTo"/>
        <c:spPr>
          <a:noFill/>
          <a:ln w="9525" cap="flat" cmpd="sng" algn="ctr">
            <a:solidFill>
              <a:schemeClr val="dk1">
                <a:shade val="95000"/>
                <a:satMod val="10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solidFill>
                <a:latin typeface="Aptos" panose="020B0004020202020204" pitchFamily="34" charset="0"/>
                <a:ea typeface="+mn-ea"/>
                <a:cs typeface="+mn-cs"/>
              </a:defRPr>
            </a:pPr>
            <a:endParaRPr lang="en-US"/>
          </a:p>
        </c:txPr>
        <c:crossAx val="1401510192"/>
        <c:crosses val="autoZero"/>
        <c:auto val="1"/>
        <c:lblAlgn val="ctr"/>
        <c:lblOffset val="100"/>
        <c:noMultiLvlLbl val="0"/>
      </c:catAx>
      <c:valAx>
        <c:axId val="1401510192"/>
        <c:scaling>
          <c:orientation val="minMax"/>
          <c:min val="0.3"/>
        </c:scaling>
        <c:delete val="0"/>
        <c:axPos val="l"/>
        <c:numFmt formatCode="0%" sourceLinked="1"/>
        <c:majorTickMark val="out"/>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bg1"/>
                </a:solidFill>
                <a:latin typeface="Aptos" panose="020B0004020202020204" pitchFamily="34" charset="0"/>
                <a:ea typeface="+mn-ea"/>
                <a:cs typeface="+mn-cs"/>
              </a:defRPr>
            </a:pPr>
            <a:endParaRPr lang="en-US"/>
          </a:p>
        </c:txPr>
        <c:crossAx val="1486061296"/>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700" b="0" i="0">
          <a:latin typeface="Aptos" panose="020B0004020202020204" pitchFamily="34" charset="0"/>
        </a:defRPr>
      </a:pPr>
      <a:endParaRPr lang="en-US"/>
    </a:p>
  </c:txPr>
  <c:externalData r:id="rId3">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4859981927470215"/>
          <c:y val="0.20973662653833788"/>
          <c:w val="0.50348885375310082"/>
          <c:h val="0.64659792448592812"/>
        </c:manualLayout>
      </c:layout>
      <c:pieChart>
        <c:varyColors val="1"/>
        <c:ser>
          <c:idx val="0"/>
          <c:order val="0"/>
          <c:spPr>
            <a:solidFill>
              <a:schemeClr val="tx2">
                <a:lumMod val="75000"/>
              </a:schemeClr>
            </a:solidFill>
          </c:spPr>
          <c:dPt>
            <c:idx val="0"/>
            <c:bubble3D val="0"/>
            <c:spPr>
              <a:solidFill>
                <a:srgbClr val="C00000"/>
              </a:solidFill>
              <a:ln w="19050">
                <a:solidFill>
                  <a:schemeClr val="lt1"/>
                </a:solidFill>
              </a:ln>
              <a:effectLst/>
            </c:spPr>
            <c:extLst>
              <c:ext xmlns:c16="http://schemas.microsoft.com/office/drawing/2014/chart" uri="{C3380CC4-5D6E-409C-BE32-E72D297353CC}">
                <c16:uniqueId val="{00000001-3CA2-1E44-ADDA-A7ABA4E423C1}"/>
              </c:ext>
            </c:extLst>
          </c:dPt>
          <c:dPt>
            <c:idx val="1"/>
            <c:bubble3D val="0"/>
            <c:spPr>
              <a:solidFill>
                <a:schemeClr val="tx2">
                  <a:lumMod val="75000"/>
                </a:schemeClr>
              </a:solidFill>
              <a:ln w="19050">
                <a:solidFill>
                  <a:schemeClr val="lt1"/>
                </a:solidFill>
              </a:ln>
              <a:effectLst/>
            </c:spPr>
            <c:extLst>
              <c:ext xmlns:c16="http://schemas.microsoft.com/office/drawing/2014/chart" uri="{C3380CC4-5D6E-409C-BE32-E72D297353CC}">
                <c16:uniqueId val="{00000003-3CA2-1E44-ADDA-A7ABA4E423C1}"/>
              </c:ext>
            </c:extLst>
          </c:dPt>
          <c:dLbls>
            <c:dLbl>
              <c:idx val="0"/>
              <c:layout>
                <c:manualLayout>
                  <c:x val="-0.13231067012097525"/>
                  <c:y val="-0.17889110417801016"/>
                </c:manualLayout>
              </c:layout>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bg1"/>
                      </a:solidFill>
                      <a:latin typeface="Aptos" panose="020B0004020202020204" pitchFamily="34" charset="0"/>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3CA2-1E44-ADDA-A7ABA4E423C1}"/>
                </c:ext>
              </c:extLst>
            </c:dLbl>
            <c:dLbl>
              <c:idx val="1"/>
              <c:layout>
                <c:manualLayout>
                  <c:x val="0.11774948252994029"/>
                  <c:y val="0.1311390122646951"/>
                </c:manualLayout>
              </c:layout>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bg1"/>
                      </a:solidFill>
                      <a:latin typeface="Aptos" panose="020B0004020202020204" pitchFamily="34" charset="0"/>
                      <a:ea typeface="+mn-ea"/>
                      <a:cs typeface="+mn-cs"/>
                    </a:defRPr>
                  </a:pPr>
                  <a:endParaRPr lang="en-US"/>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3CA2-1E44-ADDA-A7ABA4E423C1}"/>
                </c:ext>
              </c:extLst>
            </c:dLbl>
            <c:spPr>
              <a:noFill/>
              <a:ln>
                <a:noFill/>
              </a:ln>
              <a:effectLst/>
            </c:spPr>
            <c:txPr>
              <a:bodyPr rot="0" spcFirstLastPara="1" vertOverflow="ellipsis" vert="horz" wrap="square" lIns="38100" tIns="19050" rIns="38100" bIns="19050" anchor="ctr" anchorCtr="1">
                <a:spAutoFit/>
              </a:bodyPr>
              <a:lstStyle/>
              <a:p>
                <a:pPr>
                  <a:defRPr sz="800" b="0" i="0" u="none" strike="noStrike" kern="1200" baseline="0">
                    <a:solidFill>
                      <a:schemeClr val="tx1">
                        <a:lumMod val="75000"/>
                        <a:lumOff val="25000"/>
                      </a:schemeClr>
                    </a:solidFill>
                    <a:latin typeface="Aptos" panose="020B0004020202020204" pitchFamily="34" charset="0"/>
                    <a:ea typeface="+mn-ea"/>
                    <a:cs typeface="+mn-cs"/>
                  </a:defRPr>
                </a:pPr>
                <a:endParaRPr lang="en-US"/>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risk_dashboard!$C$65:$C$66</c:f>
              <c:strCache>
                <c:ptCount val="2"/>
                <c:pt idx="0">
                  <c:v>Idiosyncratic Risk 
(Unhedgable)</c:v>
                </c:pt>
                <c:pt idx="1">
                  <c:v>Systematic Risk 
(Undiversifiable)</c:v>
                </c:pt>
              </c:strCache>
            </c:strRef>
          </c:cat>
          <c:val>
            <c:numRef>
              <c:f>risk_dashboard!$D$65:$D$66</c:f>
              <c:numCache>
                <c:formatCode>0%</c:formatCode>
                <c:ptCount val="2"/>
                <c:pt idx="0">
                  <c:v>0.73</c:v>
                </c:pt>
                <c:pt idx="1">
                  <c:v>0.27</c:v>
                </c:pt>
              </c:numCache>
            </c:numRef>
          </c:val>
          <c:extLst>
            <c:ext xmlns:c16="http://schemas.microsoft.com/office/drawing/2014/chart" uri="{C3380CC4-5D6E-409C-BE32-E72D297353CC}">
              <c16:uniqueId val="{00000004-3CA2-1E44-ADDA-A7ABA4E423C1}"/>
            </c:ext>
          </c:extLst>
        </c:ser>
        <c:dLbls>
          <c:showLegendKey val="0"/>
          <c:showVal val="0"/>
          <c:showCatName val="0"/>
          <c:showSerName val="0"/>
          <c:showPercent val="0"/>
          <c:showBubbleSize val="0"/>
          <c:showLeaderLines val="1"/>
        </c:dLbls>
        <c:firstSliceAng val="0"/>
      </c:pieChart>
      <c:spPr>
        <a:noFill/>
        <a:ln>
          <a:noFill/>
        </a:ln>
        <a:effectLst/>
      </c:spPr>
    </c:plotArea>
    <c:legend>
      <c:legendPos val="t"/>
      <c:layout>
        <c:manualLayout>
          <c:xMode val="edge"/>
          <c:yMode val="edge"/>
          <c:x val="9.6460411198600188E-2"/>
          <c:y val="2.4E-2"/>
          <c:w val="0.84596806649168843"/>
          <c:h val="0.12545511811023621"/>
        </c:manualLayout>
      </c:layout>
      <c:overlay val="1"/>
      <c:spPr>
        <a:noFill/>
        <a:ln>
          <a:solidFill>
            <a:schemeClr val="bg1">
              <a:lumMod val="75000"/>
            </a:schemeClr>
          </a:solidFill>
        </a:ln>
        <a:effectLst/>
      </c:spPr>
      <c:txPr>
        <a:bodyPr rot="0" spcFirstLastPara="1" vertOverflow="ellipsis" vert="horz" wrap="square" anchor="ctr" anchorCtr="1"/>
        <a:lstStyle/>
        <a:p>
          <a:pPr>
            <a:defRPr sz="800" b="0" i="0" u="none" strike="noStrike" kern="1200" baseline="0">
              <a:solidFill>
                <a:schemeClr val="tx1"/>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800">
          <a:latin typeface="Aptos" panose="020B0004020202020204" pitchFamily="34" charset="0"/>
        </a:defRPr>
      </a:pPr>
      <a:endParaRPr lang="en-US"/>
    </a:p>
  </c:txPr>
  <c:externalData r:id="rId3">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9.2873779992741975E-2"/>
          <c:y val="9.1732712971578104E-2"/>
          <c:w val="0.87250936112214839"/>
          <c:h val="0.79235020334218464"/>
        </c:manualLayout>
      </c:layout>
      <c:scatterChart>
        <c:scatterStyle val="lineMarker"/>
        <c:varyColors val="0"/>
        <c:ser>
          <c:idx val="0"/>
          <c:order val="0"/>
          <c:tx>
            <c:v>Fixed Income</c:v>
          </c:tx>
          <c:spPr>
            <a:ln w="28575" cap="rnd">
              <a:noFill/>
              <a:round/>
            </a:ln>
            <a:effectLst/>
          </c:spPr>
          <c:marker>
            <c:symbol val="circle"/>
            <c:size val="5"/>
            <c:spPr>
              <a:solidFill>
                <a:schemeClr val="accent3">
                  <a:lumMod val="75000"/>
                </a:schemeClr>
              </a:solidFill>
              <a:ln w="9525">
                <a:solidFill>
                  <a:schemeClr val="accent3"/>
                </a:solidFill>
              </a:ln>
              <a:effectLst/>
            </c:spPr>
          </c:marker>
          <c:dPt>
            <c:idx val="26"/>
            <c:marker>
              <c:symbol val="circle"/>
              <c:size val="5"/>
              <c:spPr>
                <a:solidFill>
                  <a:schemeClr val="accent3">
                    <a:lumMod val="75000"/>
                  </a:schemeClr>
                </a:solidFill>
                <a:ln w="19050">
                  <a:solidFill>
                    <a:schemeClr val="accent3"/>
                  </a:solidFill>
                </a:ln>
                <a:effectLst/>
              </c:spPr>
            </c:marker>
            <c:bubble3D val="0"/>
            <c:extLst>
              <c:ext xmlns:c16="http://schemas.microsoft.com/office/drawing/2014/chart" uri="{C3380CC4-5D6E-409C-BE32-E72D297353CC}">
                <c16:uniqueId val="{00000000-6632-7244-B13C-D2B0CF175948}"/>
              </c:ext>
            </c:extLst>
          </c:dPt>
          <c:dLbls>
            <c:dLbl>
              <c:idx val="0"/>
              <c:layout>
                <c:manualLayout>
                  <c:x val="-5.9124256041946981E-2"/>
                  <c:y val="2.3848119402088214E-2"/>
                </c:manualLayout>
              </c:layout>
              <c:tx>
                <c:rich>
                  <a:bodyPr/>
                  <a:lstStyle/>
                  <a:p>
                    <a:fld id="{179A0F02-C42C-CF44-8800-39438E26831E}"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1-6632-7244-B13C-D2B0CF175948}"/>
                </c:ext>
              </c:extLst>
            </c:dLbl>
            <c:dLbl>
              <c:idx val="1"/>
              <c:layout>
                <c:manualLayout>
                  <c:x val="-3.3649615958361626E-3"/>
                  <c:y val="9.1068832338801024E-3"/>
                </c:manualLayout>
              </c:layout>
              <c:tx>
                <c:rich>
                  <a:bodyPr/>
                  <a:lstStyle/>
                  <a:p>
                    <a:fld id="{292970BF-4B1D-1D49-91C4-CAA4AB47A25D}"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02-6632-7244-B13C-D2B0CF175948}"/>
                </c:ext>
              </c:extLst>
            </c:dLbl>
            <c:dLbl>
              <c:idx val="2"/>
              <c:layout>
                <c:manualLayout>
                  <c:x val="-0.12416093768808863"/>
                  <c:y val="7.4525373131525668E-3"/>
                </c:manualLayout>
              </c:layout>
              <c:tx>
                <c:rich>
                  <a:bodyPr rot="0" spcFirstLastPara="1" vertOverflow="ellipsis" vert="horz" wrap="square" lIns="38100" tIns="19050" rIns="38100" bIns="19050" anchor="ctr" anchorCtr="1">
                    <a:noAutofit/>
                  </a:bodyPr>
                  <a:lstStyle/>
                  <a:p>
                    <a:pPr>
                      <a:defRPr sz="900" b="0" i="0" u="none" strike="noStrike" kern="1200" baseline="0">
                        <a:solidFill>
                          <a:schemeClr val="tx1">
                            <a:lumMod val="75000"/>
                            <a:lumOff val="25000"/>
                          </a:schemeClr>
                        </a:solidFill>
                        <a:latin typeface="Aptos" panose="020B0004020202020204" pitchFamily="34" charset="0"/>
                        <a:ea typeface="+mn-ea"/>
                        <a:cs typeface="+mn-cs"/>
                      </a:defRPr>
                    </a:pPr>
                    <a:fld id="{F8C92E7B-DDB6-7C43-978A-6636E9E0DCBE}" type="CELLRANGE">
                      <a:rPr lang="en-US"/>
                      <a:pPr>
                        <a:defRPr/>
                      </a:pPr>
                      <a:t>[CELLRANGE]</a:t>
                    </a:fld>
                    <a:endParaRPr lang="en-US"/>
                  </a:p>
                </c:rich>
              </c:tx>
              <c:spPr>
                <a:noFill/>
                <a:ln>
                  <a:noFill/>
                </a:ln>
                <a:effectLst/>
              </c:spPr>
              <c:txPr>
                <a:bodyPr rot="0" spcFirstLastPara="1" vertOverflow="ellipsis" vert="horz" wrap="square" lIns="38100" tIns="19050" rIns="38100" bIns="19050" anchor="ctr" anchorCtr="1">
                  <a:noAutofit/>
                </a:bodyPr>
                <a:lstStyle/>
                <a:p>
                  <a:pPr>
                    <a:defRPr sz="900" b="0" i="0" u="none" strike="noStrike" kern="1200" baseline="0">
                      <a:solidFill>
                        <a:schemeClr val="tx1">
                          <a:lumMod val="75000"/>
                          <a:lumOff val="25000"/>
                        </a:schemeClr>
                      </a:solidFill>
                      <a:latin typeface="Aptos" panose="020B0004020202020204" pitchFamily="34" charset="0"/>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layout>
                    <c:manualLayout>
                      <c:w val="0.12220139091641269"/>
                      <c:h val="8.0442805120961136E-2"/>
                    </c:manualLayout>
                  </c15:layout>
                  <c15:dlblFieldTable/>
                  <c15:showDataLabelsRange val="1"/>
                </c:ext>
                <c:ext xmlns:c16="http://schemas.microsoft.com/office/drawing/2014/chart" uri="{C3380CC4-5D6E-409C-BE32-E72D297353CC}">
                  <c16:uniqueId val="{00000003-6632-7244-B13C-D2B0CF175948}"/>
                </c:ext>
              </c:extLst>
            </c:dLbl>
            <c:dLbl>
              <c:idx val="3"/>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04-6632-7244-B13C-D2B0CF175948}"/>
                </c:ext>
              </c:extLst>
            </c:dLbl>
            <c:dLbl>
              <c:idx val="4"/>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05-6632-7244-B13C-D2B0CF175948}"/>
                </c:ext>
              </c:extLst>
            </c:dLbl>
            <c:dLbl>
              <c:idx val="5"/>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06-6632-7244-B13C-D2B0CF175948}"/>
                </c:ext>
              </c:extLst>
            </c:dLbl>
            <c:dLbl>
              <c:idx val="6"/>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07-6632-7244-B13C-D2B0CF175948}"/>
                </c:ext>
              </c:extLst>
            </c:dLbl>
            <c:dLbl>
              <c:idx val="7"/>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08-6632-7244-B13C-D2B0CF175948}"/>
                </c:ext>
              </c:extLst>
            </c:dLbl>
            <c:dLbl>
              <c:idx val="8"/>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09-6632-7244-B13C-D2B0CF175948}"/>
                </c:ext>
              </c:extLst>
            </c:dLbl>
            <c:dLbl>
              <c:idx val="9"/>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0A-6632-7244-B13C-D2B0CF175948}"/>
                </c:ext>
              </c:extLst>
            </c:dLbl>
            <c:dLbl>
              <c:idx val="10"/>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0B-6632-7244-B13C-D2B0CF175948}"/>
                </c:ext>
              </c:extLst>
            </c:dLbl>
            <c:dLbl>
              <c:idx val="11"/>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0C-6632-7244-B13C-D2B0CF175948}"/>
                </c:ext>
              </c:extLst>
            </c:dLbl>
            <c:dLbl>
              <c:idx val="12"/>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0D-6632-7244-B13C-D2B0CF175948}"/>
                </c:ext>
              </c:extLst>
            </c:dLbl>
            <c:dLbl>
              <c:idx val="13"/>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0E-6632-7244-B13C-D2B0CF175948}"/>
                </c:ext>
              </c:extLst>
            </c:dLbl>
            <c:dLbl>
              <c:idx val="14"/>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0F-6632-7244-B13C-D2B0CF175948}"/>
                </c:ext>
              </c:extLst>
            </c:dLbl>
            <c:dLbl>
              <c:idx val="15"/>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10-6632-7244-B13C-D2B0CF175948}"/>
                </c:ext>
              </c:extLst>
            </c:dLbl>
            <c:dLbl>
              <c:idx val="16"/>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11-6632-7244-B13C-D2B0CF175948}"/>
                </c:ext>
              </c:extLst>
            </c:dLbl>
            <c:dLbl>
              <c:idx val="17"/>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12-6632-7244-B13C-D2B0CF175948}"/>
                </c:ext>
              </c:extLst>
            </c:dLbl>
            <c:dLbl>
              <c:idx val="18"/>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13-6632-7244-B13C-D2B0CF175948}"/>
                </c:ext>
              </c:extLst>
            </c:dLbl>
            <c:dLbl>
              <c:idx val="19"/>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14-6632-7244-B13C-D2B0CF175948}"/>
                </c:ext>
              </c:extLst>
            </c:dLbl>
            <c:dLbl>
              <c:idx val="20"/>
              <c:layout>
                <c:manualLayout>
                  <c:x val="-1.0135586750048052E-2"/>
                  <c:y val="2.3848119402088214E-2"/>
                </c:manualLayout>
              </c:layout>
              <c:tx>
                <c:rich>
                  <a:bodyPr/>
                  <a:lstStyle/>
                  <a:p>
                    <a:fld id="{B474362C-C90E-8847-B57F-88970816992D}"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15-6632-7244-B13C-D2B0CF175948}"/>
                </c:ext>
              </c:extLst>
            </c:dLbl>
            <c:dLbl>
              <c:idx val="21"/>
              <c:layout>
                <c:manualLayout>
                  <c:x val="-0.17061571029247552"/>
                  <c:y val="-1.7886089551566269E-2"/>
                </c:manualLayout>
              </c:layout>
              <c:tx>
                <c:rich>
                  <a:bodyPr/>
                  <a:lstStyle/>
                  <a:p>
                    <a:fld id="{07671979-E0FC-5744-8BDF-850529E11455}"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16-6632-7244-B13C-D2B0CF175948}"/>
                </c:ext>
              </c:extLst>
            </c:dLbl>
            <c:dLbl>
              <c:idx val="22"/>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17-6632-7244-B13C-D2B0CF175948}"/>
                </c:ext>
              </c:extLst>
            </c:dLbl>
            <c:dLbl>
              <c:idx val="26"/>
              <c:layout>
                <c:manualLayout>
                  <c:x val="-0.16371310192539312"/>
                  <c:y val="-2.3738866856967019E-2"/>
                </c:manualLayout>
              </c:layout>
              <c:showLegendKey val="0"/>
              <c:showVal val="0"/>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0-6632-7244-B13C-D2B0CF175948}"/>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Aptos" panose="020B0004020202020204" pitchFamily="34" charset="0"/>
                    <a:ea typeface="+mn-ea"/>
                    <a:cs typeface="+mn-cs"/>
                  </a:defRPr>
                </a:pPr>
                <a:endParaRPr lang="en-US"/>
              </a:p>
            </c:txPr>
            <c:showLegendKey val="0"/>
            <c:showVal val="0"/>
            <c:showCatName val="0"/>
            <c:showSerName val="0"/>
            <c:showPercent val="0"/>
            <c:showBubbleSize val="0"/>
            <c:showLeaderLines val="0"/>
            <c:extLst>
              <c:ext xmlns:c15="http://schemas.microsoft.com/office/drawing/2012/chart" uri="{CE6537A1-D6FC-4f65-9D91-7224C49458BB}">
                <c15:showDataLabelsRange val="1"/>
                <c15:showLeaderLines val="0"/>
              </c:ext>
            </c:extLst>
          </c:dLbls>
          <c:xVal>
            <c:numRef>
              <c:f>Sheet1!$D$2:$D$29</c:f>
              <c:numCache>
                <c:formatCode>0.0%</c:formatCode>
                <c:ptCount val="23"/>
                <c:pt idx="0">
                  <c:v>-8.6508068786803505E-2</c:v>
                </c:pt>
                <c:pt idx="1">
                  <c:v>0.104936374495794</c:v>
                </c:pt>
                <c:pt idx="2">
                  <c:v>0.30912633819222501</c:v>
                </c:pt>
                <c:pt idx="3">
                  <c:v>#N/A</c:v>
                </c:pt>
                <c:pt idx="4">
                  <c:v>#N/A</c:v>
                </c:pt>
                <c:pt idx="5">
                  <c:v>#N/A</c:v>
                </c:pt>
                <c:pt idx="6">
                  <c:v>#N/A</c:v>
                </c:pt>
                <c:pt idx="7">
                  <c:v>#N/A</c:v>
                </c:pt>
                <c:pt idx="8">
                  <c:v>#N/A</c:v>
                </c:pt>
                <c:pt idx="9">
                  <c:v>#N/A</c:v>
                </c:pt>
                <c:pt idx="10">
                  <c:v>#N/A</c:v>
                </c:pt>
                <c:pt idx="11">
                  <c:v>#N/A</c:v>
                </c:pt>
                <c:pt idx="12">
                  <c:v>#N/A</c:v>
                </c:pt>
                <c:pt idx="13">
                  <c:v>#N/A</c:v>
                </c:pt>
                <c:pt idx="14">
                  <c:v>#N/A</c:v>
                </c:pt>
                <c:pt idx="15">
                  <c:v>#N/A</c:v>
                </c:pt>
                <c:pt idx="16">
                  <c:v>#N/A</c:v>
                </c:pt>
                <c:pt idx="17">
                  <c:v>#N/A</c:v>
                </c:pt>
                <c:pt idx="18">
                  <c:v>#N/A</c:v>
                </c:pt>
                <c:pt idx="19">
                  <c:v>#N/A</c:v>
                </c:pt>
                <c:pt idx="20">
                  <c:v>0.268853172802058</c:v>
                </c:pt>
                <c:pt idx="21">
                  <c:v>5.51567025897318E-2</c:v>
                </c:pt>
                <c:pt idx="22">
                  <c:v>#N/A</c:v>
                </c:pt>
              </c:numCache>
            </c:numRef>
          </c:xVal>
          <c:yVal>
            <c:numRef>
              <c:f>Sheet1!$C$2:$C$29</c:f>
              <c:numCache>
                <c:formatCode>0%</c:formatCode>
                <c:ptCount val="23"/>
                <c:pt idx="0">
                  <c:v>3.2110810353131201E-2</c:v>
                </c:pt>
                <c:pt idx="1">
                  <c:v>4.2238342638410503E-2</c:v>
                </c:pt>
                <c:pt idx="2">
                  <c:v>8.2058406335332804E-2</c:v>
                </c:pt>
                <c:pt idx="3">
                  <c:v>0.14950308831877701</c:v>
                </c:pt>
                <c:pt idx="4">
                  <c:v>0.14474187855499701</c:v>
                </c:pt>
                <c:pt idx="5">
                  <c:v>0.192237867976849</c:v>
                </c:pt>
                <c:pt idx="6">
                  <c:v>0.182085912415376</c:v>
                </c:pt>
                <c:pt idx="7">
                  <c:v>0.201626510653036</c:v>
                </c:pt>
                <c:pt idx="8">
                  <c:v>0.232770455211537</c:v>
                </c:pt>
                <c:pt idx="9">
                  <c:v>0.13562199119584201</c:v>
                </c:pt>
                <c:pt idx="10">
                  <c:v>6.1838706545769902E-2</c:v>
                </c:pt>
                <c:pt idx="11">
                  <c:v>8.8325647168886703E-2</c:v>
                </c:pt>
                <c:pt idx="12">
                  <c:v>7.3138510600272905E-2</c:v>
                </c:pt>
                <c:pt idx="13">
                  <c:v>0.35654736283202199</c:v>
                </c:pt>
                <c:pt idx="14">
                  <c:v>0.13777198464128801</c:v>
                </c:pt>
                <c:pt idx="15">
                  <c:v>0.15640735725123101</c:v>
                </c:pt>
                <c:pt idx="16">
                  <c:v>0.167252179960899</c:v>
                </c:pt>
                <c:pt idx="17">
                  <c:v>0.113600285320638</c:v>
                </c:pt>
                <c:pt idx="18">
                  <c:v>0.14474239435031699</c:v>
                </c:pt>
                <c:pt idx="19">
                  <c:v>0.14614645332248</c:v>
                </c:pt>
                <c:pt idx="20">
                  <c:v>0.122019620848281</c:v>
                </c:pt>
                <c:pt idx="21">
                  <c:v>4.6212231292721499E-2</c:v>
                </c:pt>
                <c:pt idx="22" formatCode="0.0%">
                  <c:v>7.4615293576842906E-2</c:v>
                </c:pt>
              </c:numCache>
            </c:numRef>
          </c:yVal>
          <c:smooth val="0"/>
          <c:extLst>
            <c:ext xmlns:c15="http://schemas.microsoft.com/office/drawing/2012/chart" uri="{02D57815-91ED-43cb-92C2-25804820EDAC}">
              <c15:datalabelsRange>
                <c15:f>Sheet1!$A$2:$A$29</c15:f>
                <c15:dlblRangeCache>
                  <c:ptCount val="23"/>
                  <c:pt idx="0">
                    <c:v>US Treasury Bonds</c:v>
                  </c:pt>
                  <c:pt idx="1">
                    <c:v>US Corporate Credit</c:v>
                  </c:pt>
                  <c:pt idx="2">
                    <c:v>US Corporate High Yield</c:v>
                  </c:pt>
                  <c:pt idx="3">
                    <c:v>Global Equity</c:v>
                  </c:pt>
                  <c:pt idx="4">
                    <c:v>US Large Cap</c:v>
                  </c:pt>
                  <c:pt idx="5">
                    <c:v>US Small Caps</c:v>
                  </c:pt>
                  <c:pt idx="6">
                    <c:v>European</c:v>
                  </c:pt>
                  <c:pt idx="7">
                    <c:v>Japan</c:v>
                  </c:pt>
                  <c:pt idx="8">
                    <c:v>Emerging Markets</c:v>
                  </c:pt>
                  <c:pt idx="9">
                    <c:v>Global REITs</c:v>
                  </c:pt>
                  <c:pt idx="10">
                    <c:v>Event Driven</c:v>
                  </c:pt>
                  <c:pt idx="11">
                    <c:v>Equity Long/Short</c:v>
                  </c:pt>
                  <c:pt idx="12">
                    <c:v>Tactical Trading</c:v>
                  </c:pt>
                  <c:pt idx="13">
                    <c:v>Intel Stock Proxy</c:v>
                  </c:pt>
                  <c:pt idx="14">
                    <c:v>Buyout</c:v>
                  </c:pt>
                  <c:pt idx="15">
                    <c:v>Growth</c:v>
                  </c:pt>
                  <c:pt idx="16">
                    <c:v>Venture</c:v>
                  </c:pt>
                  <c:pt idx="17">
                    <c:v>Private Credit</c:v>
                  </c:pt>
                  <c:pt idx="18">
                    <c:v>Private Real Estate</c:v>
                  </c:pt>
                  <c:pt idx="19">
                    <c:v>Infrastructure</c:v>
                  </c:pt>
                  <c:pt idx="20">
                    <c:v>Emerging Markets</c:v>
                  </c:pt>
                  <c:pt idx="21">
                    <c:v>US Inflation Protected</c:v>
                  </c:pt>
                  <c:pt idx="22">
                    <c:v>Moderate Portfolio</c:v>
                  </c:pt>
                </c15:dlblRangeCache>
              </c15:datalabelsRange>
            </c:ext>
            <c:ext xmlns:c16="http://schemas.microsoft.com/office/drawing/2014/chart" uri="{C3380CC4-5D6E-409C-BE32-E72D297353CC}">
              <c16:uniqueId val="{00000018-6632-7244-B13C-D2B0CF175948}"/>
            </c:ext>
          </c:extLst>
        </c:ser>
        <c:ser>
          <c:idx val="1"/>
          <c:order val="1"/>
          <c:tx>
            <c:v>Public Equity</c:v>
          </c:tx>
          <c:spPr>
            <a:ln w="25400" cap="rnd">
              <a:noFill/>
              <a:round/>
            </a:ln>
            <a:effectLst/>
          </c:spPr>
          <c:marker>
            <c:symbol val="circle"/>
            <c:size val="5"/>
            <c:spPr>
              <a:solidFill>
                <a:schemeClr val="tx2">
                  <a:lumMod val="75000"/>
                </a:schemeClr>
              </a:solidFill>
              <a:ln w="9525">
                <a:solidFill>
                  <a:schemeClr val="tx2"/>
                </a:solidFill>
              </a:ln>
              <a:effectLst/>
            </c:spPr>
          </c:marker>
          <c:dLbls>
            <c:dLbl>
              <c:idx val="0"/>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19-6632-7244-B13C-D2B0CF175948}"/>
                </c:ext>
              </c:extLst>
            </c:dLbl>
            <c:dLbl>
              <c:idx val="1"/>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1A-6632-7244-B13C-D2B0CF175948}"/>
                </c:ext>
              </c:extLst>
            </c:dLbl>
            <c:dLbl>
              <c:idx val="2"/>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1B-6632-7244-B13C-D2B0CF175948}"/>
                </c:ext>
              </c:extLst>
            </c:dLbl>
            <c:dLbl>
              <c:idx val="3"/>
              <c:layout>
                <c:manualLayout>
                  <c:x val="1.0135586750048052E-2"/>
                  <c:y val="-5.9620298505220536E-3"/>
                </c:manualLayout>
              </c:layout>
              <c:tx>
                <c:rich>
                  <a:bodyPr/>
                  <a:lstStyle/>
                  <a:p>
                    <a:fld id="{DB17C1B5-00A8-9E40-B028-75536623CDC3}"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1C-6632-7244-B13C-D2B0CF175948}"/>
                </c:ext>
              </c:extLst>
            </c:dLbl>
            <c:dLbl>
              <c:idx val="4"/>
              <c:layout>
                <c:manualLayout>
                  <c:x val="1.098028548569346E-2"/>
                  <c:y val="8.9429274129907473E-3"/>
                </c:manualLayout>
              </c:layout>
              <c:tx>
                <c:rich>
                  <a:bodyPr/>
                  <a:lstStyle/>
                  <a:p>
                    <a:fld id="{2681C0D0-BBCD-E940-A1C3-DE70D6959DB0}"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layout>
                    <c:manualLayout>
                      <c:w val="0.10360258923007448"/>
                      <c:h val="4.1689611092567781E-2"/>
                    </c:manualLayout>
                  </c15:layout>
                  <c15:dlblFieldTable/>
                  <c15:showDataLabelsRange val="1"/>
                </c:ext>
                <c:ext xmlns:c16="http://schemas.microsoft.com/office/drawing/2014/chart" uri="{C3380CC4-5D6E-409C-BE32-E72D297353CC}">
                  <c16:uniqueId val="{0000001D-6632-7244-B13C-D2B0CF175948}"/>
                </c:ext>
              </c:extLst>
            </c:dLbl>
            <c:dLbl>
              <c:idx val="5"/>
              <c:layout>
                <c:manualLayout>
                  <c:x val="-1.5203380125072139E-2"/>
                  <c:y val="-3.2791164177871292E-2"/>
                </c:manualLayout>
              </c:layout>
              <c:tx>
                <c:rich>
                  <a:bodyPr/>
                  <a:lstStyle/>
                  <a:p>
                    <a:fld id="{4B127F8C-A753-A64A-9E85-1E2FA0CA5F68}"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1E-6632-7244-B13C-D2B0CF175948}"/>
                </c:ext>
              </c:extLst>
            </c:dLbl>
            <c:dLbl>
              <c:idx val="6"/>
              <c:layout>
                <c:manualLayout>
                  <c:x val="-8.6152487375408426E-2"/>
                  <c:y val="8.9430447757830791E-3"/>
                </c:manualLayout>
              </c:layout>
              <c:tx>
                <c:rich>
                  <a:bodyPr/>
                  <a:lstStyle/>
                  <a:p>
                    <a:fld id="{193B46EF-A6E3-F749-99F6-AB683BDA6D83}"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1F-6632-7244-B13C-D2B0CF175948}"/>
                </c:ext>
              </c:extLst>
            </c:dLbl>
            <c:dLbl>
              <c:idx val="7"/>
              <c:tx>
                <c:rich>
                  <a:bodyPr/>
                  <a:lstStyle/>
                  <a:p>
                    <a:fld id="{EEF56B57-09ED-DB48-8B9D-444FC7A7CF91}"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0-6632-7244-B13C-D2B0CF175948}"/>
                </c:ext>
              </c:extLst>
            </c:dLbl>
            <c:dLbl>
              <c:idx val="8"/>
              <c:tx>
                <c:rich>
                  <a:bodyPr/>
                  <a:lstStyle/>
                  <a:p>
                    <a:fld id="{453F5B58-0BC3-CC41-8D8E-197D541F4AC7}"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1-6632-7244-B13C-D2B0CF175948}"/>
                </c:ext>
              </c:extLst>
            </c:dLbl>
            <c:dLbl>
              <c:idx val="9"/>
              <c:tx>
                <c:rich>
                  <a:bodyPr/>
                  <a:lstStyle/>
                  <a:p>
                    <a:fld id="{F4C5E908-E9B3-124E-9329-756B36178CA3}"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22-6632-7244-B13C-D2B0CF175948}"/>
                </c:ext>
              </c:extLst>
            </c:dLbl>
            <c:dLbl>
              <c:idx val="10"/>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23-6632-7244-B13C-D2B0CF175948}"/>
                </c:ext>
              </c:extLst>
            </c:dLbl>
            <c:dLbl>
              <c:idx val="11"/>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24-6632-7244-B13C-D2B0CF175948}"/>
                </c:ext>
              </c:extLst>
            </c:dLbl>
            <c:dLbl>
              <c:idx val="12"/>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25-6632-7244-B13C-D2B0CF175948}"/>
                </c:ext>
              </c:extLst>
            </c:dLbl>
            <c:dLbl>
              <c:idx val="13"/>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26-6632-7244-B13C-D2B0CF175948}"/>
                </c:ext>
              </c:extLst>
            </c:dLbl>
            <c:dLbl>
              <c:idx val="14"/>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27-6632-7244-B13C-D2B0CF175948}"/>
                </c:ext>
              </c:extLst>
            </c:dLbl>
            <c:dLbl>
              <c:idx val="15"/>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28-6632-7244-B13C-D2B0CF175948}"/>
                </c:ext>
              </c:extLst>
            </c:dLbl>
            <c:dLbl>
              <c:idx val="16"/>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29-6632-7244-B13C-D2B0CF175948}"/>
                </c:ext>
              </c:extLst>
            </c:dLbl>
            <c:dLbl>
              <c:idx val="17"/>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2A-6632-7244-B13C-D2B0CF175948}"/>
                </c:ext>
              </c:extLst>
            </c:dLbl>
            <c:dLbl>
              <c:idx val="18"/>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2B-6632-7244-B13C-D2B0CF175948}"/>
                </c:ext>
              </c:extLst>
            </c:dLbl>
            <c:dLbl>
              <c:idx val="19"/>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2C-6632-7244-B13C-D2B0CF175948}"/>
                </c:ext>
              </c:extLst>
            </c:dLbl>
            <c:dLbl>
              <c:idx val="20"/>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2D-6632-7244-B13C-D2B0CF175948}"/>
                </c:ext>
              </c:extLst>
            </c:dLbl>
            <c:dLbl>
              <c:idx val="21"/>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2E-6632-7244-B13C-D2B0CF175948}"/>
                </c:ext>
              </c:extLst>
            </c:dLbl>
            <c:dLbl>
              <c:idx val="22"/>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2F-6632-7244-B13C-D2B0CF175948}"/>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Aptos" panose="020B0004020202020204" pitchFamily="34" charset="0"/>
                    <a:ea typeface="+mn-ea"/>
                    <a:cs typeface="+mn-cs"/>
                  </a:defRPr>
                </a:pPr>
                <a:endParaRPr lang="en-US"/>
              </a:p>
            </c:txPr>
            <c:showLegendKey val="0"/>
            <c:showVal val="0"/>
            <c:showCatName val="0"/>
            <c:showSerName val="0"/>
            <c:showPercent val="0"/>
            <c:showBubbleSize val="0"/>
            <c:showLeaderLines val="0"/>
            <c:extLst>
              <c:ext xmlns:c15="http://schemas.microsoft.com/office/drawing/2012/chart" uri="{CE6537A1-D6FC-4f65-9D91-7224C49458BB}">
                <c15:showDataLabelsRange val="1"/>
                <c15:showLeaderLines val="0"/>
              </c:ext>
            </c:extLst>
          </c:dLbls>
          <c:xVal>
            <c:numRef>
              <c:f>Sheet1!$E$2:$E$29</c:f>
              <c:numCache>
                <c:formatCode>0.0%</c:formatCode>
                <c:ptCount val="23"/>
                <c:pt idx="0">
                  <c:v>#N/A</c:v>
                </c:pt>
                <c:pt idx="1">
                  <c:v>#N/A</c:v>
                </c:pt>
                <c:pt idx="2">
                  <c:v>#N/A</c:v>
                </c:pt>
                <c:pt idx="3">
                  <c:v>0.498437121945842</c:v>
                </c:pt>
                <c:pt idx="4">
                  <c:v>0.41624082831193099</c:v>
                </c:pt>
                <c:pt idx="5">
                  <c:v>0.44451658727186899</c:v>
                </c:pt>
                <c:pt idx="6">
                  <c:v>0.41798915817555299</c:v>
                </c:pt>
                <c:pt idx="7">
                  <c:v>0.32960273632869302</c:v>
                </c:pt>
                <c:pt idx="8">
                  <c:v>0.37505895361635799</c:v>
                </c:pt>
                <c:pt idx="9">
                  <c:v>0.21822090763501001</c:v>
                </c:pt>
                <c:pt idx="10">
                  <c:v>#N/A</c:v>
                </c:pt>
                <c:pt idx="11">
                  <c:v>#N/A</c:v>
                </c:pt>
                <c:pt idx="12">
                  <c:v>#N/A</c:v>
                </c:pt>
                <c:pt idx="13">
                  <c:v>#N/A</c:v>
                </c:pt>
                <c:pt idx="14">
                  <c:v>#N/A</c:v>
                </c:pt>
                <c:pt idx="15">
                  <c:v>#N/A</c:v>
                </c:pt>
                <c:pt idx="16">
                  <c:v>#N/A</c:v>
                </c:pt>
                <c:pt idx="17">
                  <c:v>#N/A</c:v>
                </c:pt>
                <c:pt idx="18">
                  <c:v>#N/A</c:v>
                </c:pt>
                <c:pt idx="19">
                  <c:v>#N/A</c:v>
                </c:pt>
                <c:pt idx="20">
                  <c:v>#N/A</c:v>
                </c:pt>
                <c:pt idx="21">
                  <c:v>#N/A</c:v>
                </c:pt>
                <c:pt idx="22">
                  <c:v>#N/A</c:v>
                </c:pt>
              </c:numCache>
            </c:numRef>
          </c:xVal>
          <c:yVal>
            <c:numRef>
              <c:f>Sheet1!$C$2:$C$29</c:f>
              <c:numCache>
                <c:formatCode>0%</c:formatCode>
                <c:ptCount val="23"/>
                <c:pt idx="0">
                  <c:v>3.2110810353131201E-2</c:v>
                </c:pt>
                <c:pt idx="1">
                  <c:v>4.2238342638410503E-2</c:v>
                </c:pt>
                <c:pt idx="2">
                  <c:v>8.2058406335332804E-2</c:v>
                </c:pt>
                <c:pt idx="3">
                  <c:v>0.14950308831877701</c:v>
                </c:pt>
                <c:pt idx="4">
                  <c:v>0.14474187855499701</c:v>
                </c:pt>
                <c:pt idx="5">
                  <c:v>0.192237867976849</c:v>
                </c:pt>
                <c:pt idx="6">
                  <c:v>0.182085912415376</c:v>
                </c:pt>
                <c:pt idx="7">
                  <c:v>0.201626510653036</c:v>
                </c:pt>
                <c:pt idx="8">
                  <c:v>0.232770455211537</c:v>
                </c:pt>
                <c:pt idx="9">
                  <c:v>0.13562199119584201</c:v>
                </c:pt>
                <c:pt idx="10">
                  <c:v>6.1838706545769902E-2</c:v>
                </c:pt>
                <c:pt idx="11">
                  <c:v>8.8325647168886703E-2</c:v>
                </c:pt>
                <c:pt idx="12">
                  <c:v>7.3138510600272905E-2</c:v>
                </c:pt>
                <c:pt idx="13">
                  <c:v>0.35654736283202199</c:v>
                </c:pt>
                <c:pt idx="14">
                  <c:v>0.13777198464128801</c:v>
                </c:pt>
                <c:pt idx="15">
                  <c:v>0.15640735725123101</c:v>
                </c:pt>
                <c:pt idx="16">
                  <c:v>0.167252179960899</c:v>
                </c:pt>
                <c:pt idx="17">
                  <c:v>0.113600285320638</c:v>
                </c:pt>
                <c:pt idx="18">
                  <c:v>0.14474239435031699</c:v>
                </c:pt>
                <c:pt idx="19">
                  <c:v>0.14614645332248</c:v>
                </c:pt>
                <c:pt idx="20">
                  <c:v>0.122019620848281</c:v>
                </c:pt>
                <c:pt idx="21">
                  <c:v>4.6212231292721499E-2</c:v>
                </c:pt>
                <c:pt idx="22" formatCode="0.0%">
                  <c:v>7.4615293576842906E-2</c:v>
                </c:pt>
              </c:numCache>
            </c:numRef>
          </c:yVal>
          <c:smooth val="0"/>
          <c:extLst>
            <c:ext xmlns:c15="http://schemas.microsoft.com/office/drawing/2012/chart" uri="{02D57815-91ED-43cb-92C2-25804820EDAC}">
              <c15:datalabelsRange>
                <c15:f>Sheet1!$A$2:$A$29</c15:f>
                <c15:dlblRangeCache>
                  <c:ptCount val="23"/>
                  <c:pt idx="0">
                    <c:v>US Treasury Bonds</c:v>
                  </c:pt>
                  <c:pt idx="1">
                    <c:v>US Corporate Credit</c:v>
                  </c:pt>
                  <c:pt idx="2">
                    <c:v>US Corporate High Yield</c:v>
                  </c:pt>
                  <c:pt idx="3">
                    <c:v>Global Equity</c:v>
                  </c:pt>
                  <c:pt idx="4">
                    <c:v>US Large Cap</c:v>
                  </c:pt>
                  <c:pt idx="5">
                    <c:v>US Small Caps</c:v>
                  </c:pt>
                  <c:pt idx="6">
                    <c:v>European</c:v>
                  </c:pt>
                  <c:pt idx="7">
                    <c:v>Japan</c:v>
                  </c:pt>
                  <c:pt idx="8">
                    <c:v>Emerging Markets</c:v>
                  </c:pt>
                  <c:pt idx="9">
                    <c:v>Global REITs</c:v>
                  </c:pt>
                  <c:pt idx="10">
                    <c:v>Event Driven</c:v>
                  </c:pt>
                  <c:pt idx="11">
                    <c:v>Equity Long/Short</c:v>
                  </c:pt>
                  <c:pt idx="12">
                    <c:v>Tactical Trading</c:v>
                  </c:pt>
                  <c:pt idx="13">
                    <c:v>Intel Stock Proxy</c:v>
                  </c:pt>
                  <c:pt idx="14">
                    <c:v>Buyout</c:v>
                  </c:pt>
                  <c:pt idx="15">
                    <c:v>Growth</c:v>
                  </c:pt>
                  <c:pt idx="16">
                    <c:v>Venture</c:v>
                  </c:pt>
                  <c:pt idx="17">
                    <c:v>Private Credit</c:v>
                  </c:pt>
                  <c:pt idx="18">
                    <c:v>Private Real Estate</c:v>
                  </c:pt>
                  <c:pt idx="19">
                    <c:v>Infrastructure</c:v>
                  </c:pt>
                  <c:pt idx="20">
                    <c:v>Emerging Markets</c:v>
                  </c:pt>
                  <c:pt idx="21">
                    <c:v>US Inflation Protected</c:v>
                  </c:pt>
                  <c:pt idx="22">
                    <c:v>Moderate Portfolio</c:v>
                  </c:pt>
                </c15:dlblRangeCache>
              </c15:datalabelsRange>
            </c:ext>
            <c:ext xmlns:c16="http://schemas.microsoft.com/office/drawing/2014/chart" uri="{C3380CC4-5D6E-409C-BE32-E72D297353CC}">
              <c16:uniqueId val="{00000030-6632-7244-B13C-D2B0CF175948}"/>
            </c:ext>
          </c:extLst>
        </c:ser>
        <c:ser>
          <c:idx val="2"/>
          <c:order val="2"/>
          <c:tx>
            <c:v>Alternatives</c:v>
          </c:tx>
          <c:spPr>
            <a:ln w="25400" cap="rnd">
              <a:noFill/>
              <a:round/>
            </a:ln>
            <a:effectLst/>
          </c:spPr>
          <c:marker>
            <c:symbol val="circle"/>
            <c:size val="5"/>
            <c:spPr>
              <a:solidFill>
                <a:schemeClr val="accent1">
                  <a:lumMod val="40000"/>
                  <a:lumOff val="60000"/>
                </a:schemeClr>
              </a:solidFill>
              <a:ln w="9525">
                <a:solidFill>
                  <a:schemeClr val="accent1">
                    <a:lumMod val="60000"/>
                    <a:lumOff val="40000"/>
                  </a:schemeClr>
                </a:solidFill>
              </a:ln>
              <a:effectLst/>
            </c:spPr>
          </c:marker>
          <c:dLbls>
            <c:dLbl>
              <c:idx val="0"/>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31-6632-7244-B13C-D2B0CF175948}"/>
                </c:ext>
              </c:extLst>
            </c:dLbl>
            <c:dLbl>
              <c:idx val="1"/>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32-6632-7244-B13C-D2B0CF175948}"/>
                </c:ext>
              </c:extLst>
            </c:dLbl>
            <c:dLbl>
              <c:idx val="2"/>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33-6632-7244-B13C-D2B0CF175948}"/>
                </c:ext>
              </c:extLst>
            </c:dLbl>
            <c:dLbl>
              <c:idx val="3"/>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34-6632-7244-B13C-D2B0CF175948}"/>
                </c:ext>
              </c:extLst>
            </c:dLbl>
            <c:dLbl>
              <c:idx val="4"/>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35-6632-7244-B13C-D2B0CF175948}"/>
                </c:ext>
              </c:extLst>
            </c:dLbl>
            <c:dLbl>
              <c:idx val="5"/>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36-6632-7244-B13C-D2B0CF175948}"/>
                </c:ext>
              </c:extLst>
            </c:dLbl>
            <c:dLbl>
              <c:idx val="6"/>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37-6632-7244-B13C-D2B0CF175948}"/>
                </c:ext>
              </c:extLst>
            </c:dLbl>
            <c:dLbl>
              <c:idx val="7"/>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38-6632-7244-B13C-D2B0CF175948}"/>
                </c:ext>
              </c:extLst>
            </c:dLbl>
            <c:dLbl>
              <c:idx val="8"/>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39-6632-7244-B13C-D2B0CF175948}"/>
                </c:ext>
              </c:extLst>
            </c:dLbl>
            <c:dLbl>
              <c:idx val="9"/>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3A-6632-7244-B13C-D2B0CF175948}"/>
                </c:ext>
              </c:extLst>
            </c:dLbl>
            <c:dLbl>
              <c:idx val="10"/>
              <c:layout>
                <c:manualLayout>
                  <c:x val="-8.4463222917067707E-3"/>
                  <c:y val="2.9810149252610267E-2"/>
                </c:manualLayout>
              </c:layout>
              <c:tx>
                <c:rich>
                  <a:bodyPr/>
                  <a:lstStyle/>
                  <a:p>
                    <a:fld id="{687E17BA-8975-D944-BE07-C0FDB8CA0B6E}"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3B-6632-7244-B13C-D2B0CF175948}"/>
                </c:ext>
              </c:extLst>
            </c:dLbl>
            <c:dLbl>
              <c:idx val="11"/>
              <c:tx>
                <c:rich>
                  <a:bodyPr/>
                  <a:lstStyle/>
                  <a:p>
                    <a:fld id="{5AB96A74-23D7-C64F-97EB-102B3FD86036}"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xForSave val="1"/>
                  <c15:showDataLabelsRange val="1"/>
                </c:ext>
                <c:ext xmlns:c16="http://schemas.microsoft.com/office/drawing/2014/chart" uri="{C3380CC4-5D6E-409C-BE32-E72D297353CC}">
                  <c16:uniqueId val="{0000003C-6632-7244-B13C-D2B0CF175948}"/>
                </c:ext>
              </c:extLst>
            </c:dLbl>
            <c:dLbl>
              <c:idx val="12"/>
              <c:layout>
                <c:manualLayout>
                  <c:x val="-5.0677933750240288E-2"/>
                  <c:y val="-2.9810149252610375E-2"/>
                </c:manualLayout>
              </c:layout>
              <c:tx>
                <c:rich>
                  <a:bodyPr/>
                  <a:lstStyle/>
                  <a:p>
                    <a:fld id="{120402DD-889C-9640-9AFB-91E1E1DE5F58}"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3D-6632-7244-B13C-D2B0CF175948}"/>
                </c:ext>
              </c:extLst>
            </c:dLbl>
            <c:dLbl>
              <c:idx val="13"/>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3E-6632-7244-B13C-D2B0CF175948}"/>
                </c:ext>
              </c:extLst>
            </c:dLbl>
            <c:dLbl>
              <c:idx val="14"/>
              <c:layout>
                <c:manualLayout>
                  <c:x val="-2.1960437958437443E-2"/>
                  <c:y val="2.6829134327349239E-2"/>
                </c:manualLayout>
              </c:layout>
              <c:tx>
                <c:rich>
                  <a:bodyPr/>
                  <a:lstStyle/>
                  <a:p>
                    <a:fld id="{204040CD-B68F-D34A-B705-7BBF4BB539CE}"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3F-6632-7244-B13C-D2B0CF175948}"/>
                </c:ext>
              </c:extLst>
            </c:dLbl>
            <c:dLbl>
              <c:idx val="15"/>
              <c:layout>
                <c:manualLayout>
                  <c:x val="0"/>
                  <c:y val="-1.1924059701044216E-2"/>
                </c:manualLayout>
              </c:layout>
              <c:tx>
                <c:rich>
                  <a:bodyPr/>
                  <a:lstStyle/>
                  <a:p>
                    <a:fld id="{71D95FAC-F915-214D-BE28-E9B18A7BC7FC}"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40-6632-7244-B13C-D2B0CF175948}"/>
                </c:ext>
              </c:extLst>
            </c:dLbl>
            <c:dLbl>
              <c:idx val="16"/>
              <c:layout>
                <c:manualLayout>
                  <c:x val="-8.3383157767325678E-3"/>
                  <c:y val="-2.0716880102640802E-2"/>
                </c:manualLayout>
              </c:layout>
              <c:tx>
                <c:rich>
                  <a:bodyPr/>
                  <a:lstStyle/>
                  <a:p>
                    <a:fld id="{5B6FE839-8DA7-4347-98BF-FA0E733E6E1C}"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41-6632-7244-B13C-D2B0CF175948}"/>
                </c:ext>
              </c:extLst>
            </c:dLbl>
            <c:dLbl>
              <c:idx val="17"/>
              <c:layout>
                <c:manualLayout>
                  <c:x val="-0.11824851208389393"/>
                  <c:y val="0"/>
                </c:manualLayout>
              </c:layout>
              <c:tx>
                <c:rich>
                  <a:bodyPr/>
                  <a:lstStyle/>
                  <a:p>
                    <a:fld id="{92B104FF-70BA-AA44-AE79-C08989574256}"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42-6632-7244-B13C-D2B0CF175948}"/>
                </c:ext>
              </c:extLst>
            </c:dLbl>
            <c:dLbl>
              <c:idx val="18"/>
              <c:layout>
                <c:manualLayout>
                  <c:x val="-0.13683042112564869"/>
                  <c:y val="-2.9810149252610375E-2"/>
                </c:manualLayout>
              </c:layout>
              <c:tx>
                <c:rich>
                  <a:bodyPr/>
                  <a:lstStyle/>
                  <a:p>
                    <a:fld id="{8146945F-EC52-9F40-865C-CF4FD0CAB3CD}"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43-6632-7244-B13C-D2B0CF175948}"/>
                </c:ext>
              </c:extLst>
            </c:dLbl>
            <c:dLbl>
              <c:idx val="19"/>
              <c:layout>
                <c:manualLayout>
                  <c:x val="-2.702823133346147E-2"/>
                  <c:y val="-2.6829134327349239E-2"/>
                </c:manualLayout>
              </c:layout>
              <c:tx>
                <c:rich>
                  <a:bodyPr/>
                  <a:lstStyle/>
                  <a:p>
                    <a:fld id="{46F65595-F138-9443-93AE-17DF73DDEA26}"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44-6632-7244-B13C-D2B0CF175948}"/>
                </c:ext>
              </c:extLst>
            </c:dLbl>
            <c:dLbl>
              <c:idx val="20"/>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45-6632-7244-B13C-D2B0CF175948}"/>
                </c:ext>
              </c:extLst>
            </c:dLbl>
            <c:dLbl>
              <c:idx val="21"/>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46-6632-7244-B13C-D2B0CF175948}"/>
                </c:ext>
              </c:extLst>
            </c:dLbl>
            <c:dLbl>
              <c:idx val="22"/>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47-6632-7244-B13C-D2B0CF175948}"/>
                </c:ext>
              </c:extLst>
            </c:dLbl>
            <c:dLbl>
              <c:idx val="25"/>
              <c:layout>
                <c:manualLayout>
                  <c:x val="-5.4008445996006044E-2"/>
                  <c:y val="3.2640941928329545E-2"/>
                </c:manualLayout>
              </c:layout>
              <c:showLegendKey val="0"/>
              <c:showVal val="0"/>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48-6632-7244-B13C-D2B0CF175948}"/>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Aptos" panose="020B0004020202020204" pitchFamily="34" charset="0"/>
                    <a:ea typeface="+mn-ea"/>
                    <a:cs typeface="+mn-cs"/>
                  </a:defRPr>
                </a:pPr>
                <a:endParaRPr lang="en-US"/>
              </a:p>
            </c:txPr>
            <c:showLegendKey val="0"/>
            <c:showVal val="0"/>
            <c:showCatName val="0"/>
            <c:showSerName val="0"/>
            <c:showPercent val="0"/>
            <c:showBubbleSize val="0"/>
            <c:showLeaderLines val="0"/>
            <c:extLst>
              <c:ext xmlns:c15="http://schemas.microsoft.com/office/drawing/2012/chart" uri="{CE6537A1-D6FC-4f65-9D91-7224C49458BB}">
                <c15:showDataLabelsRange val="1"/>
                <c15:showLeaderLines val="0"/>
              </c:ext>
            </c:extLst>
          </c:dLbls>
          <c:xVal>
            <c:numRef>
              <c:f>Sheet1!$F$2:$F$29</c:f>
              <c:numCache>
                <c:formatCode>0.0%</c:formatCode>
                <c:ptCount val="23"/>
                <c:pt idx="0">
                  <c:v>#N/A</c:v>
                </c:pt>
                <c:pt idx="1">
                  <c:v>#N/A</c:v>
                </c:pt>
                <c:pt idx="2">
                  <c:v>#N/A</c:v>
                </c:pt>
                <c:pt idx="3">
                  <c:v>#N/A</c:v>
                </c:pt>
                <c:pt idx="4">
                  <c:v>#N/A</c:v>
                </c:pt>
                <c:pt idx="5">
                  <c:v>#N/A</c:v>
                </c:pt>
                <c:pt idx="6">
                  <c:v>#N/A</c:v>
                </c:pt>
                <c:pt idx="7">
                  <c:v>#N/A</c:v>
                </c:pt>
                <c:pt idx="8">
                  <c:v>#N/A</c:v>
                </c:pt>
                <c:pt idx="9">
                  <c:v>#N/A</c:v>
                </c:pt>
                <c:pt idx="10">
                  <c:v>0.33942919613279199</c:v>
                </c:pt>
                <c:pt idx="11">
                  <c:v>0.40004036205398502</c:v>
                </c:pt>
                <c:pt idx="12">
                  <c:v>6.4442015134589498E-2</c:v>
                </c:pt>
                <c:pt idx="13">
                  <c:v>#N/A</c:v>
                </c:pt>
                <c:pt idx="14">
                  <c:v>0.434164729573422</c:v>
                </c:pt>
                <c:pt idx="15">
                  <c:v>0.46072914500845302</c:v>
                </c:pt>
                <c:pt idx="16">
                  <c:v>0.46336217430964899</c:v>
                </c:pt>
                <c:pt idx="17">
                  <c:v>0.24213339009756599</c:v>
                </c:pt>
                <c:pt idx="18">
                  <c:v>0.17135998659937901</c:v>
                </c:pt>
                <c:pt idx="19">
                  <c:v>0.241329373363662</c:v>
                </c:pt>
                <c:pt idx="20">
                  <c:v>#N/A</c:v>
                </c:pt>
                <c:pt idx="21">
                  <c:v>#N/A</c:v>
                </c:pt>
                <c:pt idx="22">
                  <c:v>#N/A</c:v>
                </c:pt>
              </c:numCache>
            </c:numRef>
          </c:xVal>
          <c:yVal>
            <c:numRef>
              <c:f>Sheet1!$C$2:$C$29</c:f>
              <c:numCache>
                <c:formatCode>0%</c:formatCode>
                <c:ptCount val="23"/>
                <c:pt idx="0">
                  <c:v>3.2110810353131201E-2</c:v>
                </c:pt>
                <c:pt idx="1">
                  <c:v>4.2238342638410503E-2</c:v>
                </c:pt>
                <c:pt idx="2">
                  <c:v>8.2058406335332804E-2</c:v>
                </c:pt>
                <c:pt idx="3">
                  <c:v>0.14950308831877701</c:v>
                </c:pt>
                <c:pt idx="4">
                  <c:v>0.14474187855499701</c:v>
                </c:pt>
                <c:pt idx="5">
                  <c:v>0.192237867976849</c:v>
                </c:pt>
                <c:pt idx="6">
                  <c:v>0.182085912415376</c:v>
                </c:pt>
                <c:pt idx="7">
                  <c:v>0.201626510653036</c:v>
                </c:pt>
                <c:pt idx="8">
                  <c:v>0.232770455211537</c:v>
                </c:pt>
                <c:pt idx="9">
                  <c:v>0.13562199119584201</c:v>
                </c:pt>
                <c:pt idx="10">
                  <c:v>6.1838706545769902E-2</c:v>
                </c:pt>
                <c:pt idx="11">
                  <c:v>8.8325647168886703E-2</c:v>
                </c:pt>
                <c:pt idx="12">
                  <c:v>7.3138510600272905E-2</c:v>
                </c:pt>
                <c:pt idx="13">
                  <c:v>0.35654736283202199</c:v>
                </c:pt>
                <c:pt idx="14">
                  <c:v>0.13777198464128801</c:v>
                </c:pt>
                <c:pt idx="15">
                  <c:v>0.15640735725123101</c:v>
                </c:pt>
                <c:pt idx="16">
                  <c:v>0.167252179960899</c:v>
                </c:pt>
                <c:pt idx="17">
                  <c:v>0.113600285320638</c:v>
                </c:pt>
                <c:pt idx="18">
                  <c:v>0.14474239435031699</c:v>
                </c:pt>
                <c:pt idx="19">
                  <c:v>0.14614645332248</c:v>
                </c:pt>
                <c:pt idx="20">
                  <c:v>0.122019620848281</c:v>
                </c:pt>
                <c:pt idx="21">
                  <c:v>4.6212231292721499E-2</c:v>
                </c:pt>
                <c:pt idx="22" formatCode="0.0%">
                  <c:v>7.4615293576842906E-2</c:v>
                </c:pt>
              </c:numCache>
            </c:numRef>
          </c:yVal>
          <c:smooth val="0"/>
          <c:extLst>
            <c:ext xmlns:c15="http://schemas.microsoft.com/office/drawing/2012/chart" uri="{02D57815-91ED-43cb-92C2-25804820EDAC}">
              <c15:datalabelsRange>
                <c15:f>Sheet1!$A$2:$A$29</c15:f>
                <c15:dlblRangeCache>
                  <c:ptCount val="23"/>
                  <c:pt idx="0">
                    <c:v>US Treasury Bonds</c:v>
                  </c:pt>
                  <c:pt idx="1">
                    <c:v>US Corporate Credit</c:v>
                  </c:pt>
                  <c:pt idx="2">
                    <c:v>US Corporate High Yield</c:v>
                  </c:pt>
                  <c:pt idx="3">
                    <c:v>Global Equity</c:v>
                  </c:pt>
                  <c:pt idx="4">
                    <c:v>US Large Cap</c:v>
                  </c:pt>
                  <c:pt idx="5">
                    <c:v>US Small Caps</c:v>
                  </c:pt>
                  <c:pt idx="6">
                    <c:v>European</c:v>
                  </c:pt>
                  <c:pt idx="7">
                    <c:v>Japan</c:v>
                  </c:pt>
                  <c:pt idx="8">
                    <c:v>Emerging Markets</c:v>
                  </c:pt>
                  <c:pt idx="9">
                    <c:v>Global REITs</c:v>
                  </c:pt>
                  <c:pt idx="10">
                    <c:v>Event Driven</c:v>
                  </c:pt>
                  <c:pt idx="11">
                    <c:v>Equity Long/Short</c:v>
                  </c:pt>
                  <c:pt idx="12">
                    <c:v>Tactical Trading</c:v>
                  </c:pt>
                  <c:pt idx="13">
                    <c:v>Intel Stock Proxy</c:v>
                  </c:pt>
                  <c:pt idx="14">
                    <c:v>Buyout</c:v>
                  </c:pt>
                  <c:pt idx="15">
                    <c:v>Growth</c:v>
                  </c:pt>
                  <c:pt idx="16">
                    <c:v>Venture</c:v>
                  </c:pt>
                  <c:pt idx="17">
                    <c:v>Private Credit</c:v>
                  </c:pt>
                  <c:pt idx="18">
                    <c:v>Private Real Estate</c:v>
                  </c:pt>
                  <c:pt idx="19">
                    <c:v>Infrastructure</c:v>
                  </c:pt>
                  <c:pt idx="20">
                    <c:v>Emerging Markets</c:v>
                  </c:pt>
                  <c:pt idx="21">
                    <c:v>US Inflation Protected</c:v>
                  </c:pt>
                  <c:pt idx="22">
                    <c:v>Moderate Portfolio</c:v>
                  </c:pt>
                </c15:dlblRangeCache>
              </c15:datalabelsRange>
            </c:ext>
            <c:ext xmlns:c16="http://schemas.microsoft.com/office/drawing/2014/chart" uri="{C3380CC4-5D6E-409C-BE32-E72D297353CC}">
              <c16:uniqueId val="{00000049-6632-7244-B13C-D2B0CF175948}"/>
            </c:ext>
          </c:extLst>
        </c:ser>
        <c:ser>
          <c:idx val="4"/>
          <c:order val="3"/>
          <c:tx>
            <c:v>Intel Stock Proxy</c:v>
          </c:tx>
          <c:spPr>
            <a:ln w="25400" cap="rnd">
              <a:noFill/>
              <a:round/>
            </a:ln>
            <a:effectLst/>
          </c:spPr>
          <c:marker>
            <c:symbol val="circle"/>
            <c:size val="5"/>
            <c:spPr>
              <a:solidFill>
                <a:srgbClr val="FF0000"/>
              </a:solidFill>
              <a:ln w="9525">
                <a:solidFill>
                  <a:srgbClr val="FF0000"/>
                </a:solidFill>
              </a:ln>
              <a:effectLst/>
            </c:spPr>
          </c:marker>
          <c:dLbls>
            <c:dLbl>
              <c:idx val="0"/>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63-6632-7244-B13C-D2B0CF175948}"/>
                </c:ext>
              </c:extLst>
            </c:dLbl>
            <c:dLbl>
              <c:idx val="1"/>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64-6632-7244-B13C-D2B0CF175948}"/>
                </c:ext>
              </c:extLst>
            </c:dLbl>
            <c:dLbl>
              <c:idx val="2"/>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65-6632-7244-B13C-D2B0CF175948}"/>
                </c:ext>
              </c:extLst>
            </c:dLbl>
            <c:dLbl>
              <c:idx val="3"/>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66-6632-7244-B13C-D2B0CF175948}"/>
                </c:ext>
              </c:extLst>
            </c:dLbl>
            <c:dLbl>
              <c:idx val="4"/>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67-6632-7244-B13C-D2B0CF175948}"/>
                </c:ext>
              </c:extLst>
            </c:dLbl>
            <c:dLbl>
              <c:idx val="5"/>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68-6632-7244-B13C-D2B0CF175948}"/>
                </c:ext>
              </c:extLst>
            </c:dLbl>
            <c:dLbl>
              <c:idx val="6"/>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69-6632-7244-B13C-D2B0CF175948}"/>
                </c:ext>
              </c:extLst>
            </c:dLbl>
            <c:dLbl>
              <c:idx val="7"/>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6A-6632-7244-B13C-D2B0CF175948}"/>
                </c:ext>
              </c:extLst>
            </c:dLbl>
            <c:dLbl>
              <c:idx val="8"/>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6B-6632-7244-B13C-D2B0CF175948}"/>
                </c:ext>
              </c:extLst>
            </c:dLbl>
            <c:dLbl>
              <c:idx val="9"/>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6C-6632-7244-B13C-D2B0CF175948}"/>
                </c:ext>
              </c:extLst>
            </c:dLbl>
            <c:dLbl>
              <c:idx val="10"/>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6D-6632-7244-B13C-D2B0CF175948}"/>
                </c:ext>
              </c:extLst>
            </c:dLbl>
            <c:dLbl>
              <c:idx val="11"/>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6E-6632-7244-B13C-D2B0CF175948}"/>
                </c:ext>
              </c:extLst>
            </c:dLbl>
            <c:dLbl>
              <c:idx val="12"/>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6F-6632-7244-B13C-D2B0CF175948}"/>
                </c:ext>
              </c:extLst>
            </c:dLbl>
            <c:dLbl>
              <c:idx val="13"/>
              <c:layout>
                <c:manualLayout>
                  <c:x val="-4.3920875916875012E-2"/>
                  <c:y val="-2.3848119402088214E-2"/>
                </c:manualLayout>
              </c:layout>
              <c:tx>
                <c:rich>
                  <a:bodyPr/>
                  <a:lstStyle/>
                  <a:p>
                    <a:fld id="{0CABE964-FCC0-C94D-A845-69E5C921244E}" type="CELLRANGE">
                      <a:rPr lang="en-US"/>
                      <a:pPr/>
                      <a:t>[CELLRANGE]</a:t>
                    </a:fld>
                    <a:endParaRPr lang="en-US"/>
                  </a:p>
                </c:rich>
              </c:tx>
              <c:showLegendKey val="0"/>
              <c:showVal val="0"/>
              <c:showCatName val="0"/>
              <c:showSerName val="0"/>
              <c:showPercent val="0"/>
              <c:showBubbleSize val="0"/>
              <c:extLst>
                <c:ext xmlns:c15="http://schemas.microsoft.com/office/drawing/2012/chart" uri="{CE6537A1-D6FC-4f65-9D91-7224C49458BB}">
                  <c15:dlblFieldTable/>
                  <c15:showDataLabelsRange val="1"/>
                </c:ext>
                <c:ext xmlns:c16="http://schemas.microsoft.com/office/drawing/2014/chart" uri="{C3380CC4-5D6E-409C-BE32-E72D297353CC}">
                  <c16:uniqueId val="{00000070-6632-7244-B13C-D2B0CF175948}"/>
                </c:ext>
              </c:extLst>
            </c:dLbl>
            <c:dLbl>
              <c:idx val="14"/>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71-6632-7244-B13C-D2B0CF175948}"/>
                </c:ext>
              </c:extLst>
            </c:dLbl>
            <c:dLbl>
              <c:idx val="15"/>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72-6632-7244-B13C-D2B0CF175948}"/>
                </c:ext>
              </c:extLst>
            </c:dLbl>
            <c:dLbl>
              <c:idx val="16"/>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73-6632-7244-B13C-D2B0CF175948}"/>
                </c:ext>
              </c:extLst>
            </c:dLbl>
            <c:dLbl>
              <c:idx val="17"/>
              <c:layout>
                <c:manualLayout>
                  <c:x val="-3.2067514810128671E-2"/>
                  <c:y val="-3.5608300285450541E-2"/>
                </c:manualLayout>
              </c:layout>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74-6632-7244-B13C-D2B0CF175948}"/>
                </c:ext>
              </c:extLst>
            </c:dLbl>
            <c:dLbl>
              <c:idx val="18"/>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75-6632-7244-B13C-D2B0CF175948}"/>
                </c:ext>
              </c:extLst>
            </c:dLbl>
            <c:dLbl>
              <c:idx val="19"/>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76-6632-7244-B13C-D2B0CF175948}"/>
                </c:ext>
              </c:extLst>
            </c:dLbl>
            <c:dLbl>
              <c:idx val="20"/>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77-6632-7244-B13C-D2B0CF175948}"/>
                </c:ext>
              </c:extLst>
            </c:dLbl>
            <c:dLbl>
              <c:idx val="21"/>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78-6632-7244-B13C-D2B0CF175948}"/>
                </c:ext>
              </c:extLst>
            </c:dLbl>
            <c:dLbl>
              <c:idx val="22"/>
              <c:tx>
                <c:rich>
                  <a:bodyPr/>
                  <a:lstStyle/>
                  <a:p>
                    <a:endParaRPr lang="en-US"/>
                  </a:p>
                </c:rich>
              </c:tx>
              <c:showLegendKey val="0"/>
              <c:showVal val="0"/>
              <c:showCatName val="0"/>
              <c:showSerName val="0"/>
              <c:showPercent val="0"/>
              <c:showBubbleSize val="0"/>
              <c:extLst>
                <c:ext xmlns:c15="http://schemas.microsoft.com/office/drawing/2012/chart" uri="{CE6537A1-D6FC-4f65-9D91-7224C49458BB}">
                  <c15:xForSave val="1"/>
                  <c15:showDataLabelsRange val="1"/>
                </c:ext>
                <c:ext xmlns:c16="http://schemas.microsoft.com/office/drawing/2014/chart" uri="{C3380CC4-5D6E-409C-BE32-E72D297353CC}">
                  <c16:uniqueId val="{00000079-6632-7244-B13C-D2B0CF175948}"/>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Aptos" panose="020B0004020202020204" pitchFamily="34" charset="0"/>
                    <a:ea typeface="+mn-ea"/>
                    <a:cs typeface="+mn-cs"/>
                  </a:defRPr>
                </a:pPr>
                <a:endParaRPr lang="en-US"/>
              </a:p>
            </c:txPr>
            <c:showLegendKey val="0"/>
            <c:showVal val="0"/>
            <c:showCatName val="0"/>
            <c:showSerName val="0"/>
            <c:showPercent val="0"/>
            <c:showBubbleSize val="0"/>
            <c:showLeaderLines val="0"/>
            <c:extLst>
              <c:ext xmlns:c15="http://schemas.microsoft.com/office/drawing/2012/chart" uri="{CE6537A1-D6FC-4f65-9D91-7224C49458BB}">
                <c15:showDataLabelsRange val="1"/>
                <c15:showLeaderLines val="0"/>
              </c:ext>
            </c:extLst>
          </c:dLbls>
          <c:xVal>
            <c:numRef>
              <c:f>Sheet1!$H$2:$H$29</c:f>
              <c:numCache>
                <c:formatCode>0.0%</c:formatCode>
                <c:ptCount val="23"/>
                <c:pt idx="0">
                  <c:v>#N/A</c:v>
                </c:pt>
                <c:pt idx="1">
                  <c:v>#N/A</c:v>
                </c:pt>
                <c:pt idx="2">
                  <c:v>#N/A</c:v>
                </c:pt>
                <c:pt idx="3">
                  <c:v>#N/A</c:v>
                </c:pt>
                <c:pt idx="4">
                  <c:v>#N/A</c:v>
                </c:pt>
                <c:pt idx="5">
                  <c:v>#N/A</c:v>
                </c:pt>
                <c:pt idx="6">
                  <c:v>#N/A</c:v>
                </c:pt>
                <c:pt idx="7">
                  <c:v>#N/A</c:v>
                </c:pt>
                <c:pt idx="8">
                  <c:v>#N/A</c:v>
                </c:pt>
                <c:pt idx="9">
                  <c:v>#N/A</c:v>
                </c:pt>
                <c:pt idx="10">
                  <c:v>#N/A</c:v>
                </c:pt>
                <c:pt idx="11">
                  <c:v>#N/A</c:v>
                </c:pt>
                <c:pt idx="12">
                  <c:v>#N/A</c:v>
                </c:pt>
                <c:pt idx="13">
                  <c:v>1</c:v>
                </c:pt>
                <c:pt idx="14">
                  <c:v>#N/A</c:v>
                </c:pt>
                <c:pt idx="15">
                  <c:v>#N/A</c:v>
                </c:pt>
                <c:pt idx="16">
                  <c:v>#N/A</c:v>
                </c:pt>
                <c:pt idx="17">
                  <c:v>#N/A</c:v>
                </c:pt>
                <c:pt idx="18">
                  <c:v>#N/A</c:v>
                </c:pt>
                <c:pt idx="19">
                  <c:v>#N/A</c:v>
                </c:pt>
                <c:pt idx="20">
                  <c:v>#N/A</c:v>
                </c:pt>
                <c:pt idx="21">
                  <c:v>#N/A</c:v>
                </c:pt>
                <c:pt idx="22">
                  <c:v>#N/A</c:v>
                </c:pt>
              </c:numCache>
            </c:numRef>
          </c:xVal>
          <c:yVal>
            <c:numRef>
              <c:f>Sheet1!$C$2:$C$29</c:f>
              <c:numCache>
                <c:formatCode>0%</c:formatCode>
                <c:ptCount val="23"/>
                <c:pt idx="0">
                  <c:v>3.2110810353131201E-2</c:v>
                </c:pt>
                <c:pt idx="1">
                  <c:v>4.2238342638410503E-2</c:v>
                </c:pt>
                <c:pt idx="2">
                  <c:v>8.2058406335332804E-2</c:v>
                </c:pt>
                <c:pt idx="3">
                  <c:v>0.14950308831877701</c:v>
                </c:pt>
                <c:pt idx="4">
                  <c:v>0.14474187855499701</c:v>
                </c:pt>
                <c:pt idx="5">
                  <c:v>0.192237867976849</c:v>
                </c:pt>
                <c:pt idx="6">
                  <c:v>0.182085912415376</c:v>
                </c:pt>
                <c:pt idx="7">
                  <c:v>0.201626510653036</c:v>
                </c:pt>
                <c:pt idx="8">
                  <c:v>0.232770455211537</c:v>
                </c:pt>
                <c:pt idx="9">
                  <c:v>0.13562199119584201</c:v>
                </c:pt>
                <c:pt idx="10">
                  <c:v>6.1838706545769902E-2</c:v>
                </c:pt>
                <c:pt idx="11">
                  <c:v>8.8325647168886703E-2</c:v>
                </c:pt>
                <c:pt idx="12">
                  <c:v>7.3138510600272905E-2</c:v>
                </c:pt>
                <c:pt idx="13">
                  <c:v>0.35654736283202199</c:v>
                </c:pt>
                <c:pt idx="14">
                  <c:v>0.13777198464128801</c:v>
                </c:pt>
                <c:pt idx="15">
                  <c:v>0.15640735725123101</c:v>
                </c:pt>
                <c:pt idx="16">
                  <c:v>0.167252179960899</c:v>
                </c:pt>
                <c:pt idx="17">
                  <c:v>0.113600285320638</c:v>
                </c:pt>
                <c:pt idx="18">
                  <c:v>0.14474239435031699</c:v>
                </c:pt>
                <c:pt idx="19">
                  <c:v>0.14614645332248</c:v>
                </c:pt>
                <c:pt idx="20">
                  <c:v>0.122019620848281</c:v>
                </c:pt>
                <c:pt idx="21">
                  <c:v>4.6212231292721499E-2</c:v>
                </c:pt>
                <c:pt idx="22" formatCode="0.0%">
                  <c:v>7.4615293576842906E-2</c:v>
                </c:pt>
              </c:numCache>
            </c:numRef>
          </c:yVal>
          <c:smooth val="0"/>
          <c:extLst>
            <c:ext xmlns:c15="http://schemas.microsoft.com/office/drawing/2012/chart" uri="{02D57815-91ED-43cb-92C2-25804820EDAC}">
              <c15:datalabelsRange>
                <c15:f>Sheet1!$A$2:$A$29</c15:f>
                <c15:dlblRangeCache>
                  <c:ptCount val="23"/>
                  <c:pt idx="0">
                    <c:v>US Treasury Bonds</c:v>
                  </c:pt>
                  <c:pt idx="1">
                    <c:v>US Corporate Credit</c:v>
                  </c:pt>
                  <c:pt idx="2">
                    <c:v>US Corporate High Yield</c:v>
                  </c:pt>
                  <c:pt idx="3">
                    <c:v>Global Equity</c:v>
                  </c:pt>
                  <c:pt idx="4">
                    <c:v>US Large Cap</c:v>
                  </c:pt>
                  <c:pt idx="5">
                    <c:v>US Small Caps</c:v>
                  </c:pt>
                  <c:pt idx="6">
                    <c:v>European</c:v>
                  </c:pt>
                  <c:pt idx="7">
                    <c:v>Japan</c:v>
                  </c:pt>
                  <c:pt idx="8">
                    <c:v>Emerging Markets</c:v>
                  </c:pt>
                  <c:pt idx="9">
                    <c:v>Global REITs</c:v>
                  </c:pt>
                  <c:pt idx="10">
                    <c:v>Event Driven</c:v>
                  </c:pt>
                  <c:pt idx="11">
                    <c:v>Equity Long/Short</c:v>
                  </c:pt>
                  <c:pt idx="12">
                    <c:v>Tactical Trading</c:v>
                  </c:pt>
                  <c:pt idx="13">
                    <c:v>Intel Stock Proxy</c:v>
                  </c:pt>
                  <c:pt idx="14">
                    <c:v>Buyout</c:v>
                  </c:pt>
                  <c:pt idx="15">
                    <c:v>Growth</c:v>
                  </c:pt>
                  <c:pt idx="16">
                    <c:v>Venture</c:v>
                  </c:pt>
                  <c:pt idx="17">
                    <c:v>Private Credit</c:v>
                  </c:pt>
                  <c:pt idx="18">
                    <c:v>Private Real Estate</c:v>
                  </c:pt>
                  <c:pt idx="19">
                    <c:v>Infrastructure</c:v>
                  </c:pt>
                  <c:pt idx="20">
                    <c:v>Emerging Markets</c:v>
                  </c:pt>
                  <c:pt idx="21">
                    <c:v>US Inflation Protected</c:v>
                  </c:pt>
                  <c:pt idx="22">
                    <c:v>Moderate Portfolio</c:v>
                  </c:pt>
                </c15:dlblRangeCache>
              </c15:datalabelsRange>
            </c:ext>
            <c:ext xmlns:c16="http://schemas.microsoft.com/office/drawing/2014/chart" uri="{C3380CC4-5D6E-409C-BE32-E72D297353CC}">
              <c16:uniqueId val="{0000007A-6632-7244-B13C-D2B0CF175948}"/>
            </c:ext>
          </c:extLst>
        </c:ser>
        <c:dLbls>
          <c:showLegendKey val="0"/>
          <c:showVal val="0"/>
          <c:showCatName val="0"/>
          <c:showSerName val="0"/>
          <c:showPercent val="0"/>
          <c:showBubbleSize val="0"/>
        </c:dLbls>
        <c:axId val="929537760"/>
        <c:axId val="929539472"/>
      </c:scatterChart>
      <c:valAx>
        <c:axId val="929537760"/>
        <c:scaling>
          <c:orientation val="minMax"/>
          <c:max val="1"/>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Aptos" panose="020B0004020202020204" pitchFamily="34" charset="0"/>
                    <a:ea typeface="+mn-ea"/>
                    <a:cs typeface="+mn-cs"/>
                  </a:defRPr>
                </a:pPr>
                <a:r>
                  <a:rPr lang="en-GB"/>
                  <a:t>Correlation to Intel Stock Proxy</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title>
        <c:numFmt formatCode="0.0" sourceLinked="0"/>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929539472"/>
        <c:crosses val="autoZero"/>
        <c:crossBetween val="midCat"/>
      </c:valAx>
      <c:valAx>
        <c:axId val="929539472"/>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Aptos" panose="020B0004020202020204" pitchFamily="34" charset="0"/>
                    <a:ea typeface="+mn-ea"/>
                    <a:cs typeface="+mn-cs"/>
                  </a:defRPr>
                </a:pPr>
                <a:r>
                  <a:rPr lang="en-GB"/>
                  <a:t>Volatility (% Annualized)</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title>
        <c:numFmt formatCode="0%" sourceLinked="1"/>
        <c:majorTickMark val="none"/>
        <c:minorTickMark val="none"/>
        <c:tickLblPos val="low"/>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929537760"/>
        <c:crosses val="autoZero"/>
        <c:crossBetween val="midCat"/>
      </c:valAx>
      <c:spPr>
        <a:noFill/>
        <a:ln>
          <a:noFill/>
        </a:ln>
        <a:effectLst/>
      </c:spPr>
    </c:plotArea>
    <c:legend>
      <c:legendPos val="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b="0" i="0">
          <a:latin typeface="Aptos" panose="020B0004020202020204" pitchFamily="34" charset="0"/>
        </a:defRPr>
      </a:pPr>
      <a:endParaRPr lang="en-US"/>
    </a:p>
  </c:txPr>
  <c:externalData r:id="rId3">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1"/>
          <c:order val="1"/>
          <c:tx>
            <c:strRef>
              <c:f>portfolios!$A$39</c:f>
              <c:strCache>
                <c:ptCount val="1"/>
                <c:pt idx="0">
                  <c:v>Sharpe Ratio (LHS)</c:v>
                </c:pt>
              </c:strCache>
            </c:strRef>
          </c:tx>
          <c:spPr>
            <a:solidFill>
              <a:schemeClr val="tx2">
                <a:lumMod val="50000"/>
              </a:schemeClr>
            </a:solidFill>
            <a:ln w="6350">
              <a:solidFill>
                <a:schemeClr val="bg1">
                  <a:lumMod val="50000"/>
                </a:schemeClr>
              </a:solidFill>
            </a:ln>
            <a:effectLst/>
          </c:spPr>
          <c:invertIfNegative val="0"/>
          <c:cat>
            <c:strRef>
              <c:f>portfolios!$B$37:$H$37</c:f>
              <c:strCache>
                <c:ptCount val="7"/>
                <c:pt idx="0">
                  <c:v>Current Portfolio</c:v>
                </c:pt>
                <c:pt idx="1">
                  <c:v>Stage 1</c:v>
                </c:pt>
                <c:pt idx="2">
                  <c:v>Stage 2</c:v>
                </c:pt>
                <c:pt idx="3">
                  <c:v>Stage 3</c:v>
                </c:pt>
                <c:pt idx="4">
                  <c:v>Stage 4</c:v>
                </c:pt>
                <c:pt idx="5">
                  <c:v>Stage 5</c:v>
                </c:pt>
                <c:pt idx="6">
                  <c:v>Diversified Portfolio</c:v>
                </c:pt>
              </c:strCache>
            </c:strRef>
          </c:cat>
          <c:val>
            <c:numRef>
              <c:f>portfolios!$B$39:$H$39</c:f>
              <c:numCache>
                <c:formatCode>0.00</c:formatCode>
                <c:ptCount val="7"/>
                <c:pt idx="0">
                  <c:v>0.16346605152076499</c:v>
                </c:pt>
                <c:pt idx="1">
                  <c:v>0.17777472875906619</c:v>
                </c:pt>
                <c:pt idx="2">
                  <c:v>0.20544213007950371</c:v>
                </c:pt>
                <c:pt idx="3">
                  <c:v>0.25546214852690152</c:v>
                </c:pt>
                <c:pt idx="4">
                  <c:v>0.32069113754206768</c:v>
                </c:pt>
                <c:pt idx="5">
                  <c:v>0.40029898869580433</c:v>
                </c:pt>
                <c:pt idx="6">
                  <c:v>0.46413636396119312</c:v>
                </c:pt>
              </c:numCache>
            </c:numRef>
          </c:val>
          <c:extLst>
            <c:ext xmlns:c16="http://schemas.microsoft.com/office/drawing/2014/chart" uri="{C3380CC4-5D6E-409C-BE32-E72D297353CC}">
              <c16:uniqueId val="{00000000-A1FB-AD4D-9EC0-1C5719E73EDC}"/>
            </c:ext>
          </c:extLst>
        </c:ser>
        <c:ser>
          <c:idx val="2"/>
          <c:order val="2"/>
          <c:tx>
            <c:strRef>
              <c:f>portfolios!$A$40</c:f>
              <c:strCache>
                <c:ptCount val="1"/>
                <c:pt idx="0">
                  <c:v>Implied Return</c:v>
                </c:pt>
              </c:strCache>
            </c:strRef>
          </c:tx>
          <c:spPr>
            <a:solidFill>
              <a:schemeClr val="tx2">
                <a:lumMod val="40000"/>
                <a:lumOff val="60000"/>
              </a:schemeClr>
            </a:solidFill>
            <a:ln w="6350">
              <a:solidFill>
                <a:schemeClr val="bg1">
                  <a:lumMod val="50000"/>
                </a:schemeClr>
              </a:solidFill>
            </a:ln>
            <a:effectLst/>
          </c:spPr>
          <c:invertIfNegative val="0"/>
          <c:dLbls>
            <c:dLbl>
              <c:idx val="5"/>
              <c:layout>
                <c:manualLayout>
                  <c:x val="1.5590783907070088E-3"/>
                  <c:y val="-2.6671594961378813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A792-F14F-A747-68D1438D842F}"/>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Aptos" panose="020B00040202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portfolios!$B$37:$H$37</c:f>
              <c:strCache>
                <c:ptCount val="7"/>
                <c:pt idx="0">
                  <c:v>Current Portfolio</c:v>
                </c:pt>
                <c:pt idx="1">
                  <c:v>Stage 1</c:v>
                </c:pt>
                <c:pt idx="2">
                  <c:v>Stage 2</c:v>
                </c:pt>
                <c:pt idx="3">
                  <c:v>Stage 3</c:v>
                </c:pt>
                <c:pt idx="4">
                  <c:v>Stage 4</c:v>
                </c:pt>
                <c:pt idx="5">
                  <c:v>Stage 5</c:v>
                </c:pt>
                <c:pt idx="6">
                  <c:v>Diversified Portfolio</c:v>
                </c:pt>
              </c:strCache>
            </c:strRef>
          </c:cat>
          <c:val>
            <c:numRef>
              <c:f>portfolios!$B$40:$H$40</c:f>
              <c:numCache>
                <c:formatCode>0%</c:formatCode>
                <c:ptCount val="7"/>
                <c:pt idx="0">
                  <c:v>0.49764320248685601</c:v>
                </c:pt>
                <c:pt idx="1">
                  <c:v>0.418509439515031</c:v>
                </c:pt>
                <c:pt idx="2">
                  <c:v>0.33882667672427502</c:v>
                </c:pt>
                <c:pt idx="3">
                  <c:v>0.273768522510416</c:v>
                </c:pt>
                <c:pt idx="4">
                  <c:v>0.20936198530427899</c:v>
                </c:pt>
                <c:pt idx="5">
                  <c:v>0.14495544809814201</c:v>
                </c:pt>
                <c:pt idx="6">
                  <c:v>8.0548910892004999E-2</c:v>
                </c:pt>
              </c:numCache>
            </c:numRef>
          </c:val>
          <c:extLst>
            <c:ext xmlns:c16="http://schemas.microsoft.com/office/drawing/2014/chart" uri="{C3380CC4-5D6E-409C-BE32-E72D297353CC}">
              <c16:uniqueId val="{00000001-A1FB-AD4D-9EC0-1C5719E73EDC}"/>
            </c:ext>
          </c:extLst>
        </c:ser>
        <c:dLbls>
          <c:showLegendKey val="0"/>
          <c:showVal val="0"/>
          <c:showCatName val="0"/>
          <c:showSerName val="0"/>
          <c:showPercent val="0"/>
          <c:showBubbleSize val="0"/>
        </c:dLbls>
        <c:gapWidth val="219"/>
        <c:axId val="1566199712"/>
        <c:axId val="1566186688"/>
      </c:barChart>
      <c:lineChart>
        <c:grouping val="standard"/>
        <c:varyColors val="0"/>
        <c:ser>
          <c:idx val="0"/>
          <c:order val="0"/>
          <c:tx>
            <c:strRef>
              <c:f>portfolios!$A$38</c:f>
              <c:strCache>
                <c:ptCount val="1"/>
                <c:pt idx="0">
                  <c:v>Volatility (RHS)</c:v>
                </c:pt>
              </c:strCache>
            </c:strRef>
          </c:tx>
          <c:spPr>
            <a:ln w="28575" cap="rnd">
              <a:solidFill>
                <a:srgbClr val="C00000"/>
              </a:solidFill>
              <a:prstDash val="sysDot"/>
              <a:round/>
            </a:ln>
            <a:effectLst/>
          </c:spPr>
          <c:marker>
            <c:symbol val="none"/>
          </c:marker>
          <c:cat>
            <c:strRef>
              <c:f>portfolios!$B$37:$H$37</c:f>
              <c:strCache>
                <c:ptCount val="7"/>
                <c:pt idx="0">
                  <c:v>Current Portfolio</c:v>
                </c:pt>
                <c:pt idx="1">
                  <c:v>Stage 1</c:v>
                </c:pt>
                <c:pt idx="2">
                  <c:v>Stage 2</c:v>
                </c:pt>
                <c:pt idx="3">
                  <c:v>Stage 3</c:v>
                </c:pt>
                <c:pt idx="4">
                  <c:v>Stage 4</c:v>
                </c:pt>
                <c:pt idx="5">
                  <c:v>Stage 5</c:v>
                </c:pt>
                <c:pt idx="6">
                  <c:v>Diversified Portfolio</c:v>
                </c:pt>
              </c:strCache>
            </c:strRef>
          </c:cat>
          <c:val>
            <c:numRef>
              <c:f>portfolios!$B$38:$H$38</c:f>
              <c:numCache>
                <c:formatCode>0.0%</c:formatCode>
                <c:ptCount val="7"/>
                <c:pt idx="0">
                  <c:v>0.22530577018721809</c:v>
                </c:pt>
                <c:pt idx="1">
                  <c:v>0.1899614796197118</c:v>
                </c:pt>
                <c:pt idx="2">
                  <c:v>0.15456215722214331</c:v>
                </c:pt>
                <c:pt idx="3">
                  <c:v>0.12763851286607961</c:v>
                </c:pt>
                <c:pt idx="4">
                  <c:v>0.10378136139028769</c:v>
                </c:pt>
                <c:pt idx="5">
                  <c:v>8.4828385549804028E-2</c:v>
                </c:pt>
                <c:pt idx="6">
                  <c:v>7.4615293576842989E-2</c:v>
                </c:pt>
              </c:numCache>
            </c:numRef>
          </c:val>
          <c:smooth val="0"/>
          <c:extLst>
            <c:ext xmlns:c16="http://schemas.microsoft.com/office/drawing/2014/chart" uri="{C3380CC4-5D6E-409C-BE32-E72D297353CC}">
              <c16:uniqueId val="{00000002-A1FB-AD4D-9EC0-1C5719E73EDC}"/>
            </c:ext>
          </c:extLst>
        </c:ser>
        <c:dLbls>
          <c:showLegendKey val="0"/>
          <c:showVal val="0"/>
          <c:showCatName val="0"/>
          <c:showSerName val="0"/>
          <c:showPercent val="0"/>
          <c:showBubbleSize val="0"/>
        </c:dLbls>
        <c:marker val="1"/>
        <c:smooth val="0"/>
        <c:axId val="1241053344"/>
        <c:axId val="1566571584"/>
      </c:lineChart>
      <c:catAx>
        <c:axId val="1566199712"/>
        <c:scaling>
          <c:orientation val="minMax"/>
        </c:scaling>
        <c:delete val="0"/>
        <c:axPos val="b"/>
        <c:numFmt formatCode="General" sourceLinked="1"/>
        <c:majorTickMark val="none"/>
        <c:minorTickMark val="cross"/>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crossAx val="1566186688"/>
        <c:crosses val="autoZero"/>
        <c:auto val="1"/>
        <c:lblAlgn val="ctr"/>
        <c:lblOffset val="100"/>
        <c:noMultiLvlLbl val="0"/>
      </c:catAx>
      <c:valAx>
        <c:axId val="1566186688"/>
        <c:scaling>
          <c:orientation val="minMax"/>
        </c:scaling>
        <c:delete val="0"/>
        <c:axPos val="l"/>
        <c:majorGridlines>
          <c:spPr>
            <a:ln w="9525" cap="flat" cmpd="sng" algn="ctr">
              <a:solidFill>
                <a:schemeClr val="tx1">
                  <a:lumMod val="15000"/>
                  <a:lumOff val="8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1566199712"/>
        <c:crosses val="autoZero"/>
        <c:crossBetween val="between"/>
      </c:valAx>
      <c:valAx>
        <c:axId val="1566571584"/>
        <c:scaling>
          <c:orientation val="minMax"/>
          <c:max val="0.3"/>
        </c:scaling>
        <c:delete val="0"/>
        <c:axPos val="r"/>
        <c:numFmt formatCode="0%" sourceLinked="0"/>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1241053344"/>
        <c:crosses val="max"/>
        <c:crossBetween val="between"/>
      </c:valAx>
      <c:catAx>
        <c:axId val="1241053344"/>
        <c:scaling>
          <c:orientation val="minMax"/>
        </c:scaling>
        <c:delete val="1"/>
        <c:axPos val="b"/>
        <c:numFmt formatCode="General" sourceLinked="1"/>
        <c:majorTickMark val="out"/>
        <c:minorTickMark val="none"/>
        <c:tickLblPos val="nextTo"/>
        <c:crossAx val="1566571584"/>
        <c:crosses val="autoZero"/>
        <c:auto val="1"/>
        <c:lblAlgn val="ctr"/>
        <c:lblOffset val="100"/>
        <c:noMultiLvlLbl val="0"/>
      </c:catAx>
      <c:spPr>
        <a:noFill/>
        <a:ln w="6350">
          <a:solidFill>
            <a:schemeClr val="bg1">
              <a:lumMod val="65000"/>
            </a:schemeClr>
          </a:solidFill>
        </a:ln>
        <a:effectLst/>
      </c:spPr>
    </c:plotArea>
    <c:legend>
      <c:legendPos val="t"/>
      <c:overlay val="0"/>
      <c:spPr>
        <a:noFill/>
        <a:ln w="6350">
          <a:solidFill>
            <a:schemeClr val="bg1">
              <a:lumMod val="65000"/>
            </a:schemeClr>
          </a:solid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b="0" i="0">
          <a:latin typeface="Aptos" panose="020B0004020202020204" pitchFamily="34" charset="0"/>
        </a:defRPr>
      </a:pPr>
      <a:endParaRPr lang="en-US"/>
    </a:p>
  </c:txPr>
  <c:externalData r:id="rId3">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0.10195317551866062"/>
          <c:y val="0.11170420484357765"/>
          <c:w val="0.81728896369910176"/>
          <c:h val="0.74616136396210386"/>
        </c:manualLayout>
      </c:layout>
      <c:lineChart>
        <c:grouping val="standard"/>
        <c:varyColors val="0"/>
        <c:ser>
          <c:idx val="0"/>
          <c:order val="0"/>
          <c:tx>
            <c:strRef>
              <c:f>ws_Current_Portfolio_X_SS!$B$2</c:f>
              <c:strCache>
                <c:ptCount val="1"/>
                <c:pt idx="0">
                  <c:v>1st %ile</c:v>
                </c:pt>
              </c:strCache>
            </c:strRef>
          </c:tx>
          <c:spPr>
            <a:ln w="22225">
              <a:solidFill>
                <a:srgbClr val="C00000"/>
              </a:solidFill>
              <a:prstDash val="solid"/>
            </a:ln>
          </c:spPr>
          <c:marker>
            <c:symbol val="none"/>
          </c:marker>
          <c:dLbls>
            <c:dLbl>
              <c:idx val="2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10E3-7D42-B961-4E40C84E3CBC}"/>
                </c:ext>
              </c:extLst>
            </c:dLbl>
            <c:numFmt formatCode="#,##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ws_Current_Portfolio_X_SS!$A$3:$A$23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ws_Current_Portfolio_X_SS!$B$3:$B$23</c:f>
              <c:numCache>
                <c:formatCode>General</c:formatCode>
                <c:ptCount val="21"/>
                <c:pt idx="0">
                  <c:v>100</c:v>
                </c:pt>
                <c:pt idx="1">
                  <c:v>61.818528838662601</c:v>
                </c:pt>
                <c:pt idx="2">
                  <c:v>55.200758171759503</c:v>
                </c:pt>
                <c:pt idx="3">
                  <c:v>54.046708671563898</c:v>
                </c:pt>
                <c:pt idx="4">
                  <c:v>53.151987354922397</c:v>
                </c:pt>
                <c:pt idx="5">
                  <c:v>54.350204240926701</c:v>
                </c:pt>
                <c:pt idx="6">
                  <c:v>56.231422513518801</c:v>
                </c:pt>
                <c:pt idx="7">
                  <c:v>58.433784948301302</c:v>
                </c:pt>
                <c:pt idx="8">
                  <c:v>60.294843373492697</c:v>
                </c:pt>
                <c:pt idx="9">
                  <c:v>62.923042156022198</c:v>
                </c:pt>
                <c:pt idx="10">
                  <c:v>63.799650682808903</c:v>
                </c:pt>
                <c:pt idx="11">
                  <c:v>66.629744601300402</c:v>
                </c:pt>
                <c:pt idx="12">
                  <c:v>68.3061196459347</c:v>
                </c:pt>
                <c:pt idx="13">
                  <c:v>70.223431904647398</c:v>
                </c:pt>
                <c:pt idx="14">
                  <c:v>72.849162870555404</c:v>
                </c:pt>
                <c:pt idx="15">
                  <c:v>74.716550443194507</c:v>
                </c:pt>
                <c:pt idx="16">
                  <c:v>77.288988100974507</c:v>
                </c:pt>
                <c:pt idx="17">
                  <c:v>80.252617127606896</c:v>
                </c:pt>
                <c:pt idx="18">
                  <c:v>82.508864961329195</c:v>
                </c:pt>
                <c:pt idx="19">
                  <c:v>85.728216730682107</c:v>
                </c:pt>
                <c:pt idx="20">
                  <c:v>88.296331281356998</c:v>
                </c:pt>
              </c:numCache>
            </c:numRef>
          </c:val>
          <c:smooth val="0"/>
          <c:extLst>
            <c:ext xmlns:c16="http://schemas.microsoft.com/office/drawing/2014/chart" uri="{C3380CC4-5D6E-409C-BE32-E72D297353CC}">
              <c16:uniqueId val="{00000000-10E3-7D42-B961-4E40C84E3CBC}"/>
            </c:ext>
          </c:extLst>
        </c:ser>
        <c:ser>
          <c:idx val="2"/>
          <c:order val="1"/>
          <c:tx>
            <c:strRef>
              <c:f>ws_Current_Portfolio_X_SS!$D$2</c:f>
              <c:strCache>
                <c:ptCount val="1"/>
                <c:pt idx="0">
                  <c:v>50th %ile</c:v>
                </c:pt>
              </c:strCache>
            </c:strRef>
          </c:tx>
          <c:spPr>
            <a:ln w="22225">
              <a:solidFill>
                <a:schemeClr val="accent1">
                  <a:lumMod val="50000"/>
                </a:schemeClr>
              </a:solidFill>
              <a:prstDash val="solid"/>
            </a:ln>
          </c:spPr>
          <c:marker>
            <c:symbol val="none"/>
          </c:marker>
          <c:dLbls>
            <c:dLbl>
              <c:idx val="2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10E3-7D42-B961-4E40C84E3CBC}"/>
                </c:ext>
              </c:extLst>
            </c:dLbl>
            <c:numFmt formatCode="#,##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ws_Current_Portfolio_X_SS!$A$3:$A$23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ws_Current_Portfolio_X_SS!$D$3:$D$23</c:f>
              <c:numCache>
                <c:formatCode>General</c:formatCode>
                <c:ptCount val="21"/>
                <c:pt idx="0">
                  <c:v>100</c:v>
                </c:pt>
                <c:pt idx="1">
                  <c:v>103.956799090877</c:v>
                </c:pt>
                <c:pt idx="2">
                  <c:v>107.91924850371601</c:v>
                </c:pt>
                <c:pt idx="3">
                  <c:v>113.212512555678</c:v>
                </c:pt>
                <c:pt idx="4">
                  <c:v>120.350523357786</c:v>
                </c:pt>
                <c:pt idx="5">
                  <c:v>128.57281589263701</c:v>
                </c:pt>
                <c:pt idx="6">
                  <c:v>136.769381145675</c:v>
                </c:pt>
                <c:pt idx="7">
                  <c:v>145.95674727191499</c:v>
                </c:pt>
                <c:pt idx="8">
                  <c:v>155.52578084270499</c:v>
                </c:pt>
                <c:pt idx="9">
                  <c:v>164.87606578687399</c:v>
                </c:pt>
                <c:pt idx="10">
                  <c:v>174.45705060933199</c:v>
                </c:pt>
                <c:pt idx="11">
                  <c:v>184.80230439486701</c:v>
                </c:pt>
                <c:pt idx="12">
                  <c:v>195.66847941514001</c:v>
                </c:pt>
                <c:pt idx="13">
                  <c:v>206.978184522188</c:v>
                </c:pt>
                <c:pt idx="14">
                  <c:v>219.70895429414301</c:v>
                </c:pt>
                <c:pt idx="15">
                  <c:v>232.014203418383</c:v>
                </c:pt>
                <c:pt idx="16">
                  <c:v>245.701689701503</c:v>
                </c:pt>
                <c:pt idx="17">
                  <c:v>258.44136710227798</c:v>
                </c:pt>
                <c:pt idx="18">
                  <c:v>274.02181471580099</c:v>
                </c:pt>
                <c:pt idx="19">
                  <c:v>290.70665369525</c:v>
                </c:pt>
                <c:pt idx="20">
                  <c:v>307.07395204053302</c:v>
                </c:pt>
              </c:numCache>
            </c:numRef>
          </c:val>
          <c:smooth val="0"/>
          <c:extLst>
            <c:ext xmlns:c16="http://schemas.microsoft.com/office/drawing/2014/chart" uri="{C3380CC4-5D6E-409C-BE32-E72D297353CC}">
              <c16:uniqueId val="{00000002-10E3-7D42-B961-4E40C84E3CBC}"/>
            </c:ext>
          </c:extLst>
        </c:ser>
        <c:ser>
          <c:idx val="3"/>
          <c:order val="2"/>
          <c:tx>
            <c:strRef>
              <c:f>ws_Current_Portfolio_X_SS!$E$2</c:f>
              <c:strCache>
                <c:ptCount val="1"/>
                <c:pt idx="0">
                  <c:v>90th %ile</c:v>
                </c:pt>
              </c:strCache>
            </c:strRef>
          </c:tx>
          <c:spPr>
            <a:ln w="22225">
              <a:solidFill>
                <a:srgbClr val="77933C"/>
              </a:solidFill>
              <a:prstDash val="solid"/>
            </a:ln>
          </c:spPr>
          <c:marker>
            <c:symbol val="none"/>
          </c:marker>
          <c:cat>
            <c:numRef>
              <c:f>ws_Current_Portfolio_X_SS!$A$3:$A$23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ws_Current_Portfolio_X_SS!$E$3:$E$23</c:f>
              <c:numCache>
                <c:formatCode>General</c:formatCode>
                <c:ptCount val="21"/>
                <c:pt idx="0">
                  <c:v>100</c:v>
                </c:pt>
                <c:pt idx="1">
                  <c:v>136.745002350367</c:v>
                </c:pt>
                <c:pt idx="2">
                  <c:v>155.16160828295199</c:v>
                </c:pt>
                <c:pt idx="3">
                  <c:v>169.54404145550501</c:v>
                </c:pt>
                <c:pt idx="4">
                  <c:v>186.13607471679501</c:v>
                </c:pt>
                <c:pt idx="5">
                  <c:v>202.60055798873401</c:v>
                </c:pt>
                <c:pt idx="6">
                  <c:v>218.98154697701301</c:v>
                </c:pt>
                <c:pt idx="7">
                  <c:v>235.75612505238101</c:v>
                </c:pt>
                <c:pt idx="8">
                  <c:v>253.980527569391</c:v>
                </c:pt>
                <c:pt idx="9">
                  <c:v>272.06105598880799</c:v>
                </c:pt>
                <c:pt idx="10">
                  <c:v>292.441952562484</c:v>
                </c:pt>
                <c:pt idx="11">
                  <c:v>314.219912416824</c:v>
                </c:pt>
                <c:pt idx="12">
                  <c:v>336.95687800720299</c:v>
                </c:pt>
                <c:pt idx="13">
                  <c:v>360.60196476393702</c:v>
                </c:pt>
                <c:pt idx="14">
                  <c:v>387.99667945016</c:v>
                </c:pt>
                <c:pt idx="15">
                  <c:v>416.69455681968799</c:v>
                </c:pt>
                <c:pt idx="16">
                  <c:v>446.089983549941</c:v>
                </c:pt>
                <c:pt idx="17">
                  <c:v>476.83271223189001</c:v>
                </c:pt>
                <c:pt idx="18">
                  <c:v>510.30873167653101</c:v>
                </c:pt>
                <c:pt idx="19">
                  <c:v>546.90512117672995</c:v>
                </c:pt>
                <c:pt idx="20">
                  <c:v>584.45758325677195</c:v>
                </c:pt>
              </c:numCache>
            </c:numRef>
          </c:val>
          <c:smooth val="0"/>
          <c:extLst>
            <c:ext xmlns:c16="http://schemas.microsoft.com/office/drawing/2014/chart" uri="{C3380CC4-5D6E-409C-BE32-E72D297353CC}">
              <c16:uniqueId val="{00000003-10E3-7D42-B961-4E40C84E3CBC}"/>
            </c:ext>
          </c:extLst>
        </c:ser>
        <c:ser>
          <c:idx val="4"/>
          <c:order val="3"/>
          <c:tx>
            <c:strRef>
              <c:f>ws_Current_Portfolio_X_SS!$F$2</c:f>
              <c:strCache>
                <c:ptCount val="1"/>
              </c:strCache>
            </c:strRef>
          </c:tx>
          <c:spPr>
            <a:ln>
              <a:solidFill>
                <a:srgbClr val="C00000"/>
              </a:solidFill>
              <a:prstDash val="sysDot"/>
            </a:ln>
          </c:spPr>
          <c:marker>
            <c:symbol val="none"/>
          </c:marker>
          <c:dLbls>
            <c:dLbl>
              <c:idx val="2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10E3-7D42-B961-4E40C84E3CBC}"/>
                </c:ext>
              </c:extLst>
            </c:dLbl>
            <c:numFmt formatCode="#,##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ws_Current_Portfolio_X_SS!$A$3:$A$23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ws_Current_Portfolio_X_SS!$F$3:$F$23</c:f>
              <c:numCache>
                <c:formatCode>General</c:formatCode>
                <c:ptCount val="21"/>
                <c:pt idx="0">
                  <c:v>100</c:v>
                </c:pt>
                <c:pt idx="1">
                  <c:v>61.818528838662637</c:v>
                </c:pt>
                <c:pt idx="2">
                  <c:v>51.418656500318328</c:v>
                </c:pt>
                <c:pt idx="3">
                  <c:v>45.515505915479586</c:v>
                </c:pt>
                <c:pt idx="4">
                  <c:v>40.816035405245337</c:v>
                </c:pt>
                <c:pt idx="5">
                  <c:v>37.252532271232418</c:v>
                </c:pt>
                <c:pt idx="6">
                  <c:v>33.977457604959049</c:v>
                </c:pt>
                <c:pt idx="7">
                  <c:v>31.43333440582979</c:v>
                </c:pt>
                <c:pt idx="8">
                  <c:v>29.72697440006397</c:v>
                </c:pt>
                <c:pt idx="9">
                  <c:v>27.49419457135048</c:v>
                </c:pt>
                <c:pt idx="10">
                  <c:v>25.547402480417329</c:v>
                </c:pt>
                <c:pt idx="11">
                  <c:v>24.65521735934928</c:v>
                </c:pt>
                <c:pt idx="12">
                  <c:v>22.89769230170635</c:v>
                </c:pt>
                <c:pt idx="13">
                  <c:v>21.3976645070789</c:v>
                </c:pt>
                <c:pt idx="14">
                  <c:v>20.223944984707661</c:v>
                </c:pt>
                <c:pt idx="15">
                  <c:v>19.467366201475681</c:v>
                </c:pt>
                <c:pt idx="16">
                  <c:v>18.282824627442761</c:v>
                </c:pt>
                <c:pt idx="17">
                  <c:v>17.510807624358911</c:v>
                </c:pt>
                <c:pt idx="18">
                  <c:v>17.256404715054199</c:v>
                </c:pt>
                <c:pt idx="19">
                  <c:v>16.567829987066581</c:v>
                </c:pt>
                <c:pt idx="20">
                  <c:v>15.951519416199419</c:v>
                </c:pt>
              </c:numCache>
            </c:numRef>
          </c:val>
          <c:smooth val="0"/>
          <c:extLst>
            <c:ext xmlns:c16="http://schemas.microsoft.com/office/drawing/2014/chart" uri="{C3380CC4-5D6E-409C-BE32-E72D297353CC}">
              <c16:uniqueId val="{00000004-10E3-7D42-B961-4E40C84E3CBC}"/>
            </c:ext>
          </c:extLst>
        </c:ser>
        <c:ser>
          <c:idx val="5"/>
          <c:order val="4"/>
          <c:tx>
            <c:strRef>
              <c:f>ws_Current_Portfolio_X_SS!$G$2</c:f>
              <c:strCache>
                <c:ptCount val="1"/>
              </c:strCache>
            </c:strRef>
          </c:tx>
          <c:marker>
            <c:symbol val="none"/>
          </c:marker>
          <c:cat>
            <c:numRef>
              <c:f>ws_Current_Portfolio_X_SS!$A$3:$A$23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ws_Current_Portfolio_X_SS!$G$3:$G$23</c:f>
            </c:numRef>
          </c:val>
          <c:smooth val="0"/>
          <c:extLst>
            <c:ext xmlns:c16="http://schemas.microsoft.com/office/drawing/2014/chart" uri="{C3380CC4-5D6E-409C-BE32-E72D297353CC}">
              <c16:uniqueId val="{00000005-10E3-7D42-B961-4E40C84E3CBC}"/>
            </c:ext>
          </c:extLst>
        </c:ser>
        <c:ser>
          <c:idx val="6"/>
          <c:order val="5"/>
          <c:tx>
            <c:strRef>
              <c:f>ws_Current_Portfolio_X_SS!$H$2</c:f>
              <c:strCache>
                <c:ptCount val="1"/>
              </c:strCache>
            </c:strRef>
          </c:tx>
          <c:spPr>
            <a:ln>
              <a:solidFill>
                <a:schemeClr val="accent1">
                  <a:lumMod val="50000"/>
                </a:schemeClr>
              </a:solidFill>
              <a:prstDash val="sysDot"/>
            </a:ln>
          </c:spPr>
          <c:marker>
            <c:symbol val="none"/>
          </c:marker>
          <c:dLbls>
            <c:dLbl>
              <c:idx val="2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10E3-7D42-B961-4E40C84E3CBC}"/>
                </c:ext>
              </c:extLst>
            </c:dLbl>
            <c:numFmt formatCode="#,##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ws_Current_Portfolio_X_SS!$A$3:$A$23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ws_Current_Portfolio_X_SS!$H$3:$H$23</c:f>
              <c:numCache>
                <c:formatCode>General</c:formatCode>
                <c:ptCount val="21"/>
                <c:pt idx="0">
                  <c:v>100</c:v>
                </c:pt>
                <c:pt idx="1">
                  <c:v>103.9567990908773</c:v>
                </c:pt>
                <c:pt idx="2">
                  <c:v>107.1145847452551</c:v>
                </c:pt>
                <c:pt idx="3">
                  <c:v>110.57685165845029</c:v>
                </c:pt>
                <c:pt idx="4">
                  <c:v>115.32868879014249</c:v>
                </c:pt>
                <c:pt idx="5">
                  <c:v>120.4385732873385</c:v>
                </c:pt>
                <c:pt idx="6">
                  <c:v>125.4654397278165</c:v>
                </c:pt>
                <c:pt idx="7">
                  <c:v>130.79973378454159</c:v>
                </c:pt>
                <c:pt idx="8">
                  <c:v>137.00040420597799</c:v>
                </c:pt>
                <c:pt idx="9">
                  <c:v>142.0502612187002</c:v>
                </c:pt>
                <c:pt idx="10">
                  <c:v>147.9146147353776</c:v>
                </c:pt>
                <c:pt idx="11">
                  <c:v>153.00997119381989</c:v>
                </c:pt>
                <c:pt idx="12">
                  <c:v>158.58830033045149</c:v>
                </c:pt>
                <c:pt idx="13">
                  <c:v>164.4284467923647</c:v>
                </c:pt>
                <c:pt idx="14">
                  <c:v>171.35597381936091</c:v>
                </c:pt>
                <c:pt idx="15">
                  <c:v>177.74567701918389</c:v>
                </c:pt>
                <c:pt idx="16">
                  <c:v>184.32824926859749</c:v>
                </c:pt>
                <c:pt idx="17">
                  <c:v>189.92205068720139</c:v>
                </c:pt>
                <c:pt idx="18">
                  <c:v>197.52060918620421</c:v>
                </c:pt>
                <c:pt idx="19">
                  <c:v>202.3004067788583</c:v>
                </c:pt>
                <c:pt idx="20">
                  <c:v>209.83315740661129</c:v>
                </c:pt>
              </c:numCache>
            </c:numRef>
          </c:val>
          <c:smooth val="0"/>
          <c:extLst>
            <c:ext xmlns:c16="http://schemas.microsoft.com/office/drawing/2014/chart" uri="{C3380CC4-5D6E-409C-BE32-E72D297353CC}">
              <c16:uniqueId val="{00000006-10E3-7D42-B961-4E40C84E3CBC}"/>
            </c:ext>
          </c:extLst>
        </c:ser>
        <c:dLbls>
          <c:showLegendKey val="0"/>
          <c:showVal val="0"/>
          <c:showCatName val="0"/>
          <c:showSerName val="0"/>
          <c:showPercent val="0"/>
          <c:showBubbleSize val="0"/>
        </c:dLbls>
        <c:smooth val="0"/>
        <c:axId val="10"/>
        <c:axId val="100"/>
      </c:lineChart>
      <c:catAx>
        <c:axId val="10"/>
        <c:scaling>
          <c:orientation val="minMax"/>
        </c:scaling>
        <c:delete val="0"/>
        <c:axPos val="b"/>
        <c:title>
          <c:tx>
            <c:rich>
              <a:bodyPr/>
              <a:lstStyle/>
              <a:p>
                <a:pPr>
                  <a:defRPr/>
                </a:pPr>
                <a:r>
                  <a:rPr lang="en-GB" sz="900" b="0">
                    <a:latin typeface="Aptos"/>
                  </a:rPr>
                  <a:t>Year</a:t>
                </a:r>
              </a:p>
            </c:rich>
          </c:tx>
          <c:overlay val="0"/>
        </c:title>
        <c:numFmt formatCode="General" sourceLinked="1"/>
        <c:majorTickMark val="none"/>
        <c:minorTickMark val="none"/>
        <c:tickLblPos val="nextTo"/>
        <c:spPr>
          <a:ln/>
        </c:spPr>
        <c:txPr>
          <a:bodyPr/>
          <a:lstStyle/>
          <a:p>
            <a:pPr>
              <a:defRPr sz="900" b="0">
                <a:latin typeface="Aptos"/>
              </a:defRPr>
            </a:pPr>
            <a:endParaRPr lang="en-US"/>
          </a:p>
        </c:txPr>
        <c:crossAx val="100"/>
        <c:crosses val="autoZero"/>
        <c:auto val="0"/>
        <c:lblAlgn val="ctr"/>
        <c:lblOffset val="100"/>
        <c:tickLblSkip val="1"/>
        <c:tickMarkSkip val="1"/>
        <c:noMultiLvlLbl val="0"/>
      </c:catAx>
      <c:valAx>
        <c:axId val="100"/>
        <c:scaling>
          <c:orientation val="minMax"/>
        </c:scaling>
        <c:delete val="0"/>
        <c:axPos val="l"/>
        <c:title>
          <c:tx>
            <c:rich>
              <a:bodyPr/>
              <a:lstStyle/>
              <a:p>
                <a:pPr>
                  <a:defRPr/>
                </a:pPr>
                <a:r>
                  <a:rPr lang="en-GB" sz="900" b="0" dirty="0">
                    <a:latin typeface="Aptos"/>
                  </a:rPr>
                  <a:t>Nominal Portfolio Values ($mm)</a:t>
                </a:r>
              </a:p>
            </c:rich>
          </c:tx>
          <c:overlay val="0"/>
        </c:title>
        <c:numFmt formatCode="General" sourceLinked="1"/>
        <c:majorTickMark val="cross"/>
        <c:minorTickMark val="none"/>
        <c:tickLblPos val="nextTo"/>
        <c:txPr>
          <a:bodyPr/>
          <a:lstStyle/>
          <a:p>
            <a:pPr>
              <a:defRPr sz="900" b="0">
                <a:latin typeface="Aptos"/>
              </a:defRPr>
            </a:pPr>
            <a:endParaRPr lang="en-US"/>
          </a:p>
        </c:txPr>
        <c:crossAx val="10"/>
        <c:crosses val="autoZero"/>
        <c:crossBetween val="midCat"/>
      </c:valAx>
    </c:plotArea>
    <c:legend>
      <c:legendPos val="t"/>
      <c:legendEntry>
        <c:idx val="3"/>
        <c:delete val="1"/>
      </c:legendEntry>
      <c:legendEntry>
        <c:idx val="4"/>
        <c:delete val="1"/>
      </c:legendEntry>
      <c:layout>
        <c:manualLayout>
          <c:xMode val="edge"/>
          <c:yMode val="edge"/>
          <c:x val="9.8802340033533886E-2"/>
          <c:y val="1.4066170773605639E-2"/>
          <c:w val="0.84250223667745006"/>
          <c:h val="5.0336898408641223E-2"/>
        </c:manualLayout>
      </c:layout>
      <c:overlay val="0"/>
      <c:spPr>
        <a:ln w="6350">
          <a:solidFill>
            <a:schemeClr val="bg1">
              <a:lumMod val="75000"/>
            </a:schemeClr>
          </a:solidFill>
        </a:ln>
      </c:spPr>
      <c:txPr>
        <a:bodyPr/>
        <a:lstStyle/>
        <a:p>
          <a:pPr>
            <a:defRPr sz="900" b="0">
              <a:latin typeface="Aptos"/>
            </a:defRPr>
          </a:pPr>
          <a:endParaRPr lang="en-US"/>
        </a:p>
      </c:txPr>
    </c:legend>
    <c:plotVisOnly val="1"/>
    <c:dispBlanksAs val="gap"/>
    <c:showDLblsOverMax val="0"/>
  </c:chart>
  <c:externalData r:id="rId1">
    <c:autoUpdate val="0"/>
  </c:externalData>
  <c:userShapes r:id="rId2"/>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780107747019936"/>
          <c:y val="2.9006929828466255E-2"/>
          <c:w val="0.84610659195879412"/>
          <c:h val="0.80713669071905036"/>
        </c:manualLayout>
      </c:layout>
      <c:lineChart>
        <c:grouping val="standard"/>
        <c:varyColors val="0"/>
        <c:ser>
          <c:idx val="0"/>
          <c:order val="0"/>
          <c:spPr>
            <a:ln w="25400" cap="rnd">
              <a:solidFill>
                <a:schemeClr val="tx1"/>
              </a:solidFill>
              <a:prstDash val="solid"/>
              <a:round/>
            </a:ln>
            <a:effectLst/>
          </c:spPr>
          <c:marker>
            <c:symbol val="none"/>
          </c:marker>
          <c:cat>
            <c:numRef>
              <c:f>Sheet1!$B$7:$B$19</c:f>
              <c:numCache>
                <c:formatCode>0%</c:formatCode>
                <c:ptCount val="13"/>
                <c:pt idx="0">
                  <c:v>-0.3</c:v>
                </c:pt>
                <c:pt idx="1">
                  <c:v>-0.25</c:v>
                </c:pt>
                <c:pt idx="2">
                  <c:v>-0.2</c:v>
                </c:pt>
                <c:pt idx="3">
                  <c:v>-0.15000000000000002</c:v>
                </c:pt>
                <c:pt idx="4">
                  <c:v>-0.10000000000000002</c:v>
                </c:pt>
                <c:pt idx="5">
                  <c:v>-5.0000000000000017E-2</c:v>
                </c:pt>
                <c:pt idx="6">
                  <c:v>0</c:v>
                </c:pt>
                <c:pt idx="7">
                  <c:v>0.05</c:v>
                </c:pt>
                <c:pt idx="8">
                  <c:v>0.1</c:v>
                </c:pt>
                <c:pt idx="9">
                  <c:v>0.15000000000000002</c:v>
                </c:pt>
                <c:pt idx="10">
                  <c:v>0.2</c:v>
                </c:pt>
                <c:pt idx="11">
                  <c:v>0.25</c:v>
                </c:pt>
                <c:pt idx="12">
                  <c:v>0.3</c:v>
                </c:pt>
              </c:numCache>
            </c:numRef>
          </c:cat>
          <c:val>
            <c:numRef>
              <c:f>Sheet1!$B$7:$B$19</c:f>
              <c:numCache>
                <c:formatCode>0%</c:formatCode>
                <c:ptCount val="13"/>
                <c:pt idx="0">
                  <c:v>-0.3</c:v>
                </c:pt>
                <c:pt idx="1">
                  <c:v>-0.25</c:v>
                </c:pt>
                <c:pt idx="2">
                  <c:v>-0.2</c:v>
                </c:pt>
                <c:pt idx="3">
                  <c:v>-0.15000000000000002</c:v>
                </c:pt>
                <c:pt idx="4">
                  <c:v>-0.10000000000000002</c:v>
                </c:pt>
                <c:pt idx="5">
                  <c:v>-5.0000000000000017E-2</c:v>
                </c:pt>
                <c:pt idx="6">
                  <c:v>0</c:v>
                </c:pt>
                <c:pt idx="7">
                  <c:v>0.05</c:v>
                </c:pt>
                <c:pt idx="8">
                  <c:v>0.1</c:v>
                </c:pt>
                <c:pt idx="9">
                  <c:v>0.15000000000000002</c:v>
                </c:pt>
                <c:pt idx="10">
                  <c:v>0.2</c:v>
                </c:pt>
                <c:pt idx="11">
                  <c:v>0.25</c:v>
                </c:pt>
                <c:pt idx="12">
                  <c:v>0.3</c:v>
                </c:pt>
              </c:numCache>
            </c:numRef>
          </c:val>
          <c:smooth val="0"/>
          <c:extLst>
            <c:ext xmlns:c16="http://schemas.microsoft.com/office/drawing/2014/chart" uri="{C3380CC4-5D6E-409C-BE32-E72D297353CC}">
              <c16:uniqueId val="{00000000-A3F6-3642-9D3A-07C76E2850C4}"/>
            </c:ext>
          </c:extLst>
        </c:ser>
        <c:ser>
          <c:idx val="1"/>
          <c:order val="1"/>
          <c:spPr>
            <a:ln w="25400" cap="rnd">
              <a:solidFill>
                <a:schemeClr val="accent1">
                  <a:lumMod val="75000"/>
                </a:schemeClr>
              </a:solidFill>
              <a:round/>
            </a:ln>
            <a:effectLst/>
          </c:spPr>
          <c:marker>
            <c:symbol val="none"/>
          </c:marker>
          <c:cat>
            <c:numRef>
              <c:f>Sheet1!$B$7:$B$19</c:f>
              <c:numCache>
                <c:formatCode>0%</c:formatCode>
                <c:ptCount val="13"/>
                <c:pt idx="0">
                  <c:v>-0.3</c:v>
                </c:pt>
                <c:pt idx="1">
                  <c:v>-0.25</c:v>
                </c:pt>
                <c:pt idx="2">
                  <c:v>-0.2</c:v>
                </c:pt>
                <c:pt idx="3">
                  <c:v>-0.15000000000000002</c:v>
                </c:pt>
                <c:pt idx="4">
                  <c:v>-0.10000000000000002</c:v>
                </c:pt>
                <c:pt idx="5">
                  <c:v>-5.0000000000000017E-2</c:v>
                </c:pt>
                <c:pt idx="6">
                  <c:v>0</c:v>
                </c:pt>
                <c:pt idx="7">
                  <c:v>0.05</c:v>
                </c:pt>
                <c:pt idx="8">
                  <c:v>0.1</c:v>
                </c:pt>
                <c:pt idx="9">
                  <c:v>0.15000000000000002</c:v>
                </c:pt>
                <c:pt idx="10">
                  <c:v>0.2</c:v>
                </c:pt>
                <c:pt idx="11">
                  <c:v>0.25</c:v>
                </c:pt>
                <c:pt idx="12">
                  <c:v>0.3</c:v>
                </c:pt>
              </c:numCache>
            </c:numRef>
          </c:cat>
          <c:val>
            <c:numRef>
              <c:f>Sheet1!$C$7:$C$19</c:f>
              <c:numCache>
                <c:formatCode>0%</c:formatCode>
                <c:ptCount val="13"/>
                <c:pt idx="0">
                  <c:v>#N/A</c:v>
                </c:pt>
                <c:pt idx="1">
                  <c:v>#N/A</c:v>
                </c:pt>
                <c:pt idx="2">
                  <c:v>#N/A</c:v>
                </c:pt>
                <c:pt idx="3">
                  <c:v>#N/A</c:v>
                </c:pt>
                <c:pt idx="4">
                  <c:v>#N/A</c:v>
                </c:pt>
                <c:pt idx="5">
                  <c:v>#N/A</c:v>
                </c:pt>
                <c:pt idx="6">
                  <c:v>0.18</c:v>
                </c:pt>
                <c:pt idx="7">
                  <c:v>0.18</c:v>
                </c:pt>
                <c:pt idx="8">
                  <c:v>0.18</c:v>
                </c:pt>
                <c:pt idx="9">
                  <c:v>0.18</c:v>
                </c:pt>
                <c:pt idx="10">
                  <c:v>0.18</c:v>
                </c:pt>
                <c:pt idx="11">
                  <c:v>0.18</c:v>
                </c:pt>
                <c:pt idx="12">
                  <c:v>0.18</c:v>
                </c:pt>
              </c:numCache>
            </c:numRef>
          </c:val>
          <c:smooth val="0"/>
          <c:extLst>
            <c:ext xmlns:c16="http://schemas.microsoft.com/office/drawing/2014/chart" uri="{C3380CC4-5D6E-409C-BE32-E72D297353CC}">
              <c16:uniqueId val="{00000001-A3F6-3642-9D3A-07C76E2850C4}"/>
            </c:ext>
          </c:extLst>
        </c:ser>
        <c:ser>
          <c:idx val="2"/>
          <c:order val="2"/>
          <c:spPr>
            <a:ln w="25400" cap="rnd">
              <a:solidFill>
                <a:schemeClr val="accent4"/>
              </a:solidFill>
              <a:round/>
            </a:ln>
            <a:effectLst/>
          </c:spPr>
          <c:marker>
            <c:symbol val="none"/>
          </c:marker>
          <c:cat>
            <c:numRef>
              <c:f>Sheet1!$B$7:$B$19</c:f>
              <c:numCache>
                <c:formatCode>0%</c:formatCode>
                <c:ptCount val="13"/>
                <c:pt idx="0">
                  <c:v>-0.3</c:v>
                </c:pt>
                <c:pt idx="1">
                  <c:v>-0.25</c:v>
                </c:pt>
                <c:pt idx="2">
                  <c:v>-0.2</c:v>
                </c:pt>
                <c:pt idx="3">
                  <c:v>-0.15000000000000002</c:v>
                </c:pt>
                <c:pt idx="4">
                  <c:v>-0.10000000000000002</c:v>
                </c:pt>
                <c:pt idx="5">
                  <c:v>-5.0000000000000017E-2</c:v>
                </c:pt>
                <c:pt idx="6">
                  <c:v>0</c:v>
                </c:pt>
                <c:pt idx="7">
                  <c:v>0.05</c:v>
                </c:pt>
                <c:pt idx="8">
                  <c:v>0.1</c:v>
                </c:pt>
                <c:pt idx="9">
                  <c:v>0.15000000000000002</c:v>
                </c:pt>
                <c:pt idx="10">
                  <c:v>0.2</c:v>
                </c:pt>
                <c:pt idx="11">
                  <c:v>0.25</c:v>
                </c:pt>
                <c:pt idx="12">
                  <c:v>0.3</c:v>
                </c:pt>
              </c:numCache>
            </c:numRef>
          </c:cat>
          <c:val>
            <c:numRef>
              <c:f>Sheet1!$D$7:$D$19</c:f>
              <c:numCache>
                <c:formatCode>0.0%</c:formatCode>
                <c:ptCount val="13"/>
                <c:pt idx="0">
                  <c:v>-0.15000000000000002</c:v>
                </c:pt>
                <c:pt idx="1">
                  <c:v>-0.1</c:v>
                </c:pt>
                <c:pt idx="2">
                  <c:v>-0.05</c:v>
                </c:pt>
                <c:pt idx="3">
                  <c:v>0</c:v>
                </c:pt>
                <c:pt idx="4">
                  <c:v>0</c:v>
                </c:pt>
                <c:pt idx="5">
                  <c:v>0</c:v>
                </c:pt>
                <c:pt idx="6">
                  <c:v>0</c:v>
                </c:pt>
                <c:pt idx="7">
                  <c:v>#N/A</c:v>
                </c:pt>
                <c:pt idx="8">
                  <c:v>#N/A</c:v>
                </c:pt>
                <c:pt idx="9">
                  <c:v>#N/A</c:v>
                </c:pt>
                <c:pt idx="10">
                  <c:v>#N/A</c:v>
                </c:pt>
                <c:pt idx="11">
                  <c:v>#N/A</c:v>
                </c:pt>
                <c:pt idx="12">
                  <c:v>#N/A</c:v>
                </c:pt>
              </c:numCache>
            </c:numRef>
          </c:val>
          <c:smooth val="0"/>
          <c:extLst>
            <c:ext xmlns:c16="http://schemas.microsoft.com/office/drawing/2014/chart" uri="{C3380CC4-5D6E-409C-BE32-E72D297353CC}">
              <c16:uniqueId val="{00000002-A3F6-3642-9D3A-07C76E2850C4}"/>
            </c:ext>
          </c:extLst>
        </c:ser>
        <c:dLbls>
          <c:showLegendKey val="0"/>
          <c:showVal val="0"/>
          <c:showCatName val="0"/>
          <c:showSerName val="0"/>
          <c:showPercent val="0"/>
          <c:showBubbleSize val="0"/>
        </c:dLbls>
        <c:smooth val="0"/>
        <c:axId val="1556925375"/>
        <c:axId val="1556927087"/>
      </c:lineChart>
      <c:catAx>
        <c:axId val="1556925375"/>
        <c:scaling>
          <c:orientation val="minMax"/>
        </c:scaling>
        <c:delete val="0"/>
        <c:axPos val="b"/>
        <c:majorGridlines>
          <c:spPr>
            <a:ln w="9525" cap="flat" cmpd="sng" algn="ctr">
              <a:solidFill>
                <a:schemeClr val="tx1">
                  <a:lumMod val="15000"/>
                  <a:lumOff val="85000"/>
                </a:schemeClr>
              </a:solidFill>
              <a:round/>
            </a:ln>
            <a:effectLst/>
          </c:spPr>
        </c:majorGridlines>
        <c:title>
          <c:tx>
            <c:rich>
              <a:bodyPr rot="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r>
                  <a:rPr lang="en-GB"/>
                  <a:t>Underlying Cumulative Return at Maturity</a:t>
                </a:r>
              </a:p>
            </c:rich>
          </c:tx>
          <c:overlay val="0"/>
          <c:spPr>
            <a:noFill/>
            <a:ln>
              <a:noFill/>
            </a:ln>
            <a:effectLst/>
          </c:spPr>
          <c:txPr>
            <a:bodyPr rot="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title>
        <c:numFmt formatCode="0%" sourceLinked="1"/>
        <c:majorTickMark val="none"/>
        <c:minorTickMark val="none"/>
        <c:tickLblPos val="low"/>
        <c:spPr>
          <a:noFill/>
          <a:ln w="9525" cap="flat" cmpd="sng" algn="ctr">
            <a:solidFill>
              <a:schemeClr val="dk1">
                <a:shade val="95000"/>
                <a:satMod val="105000"/>
              </a:schemeClr>
            </a:solidFill>
            <a:prstDash val="solid"/>
            <a:roun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1556927087"/>
        <c:crossesAt val="0"/>
        <c:auto val="1"/>
        <c:lblAlgn val="ctr"/>
        <c:lblOffset val="100"/>
        <c:tickLblSkip val="2"/>
        <c:tickMarkSkip val="3"/>
        <c:noMultiLvlLbl val="0"/>
      </c:catAx>
      <c:valAx>
        <c:axId val="1556927087"/>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r>
                  <a:rPr lang="en-GB"/>
                  <a:t>Payoff at Maturity (% Notional)</a:t>
                </a:r>
              </a:p>
            </c:rich>
          </c:tx>
          <c:overlay val="0"/>
          <c:spPr>
            <a:noFill/>
            <a:ln>
              <a:noFill/>
            </a:ln>
            <a:effectLst/>
          </c:spPr>
          <c:txPr>
            <a:bodyPr rot="-54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title>
        <c:numFmt formatCode="0%" sourceLinked="1"/>
        <c:majorTickMark val="none"/>
        <c:minorTickMark val="none"/>
        <c:tickLblPos val="low"/>
        <c:spPr>
          <a:noFill/>
          <a:ln w="9525" cap="flat" cmpd="sng" algn="ctr">
            <a:solidFill>
              <a:schemeClr val="dk1">
                <a:shade val="95000"/>
                <a:satMod val="105000"/>
              </a:schemeClr>
            </a:solidFill>
            <a:prstDash val="solid"/>
          </a:ln>
          <a:effectLst/>
        </c:spPr>
        <c:txPr>
          <a:bodyPr rot="-60000000" spcFirstLastPara="1" vertOverflow="ellipsis" vert="horz" wrap="square" anchor="ctr" anchorCtr="1"/>
          <a:lstStyle/>
          <a:p>
            <a:pPr>
              <a:defRPr sz="8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1556925375"/>
        <c:crossesAt val="7"/>
        <c:crossBetween val="midCat"/>
        <c:majorUnit val="0.2"/>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800" b="0" i="0">
          <a:latin typeface="Aptos" panose="020B0004020202020204" pitchFamily="34" charset="0"/>
        </a:defRPr>
      </a:pPr>
      <a:endParaRPr lang="en-US"/>
    </a:p>
  </c:txPr>
  <c:externalData r:id="rId3">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844360617222127"/>
          <c:y val="0.15410166613605011"/>
          <c:w val="0.80485488433603958"/>
          <c:h val="0.75393998414392815"/>
        </c:manualLayout>
      </c:layout>
      <c:barChart>
        <c:barDir val="col"/>
        <c:grouping val="stacked"/>
        <c:varyColors val="0"/>
        <c:ser>
          <c:idx val="0"/>
          <c:order val="0"/>
          <c:tx>
            <c:strRef>
              <c:f>Sheet3!$D$15</c:f>
              <c:strCache>
                <c:ptCount val="1"/>
                <c:pt idx="0">
                  <c:v>90th to 10th</c:v>
                </c:pt>
              </c:strCache>
            </c:strRef>
          </c:tx>
          <c:spPr>
            <a:solidFill>
              <a:schemeClr val="accent1">
                <a:lumMod val="60000"/>
                <a:lumOff val="40000"/>
              </a:schemeClr>
            </a:solidFill>
            <a:ln>
              <a:noFill/>
            </a:ln>
            <a:effectLst/>
          </c:spPr>
          <c:invertIfNegative val="0"/>
          <c:dPt>
            <c:idx val="0"/>
            <c:invertIfNegative val="0"/>
            <c:bubble3D val="0"/>
            <c:spPr>
              <a:solidFill>
                <a:schemeClr val="accent1">
                  <a:lumMod val="60000"/>
                  <a:lumOff val="40000"/>
                </a:schemeClr>
              </a:solidFill>
              <a:ln>
                <a:noFill/>
              </a:ln>
              <a:effectLst/>
            </c:spPr>
            <c:extLst>
              <c:ext xmlns:c16="http://schemas.microsoft.com/office/drawing/2014/chart" uri="{C3380CC4-5D6E-409C-BE32-E72D297353CC}">
                <c16:uniqueId val="{00000001-7152-EE44-8525-1AE27B12EB98}"/>
              </c:ext>
            </c:extLst>
          </c:dPt>
          <c:dPt>
            <c:idx val="1"/>
            <c:invertIfNegative val="0"/>
            <c:bubble3D val="0"/>
            <c:spPr>
              <a:solidFill>
                <a:schemeClr val="accent1">
                  <a:lumMod val="20000"/>
                  <a:lumOff val="80000"/>
                </a:schemeClr>
              </a:solidFill>
              <a:ln>
                <a:noFill/>
              </a:ln>
              <a:effectLst/>
            </c:spPr>
            <c:extLst>
              <c:ext xmlns:c16="http://schemas.microsoft.com/office/drawing/2014/chart" uri="{C3380CC4-5D6E-409C-BE32-E72D297353CC}">
                <c16:uniqueId val="{00000003-7152-EE44-8525-1AE27B12EB98}"/>
              </c:ext>
            </c:extLst>
          </c:dPt>
          <c:cat>
            <c:strRef>
              <c:f>Sheet3!$D$3:$E$3</c:f>
              <c:strCache>
                <c:ptCount val="2"/>
                <c:pt idx="0">
                  <c:v>S&amp;P 500</c:v>
                </c:pt>
                <c:pt idx="1">
                  <c:v>Autocallable</c:v>
                </c:pt>
              </c:strCache>
            </c:strRef>
          </c:cat>
          <c:val>
            <c:numRef>
              <c:f>Sheet3!$D$11:$E$11</c:f>
              <c:numCache>
                <c:formatCode>0%</c:formatCode>
                <c:ptCount val="2"/>
                <c:pt idx="0">
                  <c:v>-0.13889251124822599</c:v>
                </c:pt>
                <c:pt idx="1">
                  <c:v>4.4999999999999998E-2</c:v>
                </c:pt>
              </c:numCache>
            </c:numRef>
          </c:val>
          <c:extLst>
            <c:ext xmlns:c16="http://schemas.microsoft.com/office/drawing/2014/chart" uri="{C3380CC4-5D6E-409C-BE32-E72D297353CC}">
              <c16:uniqueId val="{00000004-7152-EE44-8525-1AE27B12EB98}"/>
            </c:ext>
          </c:extLst>
        </c:ser>
        <c:ser>
          <c:idx val="1"/>
          <c:order val="1"/>
          <c:tx>
            <c:strRef>
              <c:f>Sheet3!$D$14</c:f>
              <c:strCache>
                <c:ptCount val="1"/>
                <c:pt idx="0">
                  <c:v>1st-10th and 90th-99th</c:v>
                </c:pt>
              </c:strCache>
            </c:strRef>
          </c:tx>
          <c:spPr>
            <a:solidFill>
              <a:schemeClr val="accent1">
                <a:lumMod val="20000"/>
                <a:lumOff val="80000"/>
              </a:schemeClr>
            </a:solidFill>
            <a:ln>
              <a:noFill/>
            </a:ln>
            <a:effectLst/>
          </c:spPr>
          <c:invertIfNegative val="0"/>
          <c:cat>
            <c:strRef>
              <c:f>Sheet3!$D$3:$E$3</c:f>
              <c:strCache>
                <c:ptCount val="2"/>
                <c:pt idx="0">
                  <c:v>S&amp;P 500</c:v>
                </c:pt>
                <c:pt idx="1">
                  <c:v>Autocallable</c:v>
                </c:pt>
              </c:strCache>
            </c:strRef>
          </c:cat>
          <c:val>
            <c:numRef>
              <c:f>Sheet3!$D$10:$E$10</c:f>
              <c:numCache>
                <c:formatCode>0%</c:formatCode>
                <c:ptCount val="2"/>
                <c:pt idx="0">
                  <c:v>-0.245290976392184</c:v>
                </c:pt>
                <c:pt idx="1">
                  <c:v>-0.151697343923133</c:v>
                </c:pt>
              </c:numCache>
            </c:numRef>
          </c:val>
          <c:extLst>
            <c:ext xmlns:c16="http://schemas.microsoft.com/office/drawing/2014/chart" uri="{C3380CC4-5D6E-409C-BE32-E72D297353CC}">
              <c16:uniqueId val="{00000005-7152-EE44-8525-1AE27B12EB98}"/>
            </c:ext>
          </c:extLst>
        </c:ser>
        <c:ser>
          <c:idx val="2"/>
          <c:order val="2"/>
          <c:spPr>
            <a:solidFill>
              <a:schemeClr val="accent1">
                <a:lumMod val="60000"/>
                <a:lumOff val="40000"/>
              </a:schemeClr>
            </a:solidFill>
            <a:ln>
              <a:noFill/>
            </a:ln>
            <a:effectLst/>
          </c:spPr>
          <c:invertIfNegative val="0"/>
          <c:cat>
            <c:strRef>
              <c:f>Sheet3!$D$3:$E$3</c:f>
              <c:strCache>
                <c:ptCount val="2"/>
                <c:pt idx="0">
                  <c:v>S&amp;P 500</c:v>
                </c:pt>
                <c:pt idx="1">
                  <c:v>Autocallable</c:v>
                </c:pt>
              </c:strCache>
            </c:strRef>
          </c:cat>
          <c:val>
            <c:numRef>
              <c:f>Sheet3!$D$12:$E$12</c:f>
              <c:numCache>
                <c:formatCode>0%</c:formatCode>
                <c:ptCount val="2"/>
                <c:pt idx="0">
                  <c:v>0.52121120080023697</c:v>
                </c:pt>
                <c:pt idx="1">
                  <c:v>6.7499999999999005E-2</c:v>
                </c:pt>
              </c:numCache>
            </c:numRef>
          </c:val>
          <c:extLst>
            <c:ext xmlns:c16="http://schemas.microsoft.com/office/drawing/2014/chart" uri="{C3380CC4-5D6E-409C-BE32-E72D297353CC}">
              <c16:uniqueId val="{00000006-7152-EE44-8525-1AE27B12EB98}"/>
            </c:ext>
          </c:extLst>
        </c:ser>
        <c:ser>
          <c:idx val="3"/>
          <c:order val="3"/>
          <c:spPr>
            <a:solidFill>
              <a:schemeClr val="accent1">
                <a:lumMod val="20000"/>
                <a:lumOff val="80000"/>
              </a:schemeClr>
            </a:solidFill>
            <a:ln>
              <a:noFill/>
            </a:ln>
            <a:effectLst/>
          </c:spPr>
          <c:invertIfNegative val="0"/>
          <c:cat>
            <c:strRef>
              <c:f>Sheet3!$D$3:$E$3</c:f>
              <c:strCache>
                <c:ptCount val="2"/>
                <c:pt idx="0">
                  <c:v>S&amp;P 500</c:v>
                </c:pt>
                <c:pt idx="1">
                  <c:v>Autocallable</c:v>
                </c:pt>
              </c:strCache>
            </c:strRef>
          </c:cat>
          <c:val>
            <c:numRef>
              <c:f>Sheet3!$D$13:$E$13</c:f>
              <c:numCache>
                <c:formatCode>0%</c:formatCode>
                <c:ptCount val="2"/>
                <c:pt idx="0">
                  <c:v>0.31880300208777901</c:v>
                </c:pt>
                <c:pt idx="1">
                  <c:v>6.7499999999999991E-2</c:v>
                </c:pt>
              </c:numCache>
            </c:numRef>
          </c:val>
          <c:extLst>
            <c:ext xmlns:c16="http://schemas.microsoft.com/office/drawing/2014/chart" uri="{C3380CC4-5D6E-409C-BE32-E72D297353CC}">
              <c16:uniqueId val="{00000007-7152-EE44-8525-1AE27B12EB98}"/>
            </c:ext>
          </c:extLst>
        </c:ser>
        <c:dLbls>
          <c:showLegendKey val="0"/>
          <c:showVal val="0"/>
          <c:showCatName val="0"/>
          <c:showSerName val="0"/>
          <c:showPercent val="0"/>
          <c:showBubbleSize val="0"/>
        </c:dLbls>
        <c:gapWidth val="150"/>
        <c:overlap val="100"/>
        <c:axId val="656190863"/>
        <c:axId val="656265215"/>
      </c:barChart>
      <c:scatterChart>
        <c:scatterStyle val="lineMarker"/>
        <c:varyColors val="0"/>
        <c:ser>
          <c:idx val="4"/>
          <c:order val="4"/>
          <c:tx>
            <c:v>Median</c:v>
          </c:tx>
          <c:spPr>
            <a:ln w="25400" cap="rnd">
              <a:noFill/>
              <a:round/>
            </a:ln>
            <a:effectLst/>
          </c:spPr>
          <c:marker>
            <c:symbol val="dash"/>
            <c:size val="18"/>
            <c:spPr>
              <a:solidFill>
                <a:schemeClr val="bg1"/>
              </a:solidFill>
              <a:ln w="9525">
                <a:solidFill>
                  <a:schemeClr val="tx1"/>
                </a:solidFill>
              </a:ln>
              <a:effectLst/>
            </c:spPr>
          </c:marker>
          <c:dLbls>
            <c:dLbl>
              <c:idx val="0"/>
              <c:layout>
                <c:manualLayout>
                  <c:x val="-7.4044476206593629E-2"/>
                  <c:y val="-3.6568122047614532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7152-EE44-8525-1AE27B12EB98}"/>
                </c:ext>
              </c:extLst>
            </c:dLbl>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yVal>
            <c:numRef>
              <c:f>Sheet3!$D$6:$E$6</c:f>
              <c:numCache>
                <c:formatCode>0%</c:formatCode>
                <c:ptCount val="2"/>
                <c:pt idx="0">
                  <c:v>0.189840058131898</c:v>
                </c:pt>
                <c:pt idx="1">
                  <c:v>4.4999999999999998E-2</c:v>
                </c:pt>
              </c:numCache>
            </c:numRef>
          </c:yVal>
          <c:smooth val="0"/>
          <c:extLst>
            <c:ext xmlns:c16="http://schemas.microsoft.com/office/drawing/2014/chart" uri="{C3380CC4-5D6E-409C-BE32-E72D297353CC}">
              <c16:uniqueId val="{00000009-7152-EE44-8525-1AE27B12EB98}"/>
            </c:ext>
          </c:extLst>
        </c:ser>
        <c:ser>
          <c:idx val="5"/>
          <c:order val="5"/>
          <c:spPr>
            <a:ln w="25400" cap="rnd">
              <a:noFill/>
              <a:round/>
            </a:ln>
            <a:effectLst/>
          </c:spPr>
          <c:marker>
            <c:symbol val="circle"/>
            <c:size val="5"/>
            <c:spPr>
              <a:noFill/>
              <a:ln w="9525">
                <a:noFill/>
              </a:ln>
              <a:effectLst/>
            </c:spPr>
          </c:marker>
          <c:dLbls>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yVal>
            <c:numRef>
              <c:f>Sheet3!$D$4:$E$4</c:f>
              <c:numCache>
                <c:formatCode>0%</c:formatCode>
                <c:ptCount val="2"/>
                <c:pt idx="0">
                  <c:v>-0.38418348764040999</c:v>
                </c:pt>
                <c:pt idx="1">
                  <c:v>-0.151697343923133</c:v>
                </c:pt>
              </c:numCache>
            </c:numRef>
          </c:yVal>
          <c:smooth val="0"/>
          <c:extLst>
            <c:ext xmlns:c16="http://schemas.microsoft.com/office/drawing/2014/chart" uri="{C3380CC4-5D6E-409C-BE32-E72D297353CC}">
              <c16:uniqueId val="{0000000A-7152-EE44-8525-1AE27B12EB98}"/>
            </c:ext>
          </c:extLst>
        </c:ser>
        <c:ser>
          <c:idx val="6"/>
          <c:order val="6"/>
          <c:spPr>
            <a:ln w="25400" cap="rnd">
              <a:noFill/>
              <a:round/>
            </a:ln>
            <a:effectLst/>
          </c:spPr>
          <c:marker>
            <c:symbol val="circle"/>
            <c:size val="5"/>
            <c:spPr>
              <a:noFill/>
              <a:ln w="9525">
                <a:noFill/>
              </a:ln>
              <a:effectLst/>
            </c:spPr>
          </c:marker>
          <c:dLbls>
            <c:dLbl>
              <c:idx val="0"/>
              <c:layout>
                <c:manualLayout>
                  <c:x val="-6.3227276545647484E-2"/>
                  <c:y val="-3.551274241540657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7152-EE44-8525-1AE27B12EB98}"/>
                </c:ext>
              </c:extLst>
            </c:dLbl>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yVal>
            <c:numRef>
              <c:f>Sheet3!$D$8:$E$8</c:f>
              <c:numCache>
                <c:formatCode>0%</c:formatCode>
                <c:ptCount val="2"/>
                <c:pt idx="0">
                  <c:v>0.84001420288801598</c:v>
                </c:pt>
                <c:pt idx="1">
                  <c:v>0.17999999999999899</c:v>
                </c:pt>
              </c:numCache>
            </c:numRef>
          </c:yVal>
          <c:smooth val="0"/>
          <c:extLst>
            <c:ext xmlns:c16="http://schemas.microsoft.com/office/drawing/2014/chart" uri="{C3380CC4-5D6E-409C-BE32-E72D297353CC}">
              <c16:uniqueId val="{0000000C-7152-EE44-8525-1AE27B12EB98}"/>
            </c:ext>
          </c:extLst>
        </c:ser>
        <c:dLbls>
          <c:showLegendKey val="0"/>
          <c:showVal val="0"/>
          <c:showCatName val="0"/>
          <c:showSerName val="0"/>
          <c:showPercent val="0"/>
          <c:showBubbleSize val="0"/>
        </c:dLbls>
        <c:axId val="656190863"/>
        <c:axId val="656265215"/>
      </c:scatterChart>
      <c:catAx>
        <c:axId val="656190863"/>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crossAx val="656265215"/>
        <c:crosses val="autoZero"/>
        <c:auto val="1"/>
        <c:lblAlgn val="ctr"/>
        <c:lblOffset val="100"/>
        <c:noMultiLvlLbl val="0"/>
      </c:catAx>
      <c:valAx>
        <c:axId val="656265215"/>
        <c:scaling>
          <c:orientation val="minMax"/>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crossAx val="656190863"/>
        <c:crosses val="autoZero"/>
        <c:crossBetween val="between"/>
      </c:valAx>
      <c:spPr>
        <a:noFill/>
        <a:ln>
          <a:noFill/>
        </a:ln>
        <a:effectLst/>
      </c:spPr>
    </c:plotArea>
    <c:legend>
      <c:legendPos val="t"/>
      <c:legendEntry>
        <c:idx val="2"/>
        <c:delete val="1"/>
      </c:legendEntry>
      <c:legendEntry>
        <c:idx val="3"/>
        <c:delete val="1"/>
      </c:legendEntry>
      <c:legendEntry>
        <c:idx val="5"/>
        <c:delete val="1"/>
      </c:legendEntry>
      <c:legendEntry>
        <c:idx val="6"/>
        <c:delete val="1"/>
      </c:legendEntry>
      <c:overlay val="0"/>
      <c:spPr>
        <a:noFill/>
        <a:ln>
          <a:noFill/>
        </a:ln>
        <a:effectLst/>
      </c:spPr>
      <c:txPr>
        <a:bodyPr rot="0" spcFirstLastPara="1" vertOverflow="ellipsis" vert="horz" wrap="square" anchor="ctr" anchorCtr="1"/>
        <a:lstStyle/>
        <a:p>
          <a:pPr rtl="0">
            <a:defRPr sz="900" b="0" i="0" u="none" strike="noStrike" kern="1200" baseline="0">
              <a:solidFill>
                <a:schemeClr val="tx1"/>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900" b="0" i="0">
          <a:solidFill>
            <a:schemeClr val="tx1"/>
          </a:solidFill>
          <a:latin typeface="Aptos" panose="020B0004020202020204" pitchFamily="34" charset="0"/>
        </a:defRPr>
      </a:pPr>
      <a:endParaRPr lang="en-US"/>
    </a:p>
  </c:txPr>
  <c:externalData r:id="rId3">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6906998063505399E-2"/>
          <c:y val="5.2918791436322825E-2"/>
          <c:w val="0.92618600387298922"/>
          <c:h val="0.80226024226730319"/>
        </c:manualLayout>
      </c:layout>
      <c:barChart>
        <c:barDir val="col"/>
        <c:grouping val="stacked"/>
        <c:varyColors val="0"/>
        <c:ser>
          <c:idx val="0"/>
          <c:order val="0"/>
          <c:spPr>
            <a:solidFill>
              <a:schemeClr val="accent1">
                <a:lumMod val="40000"/>
                <a:lumOff val="60000"/>
              </a:schemeClr>
            </a:solidFill>
            <a:ln>
              <a:noFill/>
            </a:ln>
            <a:effectLst/>
          </c:spPr>
          <c:invertIfNegative val="0"/>
          <c:dLbls>
            <c:dLbl>
              <c:idx val="3"/>
              <c:delete val="1"/>
              <c:extLst>
                <c:ext xmlns:c15="http://schemas.microsoft.com/office/drawing/2012/chart" uri="{CE6537A1-D6FC-4f65-9D91-7224C49458BB}"/>
                <c:ext xmlns:c16="http://schemas.microsoft.com/office/drawing/2014/chart" uri="{C3380CC4-5D6E-409C-BE32-E72D297353CC}">
                  <c16:uniqueId val="{00000000-109E-FD4D-8658-AFDA1DBD6842}"/>
                </c:ext>
              </c:extLst>
            </c:dLbl>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Sheet3!$C$35:$C$38</c:f>
              <c:strCache>
                <c:ptCount val="4"/>
                <c:pt idx="0">
                  <c:v>Strong Down Market</c:v>
                </c:pt>
                <c:pt idx="1">
                  <c:v>Flat to Moderate Down</c:v>
                </c:pt>
                <c:pt idx="2">
                  <c:v>Moderate Up Market</c:v>
                </c:pt>
                <c:pt idx="3">
                  <c:v>Strong Up Market</c:v>
                </c:pt>
              </c:strCache>
            </c:strRef>
          </c:cat>
          <c:val>
            <c:numRef>
              <c:f>Sheet3!$P$45:$P$48</c:f>
              <c:numCache>
                <c:formatCode>0%</c:formatCode>
                <c:ptCount val="4"/>
                <c:pt idx="0">
                  <c:v>1</c:v>
                </c:pt>
                <c:pt idx="1">
                  <c:v>1</c:v>
                </c:pt>
                <c:pt idx="2">
                  <c:v>0.24022715266772299</c:v>
                </c:pt>
                <c:pt idx="3">
                  <c:v>0</c:v>
                </c:pt>
              </c:numCache>
            </c:numRef>
          </c:val>
          <c:extLst>
            <c:ext xmlns:c16="http://schemas.microsoft.com/office/drawing/2014/chart" uri="{C3380CC4-5D6E-409C-BE32-E72D297353CC}">
              <c16:uniqueId val="{00000001-109E-FD4D-8658-AFDA1DBD6842}"/>
            </c:ext>
          </c:extLst>
        </c:ser>
        <c:ser>
          <c:idx val="1"/>
          <c:order val="1"/>
          <c:spPr>
            <a:solidFill>
              <a:srgbClr val="376092"/>
            </a:solidFill>
            <a:ln>
              <a:noFill/>
            </a:ln>
            <a:effectLst/>
          </c:spPr>
          <c:invertIfNegative val="0"/>
          <c:dLbls>
            <c:dLbl>
              <c:idx val="0"/>
              <c:delete val="1"/>
              <c:extLst>
                <c:ext xmlns:c15="http://schemas.microsoft.com/office/drawing/2012/chart" uri="{CE6537A1-D6FC-4f65-9D91-7224C49458BB}"/>
                <c:ext xmlns:c16="http://schemas.microsoft.com/office/drawing/2014/chart" uri="{C3380CC4-5D6E-409C-BE32-E72D297353CC}">
                  <c16:uniqueId val="{00000002-109E-FD4D-8658-AFDA1DBD6842}"/>
                </c:ext>
              </c:extLst>
            </c:dLbl>
            <c:dLbl>
              <c:idx val="1"/>
              <c:delete val="1"/>
              <c:extLst>
                <c:ext xmlns:c15="http://schemas.microsoft.com/office/drawing/2012/chart" uri="{CE6537A1-D6FC-4f65-9D91-7224C49458BB}"/>
                <c:ext xmlns:c16="http://schemas.microsoft.com/office/drawing/2014/chart" uri="{C3380CC4-5D6E-409C-BE32-E72D297353CC}">
                  <c16:uniqueId val="{00000003-109E-FD4D-8658-AFDA1DBD6842}"/>
                </c:ext>
              </c:extLst>
            </c:dLbl>
            <c:spPr>
              <a:noFill/>
              <a:ln>
                <a:noFill/>
              </a:ln>
              <a:effectLst/>
            </c:spPr>
            <c:txPr>
              <a:bodyPr rot="0" spcFirstLastPara="1" vertOverflow="ellipsis" vert="horz" wrap="square" anchor="ctr" anchorCtr="1"/>
              <a:lstStyle/>
              <a:p>
                <a:pPr>
                  <a:defRPr sz="900" b="0" i="0" u="none" strike="noStrike" kern="1200" baseline="0">
                    <a:solidFill>
                      <a:schemeClr val="bg1"/>
                    </a:solidFill>
                    <a:latin typeface="Aptos" panose="020B00040202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Sheet3!$C$35:$C$38</c:f>
              <c:strCache>
                <c:ptCount val="4"/>
                <c:pt idx="0">
                  <c:v>Strong Down Market</c:v>
                </c:pt>
                <c:pt idx="1">
                  <c:v>Flat to Moderate Down</c:v>
                </c:pt>
                <c:pt idx="2">
                  <c:v>Moderate Up Market</c:v>
                </c:pt>
                <c:pt idx="3">
                  <c:v>Strong Up Market</c:v>
                </c:pt>
              </c:strCache>
            </c:strRef>
          </c:cat>
          <c:val>
            <c:numRef>
              <c:f>Sheet3!$Q$45:$Q$48</c:f>
              <c:numCache>
                <c:formatCode>0%</c:formatCode>
                <c:ptCount val="4"/>
                <c:pt idx="0">
                  <c:v>0</c:v>
                </c:pt>
                <c:pt idx="1">
                  <c:v>0</c:v>
                </c:pt>
                <c:pt idx="2">
                  <c:v>0.75977284733227701</c:v>
                </c:pt>
                <c:pt idx="3">
                  <c:v>1</c:v>
                </c:pt>
              </c:numCache>
            </c:numRef>
          </c:val>
          <c:extLst>
            <c:ext xmlns:c16="http://schemas.microsoft.com/office/drawing/2014/chart" uri="{C3380CC4-5D6E-409C-BE32-E72D297353CC}">
              <c16:uniqueId val="{00000004-109E-FD4D-8658-AFDA1DBD6842}"/>
            </c:ext>
          </c:extLst>
        </c:ser>
        <c:dLbls>
          <c:showLegendKey val="0"/>
          <c:showVal val="0"/>
          <c:showCatName val="0"/>
          <c:showSerName val="0"/>
          <c:showPercent val="0"/>
          <c:showBubbleSize val="0"/>
        </c:dLbls>
        <c:gapWidth val="150"/>
        <c:overlap val="100"/>
        <c:axId val="626300399"/>
        <c:axId val="415301439"/>
      </c:barChart>
      <c:catAx>
        <c:axId val="626300399"/>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cross"/>
        <c:minorTickMark val="none"/>
        <c:tickLblPos val="nextTo"/>
        <c:spPr>
          <a:noFill/>
          <a:ln w="9525" cap="flat" cmpd="sng" algn="ctr">
            <a:solidFill>
              <a:schemeClr val="dk1">
                <a:shade val="95000"/>
                <a:satMod val="105000"/>
              </a:schemeClr>
            </a:solidFill>
            <a:prstDash val="solid"/>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415301439"/>
        <c:crosses val="autoZero"/>
        <c:auto val="1"/>
        <c:lblAlgn val="ctr"/>
        <c:lblOffset val="100"/>
        <c:noMultiLvlLbl val="0"/>
      </c:catAx>
      <c:valAx>
        <c:axId val="415301439"/>
        <c:scaling>
          <c:orientation val="minMax"/>
          <c:max val="1"/>
        </c:scaling>
        <c:delete val="1"/>
        <c:axPos val="l"/>
        <c:numFmt formatCode="0%" sourceLinked="1"/>
        <c:majorTickMark val="none"/>
        <c:minorTickMark val="none"/>
        <c:tickLblPos val="none"/>
        <c:crossAx val="626300399"/>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a:latin typeface="Aptos" panose="020B0004020202020204" pitchFamily="34" charset="0"/>
        </a:defRPr>
      </a:pPr>
      <a:endParaRPr lang="en-US"/>
    </a:p>
  </c:txPr>
  <c:externalData r:id="rId3">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4458732439373233E-2"/>
          <c:y val="0.11416708329183305"/>
          <c:w val="0.41593602170132515"/>
          <c:h val="0.73271546280107724"/>
        </c:manualLayout>
      </c:layout>
      <c:barChart>
        <c:barDir val="col"/>
        <c:grouping val="clustered"/>
        <c:varyColors val="0"/>
        <c:ser>
          <c:idx val="0"/>
          <c:order val="0"/>
          <c:tx>
            <c:strRef>
              <c:f>Sheet3!$I$50</c:f>
              <c:strCache>
                <c:ptCount val="1"/>
                <c:pt idx="0">
                  <c:v>Underlying</c:v>
                </c:pt>
              </c:strCache>
            </c:strRef>
          </c:tx>
          <c:spPr>
            <a:solidFill>
              <a:srgbClr val="376092"/>
            </a:solidFill>
            <a:ln>
              <a:noFill/>
            </a:ln>
            <a:effectLst/>
          </c:spPr>
          <c:invertIfNegative val="0"/>
          <c:dLbls>
            <c:spPr>
              <a:noFill/>
              <a:ln>
                <a:noFill/>
              </a:ln>
              <a:effectLst/>
            </c:spPr>
            <c:txPr>
              <a:bodyPr rot="0" spcFirstLastPara="1" vertOverflow="ellipsis" vert="horz" wrap="square" anchor="ctr" anchorCtr="1"/>
              <a:lstStyle/>
              <a:p>
                <a:pPr>
                  <a:defRPr sz="900" b="0" i="0" u="none" strike="noStrike" kern="1200" baseline="0">
                    <a:solidFill>
                      <a:schemeClr val="tx1">
                        <a:lumMod val="75000"/>
                        <a:lumOff val="25000"/>
                      </a:schemeClr>
                    </a:solidFill>
                    <a:latin typeface="Aptos" panose="020B00040202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Sheet3!$C$35:$C$38</c:f>
              <c:strCache>
                <c:ptCount val="4"/>
                <c:pt idx="0">
                  <c:v>Strong Down Market</c:v>
                </c:pt>
                <c:pt idx="1">
                  <c:v>Flat to Moderate Down</c:v>
                </c:pt>
                <c:pt idx="2">
                  <c:v>Moderate Up Market</c:v>
                </c:pt>
                <c:pt idx="3">
                  <c:v>Strong Up Market</c:v>
                </c:pt>
              </c:strCache>
            </c:strRef>
          </c:cat>
          <c:val>
            <c:numRef>
              <c:f>Sheet3!$D$35:$D$38</c:f>
              <c:numCache>
                <c:formatCode>0%</c:formatCode>
                <c:ptCount val="4"/>
                <c:pt idx="0">
                  <c:v>-0.36793492303088499</c:v>
                </c:pt>
                <c:pt idx="1">
                  <c:v>-9.3515544580464599E-2</c:v>
                </c:pt>
                <c:pt idx="2">
                  <c:v>0.124073724675585</c:v>
                </c:pt>
                <c:pt idx="3">
                  <c:v>0.36248484188413899</c:v>
                </c:pt>
              </c:numCache>
            </c:numRef>
          </c:val>
          <c:extLst>
            <c:ext xmlns:c16="http://schemas.microsoft.com/office/drawing/2014/chart" uri="{C3380CC4-5D6E-409C-BE32-E72D297353CC}">
              <c16:uniqueId val="{00000000-3CC3-5043-A90B-C63B5AE55D71}"/>
            </c:ext>
          </c:extLst>
        </c:ser>
        <c:ser>
          <c:idx val="1"/>
          <c:order val="1"/>
          <c:tx>
            <c:strRef>
              <c:f>Sheet3!$I$51</c:f>
              <c:strCache>
                <c:ptCount val="1"/>
                <c:pt idx="0">
                  <c:v>Autcallable Buffered Note</c:v>
                </c:pt>
              </c:strCache>
            </c:strRef>
          </c:tx>
          <c:spPr>
            <a:solidFill>
              <a:schemeClr val="accent1">
                <a:lumMod val="40000"/>
                <a:lumOff val="60000"/>
              </a:schemeClr>
            </a:solidFill>
            <a:ln>
              <a:noFill/>
            </a:ln>
            <a:effectLst/>
          </c:spPr>
          <c:invertIfNegative val="0"/>
          <c:dLbls>
            <c:spPr>
              <a:noFill/>
              <a:ln>
                <a:noFill/>
              </a:ln>
              <a:effectLst/>
            </c:spPr>
            <c:txPr>
              <a:bodyPr rot="0" spcFirstLastPara="1" vertOverflow="ellipsis" vert="horz" wrap="square" anchor="ctr" anchorCtr="1"/>
              <a:lstStyle/>
              <a:p>
                <a:pPr>
                  <a:defRPr sz="900" b="0" i="0" u="none" strike="noStrike" kern="1200" baseline="0">
                    <a:solidFill>
                      <a:schemeClr val="tx1">
                        <a:lumMod val="75000"/>
                        <a:lumOff val="25000"/>
                      </a:schemeClr>
                    </a:solidFill>
                    <a:latin typeface="Aptos" panose="020B00040202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Sheet3!$C$35:$C$38</c:f>
              <c:strCache>
                <c:ptCount val="4"/>
                <c:pt idx="0">
                  <c:v>Strong Down Market</c:v>
                </c:pt>
                <c:pt idx="1">
                  <c:v>Flat to Moderate Down</c:v>
                </c:pt>
                <c:pt idx="2">
                  <c:v>Moderate Up Market</c:v>
                </c:pt>
                <c:pt idx="3">
                  <c:v>Strong Up Market</c:v>
                </c:pt>
              </c:strCache>
            </c:strRef>
          </c:cat>
          <c:val>
            <c:numRef>
              <c:f>Sheet3!$F$35:$F$38</c:f>
              <c:numCache>
                <c:formatCode>0%</c:formatCode>
                <c:ptCount val="4"/>
                <c:pt idx="0">
                  <c:v>-4.1904065849227901E-2</c:v>
                </c:pt>
                <c:pt idx="1">
                  <c:v>8.1305060033594501E-2</c:v>
                </c:pt>
                <c:pt idx="2">
                  <c:v>6.5152535657686195E-2</c:v>
                </c:pt>
                <c:pt idx="3">
                  <c:v>4.9045840192478103E-2</c:v>
                </c:pt>
              </c:numCache>
            </c:numRef>
          </c:val>
          <c:extLst>
            <c:ext xmlns:c16="http://schemas.microsoft.com/office/drawing/2014/chart" uri="{C3380CC4-5D6E-409C-BE32-E72D297353CC}">
              <c16:uniqueId val="{00000001-3CC3-5043-A90B-C63B5AE55D71}"/>
            </c:ext>
          </c:extLst>
        </c:ser>
        <c:dLbls>
          <c:showLegendKey val="0"/>
          <c:showVal val="0"/>
          <c:showCatName val="0"/>
          <c:showSerName val="0"/>
          <c:showPercent val="0"/>
          <c:showBubbleSize val="0"/>
        </c:dLbls>
        <c:gapWidth val="153"/>
        <c:axId val="586152351"/>
        <c:axId val="585446495"/>
      </c:barChart>
      <c:catAx>
        <c:axId val="586152351"/>
        <c:scaling>
          <c:orientation val="minMax"/>
        </c:scaling>
        <c:delete val="0"/>
        <c:axPos val="b"/>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low"/>
        <c:spPr>
          <a:noFill/>
          <a:ln w="9525" cap="flat" cmpd="sng" algn="ctr">
            <a:solidFill>
              <a:schemeClr val="dk1">
                <a:shade val="95000"/>
                <a:satMod val="105000"/>
              </a:schemeClr>
            </a:solidFill>
            <a:prstDash val="solid"/>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crossAx val="585446495"/>
        <c:crosses val="autoZero"/>
        <c:auto val="1"/>
        <c:lblAlgn val="ctr"/>
        <c:lblOffset val="100"/>
        <c:noMultiLvlLbl val="0"/>
      </c:catAx>
      <c:valAx>
        <c:axId val="585446495"/>
        <c:scaling>
          <c:orientation val="minMax"/>
        </c:scaling>
        <c:delete val="0"/>
        <c:axPos val="l"/>
        <c:numFmt formatCode="0%" sourceLinked="1"/>
        <c:majorTickMark val="none"/>
        <c:minorTickMark val="none"/>
        <c:tickLblPos val="nextTo"/>
        <c:spPr>
          <a:solidFill>
            <a:schemeClr val="bg1"/>
          </a:solidFill>
          <a:ln w="9525" cap="flat" cmpd="sng" algn="ctr">
            <a:solidFill>
              <a:schemeClr val="dk1">
                <a:shade val="95000"/>
                <a:satMod val="105000"/>
              </a:schemeClr>
            </a:solidFill>
            <a:prstDash val="solid"/>
          </a:ln>
          <a:effectLst/>
        </c:spPr>
        <c:txPr>
          <a:bodyPr rot="-60000000" spcFirstLastPara="1" vertOverflow="ellipsis" vert="horz" wrap="square" anchor="ctr" anchorCtr="1"/>
          <a:lstStyle/>
          <a:p>
            <a:pPr>
              <a:defRPr sz="900" b="0" i="0" u="none" strike="noStrike" kern="1200" baseline="0">
                <a:solidFill>
                  <a:schemeClr val="bg1"/>
                </a:solidFill>
                <a:latin typeface="Aptos" panose="020B0004020202020204" pitchFamily="34" charset="0"/>
                <a:ea typeface="+mn-ea"/>
                <a:cs typeface="+mn-cs"/>
              </a:defRPr>
            </a:pPr>
            <a:endParaRPr lang="en-US"/>
          </a:p>
        </c:txPr>
        <c:crossAx val="586152351"/>
        <c:crosses val="autoZero"/>
        <c:crossBetween val="between"/>
      </c:valAx>
      <c:spPr>
        <a:noFill/>
        <a:ln>
          <a:noFill/>
        </a:ln>
        <a:effectLst/>
      </c:spPr>
    </c:plotArea>
    <c:legend>
      <c:legendPos val="t"/>
      <c:layout>
        <c:manualLayout>
          <c:xMode val="edge"/>
          <c:yMode val="edge"/>
          <c:x val="0.36014215528256316"/>
          <c:y val="0"/>
          <c:w val="0.28862846633333039"/>
          <c:h val="6.9530387466271201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900" b="0" i="0">
          <a:latin typeface="Aptos" panose="020B0004020202020204" pitchFamily="34" charset="0"/>
        </a:defRPr>
      </a:pPr>
      <a:endParaRPr lang="en-US"/>
    </a:p>
  </c:txPr>
  <c:externalData r:id="rId3">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0386244013916988"/>
          <c:y val="8.8620878353379062E-2"/>
          <c:w val="0.86168297689569884"/>
          <c:h val="0.8376269368778948"/>
        </c:manualLayout>
      </c:layout>
      <c:barChart>
        <c:barDir val="col"/>
        <c:grouping val="stacked"/>
        <c:varyColors val="0"/>
        <c:ser>
          <c:idx val="0"/>
          <c:order val="0"/>
          <c:spPr>
            <a:solidFill>
              <a:schemeClr val="accent1">
                <a:lumMod val="20000"/>
                <a:lumOff val="80000"/>
              </a:schemeClr>
            </a:solidFill>
            <a:ln>
              <a:noFill/>
            </a:ln>
            <a:effectLst/>
          </c:spPr>
          <c:invertIfNegative val="0"/>
          <c:dPt>
            <c:idx val="0"/>
            <c:invertIfNegative val="0"/>
            <c:bubble3D val="0"/>
            <c:spPr>
              <a:solidFill>
                <a:schemeClr val="accent1">
                  <a:lumMod val="60000"/>
                  <a:lumOff val="40000"/>
                </a:schemeClr>
              </a:solidFill>
              <a:ln>
                <a:noFill/>
              </a:ln>
              <a:effectLst/>
            </c:spPr>
            <c:extLst>
              <c:ext xmlns:c16="http://schemas.microsoft.com/office/drawing/2014/chart" uri="{C3380CC4-5D6E-409C-BE32-E72D297353CC}">
                <c16:uniqueId val="{00000001-E1F7-134D-A75D-3693CE6CF6F1}"/>
              </c:ext>
            </c:extLst>
          </c:dPt>
          <c:dPt>
            <c:idx val="1"/>
            <c:invertIfNegative val="0"/>
            <c:bubble3D val="0"/>
            <c:spPr>
              <a:solidFill>
                <a:schemeClr val="accent1">
                  <a:lumMod val="60000"/>
                  <a:lumOff val="40000"/>
                </a:schemeClr>
              </a:solidFill>
              <a:ln>
                <a:noFill/>
              </a:ln>
              <a:effectLst/>
            </c:spPr>
            <c:extLst>
              <c:ext xmlns:c16="http://schemas.microsoft.com/office/drawing/2014/chart" uri="{C3380CC4-5D6E-409C-BE32-E72D297353CC}">
                <c16:uniqueId val="{00000003-E1F7-134D-A75D-3693CE6CF6F1}"/>
              </c:ext>
            </c:extLst>
          </c:dPt>
          <c:dPt>
            <c:idx val="2"/>
            <c:invertIfNegative val="0"/>
            <c:bubble3D val="0"/>
            <c:spPr>
              <a:solidFill>
                <a:schemeClr val="accent1">
                  <a:lumMod val="60000"/>
                  <a:lumOff val="40000"/>
                </a:schemeClr>
              </a:solidFill>
              <a:ln>
                <a:noFill/>
              </a:ln>
              <a:effectLst/>
            </c:spPr>
            <c:extLst>
              <c:ext xmlns:c16="http://schemas.microsoft.com/office/drawing/2014/chart" uri="{C3380CC4-5D6E-409C-BE32-E72D297353CC}">
                <c16:uniqueId val="{00000011-E1F7-134D-A75D-3693CE6CF6F1}"/>
              </c:ext>
            </c:extLst>
          </c:dPt>
          <c:cat>
            <c:strRef>
              <c:f>Sheet1!$G$3:$K$3</c:f>
              <c:strCache>
                <c:ptCount val="4"/>
                <c:pt idx="0">
                  <c:v>SAA</c:v>
                </c:pt>
                <c:pt idx="1">
                  <c:v>+10% Note</c:v>
                </c:pt>
                <c:pt idx="2">
                  <c:v>+20% Note</c:v>
                </c:pt>
                <c:pt idx="3">
                  <c:v>+40% Note</c:v>
                </c:pt>
              </c:strCache>
            </c:strRef>
          </c:cat>
          <c:val>
            <c:numRef>
              <c:f>Sheet1!$G$12:$K$12</c:f>
              <c:numCache>
                <c:formatCode>0%</c:formatCode>
                <c:ptCount val="4"/>
                <c:pt idx="0">
                  <c:v>-5.92687486382244E-2</c:v>
                </c:pt>
                <c:pt idx="1">
                  <c:v>-3.8847792994066099E-2</c:v>
                </c:pt>
                <c:pt idx="2">
                  <c:v>-1.8478844182590499E-2</c:v>
                </c:pt>
                <c:pt idx="3">
                  <c:v>1.7874619962907699E-2</c:v>
                </c:pt>
              </c:numCache>
            </c:numRef>
          </c:val>
          <c:extLst>
            <c:ext xmlns:c16="http://schemas.microsoft.com/office/drawing/2014/chart" uri="{C3380CC4-5D6E-409C-BE32-E72D297353CC}">
              <c16:uniqueId val="{00000004-E1F7-134D-A75D-3693CE6CF6F1}"/>
            </c:ext>
          </c:extLst>
        </c:ser>
        <c:ser>
          <c:idx val="1"/>
          <c:order val="1"/>
          <c:tx>
            <c:strRef>
              <c:f>Sheet1!$H$17</c:f>
              <c:strCache>
                <c:ptCount val="1"/>
                <c:pt idx="0">
                  <c:v>1st to 10th &amp; 90th to 99th</c:v>
                </c:pt>
              </c:strCache>
            </c:strRef>
          </c:tx>
          <c:spPr>
            <a:solidFill>
              <a:schemeClr val="accent1">
                <a:lumMod val="20000"/>
                <a:lumOff val="80000"/>
              </a:schemeClr>
            </a:solidFill>
            <a:ln>
              <a:noFill/>
            </a:ln>
            <a:effectLst/>
          </c:spPr>
          <c:invertIfNegative val="0"/>
          <c:cat>
            <c:strRef>
              <c:f>Sheet1!$G$3:$K$3</c:f>
              <c:strCache>
                <c:ptCount val="4"/>
                <c:pt idx="0">
                  <c:v>SAA</c:v>
                </c:pt>
                <c:pt idx="1">
                  <c:v>+10% Note</c:v>
                </c:pt>
                <c:pt idx="2">
                  <c:v>+20% Note</c:v>
                </c:pt>
                <c:pt idx="3">
                  <c:v>+40% Note</c:v>
                </c:pt>
              </c:strCache>
            </c:strRef>
          </c:cat>
          <c:val>
            <c:numRef>
              <c:f>Sheet1!$G$11:$K$11</c:f>
              <c:numCache>
                <c:formatCode>0%</c:formatCode>
                <c:ptCount val="4"/>
                <c:pt idx="0">
                  <c:v>-0.20105730665442462</c:v>
                </c:pt>
                <c:pt idx="1">
                  <c:v>-0.1921075796432189</c:v>
                </c:pt>
                <c:pt idx="2">
                  <c:v>-0.18392175878391051</c:v>
                </c:pt>
                <c:pt idx="3">
                  <c:v>-0.1700005396036727</c:v>
                </c:pt>
              </c:numCache>
            </c:numRef>
          </c:val>
          <c:extLst>
            <c:ext xmlns:c16="http://schemas.microsoft.com/office/drawing/2014/chart" uri="{C3380CC4-5D6E-409C-BE32-E72D297353CC}">
              <c16:uniqueId val="{00000005-E1F7-134D-A75D-3693CE6CF6F1}"/>
            </c:ext>
          </c:extLst>
        </c:ser>
        <c:ser>
          <c:idx val="2"/>
          <c:order val="2"/>
          <c:tx>
            <c:strRef>
              <c:f>Sheet1!$H$18</c:f>
              <c:strCache>
                <c:ptCount val="1"/>
                <c:pt idx="0">
                  <c:v>10th to 90th</c:v>
                </c:pt>
              </c:strCache>
            </c:strRef>
          </c:tx>
          <c:spPr>
            <a:solidFill>
              <a:schemeClr val="accent1">
                <a:lumMod val="60000"/>
                <a:lumOff val="40000"/>
              </a:schemeClr>
            </a:solidFill>
            <a:ln>
              <a:noFill/>
            </a:ln>
            <a:effectLst/>
          </c:spPr>
          <c:invertIfNegative val="0"/>
          <c:cat>
            <c:strRef>
              <c:f>Sheet1!$G$3:$K$3</c:f>
              <c:strCache>
                <c:ptCount val="4"/>
                <c:pt idx="0">
                  <c:v>SAA</c:v>
                </c:pt>
                <c:pt idx="1">
                  <c:v>+10% Note</c:v>
                </c:pt>
                <c:pt idx="2">
                  <c:v>+20% Note</c:v>
                </c:pt>
                <c:pt idx="3">
                  <c:v>+40% Note</c:v>
                </c:pt>
              </c:strCache>
            </c:strRef>
          </c:cat>
          <c:val>
            <c:numRef>
              <c:f>Sheet1!$G$13:$K$13</c:f>
              <c:numCache>
                <c:formatCode>0%</c:formatCode>
                <c:ptCount val="4"/>
                <c:pt idx="0">
                  <c:v>0.39614541982681001</c:v>
                </c:pt>
                <c:pt idx="1">
                  <c:v>0.34714808995295399</c:v>
                </c:pt>
                <c:pt idx="2">
                  <c:v>0.297673138734182</c:v>
                </c:pt>
                <c:pt idx="3">
                  <c:v>0.202580303658801</c:v>
                </c:pt>
              </c:numCache>
            </c:numRef>
          </c:val>
          <c:extLst>
            <c:ext xmlns:c16="http://schemas.microsoft.com/office/drawing/2014/chart" uri="{C3380CC4-5D6E-409C-BE32-E72D297353CC}">
              <c16:uniqueId val="{00000006-E1F7-134D-A75D-3693CE6CF6F1}"/>
            </c:ext>
          </c:extLst>
        </c:ser>
        <c:ser>
          <c:idx val="3"/>
          <c:order val="3"/>
          <c:spPr>
            <a:solidFill>
              <a:schemeClr val="accent1">
                <a:lumMod val="20000"/>
                <a:lumOff val="80000"/>
              </a:schemeClr>
            </a:solidFill>
            <a:ln>
              <a:noFill/>
            </a:ln>
            <a:effectLst/>
          </c:spPr>
          <c:invertIfNegative val="0"/>
          <c:cat>
            <c:strRef>
              <c:f>Sheet1!$G$3:$K$3</c:f>
              <c:strCache>
                <c:ptCount val="4"/>
                <c:pt idx="0">
                  <c:v>SAA</c:v>
                </c:pt>
                <c:pt idx="1">
                  <c:v>+10% Note</c:v>
                </c:pt>
                <c:pt idx="2">
                  <c:v>+20% Note</c:v>
                </c:pt>
                <c:pt idx="3">
                  <c:v>+40% Note</c:v>
                </c:pt>
              </c:strCache>
            </c:strRef>
          </c:cat>
          <c:val>
            <c:numRef>
              <c:f>Sheet1!$G$14:$K$14</c:f>
              <c:numCache>
                <c:formatCode>0%</c:formatCode>
                <c:ptCount val="4"/>
                <c:pt idx="0">
                  <c:v>0.19835960758335097</c:v>
                </c:pt>
                <c:pt idx="1">
                  <c:v>0.16465098803618106</c:v>
                </c:pt>
                <c:pt idx="2">
                  <c:v>0.13449896163535202</c:v>
                </c:pt>
                <c:pt idx="3">
                  <c:v>7.6465105631397995E-2</c:v>
                </c:pt>
              </c:numCache>
            </c:numRef>
          </c:val>
          <c:extLst>
            <c:ext xmlns:c16="http://schemas.microsoft.com/office/drawing/2014/chart" uri="{C3380CC4-5D6E-409C-BE32-E72D297353CC}">
              <c16:uniqueId val="{00000007-E1F7-134D-A75D-3693CE6CF6F1}"/>
            </c:ext>
          </c:extLst>
        </c:ser>
        <c:dLbls>
          <c:showLegendKey val="0"/>
          <c:showVal val="0"/>
          <c:showCatName val="0"/>
          <c:showSerName val="0"/>
          <c:showPercent val="0"/>
          <c:showBubbleSize val="0"/>
        </c:dLbls>
        <c:gapWidth val="150"/>
        <c:overlap val="100"/>
        <c:axId val="670736431"/>
        <c:axId val="670738143"/>
      </c:barChart>
      <c:scatterChart>
        <c:scatterStyle val="lineMarker"/>
        <c:varyColors val="0"/>
        <c:ser>
          <c:idx val="4"/>
          <c:order val="4"/>
          <c:tx>
            <c:strRef>
              <c:f>Sheet1!$H$19</c:f>
              <c:strCache>
                <c:ptCount val="1"/>
                <c:pt idx="0">
                  <c:v>Median</c:v>
                </c:pt>
              </c:strCache>
            </c:strRef>
          </c:tx>
          <c:spPr>
            <a:ln w="25400" cap="rnd">
              <a:noFill/>
              <a:round/>
            </a:ln>
            <a:effectLst/>
          </c:spPr>
          <c:marker>
            <c:symbol val="dash"/>
            <c:size val="15"/>
            <c:spPr>
              <a:solidFill>
                <a:schemeClr val="bg1"/>
              </a:solidFill>
              <a:ln w="9525">
                <a:solidFill>
                  <a:schemeClr val="tx1"/>
                </a:solidFill>
              </a:ln>
              <a:effectLst/>
            </c:spPr>
          </c:marker>
          <c:dLbls>
            <c:dLbl>
              <c:idx val="3"/>
              <c:layout>
                <c:manualLayout>
                  <c:x val="-6.3271216446638218E-2"/>
                  <c:y val="-3.746726131869358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E1F7-134D-A75D-3693CE6CF6F1}"/>
                </c:ext>
              </c:extLst>
            </c:dLbl>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yVal>
            <c:numRef>
              <c:f>Sheet1!$G$6:$K$6</c:f>
              <c:numCache>
                <c:formatCode>0%</c:formatCode>
                <c:ptCount val="4"/>
                <c:pt idx="0">
                  <c:v>0.17873760082859499</c:v>
                </c:pt>
                <c:pt idx="1">
                  <c:v>0.16411522568016401</c:v>
                </c:pt>
                <c:pt idx="2">
                  <c:v>0.149852930857094</c:v>
                </c:pt>
                <c:pt idx="3">
                  <c:v>0.12150592435143701</c:v>
                </c:pt>
              </c:numCache>
            </c:numRef>
          </c:yVal>
          <c:smooth val="0"/>
          <c:extLst>
            <c:ext xmlns:c16="http://schemas.microsoft.com/office/drawing/2014/chart" uri="{C3380CC4-5D6E-409C-BE32-E72D297353CC}">
              <c16:uniqueId val="{0000000C-E1F7-134D-A75D-3693CE6CF6F1}"/>
            </c:ext>
          </c:extLst>
        </c:ser>
        <c:ser>
          <c:idx val="5"/>
          <c:order val="5"/>
          <c:spPr>
            <a:ln w="25400" cap="rnd">
              <a:noFill/>
              <a:round/>
            </a:ln>
            <a:effectLst/>
          </c:spPr>
          <c:marker>
            <c:symbol val="circle"/>
            <c:size val="5"/>
            <c:spPr>
              <a:noFill/>
              <a:ln w="9525">
                <a:noFill/>
              </a:ln>
              <a:effectLst/>
            </c:spPr>
          </c:marker>
          <c:dLbls>
            <c:dLbl>
              <c:idx val="3"/>
              <c:layout>
                <c:manualLayout>
                  <c:x val="-5.5283995185295906E-2"/>
                  <c:y val="5.6852300872505632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E1F7-134D-A75D-3693CE6CF6F1}"/>
                </c:ext>
              </c:extLst>
            </c:dLbl>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dLblPos val="b"/>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yVal>
            <c:numRef>
              <c:f>Sheet1!$G$4:$K$4</c:f>
              <c:numCache>
                <c:formatCode>0%</c:formatCode>
                <c:ptCount val="4"/>
                <c:pt idx="0">
                  <c:v>-0.26032605529264902</c:v>
                </c:pt>
                <c:pt idx="1">
                  <c:v>-0.23095537263728499</c:v>
                </c:pt>
                <c:pt idx="2">
                  <c:v>-0.202400602966501</c:v>
                </c:pt>
                <c:pt idx="3">
                  <c:v>-0.15212591964076499</c:v>
                </c:pt>
              </c:numCache>
            </c:numRef>
          </c:yVal>
          <c:smooth val="0"/>
          <c:extLst>
            <c:ext xmlns:c16="http://schemas.microsoft.com/office/drawing/2014/chart" uri="{C3380CC4-5D6E-409C-BE32-E72D297353CC}">
              <c16:uniqueId val="{0000000E-E1F7-134D-A75D-3693CE6CF6F1}"/>
            </c:ext>
          </c:extLst>
        </c:ser>
        <c:ser>
          <c:idx val="6"/>
          <c:order val="6"/>
          <c:spPr>
            <a:ln w="25400" cap="rnd">
              <a:noFill/>
              <a:round/>
            </a:ln>
            <a:effectLst/>
          </c:spPr>
          <c:marker>
            <c:symbol val="circle"/>
            <c:size val="5"/>
            <c:spPr>
              <a:noFill/>
              <a:ln w="9525">
                <a:noFill/>
              </a:ln>
              <a:effectLst/>
            </c:spPr>
          </c:marker>
          <c:dLbls>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yVal>
            <c:numRef>
              <c:f>Sheet1!$G$8:$K$8</c:f>
              <c:numCache>
                <c:formatCode>0%</c:formatCode>
                <c:ptCount val="4"/>
                <c:pt idx="0">
                  <c:v>0.59450502741016098</c:v>
                </c:pt>
                <c:pt idx="1">
                  <c:v>0.51179907798913504</c:v>
                </c:pt>
                <c:pt idx="2">
                  <c:v>0.43217210036953402</c:v>
                </c:pt>
                <c:pt idx="3">
                  <c:v>0.279045409290199</c:v>
                </c:pt>
              </c:numCache>
            </c:numRef>
          </c:yVal>
          <c:smooth val="0"/>
          <c:extLst>
            <c:ext xmlns:c16="http://schemas.microsoft.com/office/drawing/2014/chart" uri="{C3380CC4-5D6E-409C-BE32-E72D297353CC}">
              <c16:uniqueId val="{00000010-E1F7-134D-A75D-3693CE6CF6F1}"/>
            </c:ext>
          </c:extLst>
        </c:ser>
        <c:dLbls>
          <c:showLegendKey val="0"/>
          <c:showVal val="0"/>
          <c:showCatName val="0"/>
          <c:showSerName val="0"/>
          <c:showPercent val="0"/>
          <c:showBubbleSize val="0"/>
        </c:dLbls>
        <c:axId val="670736431"/>
        <c:axId val="670738143"/>
      </c:scatterChart>
      <c:catAx>
        <c:axId val="670736431"/>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crossAx val="670738143"/>
        <c:crosses val="autoZero"/>
        <c:auto val="1"/>
        <c:lblAlgn val="ctr"/>
        <c:lblOffset val="100"/>
        <c:noMultiLvlLbl val="0"/>
      </c:catAx>
      <c:valAx>
        <c:axId val="670738143"/>
        <c:scaling>
          <c:orientation val="minMax"/>
        </c:scaling>
        <c:delete val="0"/>
        <c:axPos val="l"/>
        <c:numFmt formatCode="0%"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crossAx val="670736431"/>
        <c:crosses val="autoZero"/>
        <c:crossBetween val="between"/>
      </c:valAx>
      <c:spPr>
        <a:noFill/>
        <a:ln>
          <a:noFill/>
        </a:ln>
        <a:effectLst/>
      </c:spPr>
    </c:plotArea>
    <c:legend>
      <c:legendPos val="t"/>
      <c:legendEntry>
        <c:idx val="0"/>
        <c:delete val="1"/>
      </c:legendEntry>
      <c:legendEntry>
        <c:idx val="3"/>
        <c:delete val="1"/>
      </c:legendEntry>
      <c:legendEntry>
        <c:idx val="5"/>
        <c:delete val="1"/>
      </c:legendEntry>
      <c:legendEntry>
        <c:idx val="6"/>
        <c:delete val="1"/>
      </c:legendEntry>
      <c:overlay val="0"/>
      <c:spPr>
        <a:noFill/>
        <a:ln>
          <a:noFill/>
        </a:ln>
        <a:effectLst/>
      </c:spPr>
      <c:txPr>
        <a:bodyPr rot="0" spcFirstLastPara="1" vertOverflow="ellipsis" vert="horz" wrap="square" anchor="ctr" anchorCtr="1"/>
        <a:lstStyle/>
        <a:p>
          <a:pPr rtl="0">
            <a:defRPr sz="900" b="0" i="0" u="none" strike="noStrike" kern="1200" baseline="0">
              <a:solidFill>
                <a:schemeClr val="tx1"/>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900" b="0" i="0">
          <a:solidFill>
            <a:schemeClr val="tx1"/>
          </a:solidFill>
          <a:latin typeface="Aptos" panose="020B0004020202020204" pitchFamily="34" charset="0"/>
        </a:defRPr>
      </a:pPr>
      <a:endParaRPr lang="en-US"/>
    </a:p>
  </c:txPr>
  <c:externalData r:id="rId3">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4513120701737911E-2"/>
          <c:y val="7.3327735456643561E-2"/>
          <c:w val="0.93479739698421693"/>
          <c:h val="0.70976869929452191"/>
        </c:manualLayout>
      </c:layout>
      <c:barChart>
        <c:barDir val="col"/>
        <c:grouping val="stacked"/>
        <c:varyColors val="0"/>
        <c:ser>
          <c:idx val="0"/>
          <c:order val="0"/>
          <c:tx>
            <c:strRef>
              <c:f>'Buyout Fund'!$B$2</c:f>
              <c:strCache>
                <c:ptCount val="1"/>
                <c:pt idx="0">
                  <c:v>Fund Net Asset Value</c:v>
                </c:pt>
              </c:strCache>
            </c:strRef>
          </c:tx>
          <c:spPr>
            <a:solidFill>
              <a:schemeClr val="tx2">
                <a:lumMod val="75000"/>
              </a:schemeClr>
            </a:solidFill>
            <a:ln w="3175">
              <a:solidFill>
                <a:schemeClr val="tx1">
                  <a:lumMod val="95000"/>
                  <a:lumOff val="5000"/>
                </a:schemeClr>
              </a:solidFill>
            </a:ln>
            <a:effectLst/>
          </c:spPr>
          <c:invertIfNegative val="0"/>
          <c:cat>
            <c:numRef>
              <c:f>'Buyout Fund'!$A$3:$A$18</c:f>
              <c:numCache>
                <c:formatCode>General</c:formatCode>
                <c:ptCount val="16"/>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numCache>
            </c:numRef>
          </c:cat>
          <c:val>
            <c:numRef>
              <c:f>'Buyout Fund'!$B$3:$B$18</c:f>
              <c:numCache>
                <c:formatCode>0</c:formatCode>
                <c:ptCount val="16"/>
                <c:pt idx="0">
                  <c:v>0</c:v>
                </c:pt>
                <c:pt idx="1">
                  <c:v>18</c:v>
                </c:pt>
                <c:pt idx="2">
                  <c:v>37.912744561611397</c:v>
                </c:pt>
                <c:pt idx="3">
                  <c:v>59.6301842695011</c:v>
                </c:pt>
                <c:pt idx="4">
                  <c:v>75.071284908746193</c:v>
                </c:pt>
                <c:pt idx="5">
                  <c:v>87.906527692018201</c:v>
                </c:pt>
                <c:pt idx="6">
                  <c:v>95.631540738282297</c:v>
                </c:pt>
                <c:pt idx="7">
                  <c:v>94.305174013066207</c:v>
                </c:pt>
                <c:pt idx="8">
                  <c:v>81.939031365025599</c:v>
                </c:pt>
                <c:pt idx="9">
                  <c:v>59.943968796591498</c:v>
                </c:pt>
                <c:pt idx="10">
                  <c:v>34.929633716896802</c:v>
                </c:pt>
                <c:pt idx="11">
                  <c:v>15.6403662459812</c:v>
                </c:pt>
                <c:pt idx="12">
                  <c:v>5.6137614567280201</c:v>
                </c:pt>
                <c:pt idx="13">
                  <c:v>2.1656727440643602</c:v>
                </c:pt>
                <c:pt idx="14">
                  <c:v>1.2324299095422899</c:v>
                </c:pt>
                <c:pt idx="15">
                  <c:v>0.87363044101286902</c:v>
                </c:pt>
              </c:numCache>
            </c:numRef>
          </c:val>
          <c:extLst>
            <c:ext xmlns:c16="http://schemas.microsoft.com/office/drawing/2014/chart" uri="{C3380CC4-5D6E-409C-BE32-E72D297353CC}">
              <c16:uniqueId val="{00000000-1134-604A-93A7-21249D3FB9EA}"/>
            </c:ext>
          </c:extLst>
        </c:ser>
        <c:dLbls>
          <c:showLegendKey val="0"/>
          <c:showVal val="0"/>
          <c:showCatName val="0"/>
          <c:showSerName val="0"/>
          <c:showPercent val="0"/>
          <c:showBubbleSize val="0"/>
        </c:dLbls>
        <c:gapWidth val="66"/>
        <c:overlap val="100"/>
        <c:axId val="992583327"/>
        <c:axId val="992271455"/>
      </c:barChart>
      <c:catAx>
        <c:axId val="992583327"/>
        <c:scaling>
          <c:orientation val="minMax"/>
        </c:scaling>
        <c:delete val="0"/>
        <c:axPos val="b"/>
        <c:title>
          <c:tx>
            <c:rich>
              <a:bodyPr rot="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r>
                  <a:rPr lang="en-US"/>
                  <a:t>Beginning of Year</a:t>
                </a:r>
              </a:p>
            </c:rich>
          </c:tx>
          <c:layout>
            <c:manualLayout>
              <c:xMode val="edge"/>
              <c:yMode val="edge"/>
              <c:x val="0.4284638521243837"/>
              <c:y val="0.88755335003591884"/>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title>
        <c:numFmt formatCode="General" sourceLinked="1"/>
        <c:majorTickMark val="none"/>
        <c:minorTickMark val="none"/>
        <c:tickLblPos val="low"/>
        <c:spPr>
          <a:noFill/>
          <a:ln w="12700" cap="flat" cmpd="sng" algn="ctr">
            <a:solidFill>
              <a:schemeClr val="dk1"/>
            </a:solidFill>
            <a:prstDash val="solid"/>
            <a:miter lim="800000"/>
          </a:ln>
          <a:effectLst/>
        </c:spPr>
        <c:txPr>
          <a:bodyPr rot="-6000000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crossAx val="992271455"/>
        <c:crosses val="autoZero"/>
        <c:auto val="1"/>
        <c:lblAlgn val="ctr"/>
        <c:lblOffset val="100"/>
        <c:noMultiLvlLbl val="0"/>
      </c:catAx>
      <c:valAx>
        <c:axId val="992271455"/>
        <c:scaling>
          <c:orientation val="minMax"/>
        </c:scaling>
        <c:delete val="0"/>
        <c:axPos val="l"/>
        <c:numFmt formatCode="0" sourceLinked="1"/>
        <c:majorTickMark val="none"/>
        <c:minorTickMark val="none"/>
        <c:tickLblPos val="nextTo"/>
        <c:spPr>
          <a:noFill/>
          <a:ln w="12700" cap="flat" cmpd="sng" algn="ctr">
            <a:solidFill>
              <a:schemeClr val="dk1"/>
            </a:solidFill>
            <a:prstDash val="solid"/>
            <a:miter lim="800000"/>
          </a:ln>
          <a:effectLst/>
        </c:spPr>
        <c:txPr>
          <a:bodyPr rot="-6000000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crossAx val="992583327"/>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900" b="0" i="0">
          <a:solidFill>
            <a:schemeClr val="tx1"/>
          </a:solidFill>
          <a:latin typeface="Aptos" panose="020B0004020202020204" pitchFamily="34" charset="0"/>
        </a:defRPr>
      </a:pPr>
      <a:endParaRPr lang="en-US"/>
    </a:p>
  </c:txPr>
  <c:externalData r:id="rId3">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0855142738721135E-2"/>
          <c:y val="7.2115151586739437E-2"/>
          <c:w val="0.91602901356273059"/>
          <c:h val="0.80547295070849623"/>
        </c:manualLayout>
      </c:layout>
      <c:barChart>
        <c:barDir val="col"/>
        <c:grouping val="stacked"/>
        <c:varyColors val="0"/>
        <c:ser>
          <c:idx val="0"/>
          <c:order val="0"/>
          <c:tx>
            <c:strRef>
              <c:f>'Buyout Fund'!$G$2</c:f>
              <c:strCache>
                <c:ptCount val="1"/>
                <c:pt idx="0">
                  <c:v>Capital Calls (LHS)</c:v>
                </c:pt>
              </c:strCache>
            </c:strRef>
          </c:tx>
          <c:spPr>
            <a:solidFill>
              <a:schemeClr val="tx2">
                <a:lumMod val="75000"/>
              </a:schemeClr>
            </a:solidFill>
            <a:ln w="3175">
              <a:solidFill>
                <a:schemeClr val="tx1">
                  <a:lumMod val="95000"/>
                  <a:lumOff val="5000"/>
                </a:schemeClr>
              </a:solidFill>
            </a:ln>
            <a:effectLst/>
          </c:spPr>
          <c:invertIfNegative val="0"/>
          <c:val>
            <c:numRef>
              <c:f>'Buyout Fund'!$G$3:$G$18</c:f>
              <c:numCache>
                <c:formatCode>0</c:formatCode>
                <c:ptCount val="16"/>
                <c:pt idx="0">
                  <c:v>-18</c:v>
                </c:pt>
                <c:pt idx="1">
                  <c:v>-18</c:v>
                </c:pt>
                <c:pt idx="2">
                  <c:v>-18</c:v>
                </c:pt>
                <c:pt idx="3">
                  <c:v>-10.27</c:v>
                </c:pt>
                <c:pt idx="4">
                  <c:v>-7.9799999999999898</c:v>
                </c:pt>
                <c:pt idx="5">
                  <c:v>-6.2</c:v>
                </c:pt>
                <c:pt idx="6">
                  <c:v>-4.8099999999999996</c:v>
                </c:pt>
                <c:pt idx="7">
                  <c:v>-3.74</c:v>
                </c:pt>
                <c:pt idx="8">
                  <c:v>-2.9</c:v>
                </c:pt>
                <c:pt idx="9">
                  <c:v>-2.2599999999999998</c:v>
                </c:pt>
                <c:pt idx="10">
                  <c:v>-1.75</c:v>
                </c:pt>
                <c:pt idx="11">
                  <c:v>-1.3599999999999901</c:v>
                </c:pt>
                <c:pt idx="12">
                  <c:v>-1.06</c:v>
                </c:pt>
                <c:pt idx="13">
                  <c:v>-0.82</c:v>
                </c:pt>
                <c:pt idx="14">
                  <c:v>-0.64</c:v>
                </c:pt>
                <c:pt idx="15">
                  <c:v>-0.5</c:v>
                </c:pt>
              </c:numCache>
            </c:numRef>
          </c:val>
          <c:extLst>
            <c:ext xmlns:c16="http://schemas.microsoft.com/office/drawing/2014/chart" uri="{C3380CC4-5D6E-409C-BE32-E72D297353CC}">
              <c16:uniqueId val="{00000000-45F4-9147-8C8E-4D2B1A4992C4}"/>
            </c:ext>
          </c:extLst>
        </c:ser>
        <c:ser>
          <c:idx val="1"/>
          <c:order val="1"/>
          <c:tx>
            <c:strRef>
              <c:f>'Buyout Fund'!$H$2</c:f>
              <c:strCache>
                <c:ptCount val="1"/>
                <c:pt idx="0">
                  <c:v>Distributions (LHS)</c:v>
                </c:pt>
              </c:strCache>
            </c:strRef>
          </c:tx>
          <c:spPr>
            <a:solidFill>
              <a:schemeClr val="tx2">
                <a:lumMod val="25000"/>
                <a:lumOff val="75000"/>
              </a:schemeClr>
            </a:solidFill>
            <a:ln w="3175">
              <a:solidFill>
                <a:schemeClr val="tx1">
                  <a:lumMod val="95000"/>
                  <a:lumOff val="5000"/>
                </a:schemeClr>
              </a:solidFill>
            </a:ln>
            <a:effectLst/>
          </c:spPr>
          <c:invertIfNegative val="0"/>
          <c:val>
            <c:numRef>
              <c:f>'Buyout Fund'!$H$3:$H$18</c:f>
              <c:numCache>
                <c:formatCode>0</c:formatCode>
                <c:ptCount val="16"/>
                <c:pt idx="0">
                  <c:v>0</c:v>
                </c:pt>
                <c:pt idx="1">
                  <c:v>1.9914736035214898E-3</c:v>
                </c:pt>
                <c:pt idx="2">
                  <c:v>0.100152808988374</c:v>
                </c:pt>
                <c:pt idx="3">
                  <c:v>0.77378583477353302</c:v>
                </c:pt>
                <c:pt idx="4">
                  <c:v>3.0020131795507901</c:v>
                </c:pt>
                <c:pt idx="5">
                  <c:v>7.8612581501884398</c:v>
                </c:pt>
                <c:pt idx="6">
                  <c:v>15.8924543584201</c:v>
                </c:pt>
                <c:pt idx="7">
                  <c:v>25.761393209589599</c:v>
                </c:pt>
                <c:pt idx="8">
                  <c:v>33.244047658918902</c:v>
                </c:pt>
                <c:pt idx="9">
                  <c:v>33.064035733599802</c:v>
                </c:pt>
                <c:pt idx="10">
                  <c:v>24.4067560203029</c:v>
                </c:pt>
                <c:pt idx="11">
                  <c:v>12.8708820888759</c:v>
                </c:pt>
                <c:pt idx="12">
                  <c:v>5.0437863441690398</c:v>
                </c:pt>
                <c:pt idx="13">
                  <c:v>1.9592199440649001</c:v>
                </c:pt>
                <c:pt idx="14">
                  <c:v>1.1183975741079</c:v>
                </c:pt>
                <c:pt idx="15">
                  <c:v>0.81383436186790503</c:v>
                </c:pt>
              </c:numCache>
            </c:numRef>
          </c:val>
          <c:extLst>
            <c:ext xmlns:c16="http://schemas.microsoft.com/office/drawing/2014/chart" uri="{C3380CC4-5D6E-409C-BE32-E72D297353CC}">
              <c16:uniqueId val="{00000001-45F4-9147-8C8E-4D2B1A4992C4}"/>
            </c:ext>
          </c:extLst>
        </c:ser>
        <c:dLbls>
          <c:showLegendKey val="0"/>
          <c:showVal val="0"/>
          <c:showCatName val="0"/>
          <c:showSerName val="0"/>
          <c:showPercent val="0"/>
          <c:showBubbleSize val="0"/>
        </c:dLbls>
        <c:gapWidth val="99"/>
        <c:overlap val="100"/>
        <c:axId val="992583327"/>
        <c:axId val="992271455"/>
      </c:barChart>
      <c:lineChart>
        <c:grouping val="standard"/>
        <c:varyColors val="0"/>
        <c:ser>
          <c:idx val="2"/>
          <c:order val="2"/>
          <c:tx>
            <c:strRef>
              <c:f>'Buyout Fund'!$I$2</c:f>
              <c:strCache>
                <c:ptCount val="1"/>
                <c:pt idx="0">
                  <c:v>Cumulative Net Cash-Flow (RHS)</c:v>
                </c:pt>
              </c:strCache>
            </c:strRef>
          </c:tx>
          <c:spPr>
            <a:ln w="19050" cap="rnd">
              <a:solidFill>
                <a:schemeClr val="accent2"/>
              </a:solidFill>
              <a:round/>
            </a:ln>
            <a:effectLst/>
          </c:spPr>
          <c:marker>
            <c:symbol val="none"/>
          </c:marker>
          <c:dPt>
            <c:idx val="4"/>
            <c:marker>
              <c:symbol val="none"/>
            </c:marker>
            <c:bubble3D val="0"/>
            <c:extLst>
              <c:ext xmlns:c16="http://schemas.microsoft.com/office/drawing/2014/chart" uri="{C3380CC4-5D6E-409C-BE32-E72D297353CC}">
                <c16:uniqueId val="{00000002-45F4-9147-8C8E-4D2B1A4992C4}"/>
              </c:ext>
            </c:extLst>
          </c:dPt>
          <c:val>
            <c:numRef>
              <c:f>'Buyout Fund'!$I$3:$I$18</c:f>
              <c:numCache>
                <c:formatCode>0</c:formatCode>
                <c:ptCount val="16"/>
                <c:pt idx="0">
                  <c:v>-18</c:v>
                </c:pt>
                <c:pt idx="1">
                  <c:v>-35.998008526396475</c:v>
                </c:pt>
                <c:pt idx="2">
                  <c:v>-53.897855717408106</c:v>
                </c:pt>
                <c:pt idx="3">
                  <c:v>-63.394069882634575</c:v>
                </c:pt>
                <c:pt idx="4">
                  <c:v>-68.372056703083771</c:v>
                </c:pt>
                <c:pt idx="5">
                  <c:v>-66.710798552895326</c:v>
                </c:pt>
                <c:pt idx="6">
                  <c:v>-55.628344194475225</c:v>
                </c:pt>
                <c:pt idx="7">
                  <c:v>-33.606950984885628</c:v>
                </c:pt>
                <c:pt idx="8">
                  <c:v>-3.2629033259667253</c:v>
                </c:pt>
                <c:pt idx="9">
                  <c:v>27.541132407633079</c:v>
                </c:pt>
                <c:pt idx="10">
                  <c:v>50.197888427935979</c:v>
                </c:pt>
                <c:pt idx="11">
                  <c:v>61.708770516811889</c:v>
                </c:pt>
                <c:pt idx="12">
                  <c:v>65.692556860980929</c:v>
                </c:pt>
                <c:pt idx="13">
                  <c:v>66.831776805045834</c:v>
                </c:pt>
                <c:pt idx="14">
                  <c:v>67.310174379153736</c:v>
                </c:pt>
                <c:pt idx="15">
                  <c:v>67.62400874102164</c:v>
                </c:pt>
              </c:numCache>
            </c:numRef>
          </c:val>
          <c:smooth val="0"/>
          <c:extLst>
            <c:ext xmlns:c16="http://schemas.microsoft.com/office/drawing/2014/chart" uri="{C3380CC4-5D6E-409C-BE32-E72D297353CC}">
              <c16:uniqueId val="{00000003-45F4-9147-8C8E-4D2B1A4992C4}"/>
            </c:ext>
          </c:extLst>
        </c:ser>
        <c:dLbls>
          <c:showLegendKey val="0"/>
          <c:showVal val="0"/>
          <c:showCatName val="0"/>
          <c:showSerName val="0"/>
          <c:showPercent val="0"/>
          <c:showBubbleSize val="0"/>
        </c:dLbls>
        <c:marker val="1"/>
        <c:smooth val="0"/>
        <c:axId val="675499583"/>
        <c:axId val="675300639"/>
      </c:lineChart>
      <c:catAx>
        <c:axId val="992583327"/>
        <c:scaling>
          <c:orientation val="minMax"/>
        </c:scaling>
        <c:delete val="0"/>
        <c:axPos val="b"/>
        <c:majorTickMark val="none"/>
        <c:minorTickMark val="none"/>
        <c:tickLblPos val="low"/>
        <c:spPr>
          <a:noFill/>
          <a:ln w="12700" cap="flat" cmpd="sng" algn="ctr">
            <a:solidFill>
              <a:schemeClr val="dk1"/>
            </a:solidFill>
            <a:prstDash val="solid"/>
            <a:miter lim="800000"/>
          </a:ln>
          <a:effectLst/>
        </c:spPr>
        <c:txPr>
          <a:bodyPr rot="-6000000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crossAx val="992271455"/>
        <c:crosses val="autoZero"/>
        <c:auto val="1"/>
        <c:lblAlgn val="ctr"/>
        <c:lblOffset val="100"/>
        <c:noMultiLvlLbl val="0"/>
      </c:catAx>
      <c:valAx>
        <c:axId val="992271455"/>
        <c:scaling>
          <c:orientation val="minMax"/>
        </c:scaling>
        <c:delete val="0"/>
        <c:axPos val="l"/>
        <c:numFmt formatCode="0" sourceLinked="1"/>
        <c:majorTickMark val="none"/>
        <c:minorTickMark val="none"/>
        <c:tickLblPos val="nextTo"/>
        <c:spPr>
          <a:noFill/>
          <a:ln w="12700" cap="flat" cmpd="sng" algn="ctr">
            <a:solidFill>
              <a:schemeClr val="dk1"/>
            </a:solidFill>
            <a:prstDash val="solid"/>
            <a:miter lim="800000"/>
          </a:ln>
          <a:effectLst/>
        </c:spPr>
        <c:txPr>
          <a:bodyPr rot="-6000000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crossAx val="992583327"/>
        <c:crosses val="autoZero"/>
        <c:crossBetween val="between"/>
      </c:valAx>
      <c:valAx>
        <c:axId val="675300639"/>
        <c:scaling>
          <c:orientation val="minMax"/>
        </c:scaling>
        <c:delete val="0"/>
        <c:axPos val="r"/>
        <c:numFmt formatCode="0" sourceLinked="1"/>
        <c:majorTickMark val="none"/>
        <c:minorTickMark val="none"/>
        <c:tickLblPos val="nextTo"/>
        <c:spPr>
          <a:noFill/>
          <a:ln w="12700" cap="flat" cmpd="sng" algn="ctr">
            <a:solidFill>
              <a:schemeClr val="dk1"/>
            </a:solidFill>
            <a:prstDash val="solid"/>
            <a:miter lim="800000"/>
          </a:ln>
          <a:effectLst/>
        </c:spPr>
        <c:txPr>
          <a:bodyPr rot="-6000000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crossAx val="675499583"/>
        <c:crosses val="max"/>
        <c:crossBetween val="between"/>
      </c:valAx>
      <c:catAx>
        <c:axId val="675499583"/>
        <c:scaling>
          <c:orientation val="minMax"/>
        </c:scaling>
        <c:delete val="1"/>
        <c:axPos val="b"/>
        <c:majorTickMark val="out"/>
        <c:minorTickMark val="none"/>
        <c:tickLblPos val="nextTo"/>
        <c:crossAx val="675300639"/>
        <c:crosses val="autoZero"/>
        <c:auto val="1"/>
        <c:lblAlgn val="ctr"/>
        <c:lblOffset val="100"/>
        <c:noMultiLvlLbl val="0"/>
      </c:catAx>
      <c:spPr>
        <a:noFill/>
        <a:ln>
          <a:noFill/>
        </a:ln>
        <a:effectLst/>
      </c:spPr>
    </c:plotArea>
    <c:legend>
      <c:legendPos val="t"/>
      <c:layout>
        <c:manualLayout>
          <c:xMode val="edge"/>
          <c:yMode val="edge"/>
          <c:x val="5.0463510502248766E-2"/>
          <c:y val="8.310235429584352E-2"/>
          <c:w val="0.25657138539002755"/>
          <c:h val="0.25991302290022239"/>
        </c:manualLayout>
      </c:layout>
      <c:overlay val="0"/>
      <c:spPr>
        <a:noFill/>
        <a:ln w="3175">
          <a:solidFill>
            <a:schemeClr val="bg1">
              <a:lumMod val="75000"/>
            </a:schemeClr>
          </a:solidFill>
        </a:ln>
        <a:effectLst/>
      </c:spPr>
      <c:txPr>
        <a:bodyPr rot="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900" b="0" i="0">
          <a:solidFill>
            <a:schemeClr val="tx1"/>
          </a:solidFill>
          <a:latin typeface="Aptos" panose="020B0004020202020204" pitchFamily="34" charset="0"/>
        </a:defRPr>
      </a:pPr>
      <a:endParaRPr lang="en-US"/>
    </a:p>
  </c:txPr>
  <c:externalData r:id="rId3">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9394215170339894E-2"/>
          <c:y val="0.12751336636216734"/>
          <c:w val="0.87375486355662824"/>
          <c:h val="0.76545768135771519"/>
        </c:manualLayout>
      </c:layout>
      <c:barChart>
        <c:barDir val="col"/>
        <c:grouping val="stacked"/>
        <c:varyColors val="0"/>
        <c:ser>
          <c:idx val="0"/>
          <c:order val="0"/>
          <c:tx>
            <c:strRef>
              <c:f>Flows!$B$1</c:f>
              <c:strCache>
                <c:ptCount val="1"/>
                <c:pt idx="0">
                  <c:v>Buyout</c:v>
                </c:pt>
              </c:strCache>
            </c:strRef>
          </c:tx>
          <c:spPr>
            <a:solidFill>
              <a:schemeClr val="accent1">
                <a:lumMod val="40000"/>
                <a:lumOff val="60000"/>
              </a:schemeClr>
            </a:solidFill>
            <a:ln>
              <a:noFill/>
            </a:ln>
            <a:effectLst/>
          </c:spPr>
          <c:invertIfNegative val="0"/>
          <c:val>
            <c:numRef>
              <c:f>Flows!$B$3:$B$22</c:f>
              <c:numCache>
                <c:formatCode>0</c:formatCode>
                <c:ptCount val="20"/>
                <c:pt idx="0">
                  <c:v>-9</c:v>
                </c:pt>
                <c:pt idx="1">
                  <c:v>-9</c:v>
                </c:pt>
                <c:pt idx="2">
                  <c:v>-9</c:v>
                </c:pt>
                <c:pt idx="3">
                  <c:v>-5.1349999999999998</c:v>
                </c:pt>
                <c:pt idx="4">
                  <c:v>-3.98999999999999</c:v>
                </c:pt>
                <c:pt idx="5">
                  <c:v>-3.1</c:v>
                </c:pt>
                <c:pt idx="6">
                  <c:v>-2.4049999999999998</c:v>
                </c:pt>
                <c:pt idx="7">
                  <c:v>-1.87</c:v>
                </c:pt>
                <c:pt idx="8">
                  <c:v>-1.45</c:v>
                </c:pt>
                <c:pt idx="9">
                  <c:v>-1.1299999999999999</c:v>
                </c:pt>
                <c:pt idx="10">
                  <c:v>-0.875</c:v>
                </c:pt>
                <c:pt idx="11">
                  <c:v>-0.67999999999999905</c:v>
                </c:pt>
                <c:pt idx="12">
                  <c:v>-0.53</c:v>
                </c:pt>
                <c:pt idx="13">
                  <c:v>-0.41</c:v>
                </c:pt>
                <c:pt idx="14">
                  <c:v>-0.32</c:v>
                </c:pt>
                <c:pt idx="15">
                  <c:v>-0.25</c:v>
                </c:pt>
                <c:pt idx="16">
                  <c:v>-0.19</c:v>
                </c:pt>
                <c:pt idx="17">
                  <c:v>-0.15</c:v>
                </c:pt>
                <c:pt idx="18">
                  <c:v>-0.11499999999999901</c:v>
                </c:pt>
                <c:pt idx="19">
                  <c:v>-0.09</c:v>
                </c:pt>
              </c:numCache>
            </c:numRef>
          </c:val>
          <c:extLst>
            <c:ext xmlns:c16="http://schemas.microsoft.com/office/drawing/2014/chart" uri="{C3380CC4-5D6E-409C-BE32-E72D297353CC}">
              <c16:uniqueId val="{00000000-AA10-6C42-8D06-0AB0BCC6CE7A}"/>
            </c:ext>
          </c:extLst>
        </c:ser>
        <c:ser>
          <c:idx val="1"/>
          <c:order val="1"/>
          <c:tx>
            <c:strRef>
              <c:f>Flows!$C$1</c:f>
              <c:strCache>
                <c:ptCount val="1"/>
                <c:pt idx="0">
                  <c:v>Private Credit</c:v>
                </c:pt>
              </c:strCache>
            </c:strRef>
          </c:tx>
          <c:spPr>
            <a:solidFill>
              <a:schemeClr val="tx2">
                <a:lumMod val="75000"/>
              </a:schemeClr>
            </a:solidFill>
            <a:ln>
              <a:noFill/>
            </a:ln>
            <a:effectLst/>
          </c:spPr>
          <c:invertIfNegative val="0"/>
          <c:val>
            <c:numRef>
              <c:f>Flows!$C$3:$C$22</c:f>
              <c:numCache>
                <c:formatCode>0</c:formatCode>
                <c:ptCount val="20"/>
                <c:pt idx="0">
                  <c:v>-17.5</c:v>
                </c:pt>
                <c:pt idx="1">
                  <c:v>-17.5</c:v>
                </c:pt>
                <c:pt idx="2">
                  <c:v>-5.0149999999999997</c:v>
                </c:pt>
                <c:pt idx="3">
                  <c:v>-3.34</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numCache>
            </c:numRef>
          </c:val>
          <c:extLst>
            <c:ext xmlns:c16="http://schemas.microsoft.com/office/drawing/2014/chart" uri="{C3380CC4-5D6E-409C-BE32-E72D297353CC}">
              <c16:uniqueId val="{00000001-AA10-6C42-8D06-0AB0BCC6CE7A}"/>
            </c:ext>
          </c:extLst>
        </c:ser>
        <c:ser>
          <c:idx val="2"/>
          <c:order val="2"/>
          <c:tx>
            <c:strRef>
              <c:f>Flows!$D$1</c:f>
              <c:strCache>
                <c:ptCount val="1"/>
                <c:pt idx="0">
                  <c:v>Buyout</c:v>
                </c:pt>
              </c:strCache>
            </c:strRef>
          </c:tx>
          <c:spPr>
            <a:solidFill>
              <a:schemeClr val="accent1">
                <a:lumMod val="40000"/>
                <a:lumOff val="60000"/>
              </a:schemeClr>
            </a:solidFill>
            <a:ln>
              <a:noFill/>
            </a:ln>
            <a:effectLst/>
          </c:spPr>
          <c:invertIfNegative val="0"/>
          <c:val>
            <c:numRef>
              <c:f>Flows!$D$3:$D$22</c:f>
              <c:numCache>
                <c:formatCode>0</c:formatCode>
                <c:ptCount val="20"/>
                <c:pt idx="0">
                  <c:v>0</c:v>
                </c:pt>
                <c:pt idx="1">
                  <c:v>9.9573680176074796E-4</c:v>
                </c:pt>
                <c:pt idx="2">
                  <c:v>5.0076404494187397E-2</c:v>
                </c:pt>
                <c:pt idx="3">
                  <c:v>0.38689291738676601</c:v>
                </c:pt>
                <c:pt idx="4">
                  <c:v>1.5010065897753899</c:v>
                </c:pt>
                <c:pt idx="5">
                  <c:v>3.9306290750942199</c:v>
                </c:pt>
                <c:pt idx="6">
                  <c:v>7.9462271792100596</c:v>
                </c:pt>
                <c:pt idx="7">
                  <c:v>12.880696604794799</c:v>
                </c:pt>
                <c:pt idx="8">
                  <c:v>16.622023829459401</c:v>
                </c:pt>
                <c:pt idx="9">
                  <c:v>16.532017866799901</c:v>
                </c:pt>
                <c:pt idx="10">
                  <c:v>12.2033780101514</c:v>
                </c:pt>
                <c:pt idx="11">
                  <c:v>6.4354410444379697</c:v>
                </c:pt>
                <c:pt idx="12">
                  <c:v>2.5218931720845199</c:v>
                </c:pt>
                <c:pt idx="13">
                  <c:v>0.97960997203245304</c:v>
                </c:pt>
                <c:pt idx="14">
                  <c:v>0.55919878705395099</c:v>
                </c:pt>
                <c:pt idx="15">
                  <c:v>0.40691718093395202</c:v>
                </c:pt>
                <c:pt idx="16">
                  <c:v>0.30777414196385799</c:v>
                </c:pt>
                <c:pt idx="17">
                  <c:v>0.22923661422851899</c:v>
                </c:pt>
                <c:pt idx="18">
                  <c:v>0.176892494795687</c:v>
                </c:pt>
                <c:pt idx="19">
                  <c:v>0.134042989368375</c:v>
                </c:pt>
              </c:numCache>
            </c:numRef>
          </c:val>
          <c:extLst>
            <c:ext xmlns:c16="http://schemas.microsoft.com/office/drawing/2014/chart" uri="{C3380CC4-5D6E-409C-BE32-E72D297353CC}">
              <c16:uniqueId val="{00000002-AA10-6C42-8D06-0AB0BCC6CE7A}"/>
            </c:ext>
          </c:extLst>
        </c:ser>
        <c:ser>
          <c:idx val="3"/>
          <c:order val="3"/>
          <c:tx>
            <c:strRef>
              <c:f>Flows!$E$1</c:f>
              <c:strCache>
                <c:ptCount val="1"/>
                <c:pt idx="0">
                  <c:v>Private Credit</c:v>
                </c:pt>
              </c:strCache>
            </c:strRef>
          </c:tx>
          <c:spPr>
            <a:solidFill>
              <a:schemeClr val="tx2">
                <a:lumMod val="75000"/>
              </a:schemeClr>
            </a:solidFill>
            <a:ln>
              <a:noFill/>
            </a:ln>
            <a:effectLst/>
          </c:spPr>
          <c:invertIfNegative val="0"/>
          <c:val>
            <c:numRef>
              <c:f>Flows!$E$3:$E$22</c:f>
              <c:numCache>
                <c:formatCode>0</c:formatCode>
                <c:ptCount val="20"/>
                <c:pt idx="0">
                  <c:v>0</c:v>
                </c:pt>
                <c:pt idx="1">
                  <c:v>1.0075101090255201</c:v>
                </c:pt>
                <c:pt idx="2">
                  <c:v>3.3208997083278802</c:v>
                </c:pt>
                <c:pt idx="3">
                  <c:v>7.4010020834184997</c:v>
                </c:pt>
                <c:pt idx="4">
                  <c:v>14.5207470627745</c:v>
                </c:pt>
                <c:pt idx="5">
                  <c:v>20.101500493118198</c:v>
                </c:pt>
                <c:pt idx="6">
                  <c:v>14.335159383097199</c:v>
                </c:pt>
                <c:pt idx="7">
                  <c:v>3.74824045649589</c:v>
                </c:pt>
                <c:pt idx="8">
                  <c:v>0.209438286609408</c:v>
                </c:pt>
                <c:pt idx="9">
                  <c:v>9.1636005485734801E-4</c:v>
                </c:pt>
                <c:pt idx="10">
                  <c:v>0</c:v>
                </c:pt>
                <c:pt idx="11">
                  <c:v>0</c:v>
                </c:pt>
                <c:pt idx="12">
                  <c:v>0</c:v>
                </c:pt>
                <c:pt idx="13">
                  <c:v>0</c:v>
                </c:pt>
                <c:pt idx="14">
                  <c:v>0</c:v>
                </c:pt>
                <c:pt idx="15">
                  <c:v>0</c:v>
                </c:pt>
                <c:pt idx="16">
                  <c:v>0</c:v>
                </c:pt>
                <c:pt idx="17">
                  <c:v>0</c:v>
                </c:pt>
                <c:pt idx="18">
                  <c:v>0</c:v>
                </c:pt>
                <c:pt idx="19">
                  <c:v>0</c:v>
                </c:pt>
              </c:numCache>
            </c:numRef>
          </c:val>
          <c:extLst>
            <c:ext xmlns:c16="http://schemas.microsoft.com/office/drawing/2014/chart" uri="{C3380CC4-5D6E-409C-BE32-E72D297353CC}">
              <c16:uniqueId val="{00000003-AA10-6C42-8D06-0AB0BCC6CE7A}"/>
            </c:ext>
          </c:extLst>
        </c:ser>
        <c:dLbls>
          <c:showLegendKey val="0"/>
          <c:showVal val="0"/>
          <c:showCatName val="0"/>
          <c:showSerName val="0"/>
          <c:showPercent val="0"/>
          <c:showBubbleSize val="0"/>
        </c:dLbls>
        <c:gapWidth val="150"/>
        <c:overlap val="100"/>
        <c:axId val="1582515376"/>
        <c:axId val="1806156704"/>
      </c:barChart>
      <c:catAx>
        <c:axId val="1582515376"/>
        <c:scaling>
          <c:orientation val="minMax"/>
        </c:scaling>
        <c:delete val="0"/>
        <c:axPos val="b"/>
        <c:majorTickMark val="none"/>
        <c:minorTickMark val="none"/>
        <c:tickLblPos val="low"/>
        <c:spPr>
          <a:noFill/>
          <a:ln w="12700" cap="flat" cmpd="sng" algn="ctr">
            <a:solidFill>
              <a:schemeClr val="dk1"/>
            </a:solidFill>
            <a:prstDash val="solid"/>
            <a:miter lim="800000"/>
          </a:ln>
          <a:effectLst/>
        </c:spPr>
        <c:txPr>
          <a:bodyPr rot="-60000000" spcFirstLastPara="1" vertOverflow="ellipsis" vert="horz" wrap="square" anchor="ctr" anchorCtr="1"/>
          <a:lstStyle/>
          <a:p>
            <a:pPr>
              <a:defRPr sz="900" b="0" i="0" u="none" strike="noStrike" kern="1200" baseline="0">
                <a:solidFill>
                  <a:schemeClr val="tx1"/>
                </a:solidFill>
                <a:latin typeface="Aptos Light" panose="020B0004020202020204" pitchFamily="34" charset="0"/>
                <a:ea typeface="+mn-ea"/>
                <a:cs typeface="+mn-cs"/>
              </a:defRPr>
            </a:pPr>
            <a:endParaRPr lang="en-US"/>
          </a:p>
        </c:txPr>
        <c:crossAx val="1806156704"/>
        <c:crosses val="autoZero"/>
        <c:auto val="1"/>
        <c:lblAlgn val="ctr"/>
        <c:lblOffset val="100"/>
        <c:tickLblSkip val="2"/>
        <c:tickMarkSkip val="2"/>
        <c:noMultiLvlLbl val="0"/>
      </c:catAx>
      <c:valAx>
        <c:axId val="1806156704"/>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1"/>
        <c:majorTickMark val="none"/>
        <c:minorTickMark val="none"/>
        <c:tickLblPos val="nextTo"/>
        <c:spPr>
          <a:noFill/>
          <a:ln w="12700" cap="flat" cmpd="sng" algn="ctr">
            <a:solidFill>
              <a:schemeClr val="dk1"/>
            </a:solidFill>
            <a:prstDash val="solid"/>
            <a:miter lim="800000"/>
          </a:ln>
          <a:effectLst/>
        </c:spPr>
        <c:txPr>
          <a:bodyPr rot="-60000000" spcFirstLastPara="1" vertOverflow="ellipsis" vert="horz" wrap="square" anchor="ctr" anchorCtr="1"/>
          <a:lstStyle/>
          <a:p>
            <a:pPr>
              <a:defRPr sz="900" b="0" i="0" u="none" strike="noStrike" kern="1200" baseline="0">
                <a:solidFill>
                  <a:schemeClr val="tx1"/>
                </a:solidFill>
                <a:latin typeface="Aptos Light" panose="020B0004020202020204" pitchFamily="34" charset="0"/>
                <a:ea typeface="+mn-ea"/>
                <a:cs typeface="+mn-cs"/>
              </a:defRPr>
            </a:pPr>
            <a:endParaRPr lang="en-US"/>
          </a:p>
        </c:txPr>
        <c:crossAx val="1582515376"/>
        <c:crosses val="autoZero"/>
        <c:crossBetween val="between"/>
      </c:valAx>
      <c:spPr>
        <a:noFill/>
        <a:ln>
          <a:noFill/>
        </a:ln>
        <a:effectLst/>
      </c:spPr>
    </c:plotArea>
    <c:legend>
      <c:legendPos val="t"/>
      <c:legendEntry>
        <c:idx val="2"/>
        <c:delete val="1"/>
      </c:legendEntry>
      <c:legendEntry>
        <c:idx val="3"/>
        <c:delete val="1"/>
      </c:legendEntry>
      <c:layout>
        <c:manualLayout>
          <c:xMode val="edge"/>
          <c:yMode val="edge"/>
          <c:x val="8.6975286190006759E-2"/>
          <c:y val="3.599126460834419E-2"/>
          <c:w val="0.84563617272034397"/>
          <c:h val="6.0735684120257302E-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solidFill>
              <a:latin typeface="Aptos Light"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b="0" i="0">
          <a:solidFill>
            <a:schemeClr val="tx1"/>
          </a:solidFill>
          <a:latin typeface="Aptos Light" panose="020B0004020202020204" pitchFamily="34" charset="0"/>
        </a:defRPr>
      </a:pPr>
      <a:endParaRPr lang="en-US"/>
    </a:p>
  </c:txPr>
  <c:externalData r:id="rId3">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337520336874345E-2"/>
          <c:y val="0.17715795073867388"/>
          <c:w val="0.93995035410087091"/>
          <c:h val="0.66486722116752706"/>
        </c:manualLayout>
      </c:layout>
      <c:barChart>
        <c:barDir val="col"/>
        <c:grouping val="stacked"/>
        <c:varyColors val="0"/>
        <c:ser>
          <c:idx val="0"/>
          <c:order val="0"/>
          <c:tx>
            <c:strRef>
              <c:f>Portfolio!$C$1</c:f>
              <c:strCache>
                <c:ptCount val="1"/>
                <c:pt idx="0">
                  <c:v>Buyout</c:v>
                </c:pt>
              </c:strCache>
            </c:strRef>
          </c:tx>
          <c:spPr>
            <a:solidFill>
              <a:schemeClr val="tx2">
                <a:lumMod val="75000"/>
              </a:schemeClr>
            </a:solidFill>
            <a:ln w="3175">
              <a:solidFill>
                <a:schemeClr val="tx1">
                  <a:lumMod val="95000"/>
                  <a:lumOff val="5000"/>
                </a:schemeClr>
              </a:solidFill>
            </a:ln>
            <a:effectLst/>
          </c:spPr>
          <c:invertIfNegative val="0"/>
          <c:val>
            <c:numRef>
              <c:f>Portfolio!$C$2:$C$21</c:f>
              <c:numCache>
                <c:formatCode>0</c:formatCode>
                <c:ptCount val="20"/>
                <c:pt idx="0">
                  <c:v>0</c:v>
                </c:pt>
                <c:pt idx="1">
                  <c:v>9</c:v>
                </c:pt>
                <c:pt idx="2">
                  <c:v>18.956372280805699</c:v>
                </c:pt>
                <c:pt idx="3">
                  <c:v>29.8150921347505</c:v>
                </c:pt>
                <c:pt idx="4">
                  <c:v>37.535642454373097</c:v>
                </c:pt>
                <c:pt idx="5">
                  <c:v>43.953263846009101</c:v>
                </c:pt>
                <c:pt idx="6">
                  <c:v>47.815770369141099</c:v>
                </c:pt>
                <c:pt idx="7">
                  <c:v>47.152587006533103</c:v>
                </c:pt>
                <c:pt idx="8">
                  <c:v>40.9695156825128</c:v>
                </c:pt>
                <c:pt idx="9">
                  <c:v>29.971984398295699</c:v>
                </c:pt>
                <c:pt idx="10">
                  <c:v>17.464816858448401</c:v>
                </c:pt>
                <c:pt idx="11">
                  <c:v>7.8201831229906302</c:v>
                </c:pt>
                <c:pt idx="12">
                  <c:v>2.80688072836401</c:v>
                </c:pt>
                <c:pt idx="13">
                  <c:v>1.0828363720321801</c:v>
                </c:pt>
                <c:pt idx="14">
                  <c:v>0.61621495477114596</c:v>
                </c:pt>
                <c:pt idx="15">
                  <c:v>0.43681522050643401</c:v>
                </c:pt>
                <c:pt idx="16">
                  <c:v>0.32135877220891501</c:v>
                </c:pt>
                <c:pt idx="17">
                  <c:v>0.234168844844441</c:v>
                </c:pt>
                <c:pt idx="18">
                  <c:v>0.17715150145039699</c:v>
                </c:pt>
                <c:pt idx="19">
                  <c:v>0.132430799498157</c:v>
                </c:pt>
              </c:numCache>
            </c:numRef>
          </c:val>
          <c:extLst>
            <c:ext xmlns:c16="http://schemas.microsoft.com/office/drawing/2014/chart" uri="{C3380CC4-5D6E-409C-BE32-E72D297353CC}">
              <c16:uniqueId val="{00000000-D1F2-F74C-81B3-2E15642549CD}"/>
            </c:ext>
          </c:extLst>
        </c:ser>
        <c:ser>
          <c:idx val="1"/>
          <c:order val="1"/>
          <c:tx>
            <c:strRef>
              <c:f>Portfolio!$D$1</c:f>
              <c:strCache>
                <c:ptCount val="1"/>
                <c:pt idx="0">
                  <c:v>Private Credit</c:v>
                </c:pt>
              </c:strCache>
            </c:strRef>
          </c:tx>
          <c:spPr>
            <a:solidFill>
              <a:schemeClr val="accent1">
                <a:lumMod val="75000"/>
              </a:schemeClr>
            </a:solidFill>
            <a:ln w="3175">
              <a:solidFill>
                <a:schemeClr val="tx1"/>
              </a:solidFill>
            </a:ln>
            <a:effectLst/>
          </c:spPr>
          <c:invertIfNegative val="0"/>
          <c:val>
            <c:numRef>
              <c:f>Portfolio!$D$2:$D$21</c:f>
              <c:numCache>
                <c:formatCode>0</c:formatCode>
                <c:ptCount val="20"/>
                <c:pt idx="0">
                  <c:v>0</c:v>
                </c:pt>
                <c:pt idx="1">
                  <c:v>17.5</c:v>
                </c:pt>
                <c:pt idx="2">
                  <c:v>36.093853879797898</c:v>
                </c:pt>
                <c:pt idx="3">
                  <c:v>41.898697244794199</c:v>
                </c:pt>
                <c:pt idx="4">
                  <c:v>42.574171725141603</c:v>
                </c:pt>
                <c:pt idx="5">
                  <c:v>32.685842868221897</c:v>
                </c:pt>
                <c:pt idx="6">
                  <c:v>16.2090134034103</c:v>
                </c:pt>
                <c:pt idx="7">
                  <c:v>3.6017267318893</c:v>
                </c:pt>
                <c:pt idx="8">
                  <c:v>0.19229829087153</c:v>
                </c:pt>
                <c:pt idx="9">
                  <c:v>8.4111761690525101E-4</c:v>
                </c:pt>
                <c:pt idx="10">
                  <c:v>0</c:v>
                </c:pt>
                <c:pt idx="11">
                  <c:v>0</c:v>
                </c:pt>
                <c:pt idx="12">
                  <c:v>0</c:v>
                </c:pt>
                <c:pt idx="13">
                  <c:v>0</c:v>
                </c:pt>
                <c:pt idx="14">
                  <c:v>0</c:v>
                </c:pt>
                <c:pt idx="15">
                  <c:v>0</c:v>
                </c:pt>
                <c:pt idx="16">
                  <c:v>0</c:v>
                </c:pt>
                <c:pt idx="17">
                  <c:v>0</c:v>
                </c:pt>
                <c:pt idx="18">
                  <c:v>0</c:v>
                </c:pt>
                <c:pt idx="19">
                  <c:v>0</c:v>
                </c:pt>
              </c:numCache>
            </c:numRef>
          </c:val>
          <c:extLst>
            <c:ext xmlns:c16="http://schemas.microsoft.com/office/drawing/2014/chart" uri="{C3380CC4-5D6E-409C-BE32-E72D297353CC}">
              <c16:uniqueId val="{00000001-D1F2-F74C-81B3-2E15642549CD}"/>
            </c:ext>
          </c:extLst>
        </c:ser>
        <c:ser>
          <c:idx val="2"/>
          <c:order val="2"/>
          <c:tx>
            <c:strRef>
              <c:f>Portfolio!$E$1</c:f>
              <c:strCache>
                <c:ptCount val="1"/>
                <c:pt idx="0">
                  <c:v>Bonds</c:v>
                </c:pt>
              </c:strCache>
            </c:strRef>
          </c:tx>
          <c:spPr>
            <a:solidFill>
              <a:srgbClr val="7F94BA"/>
            </a:solidFill>
            <a:ln w="3175">
              <a:solidFill>
                <a:schemeClr val="tx1"/>
              </a:solidFill>
            </a:ln>
            <a:effectLst/>
          </c:spPr>
          <c:invertIfNegative val="0"/>
          <c:val>
            <c:numRef>
              <c:f>Portfolio!$E$2:$E$21</c:f>
              <c:numCache>
                <c:formatCode>0</c:formatCode>
                <c:ptCount val="20"/>
                <c:pt idx="0">
                  <c:v>40</c:v>
                </c:pt>
                <c:pt idx="1">
                  <c:v>29.400000000000002</c:v>
                </c:pt>
                <c:pt idx="2">
                  <c:v>21.101731495978484</c:v>
                </c:pt>
                <c:pt idx="3">
                  <c:v>18.191985991830482</c:v>
                </c:pt>
                <c:pt idx="4">
                  <c:v>19.094987173295518</c:v>
                </c:pt>
                <c:pt idx="5">
                  <c:v>25.18993742006224</c:v>
                </c:pt>
                <c:pt idx="6">
                  <c:v>35.167182662085445</c:v>
                </c:pt>
                <c:pt idx="7">
                  <c:v>45.156469968036802</c:v>
                </c:pt>
                <c:pt idx="8">
                  <c:v>53.579057596901606</c:v>
                </c:pt>
                <c:pt idx="9">
                  <c:v>62.584864865614804</c:v>
                </c:pt>
                <c:pt idx="10">
                  <c:v>72.04684952169201</c:v>
                </c:pt>
                <c:pt idx="11">
                  <c:v>80.309920108377611</c:v>
                </c:pt>
                <c:pt idx="12">
                  <c:v>86.770245810288813</c:v>
                </c:pt>
                <c:pt idx="13">
                  <c:v>92.060242153123212</c:v>
                </c:pt>
                <c:pt idx="14">
                  <c:v>97.122472019898396</c:v>
                </c:pt>
                <c:pt idx="15">
                  <c:v>102.19884996177801</c:v>
                </c:pt>
                <c:pt idx="16">
                  <c:v>107.51428390724521</c:v>
                </c:pt>
                <c:pt idx="17">
                  <c:v>113.07385407463681</c:v>
                </c:pt>
                <c:pt idx="18">
                  <c:v>118.9635409313848</c:v>
                </c:pt>
                <c:pt idx="19">
                  <c:v>125.09121280108721</c:v>
                </c:pt>
              </c:numCache>
            </c:numRef>
          </c:val>
          <c:extLst>
            <c:ext xmlns:c16="http://schemas.microsoft.com/office/drawing/2014/chart" uri="{C3380CC4-5D6E-409C-BE32-E72D297353CC}">
              <c16:uniqueId val="{00000002-D1F2-F74C-81B3-2E15642549CD}"/>
            </c:ext>
          </c:extLst>
        </c:ser>
        <c:ser>
          <c:idx val="3"/>
          <c:order val="3"/>
          <c:tx>
            <c:strRef>
              <c:f>Portfolio!$F$1</c:f>
              <c:strCache>
                <c:ptCount val="1"/>
                <c:pt idx="0">
                  <c:v>Equity</c:v>
                </c:pt>
              </c:strCache>
            </c:strRef>
          </c:tx>
          <c:spPr>
            <a:solidFill>
              <a:schemeClr val="tx2">
                <a:lumMod val="20000"/>
                <a:lumOff val="80000"/>
              </a:schemeClr>
            </a:solidFill>
            <a:ln w="3175">
              <a:solidFill>
                <a:schemeClr val="tx1"/>
              </a:solidFill>
            </a:ln>
            <a:effectLst/>
          </c:spPr>
          <c:invertIfNegative val="0"/>
          <c:val>
            <c:numRef>
              <c:f>Portfolio!$F$2:$F$21</c:f>
              <c:numCache>
                <c:formatCode>0</c:formatCode>
                <c:ptCount val="20"/>
                <c:pt idx="0">
                  <c:v>60</c:v>
                </c:pt>
                <c:pt idx="1">
                  <c:v>44.1</c:v>
                </c:pt>
                <c:pt idx="2">
                  <c:v>31.652597243967719</c:v>
                </c:pt>
                <c:pt idx="3">
                  <c:v>27.287978987745721</c:v>
                </c:pt>
                <c:pt idx="4">
                  <c:v>28.642480759943279</c:v>
                </c:pt>
                <c:pt idx="5">
                  <c:v>37.784906130093354</c:v>
                </c:pt>
                <c:pt idx="6">
                  <c:v>52.750773993128156</c:v>
                </c:pt>
                <c:pt idx="7">
                  <c:v>67.734704952055196</c:v>
                </c:pt>
                <c:pt idx="8">
                  <c:v>80.368586395352395</c:v>
                </c:pt>
                <c:pt idx="9">
                  <c:v>93.877297298422206</c:v>
                </c:pt>
                <c:pt idx="10">
                  <c:v>108.07027428253799</c:v>
                </c:pt>
                <c:pt idx="11">
                  <c:v>120.4648801625664</c:v>
                </c:pt>
                <c:pt idx="12">
                  <c:v>130.15536871543321</c:v>
                </c:pt>
                <c:pt idx="13">
                  <c:v>138.09036322968481</c:v>
                </c:pt>
                <c:pt idx="14">
                  <c:v>145.68370802984759</c:v>
                </c:pt>
                <c:pt idx="15">
                  <c:v>153.29827494266701</c:v>
                </c:pt>
                <c:pt idx="16">
                  <c:v>161.27142586086779</c:v>
                </c:pt>
                <c:pt idx="17">
                  <c:v>169.61078111195519</c:v>
                </c:pt>
                <c:pt idx="18">
                  <c:v>178.44531139707718</c:v>
                </c:pt>
                <c:pt idx="19">
                  <c:v>187.6368192016308</c:v>
                </c:pt>
              </c:numCache>
            </c:numRef>
          </c:val>
          <c:extLst>
            <c:ext xmlns:c16="http://schemas.microsoft.com/office/drawing/2014/chart" uri="{C3380CC4-5D6E-409C-BE32-E72D297353CC}">
              <c16:uniqueId val="{00000003-D1F2-F74C-81B3-2E15642549CD}"/>
            </c:ext>
          </c:extLst>
        </c:ser>
        <c:dLbls>
          <c:showLegendKey val="0"/>
          <c:showVal val="0"/>
          <c:showCatName val="0"/>
          <c:showSerName val="0"/>
          <c:showPercent val="0"/>
          <c:showBubbleSize val="0"/>
        </c:dLbls>
        <c:gapWidth val="95"/>
        <c:overlap val="100"/>
        <c:axId val="691674991"/>
        <c:axId val="691314079"/>
      </c:barChart>
      <c:catAx>
        <c:axId val="691674991"/>
        <c:scaling>
          <c:orientation val="minMax"/>
        </c:scaling>
        <c:delete val="0"/>
        <c:axPos val="b"/>
        <c:title>
          <c:tx>
            <c:rich>
              <a:bodyPr rot="0" spcFirstLastPara="1" vertOverflow="ellipsis" vert="horz" wrap="square" anchor="ctr" anchorCtr="1"/>
              <a:lstStyle/>
              <a:p>
                <a:pPr>
                  <a:defRPr sz="1050" b="0" i="0" u="none" strike="noStrike" kern="1200" baseline="0">
                    <a:solidFill>
                      <a:schemeClr val="tx1"/>
                    </a:solidFill>
                    <a:latin typeface="Aptos" panose="020B0004020202020204" pitchFamily="34" charset="0"/>
                    <a:ea typeface="+mn-ea"/>
                    <a:cs typeface="+mn-cs"/>
                  </a:defRPr>
                </a:pPr>
                <a:r>
                  <a:rPr lang="en-US"/>
                  <a:t>Beginning of Year</a:t>
                </a:r>
              </a:p>
            </c:rich>
          </c:tx>
          <c:overlay val="0"/>
          <c:spPr>
            <a:noFill/>
            <a:ln>
              <a:noFill/>
            </a:ln>
            <a:effectLst/>
          </c:spPr>
          <c:txPr>
            <a:bodyPr rot="0" spcFirstLastPara="1" vertOverflow="ellipsis" vert="horz" wrap="square" anchor="ctr" anchorCtr="1"/>
            <a:lstStyle/>
            <a:p>
              <a:pPr>
                <a:defRPr sz="1050" b="0" i="0" u="none" strike="noStrike" kern="1200" baseline="0">
                  <a:solidFill>
                    <a:schemeClr val="tx1"/>
                  </a:solidFill>
                  <a:latin typeface="Aptos" panose="020B0004020202020204" pitchFamily="34" charset="0"/>
                  <a:ea typeface="+mn-ea"/>
                  <a:cs typeface="+mn-cs"/>
                </a:defRPr>
              </a:pPr>
              <a:endParaRPr lang="en-US"/>
            </a:p>
          </c:txPr>
        </c:title>
        <c:majorTickMark val="none"/>
        <c:minorTickMark val="none"/>
        <c:tickLblPos val="nextTo"/>
        <c:spPr>
          <a:noFill/>
          <a:ln w="12700" cap="flat" cmpd="sng" algn="ctr">
            <a:solidFill>
              <a:schemeClr val="dk1"/>
            </a:solidFill>
            <a:prstDash val="solid"/>
            <a:miter lim="800000"/>
          </a:ln>
          <a:effectLst/>
        </c:spPr>
        <c:txPr>
          <a:bodyPr rot="-60000000" spcFirstLastPara="1" vertOverflow="ellipsis" vert="horz" wrap="square" anchor="ctr" anchorCtr="1"/>
          <a:lstStyle/>
          <a:p>
            <a:pPr>
              <a:defRPr sz="1050" b="0" i="0" u="none" strike="noStrike" kern="1200" baseline="0">
                <a:solidFill>
                  <a:schemeClr val="tx1"/>
                </a:solidFill>
                <a:latin typeface="Aptos" panose="020B0004020202020204" pitchFamily="34" charset="0"/>
                <a:ea typeface="+mn-ea"/>
                <a:cs typeface="+mn-cs"/>
              </a:defRPr>
            </a:pPr>
            <a:endParaRPr lang="en-US"/>
          </a:p>
        </c:txPr>
        <c:crossAx val="691314079"/>
        <c:crosses val="autoZero"/>
        <c:auto val="1"/>
        <c:lblAlgn val="ctr"/>
        <c:lblOffset val="100"/>
        <c:noMultiLvlLbl val="0"/>
      </c:catAx>
      <c:valAx>
        <c:axId val="691314079"/>
        <c:scaling>
          <c:orientation val="minMax"/>
        </c:scaling>
        <c:delete val="0"/>
        <c:axPos val="l"/>
        <c:numFmt formatCode="0" sourceLinked="1"/>
        <c:majorTickMark val="none"/>
        <c:minorTickMark val="none"/>
        <c:tickLblPos val="nextTo"/>
        <c:spPr>
          <a:noFill/>
          <a:ln w="12700" cap="flat" cmpd="sng" algn="ctr">
            <a:solidFill>
              <a:schemeClr val="dk1"/>
            </a:solidFill>
            <a:prstDash val="solid"/>
            <a:miter lim="800000"/>
          </a:ln>
          <a:effectLst/>
        </c:spPr>
        <c:txPr>
          <a:bodyPr rot="-60000000" spcFirstLastPara="1" vertOverflow="ellipsis" vert="horz" wrap="square" anchor="ctr" anchorCtr="1"/>
          <a:lstStyle/>
          <a:p>
            <a:pPr>
              <a:defRPr sz="1050" b="0" i="0" u="none" strike="noStrike" kern="1200" baseline="0">
                <a:solidFill>
                  <a:schemeClr val="tx1"/>
                </a:solidFill>
                <a:latin typeface="Aptos" panose="020B0004020202020204" pitchFamily="34" charset="0"/>
                <a:ea typeface="+mn-ea"/>
                <a:cs typeface="+mn-cs"/>
              </a:defRPr>
            </a:pPr>
            <a:endParaRPr lang="en-US"/>
          </a:p>
        </c:txPr>
        <c:crossAx val="691674991"/>
        <c:crosses val="autoZero"/>
        <c:crossBetween val="between"/>
      </c:valAx>
      <c:spPr>
        <a:noFill/>
        <a:ln>
          <a:noFill/>
        </a:ln>
        <a:effectLst/>
      </c:spPr>
    </c:plotArea>
    <c:legend>
      <c:legendPos val="t"/>
      <c:layout>
        <c:manualLayout>
          <c:xMode val="edge"/>
          <c:yMode val="edge"/>
          <c:x val="0.35292832580696154"/>
          <c:y val="6.9908521709180216E-2"/>
          <c:w val="0.35869656457378285"/>
          <c:h val="6.0802720976861853E-2"/>
        </c:manualLayout>
      </c:layout>
      <c:overlay val="0"/>
      <c:spPr>
        <a:noFill/>
        <a:ln>
          <a:noFill/>
        </a:ln>
        <a:effectLst/>
      </c:spPr>
      <c:txPr>
        <a:bodyPr rot="0" spcFirstLastPara="1" vertOverflow="ellipsis" vert="horz" wrap="square" anchor="ctr" anchorCtr="1"/>
        <a:lstStyle/>
        <a:p>
          <a:pPr>
            <a:defRPr sz="1050" b="0" i="0" u="none" strike="noStrike" kern="1200" baseline="0">
              <a:solidFill>
                <a:schemeClr val="tx1"/>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1050" b="0" i="0">
          <a:solidFill>
            <a:schemeClr val="tx1"/>
          </a:solidFill>
          <a:latin typeface="Aptos" panose="020B0004020202020204" pitchFamily="34" charset="0"/>
        </a:defRPr>
      </a:pPr>
      <a:endParaRPr lang="en-US"/>
    </a:p>
  </c:txPr>
  <c:externalData r:id="rId3">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stacked"/>
        <c:varyColors val="0"/>
        <c:ser>
          <c:idx val="0"/>
          <c:order val="0"/>
          <c:spPr>
            <a:solidFill>
              <a:srgbClr val="0B0D37"/>
            </a:solidFill>
            <a:ln w="6350">
              <a:solidFill>
                <a:schemeClr val="tx1">
                  <a:lumMod val="95000"/>
                  <a:lumOff val="5000"/>
                </a:schemeClr>
              </a:solidFill>
            </a:ln>
            <a:effectLst/>
          </c:spPr>
          <c:invertIfNegative val="0"/>
          <c:dLbls>
            <c:spPr>
              <a:noFill/>
              <a:ln>
                <a:noFill/>
              </a:ln>
              <a:effectLst/>
            </c:spPr>
            <c:txPr>
              <a:bodyPr rot="0" spcFirstLastPara="1" vertOverflow="ellipsis" vert="horz" wrap="square" anchor="ctr" anchorCtr="1"/>
              <a:lstStyle/>
              <a:p>
                <a:pPr>
                  <a:defRPr sz="1050" b="0" i="0" u="none" strike="noStrike" kern="1200" baseline="0">
                    <a:solidFill>
                      <a:schemeClr val="bg1"/>
                    </a:solidFill>
                    <a:latin typeface="Aptos" panose="020B00040202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'Commitment Pacing'!$B$39</c:f>
              <c:strCache>
                <c:ptCount val="1"/>
                <c:pt idx="0">
                  <c:v>Commitments 
(% of Liquid NAV)</c:v>
                </c:pt>
              </c:strCache>
            </c:strRef>
          </c:cat>
          <c:val>
            <c:numRef>
              <c:f>'Commitment Pacing'!$B$42</c:f>
              <c:numCache>
                <c:formatCode>0.0%</c:formatCode>
                <c:ptCount val="1"/>
                <c:pt idx="0">
                  <c:v>2.3916625976562501E-2</c:v>
                </c:pt>
              </c:numCache>
            </c:numRef>
          </c:val>
          <c:extLst>
            <c:ext xmlns:c16="http://schemas.microsoft.com/office/drawing/2014/chart" uri="{C3380CC4-5D6E-409C-BE32-E72D297353CC}">
              <c16:uniqueId val="{00000000-7943-344A-AF34-0732B5A0A746}"/>
            </c:ext>
          </c:extLst>
        </c:ser>
        <c:ser>
          <c:idx val="1"/>
          <c:order val="1"/>
          <c:spPr>
            <a:solidFill>
              <a:schemeClr val="tx2">
                <a:lumMod val="60000"/>
                <a:lumOff val="40000"/>
              </a:schemeClr>
            </a:solidFill>
            <a:ln w="6350">
              <a:solidFill>
                <a:schemeClr val="tx1">
                  <a:lumMod val="95000"/>
                  <a:lumOff val="5000"/>
                </a:schemeClr>
              </a:solidFill>
            </a:ln>
            <a:effectLst/>
          </c:spPr>
          <c:invertIfNegative val="0"/>
          <c:dLbls>
            <c:dLbl>
              <c:idx val="0"/>
              <c:tx>
                <c:rich>
                  <a:bodyPr/>
                  <a:lstStyle/>
                  <a:p>
                    <a:r>
                      <a:rPr lang="en-US"/>
                      <a:t>1.0%</a:t>
                    </a:r>
                    <a:endParaRPr lang="en-US" dirty="0"/>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D9C4-DF4A-8D76-9423E5608388}"/>
                </c:ext>
              </c:extLst>
            </c:dLbl>
            <c:spPr>
              <a:noFill/>
              <a:ln>
                <a:noFill/>
              </a:ln>
              <a:effectLst/>
            </c:spPr>
            <c:txPr>
              <a:bodyPr rot="0" spcFirstLastPara="1" vertOverflow="ellipsis" vert="horz" wrap="square" anchor="ctr" anchorCtr="1"/>
              <a:lstStyle/>
              <a:p>
                <a:pPr>
                  <a:defRPr sz="1050" b="0" i="0" u="none" strike="noStrike" kern="1200" baseline="0">
                    <a:solidFill>
                      <a:schemeClr val="bg1"/>
                    </a:solidFill>
                    <a:latin typeface="Aptos" panose="020B00040202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'Commitment Pacing'!$B$39</c:f>
              <c:strCache>
                <c:ptCount val="1"/>
                <c:pt idx="0">
                  <c:v>Commitments 
(% of Liquid NAV)</c:v>
                </c:pt>
              </c:strCache>
            </c:strRef>
          </c:cat>
          <c:val>
            <c:numRef>
              <c:f>'Commitment Pacing'!$C$42</c:f>
              <c:numCache>
                <c:formatCode>0.0%</c:formatCode>
                <c:ptCount val="1"/>
                <c:pt idx="0">
                  <c:v>9.4177246093750007E-3</c:v>
                </c:pt>
              </c:numCache>
            </c:numRef>
          </c:val>
          <c:extLst>
            <c:ext xmlns:c16="http://schemas.microsoft.com/office/drawing/2014/chart" uri="{C3380CC4-5D6E-409C-BE32-E72D297353CC}">
              <c16:uniqueId val="{00000001-7943-344A-AF34-0732B5A0A746}"/>
            </c:ext>
          </c:extLst>
        </c:ser>
        <c:ser>
          <c:idx val="2"/>
          <c:order val="2"/>
          <c:spPr>
            <a:solidFill>
              <a:srgbClr val="B4C7E7"/>
            </a:solidFill>
            <a:ln w="6350">
              <a:solidFill>
                <a:schemeClr val="tx1">
                  <a:lumMod val="95000"/>
                  <a:lumOff val="5000"/>
                </a:schemeClr>
              </a:solidFill>
            </a:ln>
            <a:effectLst/>
          </c:spPr>
          <c:invertIfNegative val="0"/>
          <c:dLbls>
            <c:spPr>
              <a:noFill/>
              <a:ln>
                <a:noFill/>
              </a:ln>
              <a:effectLst/>
            </c:spPr>
            <c:txPr>
              <a:bodyPr rot="0" spcFirstLastPara="1" vertOverflow="ellipsis" vert="horz" wrap="square" anchor="ctr" anchorCtr="1"/>
              <a:lstStyle/>
              <a:p>
                <a:pPr>
                  <a:defRPr sz="1050" b="0" i="0" u="none" strike="noStrike" kern="1200" baseline="0">
                    <a:solidFill>
                      <a:schemeClr val="tx1"/>
                    </a:solidFill>
                    <a:latin typeface="Aptos" panose="020B00040202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'Commitment Pacing'!$B$39</c:f>
              <c:strCache>
                <c:ptCount val="1"/>
                <c:pt idx="0">
                  <c:v>Commitments 
(% of Liquid NAV)</c:v>
                </c:pt>
              </c:strCache>
            </c:strRef>
          </c:cat>
          <c:val>
            <c:numRef>
              <c:f>'Commitment Pacing'!$D$42</c:f>
              <c:numCache>
                <c:formatCode>0.0%</c:formatCode>
                <c:ptCount val="1"/>
                <c:pt idx="0">
                  <c:v>4.0344238281249997E-3</c:v>
                </c:pt>
              </c:numCache>
            </c:numRef>
          </c:val>
          <c:extLst>
            <c:ext xmlns:c16="http://schemas.microsoft.com/office/drawing/2014/chart" uri="{C3380CC4-5D6E-409C-BE32-E72D297353CC}">
              <c16:uniqueId val="{00000002-7943-344A-AF34-0732B5A0A746}"/>
            </c:ext>
          </c:extLst>
        </c:ser>
        <c:ser>
          <c:idx val="3"/>
          <c:order val="3"/>
          <c:spPr>
            <a:solidFill>
              <a:schemeClr val="accent1">
                <a:lumMod val="20000"/>
                <a:lumOff val="80000"/>
              </a:schemeClr>
            </a:solidFill>
            <a:ln w="6350">
              <a:solidFill>
                <a:schemeClr val="tx1"/>
              </a:solidFill>
            </a:ln>
            <a:effectLst/>
          </c:spPr>
          <c:invertIfNegative val="0"/>
          <c:dLbls>
            <c:dLbl>
              <c:idx val="0"/>
              <c:tx>
                <c:rich>
                  <a:bodyPr/>
                  <a:lstStyle/>
                  <a:p>
                    <a:r>
                      <a:rPr lang="en-US"/>
                      <a:t>1.5%</a:t>
                    </a:r>
                    <a:endParaRPr lang="en-US" dirty="0"/>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D9C4-DF4A-8D76-9423E5608388}"/>
                </c:ext>
              </c:extLst>
            </c:dLbl>
            <c:spPr>
              <a:noFill/>
              <a:ln>
                <a:noFill/>
              </a:ln>
              <a:effectLst/>
            </c:spPr>
            <c:txPr>
              <a:bodyPr rot="0" spcFirstLastPara="1" vertOverflow="ellipsis" vert="horz" wrap="square" anchor="ctr" anchorCtr="1"/>
              <a:lstStyle/>
              <a:p>
                <a:pPr>
                  <a:defRPr sz="1050" b="0" i="0" u="none" strike="noStrike" kern="1200" baseline="0">
                    <a:solidFill>
                      <a:schemeClr val="tx1"/>
                    </a:solidFill>
                    <a:latin typeface="Aptos" panose="020B0004020202020204" pitchFamily="34" charset="0"/>
                    <a:ea typeface="+mn-ea"/>
                    <a:cs typeface="+mn-cs"/>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'Commitment Pacing'!$B$39</c:f>
              <c:strCache>
                <c:ptCount val="1"/>
                <c:pt idx="0">
                  <c:v>Commitments 
(% of Liquid NAV)</c:v>
                </c:pt>
              </c:strCache>
            </c:strRef>
          </c:cat>
          <c:val>
            <c:numRef>
              <c:f>'Commitment Pacing'!$E$42</c:f>
              <c:numCache>
                <c:formatCode>0.0%</c:formatCode>
                <c:ptCount val="1"/>
                <c:pt idx="0">
                  <c:v>1.4416503906249999E-2</c:v>
                </c:pt>
              </c:numCache>
            </c:numRef>
          </c:val>
          <c:extLst>
            <c:ext xmlns:c16="http://schemas.microsoft.com/office/drawing/2014/chart" uri="{C3380CC4-5D6E-409C-BE32-E72D297353CC}">
              <c16:uniqueId val="{00000003-7943-344A-AF34-0732B5A0A746}"/>
            </c:ext>
          </c:extLst>
        </c:ser>
        <c:dLbls>
          <c:showLegendKey val="0"/>
          <c:showVal val="0"/>
          <c:showCatName val="0"/>
          <c:showSerName val="0"/>
          <c:showPercent val="0"/>
          <c:showBubbleSize val="0"/>
        </c:dLbls>
        <c:gapWidth val="150"/>
        <c:overlap val="100"/>
        <c:axId val="219126495"/>
        <c:axId val="218233055"/>
      </c:barChart>
      <c:scatterChart>
        <c:scatterStyle val="lineMarker"/>
        <c:varyColors val="0"/>
        <c:ser>
          <c:idx val="4"/>
          <c:order val="4"/>
          <c:spPr>
            <a:ln w="25400" cap="rnd">
              <a:noFill/>
              <a:round/>
            </a:ln>
            <a:effectLst/>
          </c:spPr>
          <c:marker>
            <c:symbol val="circle"/>
            <c:size val="5"/>
            <c:spPr>
              <a:noFill/>
              <a:ln w="9525">
                <a:noFill/>
              </a:ln>
              <a:effectLst/>
            </c:spPr>
          </c:marker>
          <c:dLbls>
            <c:dLbl>
              <c:idx val="0"/>
              <c:tx>
                <c:rich>
                  <a:bodyPr/>
                  <a:lstStyle/>
                  <a:p>
                    <a:r>
                      <a:rPr lang="en-US"/>
                      <a:t>5.3%</a:t>
                    </a:r>
                  </a:p>
                </c:rich>
              </c:tx>
              <c:dLblPos val="t"/>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D9C4-DF4A-8D76-9423E5608388}"/>
                </c:ext>
              </c:extLst>
            </c:dLbl>
            <c:spPr>
              <a:noFill/>
              <a:ln>
                <a:noFill/>
              </a:ln>
              <a:effectLst/>
            </c:spPr>
            <c:txPr>
              <a:bodyPr rot="0" spcFirstLastPara="1" vertOverflow="ellipsis" vert="horz" wrap="square" lIns="38100" tIns="19050" rIns="38100" bIns="19050" anchor="ctr" anchorCtr="1">
                <a:spAutoFit/>
              </a:bodyPr>
              <a:lstStyle/>
              <a:p>
                <a:pPr>
                  <a:defRPr sz="1050" b="0" i="0" u="none" strike="noStrike" kern="1200" baseline="0">
                    <a:solidFill>
                      <a:schemeClr val="tx1"/>
                    </a:solidFill>
                    <a:latin typeface="Aptos" panose="020B0004020202020204" pitchFamily="34" charset="0"/>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yVal>
            <c:numRef>
              <c:f>'Commitment Pacing'!$F$42</c:f>
              <c:numCache>
                <c:formatCode>0.0%</c:formatCode>
                <c:ptCount val="1"/>
                <c:pt idx="0">
                  <c:v>5.1785278320312503E-2</c:v>
                </c:pt>
              </c:numCache>
            </c:numRef>
          </c:yVal>
          <c:smooth val="0"/>
          <c:extLst>
            <c:ext xmlns:c16="http://schemas.microsoft.com/office/drawing/2014/chart" uri="{C3380CC4-5D6E-409C-BE32-E72D297353CC}">
              <c16:uniqueId val="{00000004-7943-344A-AF34-0732B5A0A746}"/>
            </c:ext>
          </c:extLst>
        </c:ser>
        <c:dLbls>
          <c:showLegendKey val="0"/>
          <c:showVal val="0"/>
          <c:showCatName val="0"/>
          <c:showSerName val="0"/>
          <c:showPercent val="0"/>
          <c:showBubbleSize val="0"/>
        </c:dLbls>
        <c:axId val="219126495"/>
        <c:axId val="218233055"/>
      </c:scatterChart>
      <c:catAx>
        <c:axId val="219126495"/>
        <c:scaling>
          <c:orientation val="minMax"/>
        </c:scaling>
        <c:delete val="0"/>
        <c:axPos val="b"/>
        <c:numFmt formatCode="General" sourceLinked="1"/>
        <c:majorTickMark val="none"/>
        <c:minorTickMark val="none"/>
        <c:tickLblPos val="nextTo"/>
        <c:spPr>
          <a:noFill/>
          <a:ln w="12700" cap="flat" cmpd="sng" algn="ctr">
            <a:solidFill>
              <a:schemeClr val="dk1"/>
            </a:solidFill>
            <a:prstDash val="solid"/>
            <a:miter lim="800000"/>
          </a:ln>
          <a:effectLst/>
        </c:spPr>
        <c:txPr>
          <a:bodyPr rot="-60000000" spcFirstLastPara="1" vertOverflow="ellipsis" vert="horz" wrap="square" anchor="ctr" anchorCtr="1"/>
          <a:lstStyle/>
          <a:p>
            <a:pPr>
              <a:defRPr sz="1050" b="0" i="0" u="none" strike="noStrike" kern="1200" baseline="0">
                <a:solidFill>
                  <a:schemeClr val="tx1"/>
                </a:solidFill>
                <a:latin typeface="Aptos" panose="020B0004020202020204" pitchFamily="34" charset="0"/>
                <a:ea typeface="+mn-ea"/>
                <a:cs typeface="+mn-cs"/>
              </a:defRPr>
            </a:pPr>
            <a:endParaRPr lang="en-US"/>
          </a:p>
        </c:txPr>
        <c:crossAx val="218233055"/>
        <c:crosses val="autoZero"/>
        <c:auto val="1"/>
        <c:lblAlgn val="ctr"/>
        <c:lblOffset val="100"/>
        <c:noMultiLvlLbl val="0"/>
      </c:catAx>
      <c:valAx>
        <c:axId val="218233055"/>
        <c:scaling>
          <c:orientation val="minMax"/>
        </c:scaling>
        <c:delete val="1"/>
        <c:axPos val="l"/>
        <c:numFmt formatCode="0.0%" sourceLinked="1"/>
        <c:majorTickMark val="none"/>
        <c:minorTickMark val="none"/>
        <c:tickLblPos val="nextTo"/>
        <c:crossAx val="219126495"/>
        <c:crosses val="autoZero"/>
        <c:crossBetween val="between"/>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1050" b="0" i="0">
          <a:solidFill>
            <a:schemeClr val="tx1"/>
          </a:solidFill>
          <a:latin typeface="Aptos" panose="020B0004020202020204" pitchFamily="34" charset="0"/>
        </a:defRPr>
      </a:pPr>
      <a:endParaRPr lang="en-US"/>
    </a:p>
  </c:txPr>
  <c:externalData r:id="rId3">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4694129269476059E-2"/>
          <c:y val="0.14179209220531536"/>
          <c:w val="0.93445276467390348"/>
          <c:h val="0.6897339096404852"/>
        </c:manualLayout>
      </c:layout>
      <c:barChart>
        <c:barDir val="col"/>
        <c:grouping val="stacked"/>
        <c:varyColors val="0"/>
        <c:ser>
          <c:idx val="0"/>
          <c:order val="0"/>
          <c:tx>
            <c:strRef>
              <c:f>'Commitments Dollars'!$M$3</c:f>
              <c:strCache>
                <c:ptCount val="1"/>
                <c:pt idx="0">
                  <c:v>Buyout</c:v>
                </c:pt>
              </c:strCache>
            </c:strRef>
          </c:tx>
          <c:spPr>
            <a:solidFill>
              <a:schemeClr val="tx2">
                <a:lumMod val="75000"/>
              </a:schemeClr>
            </a:solidFill>
            <a:ln w="3175">
              <a:solidFill>
                <a:schemeClr val="dk1"/>
              </a:solidFill>
            </a:ln>
            <a:effectLst/>
          </c:spPr>
          <c:invertIfNegative val="0"/>
          <c:val>
            <c:numRef>
              <c:f>'Commitments Dollars'!$M$4:$M$23</c:f>
              <c:numCache>
                <c:formatCode>0.0</c:formatCode>
                <c:ptCount val="20"/>
                <c:pt idx="0">
                  <c:v>2.4215507507324201</c:v>
                </c:pt>
                <c:pt idx="1">
                  <c:v>2.3917393330443093</c:v>
                </c:pt>
                <c:pt idx="2">
                  <c:v>2.4844209965808886</c:v>
                </c:pt>
                <c:pt idx="3">
                  <c:v>2.5629877286024172</c:v>
                </c:pt>
                <c:pt idx="4">
                  <c:v>2.6451958123699213</c:v>
                </c:pt>
                <c:pt idx="5">
                  <c:v>2.742030147322605</c:v>
                </c:pt>
                <c:pt idx="6">
                  <c:v>2.8477096408935019</c:v>
                </c:pt>
                <c:pt idx="7">
                  <c:v>2.9677339943221006</c:v>
                </c:pt>
                <c:pt idx="8">
                  <c:v>3.109039819314261</c:v>
                </c:pt>
                <c:pt idx="9">
                  <c:v>3.2743990088040213</c:v>
                </c:pt>
                <c:pt idx="10">
                  <c:v>3.4735163573107051</c:v>
                </c:pt>
                <c:pt idx="11">
                  <c:v>3.699915863528358</c:v>
                </c:pt>
                <c:pt idx="12">
                  <c:v>3.9493431251503268</c:v>
                </c:pt>
                <c:pt idx="13">
                  <c:v>4.2165915874016484</c:v>
                </c:pt>
                <c:pt idx="14">
                  <c:v>4.5030801536418199</c:v>
                </c:pt>
                <c:pt idx="15">
                  <c:v>4.7992091149516467</c:v>
                </c:pt>
                <c:pt idx="16">
                  <c:v>5.1126738701637784</c:v>
                </c:pt>
                <c:pt idx="17">
                  <c:v>5.4439929712345556</c:v>
                </c:pt>
                <c:pt idx="18">
                  <c:v>5.7985588229329785</c:v>
                </c:pt>
                <c:pt idx="19">
                  <c:v>6.1722653384542161</c:v>
                </c:pt>
              </c:numCache>
            </c:numRef>
          </c:val>
          <c:extLst>
            <c:ext xmlns:c16="http://schemas.microsoft.com/office/drawing/2014/chart" uri="{C3380CC4-5D6E-409C-BE32-E72D297353CC}">
              <c16:uniqueId val="{00000000-A495-1647-B36F-6E238B2BDD21}"/>
            </c:ext>
          </c:extLst>
        </c:ser>
        <c:ser>
          <c:idx val="1"/>
          <c:order val="1"/>
          <c:tx>
            <c:strRef>
              <c:f>'Commitments Dollars'!$N$3</c:f>
              <c:strCache>
                <c:ptCount val="1"/>
                <c:pt idx="0">
                  <c:v>Growth</c:v>
                </c:pt>
              </c:strCache>
            </c:strRef>
          </c:tx>
          <c:spPr>
            <a:solidFill>
              <a:schemeClr val="tx2">
                <a:lumMod val="50000"/>
                <a:lumOff val="50000"/>
              </a:schemeClr>
            </a:solidFill>
            <a:ln w="3175">
              <a:solidFill>
                <a:schemeClr val="dk1"/>
              </a:solidFill>
            </a:ln>
            <a:effectLst/>
          </c:spPr>
          <c:invertIfNegative val="0"/>
          <c:val>
            <c:numRef>
              <c:f>'Commitments Dollars'!$N$4:$N$23</c:f>
              <c:numCache>
                <c:formatCode>0.0</c:formatCode>
                <c:ptCount val="20"/>
                <c:pt idx="0">
                  <c:v>0.95916748046875</c:v>
                </c:pt>
                <c:pt idx="1">
                  <c:v>0.94735928591224183</c:v>
                </c:pt>
                <c:pt idx="2">
                  <c:v>0.98407015710630852</c:v>
                </c:pt>
                <c:pt idx="3">
                  <c:v>1.0151901550576048</c:v>
                </c:pt>
                <c:pt idx="4">
                  <c:v>1.0477524792449429</c:v>
                </c:pt>
                <c:pt idx="5">
                  <c:v>1.0861082085441698</c:v>
                </c:pt>
                <c:pt idx="6">
                  <c:v>1.1279674731311096</c:v>
                </c:pt>
                <c:pt idx="7">
                  <c:v>1.1755086847444445</c:v>
                </c:pt>
                <c:pt idx="8">
                  <c:v>1.2314794101534801</c:v>
                </c:pt>
                <c:pt idx="9">
                  <c:v>1.2969775861084032</c:v>
                </c:pt>
                <c:pt idx="10">
                  <c:v>1.3758472465633855</c:v>
                </c:pt>
                <c:pt idx="11">
                  <c:v>1.4655232708599959</c:v>
                </c:pt>
                <c:pt idx="12">
                  <c:v>1.56432050565584</c:v>
                </c:pt>
                <c:pt idx="13">
                  <c:v>1.6701766534649318</c:v>
                </c:pt>
                <c:pt idx="14">
                  <c:v>1.7836537367680907</c:v>
                </c:pt>
                <c:pt idx="15">
                  <c:v>1.9009493456366904</c:v>
                </c:pt>
                <c:pt idx="16">
                  <c:v>2.0251115996723059</c:v>
                </c:pt>
                <c:pt idx="17">
                  <c:v>2.1563458954264254</c:v>
                </c:pt>
                <c:pt idx="18">
                  <c:v>2.2967881448944452</c:v>
                </c:pt>
                <c:pt idx="19">
                  <c:v>2.4448119419669805</c:v>
                </c:pt>
              </c:numCache>
            </c:numRef>
          </c:val>
          <c:extLst>
            <c:ext xmlns:c16="http://schemas.microsoft.com/office/drawing/2014/chart" uri="{C3380CC4-5D6E-409C-BE32-E72D297353CC}">
              <c16:uniqueId val="{00000001-A495-1647-B36F-6E238B2BDD21}"/>
            </c:ext>
          </c:extLst>
        </c:ser>
        <c:ser>
          <c:idx val="2"/>
          <c:order val="2"/>
          <c:tx>
            <c:strRef>
              <c:f>'Commitments Dollars'!$O$3</c:f>
              <c:strCache>
                <c:ptCount val="1"/>
                <c:pt idx="0">
                  <c:v>Venture</c:v>
                </c:pt>
              </c:strCache>
            </c:strRef>
          </c:tx>
          <c:spPr>
            <a:solidFill>
              <a:schemeClr val="accent1">
                <a:lumMod val="60000"/>
                <a:lumOff val="40000"/>
              </a:schemeClr>
            </a:solidFill>
            <a:ln w="3175">
              <a:solidFill>
                <a:schemeClr val="dk1"/>
              </a:solidFill>
            </a:ln>
            <a:effectLst/>
          </c:spPr>
          <c:invertIfNegative val="0"/>
          <c:val>
            <c:numRef>
              <c:f>'Commitments Dollars'!$O$4:$O$23</c:f>
              <c:numCache>
                <c:formatCode>0.0</c:formatCode>
                <c:ptCount val="20"/>
                <c:pt idx="0">
                  <c:v>0.408477783203125</c:v>
                </c:pt>
                <c:pt idx="1">
                  <c:v>0.40344906274054587</c:v>
                </c:pt>
                <c:pt idx="2">
                  <c:v>0.41908301154527322</c:v>
                </c:pt>
                <c:pt idx="3">
                  <c:v>0.43233599190092392</c:v>
                </c:pt>
                <c:pt idx="4">
                  <c:v>0.44620321141245811</c:v>
                </c:pt>
                <c:pt idx="5">
                  <c:v>0.46253765101379929</c:v>
                </c:pt>
                <c:pt idx="6">
                  <c:v>0.48036413069869233</c:v>
                </c:pt>
                <c:pt idx="7">
                  <c:v>0.5006103641522236</c:v>
                </c:pt>
                <c:pt idx="8">
                  <c:v>0.52444644940834639</c:v>
                </c:pt>
                <c:pt idx="9">
                  <c:v>0.55233996150368991</c:v>
                </c:pt>
                <c:pt idx="10">
                  <c:v>0.58592794766945322</c:v>
                </c:pt>
                <c:pt idx="11">
                  <c:v>0.62411800765068548</c:v>
                </c:pt>
                <c:pt idx="12">
                  <c:v>0.66619249023873428</c:v>
                </c:pt>
                <c:pt idx="13">
                  <c:v>0.7112731309776682</c:v>
                </c:pt>
                <c:pt idx="14">
                  <c:v>0.75959927669872385</c:v>
                </c:pt>
                <c:pt idx="15">
                  <c:v>0.80955160646984092</c:v>
                </c:pt>
                <c:pt idx="16">
                  <c:v>0.86242821385980939</c:v>
                </c:pt>
                <c:pt idx="17">
                  <c:v>0.91831657048306392</c:v>
                </c:pt>
                <c:pt idx="18">
                  <c:v>0.9781262907862599</c:v>
                </c:pt>
                <c:pt idx="19">
                  <c:v>1.0411647420689796</c:v>
                </c:pt>
              </c:numCache>
            </c:numRef>
          </c:val>
          <c:extLst>
            <c:ext xmlns:c16="http://schemas.microsoft.com/office/drawing/2014/chart" uri="{C3380CC4-5D6E-409C-BE32-E72D297353CC}">
              <c16:uniqueId val="{00000002-A495-1647-B36F-6E238B2BDD21}"/>
            </c:ext>
          </c:extLst>
        </c:ser>
        <c:ser>
          <c:idx val="3"/>
          <c:order val="3"/>
          <c:tx>
            <c:strRef>
              <c:f>'Commitments Dollars'!$P$3</c:f>
              <c:strCache>
                <c:ptCount val="1"/>
                <c:pt idx="0">
                  <c:v>Private Credit</c:v>
                </c:pt>
              </c:strCache>
            </c:strRef>
          </c:tx>
          <c:spPr>
            <a:solidFill>
              <a:srgbClr val="DCEAF7"/>
            </a:solidFill>
            <a:ln w="3175">
              <a:solidFill>
                <a:schemeClr val="dk1"/>
              </a:solidFill>
            </a:ln>
            <a:effectLst/>
          </c:spPr>
          <c:invertIfNegative val="0"/>
          <c:val>
            <c:numRef>
              <c:f>'Commitments Dollars'!$P$4:$P$23</c:f>
              <c:numCache>
                <c:formatCode>0.0</c:formatCode>
                <c:ptCount val="20"/>
                <c:pt idx="0">
                  <c:v>1.45904541015625</c:v>
                </c:pt>
                <c:pt idx="1">
                  <c:v>1.4410832790157266</c:v>
                </c:pt>
                <c:pt idx="2">
                  <c:v>1.4969263191617119</c:v>
                </c:pt>
                <c:pt idx="3">
                  <c:v>1.5442647570252652</c:v>
                </c:pt>
                <c:pt idx="4">
                  <c:v>1.5937972011676971</c:v>
                </c:pt>
                <c:pt idx="5">
                  <c:v>1.6521423305916882</c:v>
                </c:pt>
                <c:pt idx="6">
                  <c:v>1.7158168911994383</c:v>
                </c:pt>
                <c:pt idx="7">
                  <c:v>1.7881345917159366</c:v>
                </c:pt>
                <c:pt idx="8">
                  <c:v>1.8732749156677657</c:v>
                </c:pt>
                <c:pt idx="9">
                  <c:v>1.9729079984677935</c:v>
                </c:pt>
                <c:pt idx="10">
                  <c:v>2.0928812236142371</c:v>
                </c:pt>
                <c:pt idx="11">
                  <c:v>2.2292926369652055</c:v>
                </c:pt>
                <c:pt idx="12">
                  <c:v>2.3795788538150084</c:v>
                </c:pt>
                <c:pt idx="13">
                  <c:v>2.5406027935780591</c:v>
                </c:pt>
                <c:pt idx="14">
                  <c:v>2.7132193813198349</c:v>
                </c:pt>
                <c:pt idx="15">
                  <c:v>2.8916445502669479</c:v>
                </c:pt>
                <c:pt idx="16">
                  <c:v>3.0805149723300329</c:v>
                </c:pt>
                <c:pt idx="17">
                  <c:v>3.2801430881430922</c:v>
                </c:pt>
                <c:pt idx="18">
                  <c:v>3.493777957601127</c:v>
                </c:pt>
                <c:pt idx="19">
                  <c:v>3.7189455598295047</c:v>
                </c:pt>
              </c:numCache>
            </c:numRef>
          </c:val>
          <c:extLst>
            <c:ext xmlns:c16="http://schemas.microsoft.com/office/drawing/2014/chart" uri="{C3380CC4-5D6E-409C-BE32-E72D297353CC}">
              <c16:uniqueId val="{00000003-A495-1647-B36F-6E238B2BDD21}"/>
            </c:ext>
          </c:extLst>
        </c:ser>
        <c:dLbls>
          <c:showLegendKey val="0"/>
          <c:showVal val="0"/>
          <c:showCatName val="0"/>
          <c:showSerName val="0"/>
          <c:showPercent val="0"/>
          <c:showBubbleSize val="0"/>
        </c:dLbls>
        <c:gapWidth val="150"/>
        <c:overlap val="100"/>
        <c:axId val="944479199"/>
        <c:axId val="943945727"/>
      </c:barChart>
      <c:scatterChart>
        <c:scatterStyle val="lineMarker"/>
        <c:varyColors val="0"/>
        <c:ser>
          <c:idx val="4"/>
          <c:order val="4"/>
          <c:tx>
            <c:strRef>
              <c:f>'Commitments Dollars'!$Q$3</c:f>
              <c:strCache>
                <c:ptCount val="1"/>
                <c:pt idx="0">
                  <c:v>Total</c:v>
                </c:pt>
              </c:strCache>
            </c:strRef>
          </c:tx>
          <c:spPr>
            <a:ln w="25400" cap="rnd">
              <a:noFill/>
              <a:round/>
            </a:ln>
            <a:effectLst/>
          </c:spPr>
          <c:marker>
            <c:symbol val="circle"/>
            <c:size val="5"/>
            <c:spPr>
              <a:noFill/>
              <a:ln w="9525">
                <a:noFill/>
              </a:ln>
              <a:effectLst/>
            </c:spPr>
          </c:marker>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solidFill>
                    <a:latin typeface="Aptos" panose="020B0004020202020204" pitchFamily="34" charset="0"/>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yVal>
            <c:numRef>
              <c:f>'Commitments Dollars'!$Q$4:$Q$23</c:f>
              <c:numCache>
                <c:formatCode>0.0</c:formatCode>
                <c:ptCount val="20"/>
                <c:pt idx="0">
                  <c:v>5.2482414245605442</c:v>
                </c:pt>
                <c:pt idx="1">
                  <c:v>5.183630960712823</c:v>
                </c:pt>
                <c:pt idx="2">
                  <c:v>5.3845004843941817</c:v>
                </c:pt>
                <c:pt idx="3">
                  <c:v>5.5547786325862099</c:v>
                </c:pt>
                <c:pt idx="4">
                  <c:v>5.7329487041950182</c:v>
                </c:pt>
                <c:pt idx="5">
                  <c:v>5.9428183374722616</c:v>
                </c:pt>
                <c:pt idx="6">
                  <c:v>6.1718581359227409</c:v>
                </c:pt>
                <c:pt idx="7">
                  <c:v>6.4319876349347043</c:v>
                </c:pt>
                <c:pt idx="8">
                  <c:v>6.7382405945438517</c:v>
                </c:pt>
                <c:pt idx="9">
                  <c:v>7.0966245548839071</c:v>
                </c:pt>
                <c:pt idx="10">
                  <c:v>7.5281727751577794</c:v>
                </c:pt>
                <c:pt idx="11">
                  <c:v>8.0188497790042437</c:v>
                </c:pt>
                <c:pt idx="12">
                  <c:v>8.5594349748599079</c:v>
                </c:pt>
                <c:pt idx="13">
                  <c:v>9.1386441654223063</c:v>
                </c:pt>
                <c:pt idx="14">
                  <c:v>9.7595525484284682</c:v>
                </c:pt>
                <c:pt idx="15">
                  <c:v>10.401354617325124</c:v>
                </c:pt>
                <c:pt idx="16">
                  <c:v>11.080728656025924</c:v>
                </c:pt>
                <c:pt idx="17">
                  <c:v>11.798798525287134</c:v>
                </c:pt>
                <c:pt idx="18">
                  <c:v>12.567251216214808</c:v>
                </c:pt>
                <c:pt idx="19">
                  <c:v>13.37718758231968</c:v>
                </c:pt>
              </c:numCache>
            </c:numRef>
          </c:yVal>
          <c:smooth val="0"/>
          <c:extLst>
            <c:ext xmlns:c16="http://schemas.microsoft.com/office/drawing/2014/chart" uri="{C3380CC4-5D6E-409C-BE32-E72D297353CC}">
              <c16:uniqueId val="{00000004-A495-1647-B36F-6E238B2BDD21}"/>
            </c:ext>
          </c:extLst>
        </c:ser>
        <c:dLbls>
          <c:showLegendKey val="0"/>
          <c:showVal val="0"/>
          <c:showCatName val="0"/>
          <c:showSerName val="0"/>
          <c:showPercent val="0"/>
          <c:showBubbleSize val="0"/>
        </c:dLbls>
        <c:axId val="944479199"/>
        <c:axId val="943945727"/>
      </c:scatterChart>
      <c:catAx>
        <c:axId val="944479199"/>
        <c:scaling>
          <c:orientation val="minMax"/>
        </c:scaling>
        <c:delete val="0"/>
        <c:axPos val="b"/>
        <c:title>
          <c:tx>
            <c:rich>
              <a:bodyPr rot="0" spcFirstLastPara="1" vertOverflow="ellipsis" vert="horz" wrap="square" anchor="ctr" anchorCtr="1"/>
              <a:lstStyle/>
              <a:p>
                <a:pPr>
                  <a:defRPr sz="1000" b="0" i="0" u="none" strike="noStrike" kern="1200" baseline="0">
                    <a:solidFill>
                      <a:schemeClr val="tx1"/>
                    </a:solidFill>
                    <a:latin typeface="Aptos" panose="020B0004020202020204" pitchFamily="34" charset="0"/>
                    <a:ea typeface="+mn-ea"/>
                    <a:cs typeface="+mn-cs"/>
                  </a:defRPr>
                </a:pPr>
                <a:r>
                  <a:rPr lang="en-GB"/>
                  <a:t>Beginning of Year</a:t>
                </a:r>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Aptos" panose="020B0004020202020204" pitchFamily="34" charset="0"/>
                  <a:ea typeface="+mn-ea"/>
                  <a:cs typeface="+mn-cs"/>
                </a:defRPr>
              </a:pPr>
              <a:endParaRPr lang="en-US"/>
            </a:p>
          </c:txPr>
        </c:title>
        <c:majorTickMark val="none"/>
        <c:minorTickMark val="none"/>
        <c:tickLblPos val="nextTo"/>
        <c:spPr>
          <a:noFill/>
          <a:ln w="12700" cap="flat" cmpd="sng" algn="ctr">
            <a:solidFill>
              <a:schemeClr val="dk1"/>
            </a:solidFill>
            <a:prstDash val="solid"/>
            <a:miter lim="800000"/>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crossAx val="943945727"/>
        <c:crosses val="autoZero"/>
        <c:auto val="1"/>
        <c:lblAlgn val="ctr"/>
        <c:lblOffset val="100"/>
        <c:noMultiLvlLbl val="0"/>
      </c:catAx>
      <c:valAx>
        <c:axId val="943945727"/>
        <c:scaling>
          <c:orientation val="minMax"/>
          <c:max val="16"/>
        </c:scaling>
        <c:delete val="0"/>
        <c:axPos val="l"/>
        <c:numFmt formatCode="0.0" sourceLinked="1"/>
        <c:majorTickMark val="none"/>
        <c:minorTickMark val="none"/>
        <c:tickLblPos val="nextTo"/>
        <c:spPr>
          <a:noFill/>
          <a:ln w="12700" cap="flat" cmpd="sng" algn="ctr">
            <a:solidFill>
              <a:schemeClr val="dk1"/>
            </a:solidFill>
            <a:prstDash val="solid"/>
            <a:miter lim="800000"/>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en-US"/>
          </a:p>
        </c:txPr>
        <c:crossAx val="944479199"/>
        <c:crosses val="autoZero"/>
        <c:crossBetween val="between"/>
        <c:majorUnit val="4"/>
      </c:valAx>
      <c:spPr>
        <a:noFill/>
        <a:ln w="3175">
          <a:noFill/>
        </a:ln>
        <a:effectLst/>
      </c:spPr>
    </c:plotArea>
    <c:legend>
      <c:legendPos val="t"/>
      <c:legendEntry>
        <c:idx val="4"/>
        <c:delete val="1"/>
      </c:legendEntry>
      <c:layout>
        <c:manualLayout>
          <c:xMode val="edge"/>
          <c:yMode val="edge"/>
          <c:x val="0.30509056961236231"/>
          <c:y val="2.735317144228391E-2"/>
          <c:w val="0.38981886077527539"/>
          <c:h val="6.3254747408538273E-2"/>
        </c:manualLayout>
      </c:layout>
      <c:overlay val="0"/>
      <c:spPr>
        <a:noFill/>
        <a:ln w="3175">
          <a:solidFill>
            <a:schemeClr val="bg1">
              <a:lumMod val="65000"/>
            </a:schemeClr>
          </a:solidFill>
        </a:ln>
        <a:effectLst/>
      </c:spPr>
      <c:txPr>
        <a:bodyPr rot="0" spcFirstLastPara="1" vertOverflow="ellipsis" vert="horz" wrap="square" anchor="ctr" anchorCtr="1"/>
        <a:lstStyle/>
        <a:p>
          <a:pPr>
            <a:defRPr sz="900" b="0" i="0" u="none" strike="noStrike" kern="1200" baseline="0">
              <a:solidFill>
                <a:schemeClr val="tx1"/>
              </a:solidFill>
              <a:latin typeface="Aptos" panose="020B0004020202020204" pitchFamily="34" charset="0"/>
              <a:ea typeface="+mn-ea"/>
              <a:cs typeface="+mn-cs"/>
            </a:defRPr>
          </a:pPr>
          <a:endParaRPr lang="en-US"/>
        </a:p>
      </c:txPr>
    </c:legend>
    <c:plotVisOnly val="1"/>
    <c:dispBlanksAs val="gap"/>
    <c:showDLblsOverMax val="0"/>
    <c:extLst/>
  </c:chart>
  <c:spPr>
    <a:noFill/>
    <a:ln w="9525" cap="flat" cmpd="sng" algn="ctr">
      <a:noFill/>
      <a:round/>
    </a:ln>
    <a:effectLst/>
  </c:spPr>
  <c:txPr>
    <a:bodyPr/>
    <a:lstStyle/>
    <a:p>
      <a:pPr>
        <a:defRPr b="0" i="0">
          <a:solidFill>
            <a:schemeClr val="tx1"/>
          </a:solidFill>
          <a:latin typeface="Aptos" panose="020B0004020202020204" pitchFamily="34" charset="0"/>
        </a:defRPr>
      </a:pPr>
      <a:endParaRPr lang="en-US"/>
    </a:p>
  </c:txPr>
  <c:externalData r:id="rId3">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4694129269476059E-2"/>
          <c:y val="0.11553693878657749"/>
          <c:w val="0.93445276467390348"/>
          <c:h val="0.71598941674653527"/>
        </c:manualLayout>
      </c:layout>
      <c:barChart>
        <c:barDir val="col"/>
        <c:grouping val="stacked"/>
        <c:varyColors val="0"/>
        <c:ser>
          <c:idx val="0"/>
          <c:order val="0"/>
          <c:tx>
            <c:strRef>
              <c:f>'Commitment Pacing'!$E$2</c:f>
              <c:strCache>
                <c:ptCount val="1"/>
                <c:pt idx="0">
                  <c:v>Buyout</c:v>
                </c:pt>
              </c:strCache>
            </c:strRef>
          </c:tx>
          <c:spPr>
            <a:solidFill>
              <a:schemeClr val="accent1">
                <a:lumMod val="50000"/>
              </a:schemeClr>
            </a:solidFill>
            <a:ln w="3175">
              <a:solidFill>
                <a:schemeClr val="dk1"/>
              </a:solidFill>
            </a:ln>
            <a:effectLst/>
          </c:spPr>
          <c:invertIfNegative val="0"/>
          <c:val>
            <c:numRef>
              <c:f>'Commitment Pacing'!$E$3:$E$22</c:f>
              <c:numCache>
                <c:formatCode>0%</c:formatCode>
                <c:ptCount val="20"/>
                <c:pt idx="0">
                  <c:v>0</c:v>
                </c:pt>
                <c:pt idx="1">
                  <c:v>4.3049926757812501E-3</c:v>
                </c:pt>
                <c:pt idx="2">
                  <c:v>1.27635315965615E-2</c:v>
                </c:pt>
                <c:pt idx="3">
                  <c:v>2.5118272555327899E-2</c:v>
                </c:pt>
                <c:pt idx="4">
                  <c:v>3.9429033788606203E-2</c:v>
                </c:pt>
                <c:pt idx="5">
                  <c:v>5.4643202209278603E-2</c:v>
                </c:pt>
                <c:pt idx="6">
                  <c:v>6.9787557775812803E-2</c:v>
                </c:pt>
                <c:pt idx="7">
                  <c:v>8.3568329092247096E-2</c:v>
                </c:pt>
                <c:pt idx="8">
                  <c:v>9.4288124395023806E-2</c:v>
                </c:pt>
                <c:pt idx="9">
                  <c:v>0.10099250292793201</c:v>
                </c:pt>
                <c:pt idx="10">
                  <c:v>0.103731308282246</c:v>
                </c:pt>
                <c:pt idx="11">
                  <c:v>0.10387299553014299</c:v>
                </c:pt>
                <c:pt idx="12">
                  <c:v>0.102916225442211</c:v>
                </c:pt>
                <c:pt idx="13">
                  <c:v>0.10184368959354299</c:v>
                </c:pt>
                <c:pt idx="14">
                  <c:v>0.100951466913132</c:v>
                </c:pt>
                <c:pt idx="15">
                  <c:v>0.100433658178836</c:v>
                </c:pt>
                <c:pt idx="16">
                  <c:v>0.10015861750112399</c:v>
                </c:pt>
                <c:pt idx="17">
                  <c:v>0.100081950296793</c:v>
                </c:pt>
                <c:pt idx="18">
                  <c:v>0.10008658070937</c:v>
                </c:pt>
                <c:pt idx="19">
                  <c:v>0.100183879956384</c:v>
                </c:pt>
              </c:numCache>
            </c:numRef>
          </c:val>
          <c:extLst>
            <c:ext xmlns:c16="http://schemas.microsoft.com/office/drawing/2014/chart" uri="{C3380CC4-5D6E-409C-BE32-E72D297353CC}">
              <c16:uniqueId val="{00000000-027E-A24A-95D7-75D1E9676C39}"/>
            </c:ext>
          </c:extLst>
        </c:ser>
        <c:ser>
          <c:idx val="1"/>
          <c:order val="1"/>
          <c:tx>
            <c:strRef>
              <c:f>'Commitment Pacing'!$F$2</c:f>
              <c:strCache>
                <c:ptCount val="1"/>
                <c:pt idx="0">
                  <c:v>Growth</c:v>
                </c:pt>
              </c:strCache>
            </c:strRef>
          </c:tx>
          <c:spPr>
            <a:solidFill>
              <a:schemeClr val="tx2">
                <a:lumMod val="50000"/>
                <a:lumOff val="50000"/>
              </a:schemeClr>
            </a:solidFill>
            <a:ln w="3175">
              <a:solidFill>
                <a:schemeClr val="dk1"/>
              </a:solidFill>
            </a:ln>
            <a:effectLst/>
          </c:spPr>
          <c:invertIfNegative val="0"/>
          <c:val>
            <c:numRef>
              <c:f>'Commitment Pacing'!$F$3:$F$22</c:f>
              <c:numCache>
                <c:formatCode>0%</c:formatCode>
                <c:ptCount val="20"/>
                <c:pt idx="0">
                  <c:v>0</c:v>
                </c:pt>
                <c:pt idx="1">
                  <c:v>2.0718994140624999E-3</c:v>
                </c:pt>
                <c:pt idx="2">
                  <c:v>6.1384275567630802E-3</c:v>
                </c:pt>
                <c:pt idx="3">
                  <c:v>1.1281020647672099E-2</c:v>
                </c:pt>
                <c:pt idx="4">
                  <c:v>1.7111430210244302E-2</c:v>
                </c:pt>
                <c:pt idx="5">
                  <c:v>2.3203497825282599E-2</c:v>
                </c:pt>
                <c:pt idx="6">
                  <c:v>2.9146262614719198E-2</c:v>
                </c:pt>
                <c:pt idx="7">
                  <c:v>3.4394447245414898E-2</c:v>
                </c:pt>
                <c:pt idx="8">
                  <c:v>3.82914445501078E-2</c:v>
                </c:pt>
                <c:pt idx="9">
                  <c:v>4.0554775947362898E-2</c:v>
                </c:pt>
                <c:pt idx="10">
                  <c:v>4.13312788473435E-2</c:v>
                </c:pt>
                <c:pt idx="11">
                  <c:v>4.1232320493287698E-2</c:v>
                </c:pt>
                <c:pt idx="12">
                  <c:v>4.0817800400894999E-2</c:v>
                </c:pt>
                <c:pt idx="13">
                  <c:v>4.04076382949239E-2</c:v>
                </c:pt>
                <c:pt idx="14">
                  <c:v>4.0080201390122597E-2</c:v>
                </c:pt>
                <c:pt idx="15">
                  <c:v>3.98998069222622E-2</c:v>
                </c:pt>
                <c:pt idx="16">
                  <c:v>3.9810732390073003E-2</c:v>
                </c:pt>
                <c:pt idx="17">
                  <c:v>3.97942692988872E-2</c:v>
                </c:pt>
                <c:pt idx="18">
                  <c:v>3.9803557340592099E-2</c:v>
                </c:pt>
                <c:pt idx="19">
                  <c:v>3.9844751689357701E-2</c:v>
                </c:pt>
              </c:numCache>
            </c:numRef>
          </c:val>
          <c:extLst>
            <c:ext xmlns:c16="http://schemas.microsoft.com/office/drawing/2014/chart" uri="{C3380CC4-5D6E-409C-BE32-E72D297353CC}">
              <c16:uniqueId val="{00000001-027E-A24A-95D7-75D1E9676C39}"/>
            </c:ext>
          </c:extLst>
        </c:ser>
        <c:ser>
          <c:idx val="2"/>
          <c:order val="2"/>
          <c:tx>
            <c:strRef>
              <c:f>'Commitment Pacing'!$G$2</c:f>
              <c:strCache>
                <c:ptCount val="1"/>
                <c:pt idx="0">
                  <c:v>Venture</c:v>
                </c:pt>
              </c:strCache>
            </c:strRef>
          </c:tx>
          <c:spPr>
            <a:solidFill>
              <a:srgbClr val="B4C7E7"/>
            </a:solidFill>
            <a:ln w="3175">
              <a:solidFill>
                <a:schemeClr val="dk1"/>
              </a:solidFill>
            </a:ln>
            <a:effectLst/>
          </c:spPr>
          <c:invertIfNegative val="0"/>
          <c:val>
            <c:numRef>
              <c:f>'Commitment Pacing'!$G$3:$G$22</c:f>
              <c:numCache>
                <c:formatCode>0%</c:formatCode>
                <c:ptCount val="20"/>
                <c:pt idx="0">
                  <c:v>0</c:v>
                </c:pt>
                <c:pt idx="1">
                  <c:v>7.2619628906249998E-4</c:v>
                </c:pt>
                <c:pt idx="2">
                  <c:v>2.1464420676018999E-3</c:v>
                </c:pt>
                <c:pt idx="3">
                  <c:v>3.9898208573999399E-3</c:v>
                </c:pt>
                <c:pt idx="4">
                  <c:v>6.1404199332067101E-3</c:v>
                </c:pt>
                <c:pt idx="5">
                  <c:v>8.4990701503727794E-3</c:v>
                </c:pt>
                <c:pt idx="6">
                  <c:v>1.1005915911992801E-2</c:v>
                </c:pt>
                <c:pt idx="7">
                  <c:v>1.3564790273611E-2</c:v>
                </c:pt>
                <c:pt idx="8">
                  <c:v>1.5983266850949401E-2</c:v>
                </c:pt>
                <c:pt idx="9">
                  <c:v>1.80507812688263E-2</c:v>
                </c:pt>
                <c:pt idx="10">
                  <c:v>1.95292629225578E-2</c:v>
                </c:pt>
                <c:pt idx="11">
                  <c:v>2.03371524351393E-2</c:v>
                </c:pt>
                <c:pt idx="12">
                  <c:v>2.0568694198476199E-2</c:v>
                </c:pt>
                <c:pt idx="13">
                  <c:v>2.0476519838268301E-2</c:v>
                </c:pt>
                <c:pt idx="14">
                  <c:v>2.0283081093618101E-2</c:v>
                </c:pt>
                <c:pt idx="15">
                  <c:v>2.0129031939056598E-2</c:v>
                </c:pt>
                <c:pt idx="16">
                  <c:v>2.0020134529521501E-2</c:v>
                </c:pt>
                <c:pt idx="17">
                  <c:v>1.9957799952439698E-2</c:v>
                </c:pt>
                <c:pt idx="18">
                  <c:v>1.9924135005412201E-2</c:v>
                </c:pt>
                <c:pt idx="19">
                  <c:v>1.9923417814953E-2</c:v>
                </c:pt>
              </c:numCache>
            </c:numRef>
          </c:val>
          <c:extLst>
            <c:ext xmlns:c16="http://schemas.microsoft.com/office/drawing/2014/chart" uri="{C3380CC4-5D6E-409C-BE32-E72D297353CC}">
              <c16:uniqueId val="{00000002-027E-A24A-95D7-75D1E9676C39}"/>
            </c:ext>
          </c:extLst>
        </c:ser>
        <c:ser>
          <c:idx val="3"/>
          <c:order val="3"/>
          <c:tx>
            <c:strRef>
              <c:f>'Commitment Pacing'!$H$2</c:f>
              <c:strCache>
                <c:ptCount val="1"/>
                <c:pt idx="0">
                  <c:v>Private Credit</c:v>
                </c:pt>
              </c:strCache>
            </c:strRef>
          </c:tx>
          <c:spPr>
            <a:solidFill>
              <a:srgbClr val="DCEAF7"/>
            </a:solidFill>
            <a:ln w="3175">
              <a:solidFill>
                <a:schemeClr val="dk1"/>
              </a:solidFill>
            </a:ln>
            <a:effectLst/>
          </c:spPr>
          <c:invertIfNegative val="0"/>
          <c:val>
            <c:numRef>
              <c:f>'Commitment Pacing'!$H$3:$H$22</c:f>
              <c:numCache>
                <c:formatCode>0%</c:formatCode>
                <c:ptCount val="20"/>
                <c:pt idx="0">
                  <c:v>0</c:v>
                </c:pt>
                <c:pt idx="1">
                  <c:v>5.0457763671875001E-3</c:v>
                </c:pt>
                <c:pt idx="2">
                  <c:v>1.47525583768379E-2</c:v>
                </c:pt>
                <c:pt idx="3">
                  <c:v>2.5152535704737501E-2</c:v>
                </c:pt>
                <c:pt idx="4">
                  <c:v>3.4748724515775403E-2</c:v>
                </c:pt>
                <c:pt idx="5">
                  <c:v>4.1089861994061401E-2</c:v>
                </c:pt>
                <c:pt idx="6">
                  <c:v>4.3370063308431198E-2</c:v>
                </c:pt>
                <c:pt idx="7">
                  <c:v>4.3042275511236398E-2</c:v>
                </c:pt>
                <c:pt idx="8">
                  <c:v>4.2083943310568403E-2</c:v>
                </c:pt>
                <c:pt idx="9">
                  <c:v>4.1226071281250602E-2</c:v>
                </c:pt>
                <c:pt idx="10">
                  <c:v>4.0513199868804098E-2</c:v>
                </c:pt>
                <c:pt idx="11">
                  <c:v>4.0002403292654698E-2</c:v>
                </c:pt>
                <c:pt idx="12">
                  <c:v>3.9681848118714898E-2</c:v>
                </c:pt>
                <c:pt idx="13">
                  <c:v>3.9531601735941703E-2</c:v>
                </c:pt>
                <c:pt idx="14">
                  <c:v>3.9485441568345402E-2</c:v>
                </c:pt>
                <c:pt idx="15">
                  <c:v>3.9541370026768101E-2</c:v>
                </c:pt>
                <c:pt idx="16">
                  <c:v>3.9612455081437903E-2</c:v>
                </c:pt>
                <c:pt idx="17">
                  <c:v>3.9678021743098001E-2</c:v>
                </c:pt>
                <c:pt idx="18">
                  <c:v>3.9708480104330597E-2</c:v>
                </c:pt>
                <c:pt idx="19">
                  <c:v>3.9734384646142401E-2</c:v>
                </c:pt>
              </c:numCache>
            </c:numRef>
          </c:val>
          <c:extLst>
            <c:ext xmlns:c16="http://schemas.microsoft.com/office/drawing/2014/chart" uri="{C3380CC4-5D6E-409C-BE32-E72D297353CC}">
              <c16:uniqueId val="{00000003-027E-A24A-95D7-75D1E9676C39}"/>
            </c:ext>
          </c:extLst>
        </c:ser>
        <c:dLbls>
          <c:showLegendKey val="0"/>
          <c:showVal val="0"/>
          <c:showCatName val="0"/>
          <c:showSerName val="0"/>
          <c:showPercent val="0"/>
          <c:showBubbleSize val="0"/>
        </c:dLbls>
        <c:gapWidth val="150"/>
        <c:overlap val="100"/>
        <c:axId val="944479199"/>
        <c:axId val="943945727"/>
      </c:barChart>
      <c:lineChart>
        <c:grouping val="standard"/>
        <c:varyColors val="0"/>
        <c:ser>
          <c:idx val="4"/>
          <c:order val="4"/>
          <c:tx>
            <c:strRef>
              <c:f>'Commitment Pacing'!$I$2</c:f>
              <c:strCache>
                <c:ptCount val="1"/>
                <c:pt idx="0">
                  <c:v>Target Weight</c:v>
                </c:pt>
              </c:strCache>
            </c:strRef>
          </c:tx>
          <c:spPr>
            <a:ln w="12700" cap="rnd">
              <a:solidFill>
                <a:srgbClr val="C00000"/>
              </a:solidFill>
              <a:prstDash val="sysDot"/>
              <a:round/>
            </a:ln>
            <a:effectLst/>
          </c:spPr>
          <c:marker>
            <c:symbol val="none"/>
          </c:marker>
          <c:val>
            <c:numRef>
              <c:f>'Commitment Pacing'!$I$3:$I$22</c:f>
              <c:numCache>
                <c:formatCode>0%</c:formatCode>
                <c:ptCount val="20"/>
                <c:pt idx="0">
                  <c:v>0.2</c:v>
                </c:pt>
                <c:pt idx="1">
                  <c:v>0.2</c:v>
                </c:pt>
                <c:pt idx="2">
                  <c:v>0.2</c:v>
                </c:pt>
                <c:pt idx="3">
                  <c:v>0.2</c:v>
                </c:pt>
                <c:pt idx="4">
                  <c:v>0.2</c:v>
                </c:pt>
                <c:pt idx="5">
                  <c:v>0.2</c:v>
                </c:pt>
                <c:pt idx="6">
                  <c:v>0.2</c:v>
                </c:pt>
                <c:pt idx="7">
                  <c:v>0.2</c:v>
                </c:pt>
                <c:pt idx="8">
                  <c:v>0.2</c:v>
                </c:pt>
                <c:pt idx="9">
                  <c:v>0.2</c:v>
                </c:pt>
                <c:pt idx="10">
                  <c:v>0.2</c:v>
                </c:pt>
                <c:pt idx="11">
                  <c:v>0.2</c:v>
                </c:pt>
                <c:pt idx="12">
                  <c:v>0.2</c:v>
                </c:pt>
                <c:pt idx="13">
                  <c:v>0.2</c:v>
                </c:pt>
                <c:pt idx="14">
                  <c:v>0.2</c:v>
                </c:pt>
                <c:pt idx="15">
                  <c:v>0.2</c:v>
                </c:pt>
                <c:pt idx="16">
                  <c:v>0.2</c:v>
                </c:pt>
                <c:pt idx="17">
                  <c:v>0.2</c:v>
                </c:pt>
                <c:pt idx="18">
                  <c:v>0.2</c:v>
                </c:pt>
                <c:pt idx="19">
                  <c:v>0.2</c:v>
                </c:pt>
              </c:numCache>
            </c:numRef>
          </c:val>
          <c:smooth val="0"/>
          <c:extLst>
            <c:ext xmlns:c16="http://schemas.microsoft.com/office/drawing/2014/chart" uri="{C3380CC4-5D6E-409C-BE32-E72D297353CC}">
              <c16:uniqueId val="{00000004-027E-A24A-95D7-75D1E9676C39}"/>
            </c:ext>
          </c:extLst>
        </c:ser>
        <c:dLbls>
          <c:showLegendKey val="0"/>
          <c:showVal val="0"/>
          <c:showCatName val="0"/>
          <c:showSerName val="0"/>
          <c:showPercent val="0"/>
          <c:showBubbleSize val="0"/>
        </c:dLbls>
        <c:marker val="1"/>
        <c:smooth val="0"/>
        <c:axId val="944479199"/>
        <c:axId val="943945727"/>
      </c:lineChart>
      <c:catAx>
        <c:axId val="944479199"/>
        <c:scaling>
          <c:orientation val="minMax"/>
        </c:scaling>
        <c:delete val="0"/>
        <c:axPos val="b"/>
        <c:title>
          <c:tx>
            <c:rich>
              <a:bodyPr rot="0" spcFirstLastPara="1" vertOverflow="ellipsis" vert="horz" wrap="square" anchor="ctr" anchorCtr="1"/>
              <a:lstStyle/>
              <a:p>
                <a:pPr>
                  <a:defRPr sz="1100" b="0" i="0" u="none" strike="noStrike" kern="1200" baseline="0">
                    <a:solidFill>
                      <a:schemeClr val="tx1"/>
                    </a:solidFill>
                    <a:latin typeface="Aptos" panose="020B0004020202020204" pitchFamily="34" charset="0"/>
                    <a:ea typeface="+mn-ea"/>
                    <a:cs typeface="+mn-cs"/>
                  </a:defRPr>
                </a:pPr>
                <a:r>
                  <a:rPr lang="en-GB"/>
                  <a:t>Beginning of Year</a:t>
                </a:r>
              </a:p>
            </c:rich>
          </c:tx>
          <c:overlay val="0"/>
          <c:spPr>
            <a:noFill/>
            <a:ln>
              <a:noFill/>
            </a:ln>
            <a:effectLst/>
          </c:spPr>
          <c:txPr>
            <a:bodyPr rot="0" spcFirstLastPara="1" vertOverflow="ellipsis" vert="horz" wrap="square" anchor="ctr" anchorCtr="1"/>
            <a:lstStyle/>
            <a:p>
              <a:pPr>
                <a:defRPr sz="1100" b="0" i="0" u="none" strike="noStrike" kern="1200" baseline="0">
                  <a:solidFill>
                    <a:schemeClr val="tx1"/>
                  </a:solidFill>
                  <a:latin typeface="Aptos" panose="020B0004020202020204" pitchFamily="34" charset="0"/>
                  <a:ea typeface="+mn-ea"/>
                  <a:cs typeface="+mn-cs"/>
                </a:defRPr>
              </a:pPr>
              <a:endParaRPr lang="en-US"/>
            </a:p>
          </c:txPr>
        </c:title>
        <c:majorTickMark val="none"/>
        <c:minorTickMark val="none"/>
        <c:tickLblPos val="nextTo"/>
        <c:spPr>
          <a:noFill/>
          <a:ln w="12700" cap="flat" cmpd="sng" algn="ctr">
            <a:solidFill>
              <a:schemeClr val="dk1"/>
            </a:solidFill>
            <a:prstDash val="solid"/>
            <a:miter lim="800000"/>
          </a:ln>
          <a:effectLst/>
        </c:spPr>
        <c:txPr>
          <a:bodyPr rot="-60000000" spcFirstLastPara="1" vertOverflow="ellipsis" vert="horz" wrap="square" anchor="ctr" anchorCtr="1"/>
          <a:lstStyle/>
          <a:p>
            <a:pPr>
              <a:defRPr sz="1100" b="0" i="0" u="none" strike="noStrike" kern="1200" baseline="0">
                <a:solidFill>
                  <a:schemeClr val="tx1"/>
                </a:solidFill>
                <a:latin typeface="Aptos" panose="020B0004020202020204" pitchFamily="34" charset="0"/>
                <a:ea typeface="+mn-ea"/>
                <a:cs typeface="+mn-cs"/>
              </a:defRPr>
            </a:pPr>
            <a:endParaRPr lang="en-US"/>
          </a:p>
        </c:txPr>
        <c:crossAx val="943945727"/>
        <c:crosses val="autoZero"/>
        <c:auto val="1"/>
        <c:lblAlgn val="ctr"/>
        <c:lblOffset val="100"/>
        <c:noMultiLvlLbl val="0"/>
      </c:catAx>
      <c:valAx>
        <c:axId val="943945727"/>
        <c:scaling>
          <c:orientation val="minMax"/>
        </c:scaling>
        <c:delete val="0"/>
        <c:axPos val="l"/>
        <c:numFmt formatCode="0%" sourceLinked="1"/>
        <c:majorTickMark val="none"/>
        <c:minorTickMark val="none"/>
        <c:tickLblPos val="nextTo"/>
        <c:spPr>
          <a:noFill/>
          <a:ln w="12700" cap="flat" cmpd="sng" algn="ctr">
            <a:solidFill>
              <a:schemeClr val="dk1"/>
            </a:solidFill>
            <a:prstDash val="solid"/>
            <a:miter lim="800000"/>
          </a:ln>
          <a:effectLst/>
        </c:spPr>
        <c:txPr>
          <a:bodyPr rot="-60000000" spcFirstLastPara="1" vertOverflow="ellipsis" vert="horz" wrap="square" anchor="ctr" anchorCtr="1"/>
          <a:lstStyle/>
          <a:p>
            <a:pPr>
              <a:defRPr sz="1100" b="0" i="0" u="none" strike="noStrike" kern="1200" baseline="0">
                <a:solidFill>
                  <a:schemeClr val="tx1"/>
                </a:solidFill>
                <a:latin typeface="Aptos" panose="020B0004020202020204" pitchFamily="34" charset="0"/>
                <a:ea typeface="+mn-ea"/>
                <a:cs typeface="+mn-cs"/>
              </a:defRPr>
            </a:pPr>
            <a:endParaRPr lang="en-US"/>
          </a:p>
        </c:txPr>
        <c:crossAx val="944479199"/>
        <c:crosses val="autoZero"/>
        <c:crossBetween val="between"/>
      </c:valAx>
      <c:spPr>
        <a:noFill/>
        <a:ln w="3175">
          <a:noFill/>
        </a:ln>
        <a:effectLst/>
      </c:spPr>
    </c:plotArea>
    <c:legend>
      <c:legendPos val="t"/>
      <c:legendEntry>
        <c:idx val="4"/>
        <c:delete val="1"/>
      </c:legendEntry>
      <c:overlay val="0"/>
      <c:spPr>
        <a:noFill/>
        <a:ln w="3175">
          <a:solidFill>
            <a:schemeClr val="bg1">
              <a:lumMod val="65000"/>
            </a:schemeClr>
          </a:solidFill>
        </a:ln>
        <a:effectLst/>
      </c:spPr>
      <c:txPr>
        <a:bodyPr rot="0" spcFirstLastPara="1" vertOverflow="ellipsis" vert="horz" wrap="square" anchor="ctr" anchorCtr="1"/>
        <a:lstStyle/>
        <a:p>
          <a:pPr>
            <a:defRPr sz="1100" b="0" i="0" u="none" strike="noStrike" kern="1200" baseline="0">
              <a:solidFill>
                <a:schemeClr val="tx1"/>
              </a:solidFill>
              <a:latin typeface="Aptos" panose="020B0004020202020204" pitchFamily="34" charset="0"/>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w="9525" cap="flat" cmpd="sng" algn="ctr">
      <a:noFill/>
      <a:round/>
    </a:ln>
    <a:effectLst/>
  </c:spPr>
  <c:txPr>
    <a:bodyPr/>
    <a:lstStyle/>
    <a:p>
      <a:pPr>
        <a:defRPr sz="1100" b="0" i="0">
          <a:solidFill>
            <a:schemeClr val="tx1"/>
          </a:solidFill>
          <a:latin typeface="Aptos" panose="020B0004020202020204" pitchFamily="34" charset="0"/>
        </a:defRPr>
      </a:pPr>
      <a:endParaRPr lang="en-US"/>
    </a:p>
  </c:txPr>
  <c:externalData r:id="rId3">
    <c:autoUpdate val="0"/>
  </c:externalData>
  <c:userShapes r:id="rId4"/>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manualLayout>
          <c:layoutTarget val="inner"/>
          <c:xMode val="edge"/>
          <c:yMode val="edge"/>
          <c:x val="9.7861179380410446E-2"/>
          <c:y val="0.10524435981244509"/>
          <c:w val="0.8802700333432476"/>
          <c:h val="0.75462716405036201"/>
        </c:manualLayout>
      </c:layout>
      <c:lineChart>
        <c:grouping val="standard"/>
        <c:varyColors val="0"/>
        <c:ser>
          <c:idx val="0"/>
          <c:order val="0"/>
          <c:tx>
            <c:strRef>
              <c:f>ws_0!$B$2</c:f>
              <c:strCache>
                <c:ptCount val="1"/>
                <c:pt idx="0">
                  <c:v>1st %ile</c:v>
                </c:pt>
              </c:strCache>
            </c:strRef>
          </c:tx>
          <c:spPr>
            <a:ln w="12700">
              <a:solidFill>
                <a:srgbClr val="C00000"/>
              </a:solidFill>
              <a:prstDash val="solid"/>
            </a:ln>
          </c:spPr>
          <c:marker>
            <c:symbol val="none"/>
          </c:marker>
          <c:dLbls>
            <c:dLbl>
              <c:idx val="2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2BD7-2B4C-BB94-47DAD4E4BD94}"/>
                </c:ext>
              </c:extLst>
            </c:dLbl>
            <c:numFmt formatCode="#,##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ws_0!$A$3:$A$23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ws_0!$B$3:$B$23</c:f>
              <c:numCache>
                <c:formatCode>General</c:formatCode>
                <c:ptCount val="21"/>
                <c:pt idx="0">
                  <c:v>100</c:v>
                </c:pt>
                <c:pt idx="1">
                  <c:v>88.2494495888551</c:v>
                </c:pt>
                <c:pt idx="2">
                  <c:v>88.403588214557402</c:v>
                </c:pt>
                <c:pt idx="3">
                  <c:v>89.777363866252401</c:v>
                </c:pt>
                <c:pt idx="4">
                  <c:v>89.873321405830396</c:v>
                </c:pt>
                <c:pt idx="5">
                  <c:v>91.129084739376793</c:v>
                </c:pt>
                <c:pt idx="6">
                  <c:v>92.405119798238502</c:v>
                </c:pt>
                <c:pt idx="7">
                  <c:v>91.359428929604405</c:v>
                </c:pt>
                <c:pt idx="8">
                  <c:v>92.232909220937998</c:v>
                </c:pt>
                <c:pt idx="9">
                  <c:v>92.071466659037796</c:v>
                </c:pt>
                <c:pt idx="10">
                  <c:v>93.071325716748703</c:v>
                </c:pt>
                <c:pt idx="11">
                  <c:v>94.478859991553406</c:v>
                </c:pt>
                <c:pt idx="12">
                  <c:v>95.901160092499694</c:v>
                </c:pt>
                <c:pt idx="13">
                  <c:v>97.5020811475746</c:v>
                </c:pt>
                <c:pt idx="14">
                  <c:v>98.124587878733607</c:v>
                </c:pt>
                <c:pt idx="15">
                  <c:v>100.66184412384899</c:v>
                </c:pt>
                <c:pt idx="16">
                  <c:v>101.51036114062499</c:v>
                </c:pt>
                <c:pt idx="17">
                  <c:v>104.50546322422301</c:v>
                </c:pt>
                <c:pt idx="18">
                  <c:v>107.801744685652</c:v>
                </c:pt>
                <c:pt idx="19">
                  <c:v>110.128683742525</c:v>
                </c:pt>
                <c:pt idx="20">
                  <c:v>113.186667332292</c:v>
                </c:pt>
              </c:numCache>
            </c:numRef>
          </c:val>
          <c:smooth val="0"/>
          <c:extLst>
            <c:ext xmlns:c16="http://schemas.microsoft.com/office/drawing/2014/chart" uri="{C3380CC4-5D6E-409C-BE32-E72D297353CC}">
              <c16:uniqueId val="{00000000-2BD7-2B4C-BB94-47DAD4E4BD94}"/>
            </c:ext>
          </c:extLst>
        </c:ser>
        <c:ser>
          <c:idx val="1"/>
          <c:order val="1"/>
          <c:tx>
            <c:strRef>
              <c:f>ws_0!$C$2</c:f>
              <c:strCache>
                <c:ptCount val="1"/>
                <c:pt idx="0">
                  <c:v>10th %ile</c:v>
                </c:pt>
              </c:strCache>
            </c:strRef>
          </c:tx>
          <c:spPr>
            <a:ln w="12700">
              <a:solidFill>
                <a:srgbClr val="8064A2"/>
              </a:solidFill>
              <a:prstDash val="solid"/>
            </a:ln>
          </c:spPr>
          <c:marker>
            <c:symbol val="none"/>
          </c:marker>
          <c:dLbls>
            <c:dLbl>
              <c:idx val="2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2BD7-2B4C-BB94-47DAD4E4BD94}"/>
                </c:ext>
              </c:extLst>
            </c:dLbl>
            <c:numFmt formatCode="#,##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ws_0!$A$3:$A$23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ws_0!$C$3:$C$23</c:f>
              <c:numCache>
                <c:formatCode>General</c:formatCode>
                <c:ptCount val="21"/>
                <c:pt idx="0">
                  <c:v>100</c:v>
                </c:pt>
                <c:pt idx="1">
                  <c:v>96.603440972081401</c:v>
                </c:pt>
                <c:pt idx="2">
                  <c:v>98.936710991896504</c:v>
                </c:pt>
                <c:pt idx="3">
                  <c:v>102.72434811926701</c:v>
                </c:pt>
                <c:pt idx="4">
                  <c:v>106.25824109072001</c:v>
                </c:pt>
                <c:pt idx="5">
                  <c:v>110.596484078312</c:v>
                </c:pt>
                <c:pt idx="6">
                  <c:v>115.28637953307999</c:v>
                </c:pt>
                <c:pt idx="7">
                  <c:v>118.77810630993299</c:v>
                </c:pt>
                <c:pt idx="8">
                  <c:v>122.58916186825699</c:v>
                </c:pt>
                <c:pt idx="9">
                  <c:v>126.008835510079</c:v>
                </c:pt>
                <c:pt idx="10">
                  <c:v>130.02630459816899</c:v>
                </c:pt>
                <c:pt idx="11">
                  <c:v>134.250152796447</c:v>
                </c:pt>
                <c:pt idx="12">
                  <c:v>139.168345160966</c:v>
                </c:pt>
                <c:pt idx="13">
                  <c:v>143.64735131942399</c:v>
                </c:pt>
                <c:pt idx="14">
                  <c:v>149.22412917685401</c:v>
                </c:pt>
                <c:pt idx="15">
                  <c:v>154.74575252841601</c:v>
                </c:pt>
                <c:pt idx="16">
                  <c:v>160.65637866178599</c:v>
                </c:pt>
                <c:pt idx="17">
                  <c:v>165.919584777994</c:v>
                </c:pt>
                <c:pt idx="18">
                  <c:v>172.06825965454999</c:v>
                </c:pt>
                <c:pt idx="19">
                  <c:v>179.41174822544301</c:v>
                </c:pt>
                <c:pt idx="20">
                  <c:v>186.10104744217901</c:v>
                </c:pt>
              </c:numCache>
            </c:numRef>
          </c:val>
          <c:smooth val="0"/>
          <c:extLst>
            <c:ext xmlns:c16="http://schemas.microsoft.com/office/drawing/2014/chart" uri="{C3380CC4-5D6E-409C-BE32-E72D297353CC}">
              <c16:uniqueId val="{00000001-2BD7-2B4C-BB94-47DAD4E4BD94}"/>
            </c:ext>
          </c:extLst>
        </c:ser>
        <c:ser>
          <c:idx val="2"/>
          <c:order val="2"/>
          <c:tx>
            <c:strRef>
              <c:f>ws_0!$D$2</c:f>
              <c:strCache>
                <c:ptCount val="1"/>
                <c:pt idx="0">
                  <c:v>50th %ile</c:v>
                </c:pt>
              </c:strCache>
            </c:strRef>
          </c:tx>
          <c:spPr>
            <a:ln w="12700">
              <a:solidFill>
                <a:srgbClr val="376092"/>
              </a:solidFill>
              <a:prstDash val="solid"/>
            </a:ln>
          </c:spPr>
          <c:marker>
            <c:symbol val="none"/>
          </c:marker>
          <c:dLbls>
            <c:dLbl>
              <c:idx val="2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2BD7-2B4C-BB94-47DAD4E4BD94}"/>
                </c:ext>
              </c:extLst>
            </c:dLbl>
            <c:numFmt formatCode="#,##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ws_0!$A$3:$A$23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ws_0!$D$3:$D$23</c:f>
              <c:numCache>
                <c:formatCode>General</c:formatCode>
                <c:ptCount val="21"/>
                <c:pt idx="0">
                  <c:v>100</c:v>
                </c:pt>
                <c:pt idx="1">
                  <c:v>107.237077407526</c:v>
                </c:pt>
                <c:pt idx="2">
                  <c:v>113.612214273354</c:v>
                </c:pt>
                <c:pt idx="3">
                  <c:v>120.44927090837599</c:v>
                </c:pt>
                <c:pt idx="4">
                  <c:v>128.55141794454201</c:v>
                </c:pt>
                <c:pt idx="5">
                  <c:v>137.45634485804001</c:v>
                </c:pt>
                <c:pt idx="6">
                  <c:v>146.827142206974</c:v>
                </c:pt>
                <c:pt idx="7">
                  <c:v>156.581132834785</c:v>
                </c:pt>
                <c:pt idx="8">
                  <c:v>166.48806938760501</c:v>
                </c:pt>
                <c:pt idx="9">
                  <c:v>176.783127287658</c:v>
                </c:pt>
                <c:pt idx="10">
                  <c:v>187.40441333260401</c:v>
                </c:pt>
                <c:pt idx="11">
                  <c:v>198.44746877577501</c:v>
                </c:pt>
                <c:pt idx="12">
                  <c:v>209.71616742710401</c:v>
                </c:pt>
                <c:pt idx="13">
                  <c:v>222.37777697341301</c:v>
                </c:pt>
                <c:pt idx="14">
                  <c:v>235.82057597705099</c:v>
                </c:pt>
                <c:pt idx="15">
                  <c:v>249.20726550934299</c:v>
                </c:pt>
                <c:pt idx="16">
                  <c:v>263.463541641235</c:v>
                </c:pt>
                <c:pt idx="17">
                  <c:v>278.42112063492903</c:v>
                </c:pt>
                <c:pt idx="18">
                  <c:v>294.91079616020801</c:v>
                </c:pt>
                <c:pt idx="19">
                  <c:v>312.22668346802101</c:v>
                </c:pt>
                <c:pt idx="20">
                  <c:v>330.152739361832</c:v>
                </c:pt>
              </c:numCache>
            </c:numRef>
          </c:val>
          <c:smooth val="0"/>
          <c:extLst>
            <c:ext xmlns:c16="http://schemas.microsoft.com/office/drawing/2014/chart" uri="{C3380CC4-5D6E-409C-BE32-E72D297353CC}">
              <c16:uniqueId val="{00000002-2BD7-2B4C-BB94-47DAD4E4BD94}"/>
            </c:ext>
          </c:extLst>
        </c:ser>
        <c:ser>
          <c:idx val="3"/>
          <c:order val="3"/>
          <c:tx>
            <c:strRef>
              <c:f>ws_0!$E$2</c:f>
              <c:strCache>
                <c:ptCount val="1"/>
                <c:pt idx="0">
                  <c:v>90th %ile</c:v>
                </c:pt>
              </c:strCache>
            </c:strRef>
          </c:tx>
          <c:spPr>
            <a:ln w="12700">
              <a:solidFill>
                <a:srgbClr val="77933C"/>
              </a:solidFill>
              <a:prstDash val="solid"/>
            </a:ln>
          </c:spPr>
          <c:marker>
            <c:symbol val="none"/>
          </c:marker>
          <c:dLbls>
            <c:dLbl>
              <c:idx val="20"/>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2BD7-2B4C-BB94-47DAD4E4BD94}"/>
                </c:ext>
              </c:extLst>
            </c:dLbl>
            <c:numFmt formatCode="#,##0" sourceLinked="0"/>
            <c:spPr>
              <a:noFill/>
              <a:ln>
                <a:noFill/>
              </a:ln>
              <a:effectLst/>
            </c:spPr>
            <c:showLegendKey val="0"/>
            <c:showVal val="0"/>
            <c:showCatName val="0"/>
            <c:showSerName val="0"/>
            <c:showPercent val="0"/>
            <c:showBubbleSize val="0"/>
            <c:extLst>
              <c:ext xmlns:c15="http://schemas.microsoft.com/office/drawing/2012/chart" uri="{CE6537A1-D6FC-4f65-9D91-7224C49458BB}">
                <c15:showLeaderLines val="1"/>
              </c:ext>
            </c:extLst>
          </c:dLbls>
          <c:cat>
            <c:numRef>
              <c:f>ws_0!$A$3:$A$23</c:f>
              <c:numCache>
                <c:formatCode>General</c:formatCode>
                <c:ptCount val="2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numCache>
            </c:numRef>
          </c:cat>
          <c:val>
            <c:numRef>
              <c:f>ws_0!$E$3:$E$23</c:f>
              <c:numCache>
                <c:formatCode>General</c:formatCode>
                <c:ptCount val="21"/>
                <c:pt idx="0">
                  <c:v>100</c:v>
                </c:pt>
                <c:pt idx="1">
                  <c:v>116.97168333396201</c:v>
                </c:pt>
                <c:pt idx="2">
                  <c:v>128.82299493689101</c:v>
                </c:pt>
                <c:pt idx="3">
                  <c:v>140.42638707141299</c:v>
                </c:pt>
                <c:pt idx="4">
                  <c:v>153.85681313558899</c:v>
                </c:pt>
                <c:pt idx="5">
                  <c:v>168.64524512040501</c:v>
                </c:pt>
                <c:pt idx="6">
                  <c:v>183.997083119726</c:v>
                </c:pt>
                <c:pt idx="7">
                  <c:v>201.21545817288199</c:v>
                </c:pt>
                <c:pt idx="8">
                  <c:v>219.21235338256199</c:v>
                </c:pt>
                <c:pt idx="9">
                  <c:v>238.90346806593701</c:v>
                </c:pt>
                <c:pt idx="10">
                  <c:v>259.20596938243102</c:v>
                </c:pt>
                <c:pt idx="11">
                  <c:v>281.13905240440698</c:v>
                </c:pt>
                <c:pt idx="12">
                  <c:v>305.39131332441502</c:v>
                </c:pt>
                <c:pt idx="13">
                  <c:v>331.066963062529</c:v>
                </c:pt>
                <c:pt idx="14">
                  <c:v>359.03492888671798</c:v>
                </c:pt>
                <c:pt idx="15">
                  <c:v>388.39088979398201</c:v>
                </c:pt>
                <c:pt idx="16">
                  <c:v>418.57661501411098</c:v>
                </c:pt>
                <c:pt idx="17">
                  <c:v>451.944794360956</c:v>
                </c:pt>
                <c:pt idx="18">
                  <c:v>489.180370767684</c:v>
                </c:pt>
                <c:pt idx="19">
                  <c:v>525.68105286645505</c:v>
                </c:pt>
                <c:pt idx="20">
                  <c:v>564.15741839223301</c:v>
                </c:pt>
              </c:numCache>
            </c:numRef>
          </c:val>
          <c:smooth val="0"/>
          <c:extLst>
            <c:ext xmlns:c16="http://schemas.microsoft.com/office/drawing/2014/chart" uri="{C3380CC4-5D6E-409C-BE32-E72D297353CC}">
              <c16:uniqueId val="{00000003-2BD7-2B4C-BB94-47DAD4E4BD94}"/>
            </c:ext>
          </c:extLst>
        </c:ser>
        <c:dLbls>
          <c:showLegendKey val="0"/>
          <c:showVal val="0"/>
          <c:showCatName val="0"/>
          <c:showSerName val="0"/>
          <c:showPercent val="0"/>
          <c:showBubbleSize val="0"/>
        </c:dLbls>
        <c:smooth val="0"/>
        <c:axId val="10"/>
        <c:axId val="100"/>
      </c:lineChart>
      <c:catAx>
        <c:axId val="10"/>
        <c:scaling>
          <c:orientation val="minMax"/>
        </c:scaling>
        <c:delete val="0"/>
        <c:axPos val="b"/>
        <c:title>
          <c:tx>
            <c:rich>
              <a:bodyPr/>
              <a:lstStyle/>
              <a:p>
                <a:pPr>
                  <a:defRPr/>
                </a:pPr>
                <a:r>
                  <a:rPr lang="en-GB" sz="900" b="0">
                    <a:latin typeface="Aptos"/>
                  </a:rPr>
                  <a:t>Year</a:t>
                </a:r>
              </a:p>
            </c:rich>
          </c:tx>
          <c:overlay val="0"/>
        </c:title>
        <c:numFmt formatCode="General" sourceLinked="1"/>
        <c:majorTickMark val="none"/>
        <c:minorTickMark val="none"/>
        <c:tickLblPos val="nextTo"/>
        <c:txPr>
          <a:bodyPr/>
          <a:lstStyle/>
          <a:p>
            <a:pPr>
              <a:defRPr sz="900" b="0">
                <a:latin typeface="Aptos"/>
              </a:defRPr>
            </a:pPr>
            <a:endParaRPr lang="en-US"/>
          </a:p>
        </c:txPr>
        <c:crossAx val="100"/>
        <c:crosses val="autoZero"/>
        <c:auto val="0"/>
        <c:lblAlgn val="ctr"/>
        <c:lblOffset val="100"/>
        <c:tickLblSkip val="5"/>
        <c:tickMarkSkip val="5"/>
        <c:noMultiLvlLbl val="0"/>
      </c:catAx>
      <c:valAx>
        <c:axId val="100"/>
        <c:scaling>
          <c:orientation val="minMax"/>
          <c:max val="700"/>
        </c:scaling>
        <c:delete val="0"/>
        <c:axPos val="l"/>
        <c:title>
          <c:tx>
            <c:rich>
              <a:bodyPr/>
              <a:lstStyle/>
              <a:p>
                <a:pPr>
                  <a:defRPr/>
                </a:pPr>
                <a:r>
                  <a:rPr lang="en-GB" sz="900" b="0">
                    <a:latin typeface="Aptos"/>
                  </a:rPr>
                  <a:t>Nominal Portfolio Values ($)</a:t>
                </a:r>
              </a:p>
            </c:rich>
          </c:tx>
          <c:overlay val="0"/>
        </c:title>
        <c:numFmt formatCode="General" sourceLinked="1"/>
        <c:majorTickMark val="cross"/>
        <c:minorTickMark val="none"/>
        <c:tickLblPos val="nextTo"/>
        <c:txPr>
          <a:bodyPr/>
          <a:lstStyle/>
          <a:p>
            <a:pPr>
              <a:defRPr sz="900" b="0">
                <a:latin typeface="Aptos"/>
              </a:defRPr>
            </a:pPr>
            <a:endParaRPr lang="en-US"/>
          </a:p>
        </c:txPr>
        <c:crossAx val="10"/>
        <c:crosses val="autoZero"/>
        <c:crossBetween val="between"/>
      </c:valAx>
    </c:plotArea>
    <c:legend>
      <c:legendPos val="t"/>
      <c:layout>
        <c:manualLayout>
          <c:xMode val="edge"/>
          <c:yMode val="edge"/>
          <c:x val="0.25"/>
          <c:y val="1.4066060120915477E-2"/>
          <c:w val="0.61680750144800489"/>
          <c:h val="5.9137433536819418E-2"/>
        </c:manualLayout>
      </c:layout>
      <c:overlay val="0"/>
      <c:txPr>
        <a:bodyPr/>
        <a:lstStyle/>
        <a:p>
          <a:pPr>
            <a:defRPr sz="900" b="0">
              <a:latin typeface="Aptos"/>
            </a:defRPr>
          </a:pPr>
          <a:endParaRPr lang="en-US"/>
        </a:p>
      </c:txPr>
    </c:legend>
    <c:plotVisOnly val="1"/>
    <c:dispBlanksAs val="gap"/>
    <c:showDLblsOverMax val="0"/>
  </c:chart>
  <c:spPr>
    <a:noFill/>
    <a:ln>
      <a:noFill/>
    </a:ln>
  </c:sp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16">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6B0DE8E-D0CA-E943-AD2A-90F312FF3070}" type="doc">
      <dgm:prSet loTypeId="urn:microsoft.com/office/officeart/2005/8/layout/matrix2" loCatId="" qsTypeId="urn:microsoft.com/office/officeart/2005/8/quickstyle/simple1" qsCatId="simple" csTypeId="urn:microsoft.com/office/officeart/2005/8/colors/accent1_2" csCatId="accent1" phldr="1"/>
      <dgm:spPr/>
      <dgm:t>
        <a:bodyPr/>
        <a:lstStyle/>
        <a:p>
          <a:endParaRPr lang="en-GB"/>
        </a:p>
      </dgm:t>
    </dgm:pt>
    <dgm:pt modelId="{63C40BFF-2A10-CE4D-88D3-C153350D26D5}">
      <dgm:prSet phldrT="[Text]"/>
      <dgm:spPr>
        <a:solidFill>
          <a:schemeClr val="accent1">
            <a:lumMod val="60000"/>
            <a:lumOff val="40000"/>
          </a:schemeClr>
        </a:solidFill>
        <a:ln w="6350">
          <a:solidFill>
            <a:schemeClr val="tx1"/>
          </a:solidFill>
        </a:ln>
      </dgm:spPr>
      <dgm:t>
        <a:bodyPr/>
        <a:lstStyle/>
        <a:p>
          <a:r>
            <a:rPr lang="en-GB" b="0" i="0" dirty="0">
              <a:latin typeface="Aptos Light" panose="020B0004020202020204" pitchFamily="34" charset="0"/>
            </a:rPr>
            <a:t>25%</a:t>
          </a:r>
        </a:p>
      </dgm:t>
    </dgm:pt>
    <dgm:pt modelId="{DB64D3D6-A9FC-5745-9F31-6397C2A27F3D}" type="parTrans" cxnId="{EB41908C-96F8-9E41-9489-47B88692E4C7}">
      <dgm:prSet/>
      <dgm:spPr/>
      <dgm:t>
        <a:bodyPr/>
        <a:lstStyle/>
        <a:p>
          <a:endParaRPr lang="en-GB" b="0" i="0">
            <a:latin typeface="Aptos Light" panose="020B0004020202020204" pitchFamily="34" charset="0"/>
          </a:endParaRPr>
        </a:p>
      </dgm:t>
    </dgm:pt>
    <dgm:pt modelId="{069AC2C1-69C4-064B-89BB-64F16A707609}" type="sibTrans" cxnId="{EB41908C-96F8-9E41-9489-47B88692E4C7}">
      <dgm:prSet/>
      <dgm:spPr/>
      <dgm:t>
        <a:bodyPr/>
        <a:lstStyle/>
        <a:p>
          <a:endParaRPr lang="en-GB" b="0" i="0">
            <a:latin typeface="Aptos Light" panose="020B0004020202020204" pitchFamily="34" charset="0"/>
          </a:endParaRPr>
        </a:p>
      </dgm:t>
    </dgm:pt>
    <dgm:pt modelId="{6FD3258B-80B6-6549-A62F-0C89AE4575F8}">
      <dgm:prSet phldrT="[Text]"/>
      <dgm:spPr>
        <a:solidFill>
          <a:schemeClr val="accent1">
            <a:lumMod val="60000"/>
            <a:lumOff val="40000"/>
          </a:schemeClr>
        </a:solidFill>
        <a:ln w="6350">
          <a:solidFill>
            <a:schemeClr val="tx1"/>
          </a:solidFill>
        </a:ln>
      </dgm:spPr>
      <dgm:t>
        <a:bodyPr/>
        <a:lstStyle/>
        <a:p>
          <a:r>
            <a:rPr lang="en-GB" b="0" i="0" dirty="0">
              <a:latin typeface="Aptos Light" panose="020B0004020202020204" pitchFamily="34" charset="0"/>
            </a:rPr>
            <a:t>65%</a:t>
          </a:r>
        </a:p>
      </dgm:t>
    </dgm:pt>
    <dgm:pt modelId="{2A0FEBD8-0E6D-2F47-A425-D71528DFFF13}" type="parTrans" cxnId="{5153D8AF-3772-4C4E-A0ED-6F8AA8200E9C}">
      <dgm:prSet/>
      <dgm:spPr/>
      <dgm:t>
        <a:bodyPr/>
        <a:lstStyle/>
        <a:p>
          <a:endParaRPr lang="en-GB" b="0" i="0">
            <a:latin typeface="Aptos Light" panose="020B0004020202020204" pitchFamily="34" charset="0"/>
          </a:endParaRPr>
        </a:p>
      </dgm:t>
    </dgm:pt>
    <dgm:pt modelId="{4022E190-5DC5-1444-B2D3-CBDBA1C6AB42}" type="sibTrans" cxnId="{5153D8AF-3772-4C4E-A0ED-6F8AA8200E9C}">
      <dgm:prSet/>
      <dgm:spPr/>
      <dgm:t>
        <a:bodyPr/>
        <a:lstStyle/>
        <a:p>
          <a:endParaRPr lang="en-GB" b="0" i="0">
            <a:latin typeface="Aptos Light" panose="020B0004020202020204" pitchFamily="34" charset="0"/>
          </a:endParaRPr>
        </a:p>
      </dgm:t>
    </dgm:pt>
    <dgm:pt modelId="{486C0F38-FA9F-F344-913F-193BFB2A7F07}">
      <dgm:prSet phldrT="[Text]"/>
      <dgm:spPr>
        <a:solidFill>
          <a:schemeClr val="accent1">
            <a:lumMod val="60000"/>
            <a:lumOff val="40000"/>
          </a:schemeClr>
        </a:solidFill>
        <a:ln w="6350"/>
      </dgm:spPr>
      <dgm:t>
        <a:bodyPr/>
        <a:lstStyle/>
        <a:p>
          <a:r>
            <a:rPr lang="en-GB" b="0" i="0" dirty="0">
              <a:latin typeface="Aptos Light" panose="020B0004020202020204" pitchFamily="34" charset="0"/>
            </a:rPr>
            <a:t>3%</a:t>
          </a:r>
        </a:p>
      </dgm:t>
    </dgm:pt>
    <dgm:pt modelId="{8554CA13-5C0C-D843-AEB7-BBCC8183DB38}" type="parTrans" cxnId="{FD536BC3-C5E1-BE43-83E5-11B6315CB20C}">
      <dgm:prSet/>
      <dgm:spPr/>
      <dgm:t>
        <a:bodyPr/>
        <a:lstStyle/>
        <a:p>
          <a:endParaRPr lang="en-GB" b="0" i="0">
            <a:latin typeface="Aptos Light" panose="020B0004020202020204" pitchFamily="34" charset="0"/>
          </a:endParaRPr>
        </a:p>
      </dgm:t>
    </dgm:pt>
    <dgm:pt modelId="{1A367DBF-D61D-CC4C-AE67-2F37CAD8F564}" type="sibTrans" cxnId="{FD536BC3-C5E1-BE43-83E5-11B6315CB20C}">
      <dgm:prSet/>
      <dgm:spPr/>
      <dgm:t>
        <a:bodyPr/>
        <a:lstStyle/>
        <a:p>
          <a:endParaRPr lang="en-GB" b="0" i="0">
            <a:latin typeface="Aptos Light" panose="020B0004020202020204" pitchFamily="34" charset="0"/>
          </a:endParaRPr>
        </a:p>
      </dgm:t>
    </dgm:pt>
    <dgm:pt modelId="{24EE943D-961A-044C-9173-E985E087BD09}">
      <dgm:prSet phldrT="[Text]"/>
      <dgm:spPr>
        <a:solidFill>
          <a:schemeClr val="accent1">
            <a:lumMod val="60000"/>
            <a:lumOff val="40000"/>
          </a:schemeClr>
        </a:solidFill>
        <a:ln w="6350"/>
      </dgm:spPr>
      <dgm:t>
        <a:bodyPr/>
        <a:lstStyle/>
        <a:p>
          <a:r>
            <a:rPr lang="en-GB" b="0" i="0" dirty="0">
              <a:latin typeface="Aptos Light" panose="020B0004020202020204" pitchFamily="34" charset="0"/>
            </a:rPr>
            <a:t>19%</a:t>
          </a:r>
        </a:p>
      </dgm:t>
    </dgm:pt>
    <dgm:pt modelId="{3D664126-EC6C-0643-A6A8-87ABA8BBC027}" type="parTrans" cxnId="{D92C5A37-1BC7-B640-A6BD-3D515128924B}">
      <dgm:prSet/>
      <dgm:spPr/>
      <dgm:t>
        <a:bodyPr/>
        <a:lstStyle/>
        <a:p>
          <a:endParaRPr lang="en-GB" b="0" i="0">
            <a:latin typeface="Aptos Light" panose="020B0004020202020204" pitchFamily="34" charset="0"/>
          </a:endParaRPr>
        </a:p>
      </dgm:t>
    </dgm:pt>
    <dgm:pt modelId="{CFDABF97-39FB-9C44-8075-C5D321ECC724}" type="sibTrans" cxnId="{D92C5A37-1BC7-B640-A6BD-3D515128924B}">
      <dgm:prSet/>
      <dgm:spPr/>
      <dgm:t>
        <a:bodyPr/>
        <a:lstStyle/>
        <a:p>
          <a:endParaRPr lang="en-GB" b="0" i="0">
            <a:latin typeface="Aptos Light" panose="020B0004020202020204" pitchFamily="34" charset="0"/>
          </a:endParaRPr>
        </a:p>
      </dgm:t>
    </dgm:pt>
    <dgm:pt modelId="{93F57FE1-8BAF-234D-A6A7-E62CF8DA1316}" type="pres">
      <dgm:prSet presAssocID="{26B0DE8E-D0CA-E943-AD2A-90F312FF3070}" presName="matrix" presStyleCnt="0">
        <dgm:presLayoutVars>
          <dgm:chMax val="1"/>
          <dgm:dir/>
          <dgm:resizeHandles val="exact"/>
        </dgm:presLayoutVars>
      </dgm:prSet>
      <dgm:spPr/>
    </dgm:pt>
    <dgm:pt modelId="{8037B6DF-511F-C444-9F00-D6408C605C58}" type="pres">
      <dgm:prSet presAssocID="{26B0DE8E-D0CA-E943-AD2A-90F312FF3070}" presName="axisShape" presStyleLbl="bgShp" presStyleIdx="0" presStyleCnt="1"/>
      <dgm:spPr/>
    </dgm:pt>
    <dgm:pt modelId="{3AD4564C-9BAC-2A45-9C81-8BF7A07CEB21}" type="pres">
      <dgm:prSet presAssocID="{26B0DE8E-D0CA-E943-AD2A-90F312FF3070}" presName="rect1" presStyleLbl="node1" presStyleIdx="0" presStyleCnt="4">
        <dgm:presLayoutVars>
          <dgm:chMax val="0"/>
          <dgm:chPref val="0"/>
          <dgm:bulletEnabled val="1"/>
        </dgm:presLayoutVars>
      </dgm:prSet>
      <dgm:spPr/>
    </dgm:pt>
    <dgm:pt modelId="{B67F35C8-26E3-EC4C-89FC-A2203EB7315E}" type="pres">
      <dgm:prSet presAssocID="{26B0DE8E-D0CA-E943-AD2A-90F312FF3070}" presName="rect2" presStyleLbl="node1" presStyleIdx="1" presStyleCnt="4">
        <dgm:presLayoutVars>
          <dgm:chMax val="0"/>
          <dgm:chPref val="0"/>
          <dgm:bulletEnabled val="1"/>
        </dgm:presLayoutVars>
      </dgm:prSet>
      <dgm:spPr/>
    </dgm:pt>
    <dgm:pt modelId="{31BE76DA-1570-404D-8114-7861C4F3A80A}" type="pres">
      <dgm:prSet presAssocID="{26B0DE8E-D0CA-E943-AD2A-90F312FF3070}" presName="rect3" presStyleLbl="node1" presStyleIdx="2" presStyleCnt="4">
        <dgm:presLayoutVars>
          <dgm:chMax val="0"/>
          <dgm:chPref val="0"/>
          <dgm:bulletEnabled val="1"/>
        </dgm:presLayoutVars>
      </dgm:prSet>
      <dgm:spPr/>
    </dgm:pt>
    <dgm:pt modelId="{32599B07-A382-314D-865D-C392A4D68578}" type="pres">
      <dgm:prSet presAssocID="{26B0DE8E-D0CA-E943-AD2A-90F312FF3070}" presName="rect4" presStyleLbl="node1" presStyleIdx="3" presStyleCnt="4">
        <dgm:presLayoutVars>
          <dgm:chMax val="0"/>
          <dgm:chPref val="0"/>
          <dgm:bulletEnabled val="1"/>
        </dgm:presLayoutVars>
      </dgm:prSet>
      <dgm:spPr/>
    </dgm:pt>
  </dgm:ptLst>
  <dgm:cxnLst>
    <dgm:cxn modelId="{A9B0B311-533C-0B4B-AFEC-6CBAE2842EF7}" type="presOf" srcId="{6FD3258B-80B6-6549-A62F-0C89AE4575F8}" destId="{B67F35C8-26E3-EC4C-89FC-A2203EB7315E}" srcOrd="0" destOrd="0" presId="urn:microsoft.com/office/officeart/2005/8/layout/matrix2"/>
    <dgm:cxn modelId="{D92C5A37-1BC7-B640-A6BD-3D515128924B}" srcId="{26B0DE8E-D0CA-E943-AD2A-90F312FF3070}" destId="{24EE943D-961A-044C-9173-E985E087BD09}" srcOrd="3" destOrd="0" parTransId="{3D664126-EC6C-0643-A6A8-87ABA8BBC027}" sibTransId="{CFDABF97-39FB-9C44-8075-C5D321ECC724}"/>
    <dgm:cxn modelId="{9CE02841-A0CD-CE4E-947E-77CBCF2E24AF}" type="presOf" srcId="{63C40BFF-2A10-CE4D-88D3-C153350D26D5}" destId="{3AD4564C-9BAC-2A45-9C81-8BF7A07CEB21}" srcOrd="0" destOrd="0" presId="urn:microsoft.com/office/officeart/2005/8/layout/matrix2"/>
    <dgm:cxn modelId="{EB41908C-96F8-9E41-9489-47B88692E4C7}" srcId="{26B0DE8E-D0CA-E943-AD2A-90F312FF3070}" destId="{63C40BFF-2A10-CE4D-88D3-C153350D26D5}" srcOrd="0" destOrd="0" parTransId="{DB64D3D6-A9FC-5745-9F31-6397C2A27F3D}" sibTransId="{069AC2C1-69C4-064B-89BB-64F16A707609}"/>
    <dgm:cxn modelId="{69610B8E-9B7B-5E45-99DD-5ECCF9E8A7E7}" type="presOf" srcId="{26B0DE8E-D0CA-E943-AD2A-90F312FF3070}" destId="{93F57FE1-8BAF-234D-A6A7-E62CF8DA1316}" srcOrd="0" destOrd="0" presId="urn:microsoft.com/office/officeart/2005/8/layout/matrix2"/>
    <dgm:cxn modelId="{5153D8AF-3772-4C4E-A0ED-6F8AA8200E9C}" srcId="{26B0DE8E-D0CA-E943-AD2A-90F312FF3070}" destId="{6FD3258B-80B6-6549-A62F-0C89AE4575F8}" srcOrd="1" destOrd="0" parTransId="{2A0FEBD8-0E6D-2F47-A425-D71528DFFF13}" sibTransId="{4022E190-5DC5-1444-B2D3-CBDBA1C6AB42}"/>
    <dgm:cxn modelId="{659524B8-5D1F-1A43-AD11-4C82FDEBE1D8}" type="presOf" srcId="{486C0F38-FA9F-F344-913F-193BFB2A7F07}" destId="{31BE76DA-1570-404D-8114-7861C4F3A80A}" srcOrd="0" destOrd="0" presId="urn:microsoft.com/office/officeart/2005/8/layout/matrix2"/>
    <dgm:cxn modelId="{FD536BC3-C5E1-BE43-83E5-11B6315CB20C}" srcId="{26B0DE8E-D0CA-E943-AD2A-90F312FF3070}" destId="{486C0F38-FA9F-F344-913F-193BFB2A7F07}" srcOrd="2" destOrd="0" parTransId="{8554CA13-5C0C-D843-AEB7-BBCC8183DB38}" sibTransId="{1A367DBF-D61D-CC4C-AE67-2F37CAD8F564}"/>
    <dgm:cxn modelId="{2DEF2DD4-2016-1848-925B-08DF4E9E0E7D}" type="presOf" srcId="{24EE943D-961A-044C-9173-E985E087BD09}" destId="{32599B07-A382-314D-865D-C392A4D68578}" srcOrd="0" destOrd="0" presId="urn:microsoft.com/office/officeart/2005/8/layout/matrix2"/>
    <dgm:cxn modelId="{C23C7A71-34EE-C84E-A70D-B69AB706C66C}" type="presParOf" srcId="{93F57FE1-8BAF-234D-A6A7-E62CF8DA1316}" destId="{8037B6DF-511F-C444-9F00-D6408C605C58}" srcOrd="0" destOrd="0" presId="urn:microsoft.com/office/officeart/2005/8/layout/matrix2"/>
    <dgm:cxn modelId="{BE15F354-3D9C-A04F-A1B3-348E1047496B}" type="presParOf" srcId="{93F57FE1-8BAF-234D-A6A7-E62CF8DA1316}" destId="{3AD4564C-9BAC-2A45-9C81-8BF7A07CEB21}" srcOrd="1" destOrd="0" presId="urn:microsoft.com/office/officeart/2005/8/layout/matrix2"/>
    <dgm:cxn modelId="{19CAFDFA-9E56-084F-B0AD-9B22FDEE0558}" type="presParOf" srcId="{93F57FE1-8BAF-234D-A6A7-E62CF8DA1316}" destId="{B67F35C8-26E3-EC4C-89FC-A2203EB7315E}" srcOrd="2" destOrd="0" presId="urn:microsoft.com/office/officeart/2005/8/layout/matrix2"/>
    <dgm:cxn modelId="{74B77BF2-696F-0B42-858B-22F168D0AEA8}" type="presParOf" srcId="{93F57FE1-8BAF-234D-A6A7-E62CF8DA1316}" destId="{31BE76DA-1570-404D-8114-7861C4F3A80A}" srcOrd="3" destOrd="0" presId="urn:microsoft.com/office/officeart/2005/8/layout/matrix2"/>
    <dgm:cxn modelId="{59A5A53B-A02C-0643-A309-530C44E9FD41}" type="presParOf" srcId="{93F57FE1-8BAF-234D-A6A7-E62CF8DA1316}" destId="{32599B07-A382-314D-865D-C392A4D68578}" srcOrd="4" destOrd="0" presId="urn:microsoft.com/office/officeart/2005/8/layout/matrix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37B6DF-511F-C444-9F00-D6408C605C58}">
      <dsp:nvSpPr>
        <dsp:cNvPr id="0" name=""/>
        <dsp:cNvSpPr/>
      </dsp:nvSpPr>
      <dsp:spPr>
        <a:xfrm>
          <a:off x="1016000" y="0"/>
          <a:ext cx="4064000" cy="4064000"/>
        </a:xfrm>
        <a:prstGeom prst="quadArrow">
          <a:avLst>
            <a:gd name="adj1" fmla="val 2000"/>
            <a:gd name="adj2" fmla="val 4000"/>
            <a:gd name="adj3" fmla="val 5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AD4564C-9BAC-2A45-9C81-8BF7A07CEB21}">
      <dsp:nvSpPr>
        <dsp:cNvPr id="0" name=""/>
        <dsp:cNvSpPr/>
      </dsp:nvSpPr>
      <dsp:spPr>
        <a:xfrm>
          <a:off x="1280160" y="264160"/>
          <a:ext cx="1625600" cy="1625600"/>
        </a:xfrm>
        <a:prstGeom prst="roundRect">
          <a:avLst/>
        </a:prstGeom>
        <a:solidFill>
          <a:schemeClr val="accent1">
            <a:lumMod val="60000"/>
            <a:lumOff val="40000"/>
          </a:schemeClr>
        </a:solidFill>
        <a:ln w="6350" cap="flat" cmpd="sng" algn="ctr">
          <a:solidFill>
            <a:schemeClr val="tx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5260" tIns="175260" rIns="175260" bIns="175260" numCol="1" spcCol="1270" anchor="ctr" anchorCtr="0">
          <a:noAutofit/>
        </a:bodyPr>
        <a:lstStyle/>
        <a:p>
          <a:pPr marL="0" lvl="0" indent="0" algn="ctr" defTabSz="2044700">
            <a:lnSpc>
              <a:spcPct val="90000"/>
            </a:lnSpc>
            <a:spcBef>
              <a:spcPct val="0"/>
            </a:spcBef>
            <a:spcAft>
              <a:spcPct val="35000"/>
            </a:spcAft>
            <a:buNone/>
          </a:pPr>
          <a:r>
            <a:rPr lang="en-GB" sz="4600" b="0" i="0" kern="1200" dirty="0">
              <a:latin typeface="Aptos Light" panose="020B0004020202020204" pitchFamily="34" charset="0"/>
            </a:rPr>
            <a:t>25%</a:t>
          </a:r>
        </a:p>
      </dsp:txBody>
      <dsp:txXfrm>
        <a:off x="1359515" y="343515"/>
        <a:ext cx="1466890" cy="1466890"/>
      </dsp:txXfrm>
    </dsp:sp>
    <dsp:sp modelId="{B67F35C8-26E3-EC4C-89FC-A2203EB7315E}">
      <dsp:nvSpPr>
        <dsp:cNvPr id="0" name=""/>
        <dsp:cNvSpPr/>
      </dsp:nvSpPr>
      <dsp:spPr>
        <a:xfrm>
          <a:off x="3190240" y="264160"/>
          <a:ext cx="1625600" cy="1625600"/>
        </a:xfrm>
        <a:prstGeom prst="roundRect">
          <a:avLst/>
        </a:prstGeom>
        <a:solidFill>
          <a:schemeClr val="accent1">
            <a:lumMod val="60000"/>
            <a:lumOff val="40000"/>
          </a:schemeClr>
        </a:solidFill>
        <a:ln w="6350" cap="flat" cmpd="sng" algn="ctr">
          <a:solidFill>
            <a:schemeClr val="tx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5260" tIns="175260" rIns="175260" bIns="175260" numCol="1" spcCol="1270" anchor="ctr" anchorCtr="0">
          <a:noAutofit/>
        </a:bodyPr>
        <a:lstStyle/>
        <a:p>
          <a:pPr marL="0" lvl="0" indent="0" algn="ctr" defTabSz="2044700">
            <a:lnSpc>
              <a:spcPct val="90000"/>
            </a:lnSpc>
            <a:spcBef>
              <a:spcPct val="0"/>
            </a:spcBef>
            <a:spcAft>
              <a:spcPct val="35000"/>
            </a:spcAft>
            <a:buNone/>
          </a:pPr>
          <a:r>
            <a:rPr lang="en-GB" sz="4600" b="0" i="0" kern="1200" dirty="0">
              <a:latin typeface="Aptos Light" panose="020B0004020202020204" pitchFamily="34" charset="0"/>
            </a:rPr>
            <a:t>65%</a:t>
          </a:r>
        </a:p>
      </dsp:txBody>
      <dsp:txXfrm>
        <a:off x="3269595" y="343515"/>
        <a:ext cx="1466890" cy="1466890"/>
      </dsp:txXfrm>
    </dsp:sp>
    <dsp:sp modelId="{31BE76DA-1570-404D-8114-7861C4F3A80A}">
      <dsp:nvSpPr>
        <dsp:cNvPr id="0" name=""/>
        <dsp:cNvSpPr/>
      </dsp:nvSpPr>
      <dsp:spPr>
        <a:xfrm>
          <a:off x="1280160" y="2174240"/>
          <a:ext cx="1625600" cy="1625600"/>
        </a:xfrm>
        <a:prstGeom prst="roundRect">
          <a:avLst/>
        </a:prstGeom>
        <a:solidFill>
          <a:schemeClr val="accent1">
            <a:lumMod val="60000"/>
            <a:lumOff val="40000"/>
          </a:schemeClr>
        </a:solidFill>
        <a:ln w="6350" cap="flat" cmpd="sng" algn="ctr">
          <a:solidFill>
            <a:scrgbClr r="0" g="0" b="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5260" tIns="175260" rIns="175260" bIns="175260" numCol="1" spcCol="1270" anchor="ctr" anchorCtr="0">
          <a:noAutofit/>
        </a:bodyPr>
        <a:lstStyle/>
        <a:p>
          <a:pPr marL="0" lvl="0" indent="0" algn="ctr" defTabSz="2044700">
            <a:lnSpc>
              <a:spcPct val="90000"/>
            </a:lnSpc>
            <a:spcBef>
              <a:spcPct val="0"/>
            </a:spcBef>
            <a:spcAft>
              <a:spcPct val="35000"/>
            </a:spcAft>
            <a:buNone/>
          </a:pPr>
          <a:r>
            <a:rPr lang="en-GB" sz="4600" b="0" i="0" kern="1200" dirty="0">
              <a:latin typeface="Aptos Light" panose="020B0004020202020204" pitchFamily="34" charset="0"/>
            </a:rPr>
            <a:t>3%</a:t>
          </a:r>
        </a:p>
      </dsp:txBody>
      <dsp:txXfrm>
        <a:off x="1359515" y="2253595"/>
        <a:ext cx="1466890" cy="1466890"/>
      </dsp:txXfrm>
    </dsp:sp>
    <dsp:sp modelId="{32599B07-A382-314D-865D-C392A4D68578}">
      <dsp:nvSpPr>
        <dsp:cNvPr id="0" name=""/>
        <dsp:cNvSpPr/>
      </dsp:nvSpPr>
      <dsp:spPr>
        <a:xfrm>
          <a:off x="3190240" y="2174240"/>
          <a:ext cx="1625600" cy="1625600"/>
        </a:xfrm>
        <a:prstGeom prst="roundRect">
          <a:avLst/>
        </a:prstGeom>
        <a:solidFill>
          <a:schemeClr val="accent1">
            <a:lumMod val="60000"/>
            <a:lumOff val="40000"/>
          </a:schemeClr>
        </a:solidFill>
        <a:ln w="6350" cap="flat" cmpd="sng" algn="ctr">
          <a:solidFill>
            <a:scrgbClr r="0" g="0" b="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75260" tIns="175260" rIns="175260" bIns="175260" numCol="1" spcCol="1270" anchor="ctr" anchorCtr="0">
          <a:noAutofit/>
        </a:bodyPr>
        <a:lstStyle/>
        <a:p>
          <a:pPr marL="0" lvl="0" indent="0" algn="ctr" defTabSz="2044700">
            <a:lnSpc>
              <a:spcPct val="90000"/>
            </a:lnSpc>
            <a:spcBef>
              <a:spcPct val="0"/>
            </a:spcBef>
            <a:spcAft>
              <a:spcPct val="35000"/>
            </a:spcAft>
            <a:buNone/>
          </a:pPr>
          <a:r>
            <a:rPr lang="en-GB" sz="4600" b="0" i="0" kern="1200" dirty="0">
              <a:latin typeface="Aptos Light" panose="020B0004020202020204" pitchFamily="34" charset="0"/>
            </a:rPr>
            <a:t>19%</a:t>
          </a:r>
        </a:p>
      </dsp:txBody>
      <dsp:txXfrm>
        <a:off x="3269595" y="2253595"/>
        <a:ext cx="1466890" cy="1466890"/>
      </dsp:txXfrm>
    </dsp:sp>
  </dsp:spTree>
</dsp:drawing>
</file>

<file path=ppt/diagrams/layout1.xml><?xml version="1.0" encoding="utf-8"?>
<dgm:layoutDef xmlns:dgm="http://schemas.openxmlformats.org/drawingml/2006/diagram" xmlns:a="http://schemas.openxmlformats.org/drawingml/2006/main" uniqueId="urn:microsoft.com/office/officeart/2005/8/layout/matrix2">
  <dgm:title val=""/>
  <dgm:desc val=""/>
  <dgm:catLst>
    <dgm:cat type="matrix" pri="3000"/>
  </dgm:catLst>
  <dgm:samp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0" destOrd="0"/>
        <dgm:cxn modelId="8" srcId="0" destId="4" srcOrd="1" destOrd="0"/>
      </dgm:cxnLst>
      <dgm:bg/>
      <dgm:whole/>
    </dgm:dataModel>
  </dgm:sampData>
  <dgm:styleData useDef="1">
    <dgm:dataModel>
      <dgm:ptLst/>
      <dgm:bg/>
      <dgm:whole/>
    </dgm:dataModel>
  </dgm:styleData>
  <dgm:clrData useDef="1">
    <dgm:dataModel>
      <dgm:ptLst/>
      <dgm:bg/>
      <dgm:whole/>
    </dgm:dataModel>
  </dgm:clrData>
  <dgm:layoutNode name="matrix">
    <dgm:varLst>
      <dgm:chMax val="1"/>
      <dgm:dir/>
      <dgm:resizeHandles val="exact"/>
    </dgm:varLst>
    <dgm:alg type="composite">
      <dgm:param type="ar" val="1"/>
    </dgm:alg>
    <dgm:shape xmlns:r="http://schemas.openxmlformats.org/officeDocument/2006/relationships" r:blip="">
      <dgm:adjLst/>
    </dgm:shape>
    <dgm:presOf/>
    <dgm:choose name="Name0">
      <dgm:if name="Name1" func="var" arg="dir" op="equ" val="norm">
        <dgm:constrLst>
          <dgm:constr type="primFontSz" for="ch" ptType="node" op="equ" val="65"/>
          <dgm:constr type="w" for="ch" forName="axisShape" refType="w"/>
          <dgm:constr type="h" for="ch" forName="axisShape" refType="h"/>
          <dgm:constr type="w" for="ch" forName="rect1" refType="w" fact="0.4"/>
          <dgm:constr type="h" for="ch" forName="rect1" refType="w" fact="0.4"/>
          <dgm:constr type="l" for="ch" forName="rect1" refType="w" fact="0.065"/>
          <dgm:constr type="t" for="ch" forName="rect1" refType="h" fact="0.065"/>
          <dgm:constr type="w" for="ch" forName="rect2" refType="w" fact="0.4"/>
          <dgm:constr type="h" for="ch" forName="rect2" refType="h" fact="0.4"/>
          <dgm:constr type="r" for="ch" forName="rect2" refType="w" fact="0.935"/>
          <dgm:constr type="t" for="ch" forName="rect2" refType="h" fact="0.065"/>
          <dgm:constr type="w" for="ch" forName="rect3" refType="w" fact="0.4"/>
          <dgm:constr type="h" for="ch" forName="rect3" refType="w" fact="0.4"/>
          <dgm:constr type="l" for="ch" forName="rect3" refType="w" fact="0.065"/>
          <dgm:constr type="b" for="ch" forName="rect3" refType="h" fact="0.935"/>
          <dgm:constr type="w" for="ch" forName="rect4" refType="w" fact="0.4"/>
          <dgm:constr type="h" for="ch" forName="rect4" refType="h" fact="0.4"/>
          <dgm:constr type="r" for="ch" forName="rect4" refType="w" fact="0.935"/>
          <dgm:constr type="b" for="ch" forName="rect4" refType="h" fact="0.935"/>
        </dgm:constrLst>
      </dgm:if>
      <dgm:else name="Name2">
        <dgm:constrLst>
          <dgm:constr type="primFontSz" for="ch" ptType="node" op="equ" val="65"/>
          <dgm:constr type="w" for="ch" forName="axisShape" refType="w"/>
          <dgm:constr type="h" for="ch" forName="axisShape" refType="h"/>
          <dgm:constr type="w" for="ch" forName="rect1" refType="w" fact="0.4"/>
          <dgm:constr type="h" for="ch" forName="rect1" refType="w" fact="0.4"/>
          <dgm:constr type="r" for="ch" forName="rect1" refType="w" fact="0.935"/>
          <dgm:constr type="t" for="ch" forName="rect1" refType="h" fact="0.065"/>
          <dgm:constr type="w" for="ch" forName="rect2" refType="w" fact="0.4"/>
          <dgm:constr type="h" for="ch" forName="rect2" refType="h" fact="0.4"/>
          <dgm:constr type="l" for="ch" forName="rect2" refType="w" fact="0.065"/>
          <dgm:constr type="t" for="ch" forName="rect2" refType="h" fact="0.065"/>
          <dgm:constr type="w" for="ch" forName="rect3" refType="w" fact="0.4"/>
          <dgm:constr type="h" for="ch" forName="rect3" refType="w" fact="0.4"/>
          <dgm:constr type="r" for="ch" forName="rect3" refType="w" fact="0.935"/>
          <dgm:constr type="b" for="ch" forName="rect3" refType="h" fact="0.935"/>
          <dgm:constr type="w" for="ch" forName="rect4" refType="w" fact="0.4"/>
          <dgm:constr type="h" for="ch" forName="rect4" refType="h" fact="0.4"/>
          <dgm:constr type="l" for="ch" forName="rect4" refType="w" fact="0.065"/>
          <dgm:constr type="b" for="ch" forName="rect4" refType="h" fact="0.935"/>
        </dgm:constrLst>
      </dgm:else>
    </dgm:choose>
    <dgm:ruleLst/>
    <dgm:choose name="Name3">
      <dgm:if name="Name4" axis="ch" ptType="node" func="cnt" op="gte" val="1">
        <dgm:layoutNode name="axisShape" styleLbl="bgShp">
          <dgm:alg type="sp"/>
          <dgm:shape xmlns:r="http://schemas.openxmlformats.org/officeDocument/2006/relationships" type="quadArrow" r:blip="">
            <dgm:adjLst>
              <dgm:adj idx="1" val="0.02"/>
              <dgm:adj idx="2" val="0.04"/>
              <dgm:adj idx="3" val="0.05"/>
            </dgm:adjLst>
          </dgm:shape>
          <dgm:presOf/>
          <dgm:constrLst/>
          <dgm:ruleLst/>
        </dgm:layoutNode>
        <dgm:layoutNode name="rect1">
          <dgm:varLst>
            <dgm:chMax val="0"/>
            <dgm:chPref val="0"/>
            <dgm:bulletEnabled val="1"/>
          </dgm:varLst>
          <dgm:alg type="tx"/>
          <dgm:shape xmlns:r="http://schemas.openxmlformats.org/officeDocument/2006/relationships" type="roundRect" r:blip="">
            <dgm:adjLst/>
          </dgm:shape>
          <dgm:presOf axis="ch desOrSelf" ptType="node node" st="1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rect2">
          <dgm:varLst>
            <dgm:chMax val="0"/>
            <dgm:chPref val="0"/>
            <dgm:bulletEnabled val="1"/>
          </dgm:varLst>
          <dgm:alg type="tx"/>
          <dgm:shape xmlns:r="http://schemas.openxmlformats.org/officeDocument/2006/relationships" type="roundRect" r:blip="">
            <dgm:adjLst/>
          </dgm:shape>
          <dgm:presOf axis="ch desOrSelf" ptType="node node" st="2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rect3">
          <dgm:varLst>
            <dgm:chMax val="0"/>
            <dgm:chPref val="0"/>
            <dgm:bulletEnabled val="1"/>
          </dgm:varLst>
          <dgm:alg type="tx"/>
          <dgm:shape xmlns:r="http://schemas.openxmlformats.org/officeDocument/2006/relationships" type="roundRect" r:blip="">
            <dgm:adjLst/>
          </dgm:shape>
          <dgm:presOf axis="ch desOrSelf" ptType="node node" st="3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rect4">
          <dgm:varLst>
            <dgm:chMax val="0"/>
            <dgm:chPref val="0"/>
            <dgm:bulletEnabled val="1"/>
          </dgm:varLst>
          <dgm:alg type="tx"/>
          <dgm:shape xmlns:r="http://schemas.openxmlformats.org/officeDocument/2006/relationships" type="roundRect" r:blip="">
            <dgm:adjLst/>
          </dgm:shape>
          <dgm:presOf axis="ch desOrSelf" ptType="node node" st="4 1" cnt="1 0"/>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if>
      <dgm:else name="Name5"/>
    </dgm:choose>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0.58907</cdr:x>
      <cdr:y>0.14928</cdr:y>
    </cdr:from>
    <cdr:to>
      <cdr:x>0.76012</cdr:x>
      <cdr:y>0.23107</cdr:y>
    </cdr:to>
    <cdr:sp macro="" textlink="">
      <cdr:nvSpPr>
        <cdr:cNvPr id="3" name="TextBox 13">
          <a:extLst xmlns:a="http://schemas.openxmlformats.org/drawingml/2006/main">
            <a:ext uri="{FF2B5EF4-FFF2-40B4-BE49-F238E27FC236}">
              <a16:creationId xmlns:a16="http://schemas.microsoft.com/office/drawing/2014/main" id="{FC649FF1-B1BB-2CE5-B111-24E938081D9D}"/>
            </a:ext>
          </a:extLst>
        </cdr:cNvPr>
        <cdr:cNvSpPr txBox="1"/>
      </cdr:nvSpPr>
      <cdr:spPr>
        <a:xfrm xmlns:a="http://schemas.openxmlformats.org/drawingml/2006/main">
          <a:off x="4062447" y="617895"/>
          <a:ext cx="1179646" cy="338554"/>
        </a:xfrm>
        <a:prstGeom xmlns:a="http://schemas.openxmlformats.org/drawingml/2006/main" prst="rect">
          <a:avLst/>
        </a:prstGeom>
        <a:solidFill xmlns:a="http://schemas.openxmlformats.org/drawingml/2006/main">
          <a:schemeClr val="bg1"/>
        </a:solidFill>
        <a:ln xmlns:a="http://schemas.openxmlformats.org/drawingml/2006/main" w="6350">
          <a:solidFill>
            <a:schemeClr val="bg1">
              <a:lumMod val="50000"/>
            </a:schemeClr>
          </a:solidFill>
        </a:ln>
      </cdr:spPr>
      <cdr:txBody>
        <a:bodyPr xmlns:a="http://schemas.openxmlformats.org/drawingml/2006/main" wrap="square" rtlCol="0">
          <a:spAutoFit/>
        </a:bodyPr>
        <a:lstStyle xmlns:a="http://schemas.openxmlformats.org/drawingml/2006/main">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xmlns:a="http://schemas.openxmlformats.org/drawingml/2006/main">
          <a:pPr algn="ctr"/>
          <a:r>
            <a:rPr lang="en-US" sz="800" dirty="0">
              <a:latin typeface="Aptos" panose="020B0004020202020204" pitchFamily="34" charset="0"/>
            </a:rPr>
            <a:t>Long-Term Target Portfolio</a:t>
          </a:r>
        </a:p>
      </cdr:txBody>
    </cdr:sp>
  </cdr:relSizeAnchor>
</c:userShapes>
</file>

<file path=ppt/drawings/drawing2.xml><?xml version="1.0" encoding="utf-8"?>
<c:userShapes xmlns:c="http://schemas.openxmlformats.org/drawingml/2006/chart">
  <cdr:relSizeAnchor xmlns:cdr="http://schemas.openxmlformats.org/drawingml/2006/chartDrawing">
    <cdr:from>
      <cdr:x>0.07206</cdr:x>
      <cdr:y>0.3036</cdr:y>
    </cdr:from>
    <cdr:to>
      <cdr:x>0.42596</cdr:x>
      <cdr:y>0.3036</cdr:y>
    </cdr:to>
    <cdr:cxnSp macro="">
      <cdr:nvCxnSpPr>
        <cdr:cNvPr id="4" name="Straight Arrow Connector 3">
          <a:extLst xmlns:a="http://schemas.openxmlformats.org/drawingml/2006/main">
            <a:ext uri="{FF2B5EF4-FFF2-40B4-BE49-F238E27FC236}">
              <a16:creationId xmlns:a16="http://schemas.microsoft.com/office/drawing/2014/main" id="{D0CDDE63-DD40-4F00-2ACE-CD2BC499947D}"/>
            </a:ext>
          </a:extLst>
        </cdr:cNvPr>
        <cdr:cNvCxnSpPr/>
      </cdr:nvCxnSpPr>
      <cdr:spPr>
        <a:xfrm xmlns:a="http://schemas.openxmlformats.org/drawingml/2006/main">
          <a:off x="603483" y="1114090"/>
          <a:ext cx="2963918" cy="0"/>
        </a:xfrm>
        <a:prstGeom xmlns:a="http://schemas.openxmlformats.org/drawingml/2006/main" prst="straightConnector1">
          <a:avLst/>
        </a:prstGeom>
        <a:ln xmlns:a="http://schemas.openxmlformats.org/drawingml/2006/main">
          <a:solidFill>
            <a:srgbClr val="C00000"/>
          </a:solidFill>
          <a:headEnd type="triangle"/>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dr:relSizeAnchor xmlns:cdr="http://schemas.openxmlformats.org/drawingml/2006/chartDrawing">
    <cdr:from>
      <cdr:x>0.10733</cdr:x>
      <cdr:y>0.28089</cdr:y>
    </cdr:from>
    <cdr:to>
      <cdr:x>0.30284</cdr:x>
      <cdr:y>0.43815</cdr:y>
    </cdr:to>
    <cdr:sp macro="" textlink="">
      <cdr:nvSpPr>
        <cdr:cNvPr id="2" name="TextBox 5">
          <a:extLst xmlns:a="http://schemas.openxmlformats.org/drawingml/2006/main">
            <a:ext uri="{FF2B5EF4-FFF2-40B4-BE49-F238E27FC236}">
              <a16:creationId xmlns:a16="http://schemas.microsoft.com/office/drawing/2014/main" id="{7A866E57-8AA2-9618-F690-24595E0740B9}"/>
            </a:ext>
          </a:extLst>
        </cdr:cNvPr>
        <cdr:cNvSpPr txBox="1"/>
      </cdr:nvSpPr>
      <cdr:spPr>
        <a:xfrm xmlns:a="http://schemas.openxmlformats.org/drawingml/2006/main">
          <a:off x="898872" y="1030757"/>
          <a:ext cx="1637414" cy="577081"/>
        </a:xfrm>
        <a:prstGeom xmlns:a="http://schemas.openxmlformats.org/drawingml/2006/main" prst="rect">
          <a:avLst/>
        </a:prstGeom>
        <a:solidFill xmlns:a="http://schemas.openxmlformats.org/drawingml/2006/main">
          <a:schemeClr val="bg1"/>
        </a:solidFill>
        <a:ln xmlns:a="http://schemas.openxmlformats.org/drawingml/2006/main">
          <a:solidFill>
            <a:srgbClr val="C00000"/>
          </a:solidFill>
        </a:ln>
      </cdr:spPr>
      <cdr:txBody>
        <a:bodyPr xmlns:a="http://schemas.openxmlformats.org/drawingml/2006/main" wrap="square" rtlCol="0">
          <a:spAutoFit/>
        </a:bodyPr>
        <a:lstStyle xmlns:a="http://schemas.openxmlformats.org/drawingml/2006/main">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xmlns:a="http://schemas.openxmlformats.org/drawingml/2006/main">
          <a:pPr algn="ctr"/>
          <a:r>
            <a:rPr lang="en-GB" sz="1050" dirty="0">
              <a:solidFill>
                <a:srgbClr val="C00000"/>
              </a:solidFill>
              <a:latin typeface="Aptos" panose="020B0004020202020204" pitchFamily="34" charset="0"/>
            </a:rPr>
            <a:t>Potential drag on portfolio performance in early years</a:t>
          </a:r>
          <a:endParaRPr lang="en-US" sz="1050" dirty="0">
            <a:solidFill>
              <a:srgbClr val="C00000"/>
            </a:solidFill>
            <a:latin typeface="Aptos" panose="020B0004020202020204" pitchFamily="34" charset="0"/>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41FBADA-4773-404F-874F-B3857A68950B}" type="datetimeFigureOut">
              <a:rPr lang="en-US" smtClean="0"/>
              <a:t>7/11/25</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A130C15-E458-4B43-AE0F-5F07CFCA48D2}" type="slidenum">
              <a:rPr lang="en-US" smtClean="0"/>
              <a:t>‹#›</a:t>
            </a:fld>
            <a:endParaRPr lang="en-US"/>
          </a:p>
        </p:txBody>
      </p:sp>
    </p:spTree>
    <p:extLst>
      <p:ext uri="{BB962C8B-B14F-4D97-AF65-F5344CB8AC3E}">
        <p14:creationId xmlns:p14="http://schemas.microsoft.com/office/powerpoint/2010/main" val="21705240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130C15-E458-4B43-AE0F-5F07CFCA48D2}" type="slidenum">
              <a:rPr lang="en-US" smtClean="0"/>
              <a:t>9</a:t>
            </a:fld>
            <a:endParaRPr lang="en-US"/>
          </a:p>
        </p:txBody>
      </p:sp>
    </p:spTree>
    <p:extLst>
      <p:ext uri="{BB962C8B-B14F-4D97-AF65-F5344CB8AC3E}">
        <p14:creationId xmlns:p14="http://schemas.microsoft.com/office/powerpoint/2010/main" val="29087936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130C15-E458-4B43-AE0F-5F07CFCA48D2}" type="slidenum">
              <a:rPr lang="en-US" smtClean="0"/>
              <a:t>10</a:t>
            </a:fld>
            <a:endParaRPr lang="en-US"/>
          </a:p>
        </p:txBody>
      </p:sp>
    </p:spTree>
    <p:extLst>
      <p:ext uri="{BB962C8B-B14F-4D97-AF65-F5344CB8AC3E}">
        <p14:creationId xmlns:p14="http://schemas.microsoft.com/office/powerpoint/2010/main" val="13121080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A130C15-E458-4B43-AE0F-5F07CFCA48D2}" type="slidenum">
              <a:rPr lang="en-US" smtClean="0"/>
              <a:t>12</a:t>
            </a:fld>
            <a:endParaRPr lang="en-US"/>
          </a:p>
        </p:txBody>
      </p:sp>
    </p:spTree>
    <p:extLst>
      <p:ext uri="{BB962C8B-B14F-4D97-AF65-F5344CB8AC3E}">
        <p14:creationId xmlns:p14="http://schemas.microsoft.com/office/powerpoint/2010/main" val="2090755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GB"/>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7C39B213-3102-C349-9554-E434846F78E6}" type="datetime1">
              <a:rPr lang="en-GB" smtClean="0"/>
              <a:t>11/07/2025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647A49E-DC7B-E44E-B81C-A7ED720E17C2}" type="slidenum">
              <a:rPr lang="en-US" smtClean="0"/>
              <a:t>‹#›</a:t>
            </a:fld>
            <a:endParaRPr lang="en-US"/>
          </a:p>
        </p:txBody>
      </p:sp>
    </p:spTree>
    <p:extLst>
      <p:ext uri="{BB962C8B-B14F-4D97-AF65-F5344CB8AC3E}">
        <p14:creationId xmlns:p14="http://schemas.microsoft.com/office/powerpoint/2010/main" val="14138469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D8E61742-974A-4443-8BE3-693B2B3ED8AD}" type="datetime1">
              <a:rPr lang="en-GB" smtClean="0"/>
              <a:t>11/07/2025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647A49E-DC7B-E44E-B81C-A7ED720E17C2}" type="slidenum">
              <a:rPr lang="en-US" smtClean="0"/>
              <a:t>‹#›</a:t>
            </a:fld>
            <a:endParaRPr lang="en-US"/>
          </a:p>
        </p:txBody>
      </p:sp>
    </p:spTree>
    <p:extLst>
      <p:ext uri="{BB962C8B-B14F-4D97-AF65-F5344CB8AC3E}">
        <p14:creationId xmlns:p14="http://schemas.microsoft.com/office/powerpoint/2010/main" val="10385441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GB"/>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2DFC1FB4-6600-964E-87AE-7944E8A54BF4}" type="datetime1">
              <a:rPr lang="en-GB" smtClean="0"/>
              <a:t>11/07/2025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647A49E-DC7B-E44E-B81C-A7ED720E17C2}" type="slidenum">
              <a:rPr lang="en-US" smtClean="0"/>
              <a:t>‹#›</a:t>
            </a:fld>
            <a:endParaRPr lang="en-US"/>
          </a:p>
        </p:txBody>
      </p:sp>
    </p:spTree>
    <p:extLst>
      <p:ext uri="{BB962C8B-B14F-4D97-AF65-F5344CB8AC3E}">
        <p14:creationId xmlns:p14="http://schemas.microsoft.com/office/powerpoint/2010/main" val="268299602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2B71E02E-8688-0D40-8D95-F6B633E19384}" type="datetime1">
              <a:rPr lang="en-GB" smtClean="0"/>
              <a:t>11/07/2025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647A49E-DC7B-E44E-B81C-A7ED720E17C2}" type="slidenum">
              <a:rPr lang="en-US" smtClean="0"/>
              <a:t>‹#›</a:t>
            </a:fld>
            <a:endParaRPr lang="en-US"/>
          </a:p>
        </p:txBody>
      </p:sp>
    </p:spTree>
    <p:extLst>
      <p:ext uri="{BB962C8B-B14F-4D97-AF65-F5344CB8AC3E}">
        <p14:creationId xmlns:p14="http://schemas.microsoft.com/office/powerpoint/2010/main" val="223258310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GB"/>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C3E2112C-A07D-0C49-83D0-97E7715572E8}" type="datetime1">
              <a:rPr lang="en-GB" smtClean="0"/>
              <a:t>11/07/2025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647A49E-DC7B-E44E-B81C-A7ED720E17C2}" type="slidenum">
              <a:rPr lang="en-US" smtClean="0"/>
              <a:t>‹#›</a:t>
            </a:fld>
            <a:endParaRPr lang="en-US"/>
          </a:p>
        </p:txBody>
      </p:sp>
    </p:spTree>
    <p:extLst>
      <p:ext uri="{BB962C8B-B14F-4D97-AF65-F5344CB8AC3E}">
        <p14:creationId xmlns:p14="http://schemas.microsoft.com/office/powerpoint/2010/main" val="35443764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ACE3FB06-81A1-7145-AA10-23CB90609DB1}" type="datetime1">
              <a:rPr lang="en-GB" smtClean="0"/>
              <a:t>11/07/2025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647A49E-DC7B-E44E-B81C-A7ED720E17C2}" type="slidenum">
              <a:rPr lang="en-US" smtClean="0"/>
              <a:t>‹#›</a:t>
            </a:fld>
            <a:endParaRPr lang="en-US"/>
          </a:p>
        </p:txBody>
      </p:sp>
    </p:spTree>
    <p:extLst>
      <p:ext uri="{BB962C8B-B14F-4D97-AF65-F5344CB8AC3E}">
        <p14:creationId xmlns:p14="http://schemas.microsoft.com/office/powerpoint/2010/main" val="29131311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FA6BF7C-B1D2-D341-B6EA-0F9EDB8B80EA}" type="datetime1">
              <a:rPr lang="en-GB" smtClean="0"/>
              <a:t>11/07/2025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647A49E-DC7B-E44E-B81C-A7ED720E17C2}" type="slidenum">
              <a:rPr lang="en-US" smtClean="0"/>
              <a:t>‹#›</a:t>
            </a:fld>
            <a:endParaRPr lang="en-US"/>
          </a:p>
        </p:txBody>
      </p:sp>
    </p:spTree>
    <p:extLst>
      <p:ext uri="{BB962C8B-B14F-4D97-AF65-F5344CB8AC3E}">
        <p14:creationId xmlns:p14="http://schemas.microsoft.com/office/powerpoint/2010/main" val="17383953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GB"/>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0CF0714D-A05F-CA49-830F-7B0ACED6C706}" type="datetime1">
              <a:rPr lang="en-GB" smtClean="0"/>
              <a:t>11/07/2025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647A49E-DC7B-E44E-B81C-A7ED720E17C2}" type="slidenum">
              <a:rPr lang="en-US" smtClean="0"/>
              <a:t>‹#›</a:t>
            </a:fld>
            <a:endParaRPr lang="en-US"/>
          </a:p>
        </p:txBody>
      </p:sp>
    </p:spTree>
    <p:extLst>
      <p:ext uri="{BB962C8B-B14F-4D97-AF65-F5344CB8AC3E}">
        <p14:creationId xmlns:p14="http://schemas.microsoft.com/office/powerpoint/2010/main" val="14317199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GB"/>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1A7311A0-74F8-7840-9594-267945A9A042}" type="datetime1">
              <a:rPr lang="en-GB" smtClean="0"/>
              <a:t>11/07/2025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647A49E-DC7B-E44E-B81C-A7ED720E17C2}" type="slidenum">
              <a:rPr lang="en-US" smtClean="0"/>
              <a:t>‹#›</a:t>
            </a:fld>
            <a:endParaRPr lang="en-US"/>
          </a:p>
        </p:txBody>
      </p:sp>
    </p:spTree>
    <p:extLst>
      <p:ext uri="{BB962C8B-B14F-4D97-AF65-F5344CB8AC3E}">
        <p14:creationId xmlns:p14="http://schemas.microsoft.com/office/powerpoint/2010/main" val="32763888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932F3922-980F-3047-91E3-B20D946F972E}" type="datetime1">
              <a:rPr lang="en-GB" smtClean="0"/>
              <a:t>11/07/2025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647A49E-DC7B-E44E-B81C-A7ED720E17C2}" type="slidenum">
              <a:rPr lang="en-US" smtClean="0"/>
              <a:t>‹#›</a:t>
            </a:fld>
            <a:endParaRPr lang="en-US"/>
          </a:p>
        </p:txBody>
      </p:sp>
    </p:spTree>
    <p:extLst>
      <p:ext uri="{BB962C8B-B14F-4D97-AF65-F5344CB8AC3E}">
        <p14:creationId xmlns:p14="http://schemas.microsoft.com/office/powerpoint/2010/main" val="210889474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EA2351C3-CB6C-CB43-A403-149A332B98B6}" type="datetime1">
              <a:rPr lang="en-GB" smtClean="0"/>
              <a:t>11/07/2025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647A49E-DC7B-E44E-B81C-A7ED720E17C2}" type="slidenum">
              <a:rPr lang="en-US" smtClean="0"/>
              <a:t>‹#›</a:t>
            </a:fld>
            <a:endParaRPr lang="en-US"/>
          </a:p>
        </p:txBody>
      </p:sp>
    </p:spTree>
    <p:extLst>
      <p:ext uri="{BB962C8B-B14F-4D97-AF65-F5344CB8AC3E}">
        <p14:creationId xmlns:p14="http://schemas.microsoft.com/office/powerpoint/2010/main" val="2992437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B41A623-B36F-C440-9672-F52869BB3AE9}" type="datetime1">
              <a:rPr lang="en-GB" smtClean="0"/>
              <a:t>11/07/2025</a:t>
            </a:fld>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647A49E-DC7B-E44E-B81C-A7ED720E17C2}" type="slidenum">
              <a:rPr lang="en-US" smtClean="0"/>
              <a:t>‹#›</a:t>
            </a:fld>
            <a:endParaRPr lang="en-US"/>
          </a:p>
        </p:txBody>
      </p:sp>
    </p:spTree>
    <p:extLst>
      <p:ext uri="{BB962C8B-B14F-4D97-AF65-F5344CB8AC3E}">
        <p14:creationId xmlns:p14="http://schemas.microsoft.com/office/powerpoint/2010/main" val="280426166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emf"/><Relationship Id="rId7" Type="http://schemas.openxmlformats.org/officeDocument/2006/relationships/image" Target="../media/image3.emf"/><Relationship Id="rId2" Type="http://schemas.openxmlformats.org/officeDocument/2006/relationships/image" Target="../media/image1.emf"/><Relationship Id="rId1" Type="http://schemas.openxmlformats.org/officeDocument/2006/relationships/slideLayout" Target="../slideLayouts/slideLayout1.xml"/><Relationship Id="rId6" Type="http://schemas.openxmlformats.org/officeDocument/2006/relationships/package" Target="../embeddings/Microsoft_Excel_Worksheet.xlsx"/><Relationship Id="rId5" Type="http://schemas.openxmlformats.org/officeDocument/2006/relationships/chart" Target="../charts/chart2.xml"/><Relationship Id="rId4" Type="http://schemas.openxmlformats.org/officeDocument/2006/relationships/chart" Target="../charts/chart1.xml"/></Relationships>
</file>

<file path=ppt/slides/_rels/slide5.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1.xml"/><Relationship Id="rId4" Type="http://schemas.openxmlformats.org/officeDocument/2006/relationships/image" Target="../media/image6.emf"/></Relationships>
</file>

<file path=ppt/slides/_rels/slide6.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openxmlformats.org/officeDocument/2006/relationships/image" Target="../media/image7.emf"/><Relationship Id="rId1" Type="http://schemas.openxmlformats.org/officeDocument/2006/relationships/slideLayout" Target="../slideLayouts/slideLayout1.xml"/><Relationship Id="rId4" Type="http://schemas.openxmlformats.org/officeDocument/2006/relationships/image" Target="../media/image8.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package" Target="../embeddings/Microsoft_Excel_Worksheet2.xlsx"/><Relationship Id="rId1" Type="http://schemas.openxmlformats.org/officeDocument/2006/relationships/slideLayout" Target="../slideLayouts/slideLayout1.xml"/><Relationship Id="rId5" Type="http://schemas.openxmlformats.org/officeDocument/2006/relationships/image" Target="../media/image10.emf"/><Relationship Id="rId4" Type="http://schemas.openxmlformats.org/officeDocument/2006/relationships/package" Target="../embeddings/Microsoft_Excel_Worksheet3.xlsx"/></Relationships>
</file>

<file path=ppt/slides/_rels/slide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chart" Target="../charts/chart5.xml"/><Relationship Id="rId4" Type="http://schemas.openxmlformats.org/officeDocument/2006/relationships/chart" Target="../charts/chart4.xml"/></Relationships>
</file>

<file path=ppt/slides/_rels/slide10.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chart" Target="../charts/chart7.xml"/></Relationships>
</file>

<file path=ppt/slides/_rels/slide11.xml.rels><?xml version="1.0" encoding="UTF-8" standalone="yes"?>
<Relationships xmlns="http://schemas.openxmlformats.org/package/2006/relationships"><Relationship Id="rId2" Type="http://schemas.openxmlformats.org/officeDocument/2006/relationships/chart" Target="../charts/chart8.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chart" Target="../charts/chart9.xml"/><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chart" Target="../charts/chart10.xml"/></Relationships>
</file>

<file path=ppt/slides/_rels/slide13.xml.rels><?xml version="1.0" encoding="UTF-8" standalone="yes"?>
<Relationships xmlns="http://schemas.openxmlformats.org/package/2006/relationships"><Relationship Id="rId2" Type="http://schemas.openxmlformats.org/officeDocument/2006/relationships/chart" Target="../charts/chart11.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package" Target="../embeddings/Microsoft_Excel_Worksheet4.xlsx"/><Relationship Id="rId1" Type="http://schemas.openxmlformats.org/officeDocument/2006/relationships/slideLayout" Target="../slideLayouts/slideLayout1.xml"/><Relationship Id="rId5" Type="http://schemas.openxmlformats.org/officeDocument/2006/relationships/image" Target="../media/image12.emf"/><Relationship Id="rId4" Type="http://schemas.openxmlformats.org/officeDocument/2006/relationships/package" Target="../embeddings/Microsoft_Excel_Worksheet5.xlsx"/></Relationships>
</file>

<file path=ppt/slides/_rels/slide17.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package" Target="../embeddings/Microsoft_Excel_Worksheet6.xlsx"/><Relationship Id="rId1" Type="http://schemas.openxmlformats.org/officeDocument/2006/relationships/slideLayout" Target="../slideLayouts/slideLayout1.xml"/><Relationship Id="rId5" Type="http://schemas.openxmlformats.org/officeDocument/2006/relationships/image" Target="../media/image14.emf"/><Relationship Id="rId4" Type="http://schemas.openxmlformats.org/officeDocument/2006/relationships/package" Target="../embeddings/Microsoft_Excel_Worksheet7.xlsx"/></Relationships>
</file>

<file path=ppt/slides/_rels/slide18.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package" Target="../embeddings/Microsoft_Excel_Worksheet8.xlsx"/><Relationship Id="rId1" Type="http://schemas.openxmlformats.org/officeDocument/2006/relationships/slideLayout" Target="../slideLayouts/slideLayout1.xml"/><Relationship Id="rId5" Type="http://schemas.openxmlformats.org/officeDocument/2006/relationships/image" Target="../media/image16.emf"/><Relationship Id="rId4" Type="http://schemas.openxmlformats.org/officeDocument/2006/relationships/package" Target="../embeddings/Microsoft_Excel_Worksheet9.xlsx"/></Relationships>
</file>

<file path=ppt/slides/_rels/slide19.xml.rels><?xml version="1.0" encoding="UTF-8" standalone="yes"?>
<Relationships xmlns="http://schemas.openxmlformats.org/package/2006/relationships"><Relationship Id="rId3" Type="http://schemas.openxmlformats.org/officeDocument/2006/relationships/image" Target="../media/image17.emf"/><Relationship Id="rId2" Type="http://schemas.openxmlformats.org/officeDocument/2006/relationships/package" Target="../embeddings/Microsoft_Excel_Worksheet10.xlsx"/><Relationship Id="rId1" Type="http://schemas.openxmlformats.org/officeDocument/2006/relationships/slideLayout" Target="../slideLayouts/slideLayout1.xml"/><Relationship Id="rId5" Type="http://schemas.openxmlformats.org/officeDocument/2006/relationships/image" Target="../media/image18.emf"/><Relationship Id="rId4" Type="http://schemas.openxmlformats.org/officeDocument/2006/relationships/package" Target="../embeddings/Microsoft_Excel_Worksheet11.xlsx"/></Relationships>
</file>

<file path=ppt/slides/_rels/slide20.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openxmlformats.org/officeDocument/2006/relationships/chart" Target="../charts/chart12.xml"/><Relationship Id="rId1" Type="http://schemas.openxmlformats.org/officeDocument/2006/relationships/slideLayout" Target="../slideLayouts/slideLayout1.xml"/><Relationship Id="rId4" Type="http://schemas.openxmlformats.org/officeDocument/2006/relationships/image" Target="../media/image19.emf"/></Relationships>
</file>

<file path=ppt/slides/_rels/slide21.xml.rels><?xml version="1.0" encoding="UTF-8" standalone="yes"?>
<Relationships xmlns="http://schemas.openxmlformats.org/package/2006/relationships"><Relationship Id="rId2" Type="http://schemas.openxmlformats.org/officeDocument/2006/relationships/chart" Target="../charts/chart13.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1.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3.xml.rels><?xml version="1.0" encoding="UTF-8" standalone="yes"?>
<Relationships xmlns="http://schemas.openxmlformats.org/package/2006/relationships"><Relationship Id="rId3" Type="http://schemas.openxmlformats.org/officeDocument/2006/relationships/image" Target="../media/image20.emf"/><Relationship Id="rId2" Type="http://schemas.openxmlformats.org/officeDocument/2006/relationships/package" Target="../embeddings/Microsoft_Excel_Worksheet13.xlsx"/><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chart" Target="../charts/chart15.xml"/><Relationship Id="rId2" Type="http://schemas.openxmlformats.org/officeDocument/2006/relationships/chart" Target="../charts/chart14.xml"/><Relationship Id="rId1" Type="http://schemas.openxmlformats.org/officeDocument/2006/relationships/slideLayout" Target="../slideLayouts/slideLayout1.xml"/><Relationship Id="rId5" Type="http://schemas.openxmlformats.org/officeDocument/2006/relationships/chart" Target="../charts/chart17.xml"/><Relationship Id="rId4" Type="http://schemas.openxmlformats.org/officeDocument/2006/relationships/chart" Target="../charts/chart16.xml"/></Relationships>
</file>

<file path=ppt/slides/_rels/slide28.xml.rels><?xml version="1.0" encoding="UTF-8" standalone="yes"?>
<Relationships xmlns="http://schemas.openxmlformats.org/package/2006/relationships"><Relationship Id="rId2" Type="http://schemas.openxmlformats.org/officeDocument/2006/relationships/chart" Target="../charts/chart1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package" Target="../embeddings/Microsoft_Excel_Worksheet14.xlsx"/><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chart" Target="../charts/chart1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chart" Target="../charts/chart2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package" Target="../embeddings/Microsoft_Excel_Worksheet15.xlsx"/><Relationship Id="rId2" Type="http://schemas.openxmlformats.org/officeDocument/2006/relationships/chart" Target="../charts/chart21.xml"/><Relationship Id="rId1" Type="http://schemas.openxmlformats.org/officeDocument/2006/relationships/slideLayout" Target="../slideLayouts/slideLayout1.xml"/><Relationship Id="rId5" Type="http://schemas.openxmlformats.org/officeDocument/2006/relationships/chart" Target="../charts/chart22.xml"/><Relationship Id="rId4" Type="http://schemas.openxmlformats.org/officeDocument/2006/relationships/image" Target="../media/image22.emf"/></Relationships>
</file>

<file path=ppt/slides/_rels/slide34.xml.rels><?xml version="1.0" encoding="UTF-8" standalone="yes"?>
<Relationships xmlns="http://schemas.openxmlformats.org/package/2006/relationships"><Relationship Id="rId3" Type="http://schemas.openxmlformats.org/officeDocument/2006/relationships/chart" Target="../charts/chart24.xml"/><Relationship Id="rId2" Type="http://schemas.openxmlformats.org/officeDocument/2006/relationships/chart" Target="../charts/chart2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package" Target="../embeddings/Microsoft_Excel_Worksheet16.xlsx"/><Relationship Id="rId1" Type="http://schemas.openxmlformats.org/officeDocument/2006/relationships/slideLayout" Target="../slideLayouts/slideLayout1.xml"/><Relationship Id="rId4" Type="http://schemas.openxmlformats.org/officeDocument/2006/relationships/chart" Target="../charts/chart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chart" Target="../charts/chart27.xml"/><Relationship Id="rId2" Type="http://schemas.openxmlformats.org/officeDocument/2006/relationships/chart" Target="../charts/chart2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package" Target="../embeddings/Microsoft_Excel_Worksheet17.xlsx"/><Relationship Id="rId2" Type="http://schemas.openxmlformats.org/officeDocument/2006/relationships/chart" Target="../charts/chart28.xml"/><Relationship Id="rId1" Type="http://schemas.openxmlformats.org/officeDocument/2006/relationships/slideLayout" Target="../slideLayouts/slideLayout1.xml"/><Relationship Id="rId4" Type="http://schemas.openxmlformats.org/officeDocument/2006/relationships/image" Target="../media/image24.emf"/></Relationships>
</file>

<file path=ppt/slides/_rels/slide39.xml.rels><?xml version="1.0" encoding="UTF-8" standalone="yes"?>
<Relationships xmlns="http://schemas.openxmlformats.org/package/2006/relationships"><Relationship Id="rId3" Type="http://schemas.openxmlformats.org/officeDocument/2006/relationships/image" Target="../media/image25.emf"/><Relationship Id="rId2" Type="http://schemas.openxmlformats.org/officeDocument/2006/relationships/package" Target="../embeddings/Microsoft_Excel_Worksheet18.xlsx"/><Relationship Id="rId1" Type="http://schemas.openxmlformats.org/officeDocument/2006/relationships/slideLayout" Target="../slideLayouts/slideLayout1.xml"/><Relationship Id="rId4" Type="http://schemas.openxmlformats.org/officeDocument/2006/relationships/chart" Target="../charts/chart29.xml"/></Relationships>
</file>

<file path=ppt/slides/_rels/slide40.xml.rels><?xml version="1.0" encoding="UTF-8" standalone="yes"?>
<Relationships xmlns="http://schemas.openxmlformats.org/package/2006/relationships"><Relationship Id="rId3" Type="http://schemas.openxmlformats.org/officeDocument/2006/relationships/image" Target="../media/image26.emf"/><Relationship Id="rId2" Type="http://schemas.openxmlformats.org/officeDocument/2006/relationships/package" Target="../embeddings/Microsoft_Excel_Worksheet19.xlsx"/><Relationship Id="rId1" Type="http://schemas.openxmlformats.org/officeDocument/2006/relationships/slideLayout" Target="../slideLayouts/slideLayout1.xml"/><Relationship Id="rId4" Type="http://schemas.openxmlformats.org/officeDocument/2006/relationships/chart" Target="../charts/chart30.xml"/></Relationships>
</file>

<file path=ppt/slides/_rels/slide41.xml.rels><?xml version="1.0" encoding="UTF-8" standalone="yes"?>
<Relationships xmlns="http://schemas.openxmlformats.org/package/2006/relationships"><Relationship Id="rId2" Type="http://schemas.openxmlformats.org/officeDocument/2006/relationships/chart" Target="../charts/chart3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chart" Target="../charts/chart3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chart" Target="../charts/chart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21E2EBE9-2CBC-7D80-DF5C-3788740F8B6C}"/>
              </a:ext>
            </a:extLst>
          </p:cNvPr>
          <p:cNvSpPr txBox="1"/>
          <p:nvPr/>
        </p:nvSpPr>
        <p:spPr>
          <a:xfrm>
            <a:off x="1769918" y="2719627"/>
            <a:ext cx="5604165" cy="954107"/>
          </a:xfrm>
          <a:prstGeom prst="rect">
            <a:avLst/>
          </a:prstGeom>
          <a:noFill/>
        </p:spPr>
        <p:txBody>
          <a:bodyPr wrap="square" rtlCol="0">
            <a:spAutoFit/>
          </a:bodyPr>
          <a:lstStyle/>
          <a:p>
            <a:pPr algn="ctr"/>
            <a:r>
              <a:rPr lang="en-US" sz="2800" dirty="0">
                <a:latin typeface="Grotesque Light" panose="020B0304020202020204" pitchFamily="34" charset="0"/>
              </a:rPr>
              <a:t>Asset Allocation Modelling and Portfolio Analytics</a:t>
            </a:r>
          </a:p>
        </p:txBody>
      </p:sp>
    </p:spTree>
    <p:extLst>
      <p:ext uri="{BB962C8B-B14F-4D97-AF65-F5344CB8AC3E}">
        <p14:creationId xmlns:p14="http://schemas.microsoft.com/office/powerpoint/2010/main" val="9085210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C5A865-4313-992A-38F5-E35A632D50C0}"/>
            </a:ext>
          </a:extLst>
        </p:cNvPr>
        <p:cNvGrpSpPr/>
        <p:nvPr/>
      </p:nvGrpSpPr>
      <p:grpSpPr>
        <a:xfrm>
          <a:off x="0" y="0"/>
          <a:ext cx="0" cy="0"/>
          <a:chOff x="0" y="0"/>
          <a:chExt cx="0" cy="0"/>
        </a:xfrm>
      </p:grpSpPr>
      <p:cxnSp>
        <p:nvCxnSpPr>
          <p:cNvPr id="3" name="Straight Connector 2">
            <a:extLst>
              <a:ext uri="{FF2B5EF4-FFF2-40B4-BE49-F238E27FC236}">
                <a16:creationId xmlns:a16="http://schemas.microsoft.com/office/drawing/2014/main" id="{08AE1749-0506-5C6B-D271-229EB17E0020}"/>
              </a:ext>
            </a:extLst>
          </p:cNvPr>
          <p:cNvCxnSpPr/>
          <p:nvPr/>
        </p:nvCxnSpPr>
        <p:spPr>
          <a:xfrm>
            <a:off x="441436" y="914400"/>
            <a:ext cx="1072055" cy="0"/>
          </a:xfrm>
          <a:prstGeom prst="line">
            <a:avLst/>
          </a:prstGeom>
        </p:spPr>
        <p:style>
          <a:lnRef idx="1">
            <a:schemeClr val="dk1"/>
          </a:lnRef>
          <a:fillRef idx="0">
            <a:schemeClr val="dk1"/>
          </a:fillRef>
          <a:effectRef idx="0">
            <a:schemeClr val="dk1"/>
          </a:effectRef>
          <a:fontRef idx="minor">
            <a:schemeClr val="tx1"/>
          </a:fontRef>
        </p:style>
      </p:cxnSp>
      <p:sp>
        <p:nvSpPr>
          <p:cNvPr id="5" name="TextBox 4">
            <a:extLst>
              <a:ext uri="{FF2B5EF4-FFF2-40B4-BE49-F238E27FC236}">
                <a16:creationId xmlns:a16="http://schemas.microsoft.com/office/drawing/2014/main" id="{6AD96609-A747-2EA1-6026-6BC29844DBC2}"/>
              </a:ext>
            </a:extLst>
          </p:cNvPr>
          <p:cNvSpPr txBox="1"/>
          <p:nvPr/>
        </p:nvSpPr>
        <p:spPr>
          <a:xfrm>
            <a:off x="351605" y="389382"/>
            <a:ext cx="7747376" cy="400110"/>
          </a:xfrm>
          <a:prstGeom prst="rect">
            <a:avLst/>
          </a:prstGeom>
          <a:noFill/>
        </p:spPr>
        <p:txBody>
          <a:bodyPr wrap="square" rtlCol="0">
            <a:spAutoFit/>
          </a:bodyPr>
          <a:lstStyle/>
          <a:p>
            <a:r>
              <a:rPr lang="en-US" sz="2000" dirty="0">
                <a:latin typeface="Grotesque Light" panose="020B0304020202020204" pitchFamily="34" charset="0"/>
              </a:rPr>
              <a:t>Contents</a:t>
            </a:r>
          </a:p>
        </p:txBody>
      </p:sp>
      <p:sp>
        <p:nvSpPr>
          <p:cNvPr id="6" name="TextBox 5">
            <a:extLst>
              <a:ext uri="{FF2B5EF4-FFF2-40B4-BE49-F238E27FC236}">
                <a16:creationId xmlns:a16="http://schemas.microsoft.com/office/drawing/2014/main" id="{1A51AC9E-C9BB-65E3-B900-8BED243982BA}"/>
              </a:ext>
            </a:extLst>
          </p:cNvPr>
          <p:cNvSpPr txBox="1"/>
          <p:nvPr/>
        </p:nvSpPr>
        <p:spPr>
          <a:xfrm>
            <a:off x="631060" y="1264093"/>
            <a:ext cx="7952501" cy="3369833"/>
          </a:xfrm>
          <a:prstGeom prst="rect">
            <a:avLst/>
          </a:prstGeom>
          <a:noFill/>
          <a:ln w="6350">
            <a:noFill/>
          </a:ln>
        </p:spPr>
        <p:txBody>
          <a:bodyPr wrap="square" rtlCol="0">
            <a:spAutoFit/>
          </a:bodyPr>
          <a:lstStyle/>
          <a:p>
            <a:pPr marL="342900" indent="-342900">
              <a:lnSpc>
                <a:spcPct val="150000"/>
              </a:lnSpc>
              <a:buAutoNum type="arabicPeriod"/>
            </a:pPr>
            <a:r>
              <a:rPr lang="en-GB" dirty="0">
                <a:solidFill>
                  <a:schemeClr val="tx1">
                    <a:lumMod val="95000"/>
                    <a:lumOff val="5000"/>
                  </a:schemeClr>
                </a:solidFill>
                <a:latin typeface="Grotesque Light" panose="020B0304020202020204" pitchFamily="34" charset="0"/>
              </a:rPr>
              <a:t>A Multi-Factor Framework for Asset Allocation Modelling</a:t>
            </a:r>
          </a:p>
          <a:p>
            <a:pPr marL="342900" indent="-342900">
              <a:lnSpc>
                <a:spcPct val="150000"/>
              </a:lnSpc>
              <a:buAutoNum type="arabicPeriod"/>
            </a:pPr>
            <a:r>
              <a:rPr lang="en-GB" dirty="0">
                <a:solidFill>
                  <a:schemeClr val="tx1">
                    <a:lumMod val="95000"/>
                    <a:lumOff val="5000"/>
                  </a:schemeClr>
                </a:solidFill>
                <a:latin typeface="Grotesque Light" panose="020B0304020202020204" pitchFamily="34" charset="0"/>
                <a:cs typeface="Calibri Light" panose="020F0302020204030204" pitchFamily="34" charset="0"/>
              </a:rPr>
              <a:t>Case Studies</a:t>
            </a:r>
          </a:p>
          <a:p>
            <a:pPr marL="857250" lvl="1" indent="-400050">
              <a:lnSpc>
                <a:spcPct val="150000"/>
              </a:lnSpc>
              <a:buFont typeface="+mj-lt"/>
              <a:buAutoNum type="romanUcPeriod"/>
            </a:pPr>
            <a:r>
              <a:rPr lang="en-GB" dirty="0">
                <a:solidFill>
                  <a:schemeClr val="tx1">
                    <a:lumMod val="95000"/>
                    <a:lumOff val="5000"/>
                  </a:schemeClr>
                </a:solidFill>
                <a:latin typeface="Grotesque Light" panose="020B0304020202020204" pitchFamily="34" charset="0"/>
                <a:cs typeface="Calibri Light" panose="020F0302020204030204" pitchFamily="34" charset="0"/>
              </a:rPr>
              <a:t>Sample Portfolio Risk Analytics</a:t>
            </a:r>
          </a:p>
          <a:p>
            <a:pPr marL="857250" lvl="1" indent="-400050">
              <a:lnSpc>
                <a:spcPct val="150000"/>
              </a:lnSpc>
              <a:buFont typeface="+mj-lt"/>
              <a:buAutoNum type="romanUcPeriod"/>
            </a:pPr>
            <a:r>
              <a:rPr lang="en-GB" dirty="0">
                <a:solidFill>
                  <a:schemeClr val="tx1">
                    <a:lumMod val="95000"/>
                    <a:lumOff val="5000"/>
                  </a:schemeClr>
                </a:solidFill>
                <a:latin typeface="Grotesque Light" panose="020B0304020202020204" pitchFamily="34" charset="0"/>
                <a:cs typeface="Calibri Light" panose="020F0302020204030204" pitchFamily="34" charset="0"/>
              </a:rPr>
              <a:t>Portfolio Optimization</a:t>
            </a:r>
          </a:p>
          <a:p>
            <a:pPr marL="857250" lvl="1" indent="-400050">
              <a:lnSpc>
                <a:spcPct val="150000"/>
              </a:lnSpc>
              <a:buFont typeface="+mj-lt"/>
              <a:buAutoNum type="romanUcPeriod"/>
            </a:pPr>
            <a:r>
              <a:rPr lang="en-GB" dirty="0">
                <a:solidFill>
                  <a:schemeClr val="tx1">
                    <a:lumMod val="95000"/>
                    <a:lumOff val="5000"/>
                  </a:schemeClr>
                </a:solidFill>
                <a:latin typeface="Grotesque Light" panose="020B0304020202020204" pitchFamily="34" charset="0"/>
                <a:cs typeface="Calibri Light" panose="020F0302020204030204" pitchFamily="34" charset="0"/>
              </a:rPr>
              <a:t>Concentrated Risk Analysis</a:t>
            </a:r>
          </a:p>
          <a:p>
            <a:pPr marL="857250" lvl="1" indent="-400050">
              <a:lnSpc>
                <a:spcPct val="150000"/>
              </a:lnSpc>
              <a:buFont typeface="+mj-lt"/>
              <a:buAutoNum type="romanUcPeriod"/>
            </a:pPr>
            <a:r>
              <a:rPr lang="en-GB" dirty="0">
                <a:solidFill>
                  <a:schemeClr val="tx1">
                    <a:lumMod val="95000"/>
                    <a:lumOff val="5000"/>
                  </a:schemeClr>
                </a:solidFill>
                <a:latin typeface="Grotesque Light" panose="020B0304020202020204" pitchFamily="34" charset="0"/>
                <a:cs typeface="Calibri Light" panose="020F0302020204030204" pitchFamily="34" charset="0"/>
              </a:rPr>
              <a:t>Structured Notes</a:t>
            </a:r>
          </a:p>
          <a:p>
            <a:pPr marL="857250" lvl="1" indent="-400050">
              <a:lnSpc>
                <a:spcPct val="150000"/>
              </a:lnSpc>
              <a:buFont typeface="+mj-lt"/>
              <a:buAutoNum type="romanUcPeriod"/>
            </a:pPr>
            <a:r>
              <a:rPr lang="en-GB" dirty="0">
                <a:solidFill>
                  <a:schemeClr val="tx1">
                    <a:lumMod val="95000"/>
                    <a:lumOff val="5000"/>
                  </a:schemeClr>
                </a:solidFill>
                <a:latin typeface="Grotesque Light" panose="020B0304020202020204" pitchFamily="34" charset="0"/>
                <a:cs typeface="Calibri Light" panose="020F0302020204030204" pitchFamily="34" charset="0"/>
              </a:rPr>
              <a:t>Private Markets Modelling</a:t>
            </a:r>
          </a:p>
          <a:p>
            <a:pPr marL="857250" lvl="1" indent="-400050">
              <a:lnSpc>
                <a:spcPct val="150000"/>
              </a:lnSpc>
              <a:buFont typeface="+mj-lt"/>
              <a:buAutoNum type="romanUcPeriod"/>
            </a:pPr>
            <a:endParaRPr lang="en-US" dirty="0">
              <a:solidFill>
                <a:schemeClr val="tx1">
                  <a:lumMod val="95000"/>
                  <a:lumOff val="5000"/>
                </a:schemeClr>
              </a:solidFill>
              <a:latin typeface="Grotesque Light" panose="020B0304020202020204" pitchFamily="34" charset="0"/>
              <a:cs typeface="Calibri Light" panose="020F0302020204030204" pitchFamily="34" charset="0"/>
            </a:endParaRPr>
          </a:p>
        </p:txBody>
      </p:sp>
    </p:spTree>
    <p:extLst>
      <p:ext uri="{BB962C8B-B14F-4D97-AF65-F5344CB8AC3E}">
        <p14:creationId xmlns:p14="http://schemas.microsoft.com/office/powerpoint/2010/main" val="40346683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E147EF-8075-3188-8082-36EE28EDEAB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1317F320-8DCD-A612-3705-F1836EE907A9}"/>
              </a:ext>
            </a:extLst>
          </p:cNvPr>
          <p:cNvSpPr txBox="1"/>
          <p:nvPr/>
        </p:nvSpPr>
        <p:spPr>
          <a:xfrm>
            <a:off x="1769918" y="2719627"/>
            <a:ext cx="5604165" cy="954107"/>
          </a:xfrm>
          <a:prstGeom prst="rect">
            <a:avLst/>
          </a:prstGeom>
          <a:noFill/>
        </p:spPr>
        <p:txBody>
          <a:bodyPr wrap="square" rtlCol="0">
            <a:spAutoFit/>
          </a:bodyPr>
          <a:lstStyle/>
          <a:p>
            <a:pPr algn="ctr"/>
            <a:r>
              <a:rPr lang="en-US" sz="2800" dirty="0">
                <a:latin typeface="Grotesque Light" panose="020B0304020202020204" pitchFamily="34" charset="0"/>
              </a:rPr>
              <a:t>A Multi-Factor Framework for Asset Allocation Modelling</a:t>
            </a:r>
          </a:p>
        </p:txBody>
      </p:sp>
    </p:spTree>
    <p:extLst>
      <p:ext uri="{BB962C8B-B14F-4D97-AF65-F5344CB8AC3E}">
        <p14:creationId xmlns:p14="http://schemas.microsoft.com/office/powerpoint/2010/main" val="352257570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FBEC45-7043-D024-6E5A-62AB70B4E9B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809E853-7B99-9351-58D8-5916BAFDF475}"/>
              </a:ext>
            </a:extLst>
          </p:cNvPr>
          <p:cNvSpPr txBox="1"/>
          <p:nvPr/>
        </p:nvSpPr>
        <p:spPr>
          <a:xfrm>
            <a:off x="340972" y="368117"/>
            <a:ext cx="7747376" cy="400110"/>
          </a:xfrm>
          <a:prstGeom prst="rect">
            <a:avLst/>
          </a:prstGeom>
          <a:noFill/>
        </p:spPr>
        <p:txBody>
          <a:bodyPr wrap="square" rtlCol="0">
            <a:spAutoFit/>
          </a:bodyPr>
          <a:lstStyle/>
          <a:p>
            <a:r>
              <a:rPr lang="en-US" sz="2000" dirty="0">
                <a:latin typeface="Grotesque Light" panose="020B0304020202020204" pitchFamily="34" charset="0"/>
              </a:rPr>
              <a:t>Multi-Factor Models Identify Sources of Long-Term Returns</a:t>
            </a:r>
          </a:p>
        </p:txBody>
      </p:sp>
      <p:pic>
        <p:nvPicPr>
          <p:cNvPr id="36" name="Picture 35">
            <a:extLst>
              <a:ext uri="{FF2B5EF4-FFF2-40B4-BE49-F238E27FC236}">
                <a16:creationId xmlns:a16="http://schemas.microsoft.com/office/drawing/2014/main" id="{96FCF6F1-A6FC-19E0-9FF1-FC890EF1E5AC}"/>
              </a:ext>
            </a:extLst>
          </p:cNvPr>
          <p:cNvPicPr>
            <a:picLocks noChangeAspect="1"/>
          </p:cNvPicPr>
          <p:nvPr/>
        </p:nvPicPr>
        <p:blipFill>
          <a:blip r:embed="rId2"/>
          <a:stretch>
            <a:fillRect/>
          </a:stretch>
        </p:blipFill>
        <p:spPr>
          <a:xfrm>
            <a:off x="1039759" y="2265875"/>
            <a:ext cx="1333500" cy="1524000"/>
          </a:xfrm>
          <a:prstGeom prst="rect">
            <a:avLst/>
          </a:prstGeom>
        </p:spPr>
      </p:pic>
      <p:sp>
        <p:nvSpPr>
          <p:cNvPr id="38" name="TextBox 37">
            <a:extLst>
              <a:ext uri="{FF2B5EF4-FFF2-40B4-BE49-F238E27FC236}">
                <a16:creationId xmlns:a16="http://schemas.microsoft.com/office/drawing/2014/main" id="{74448FBE-5591-A3C1-D06F-6D10EEB4F8F8}"/>
              </a:ext>
            </a:extLst>
          </p:cNvPr>
          <p:cNvSpPr txBox="1"/>
          <p:nvPr/>
        </p:nvSpPr>
        <p:spPr>
          <a:xfrm>
            <a:off x="871868" y="3853670"/>
            <a:ext cx="1426631" cy="415498"/>
          </a:xfrm>
          <a:prstGeom prst="rect">
            <a:avLst/>
          </a:prstGeom>
          <a:noFill/>
          <a:ln>
            <a:solidFill>
              <a:srgbClr val="FF0000"/>
            </a:solidFill>
          </a:ln>
        </p:spPr>
        <p:txBody>
          <a:bodyPr wrap="square" rtlCol="0">
            <a:spAutoFit/>
          </a:bodyPr>
          <a:lstStyle/>
          <a:p>
            <a:pPr algn="ctr"/>
            <a:r>
              <a:rPr lang="en-US" sz="1050" dirty="0">
                <a:solidFill>
                  <a:srgbClr val="FF0000"/>
                </a:solidFill>
                <a:latin typeface="Aptos" panose="020B0004020202020204" pitchFamily="34" charset="0"/>
              </a:rPr>
              <a:t>POOR ESTIMATES OF </a:t>
            </a:r>
          </a:p>
          <a:p>
            <a:pPr algn="ctr"/>
            <a:r>
              <a:rPr lang="en-US" sz="1050" dirty="0">
                <a:solidFill>
                  <a:srgbClr val="FF0000"/>
                </a:solidFill>
                <a:latin typeface="Aptos" panose="020B0004020202020204" pitchFamily="34" charset="0"/>
              </a:rPr>
              <a:t>RISK AND RETURN</a:t>
            </a:r>
          </a:p>
        </p:txBody>
      </p:sp>
      <p:sp>
        <p:nvSpPr>
          <p:cNvPr id="40" name="TextBox 39">
            <a:extLst>
              <a:ext uri="{FF2B5EF4-FFF2-40B4-BE49-F238E27FC236}">
                <a16:creationId xmlns:a16="http://schemas.microsoft.com/office/drawing/2014/main" id="{2A8D2779-83F1-1829-564E-8F9A86CF66E6}"/>
              </a:ext>
            </a:extLst>
          </p:cNvPr>
          <p:cNvSpPr txBox="1"/>
          <p:nvPr/>
        </p:nvSpPr>
        <p:spPr>
          <a:xfrm>
            <a:off x="2927478" y="3866137"/>
            <a:ext cx="1641840" cy="415498"/>
          </a:xfrm>
          <a:prstGeom prst="rect">
            <a:avLst/>
          </a:prstGeom>
          <a:noFill/>
          <a:ln>
            <a:solidFill>
              <a:srgbClr val="7CC04D"/>
            </a:solidFill>
          </a:ln>
        </p:spPr>
        <p:txBody>
          <a:bodyPr wrap="square" rtlCol="0">
            <a:spAutoFit/>
          </a:bodyPr>
          <a:lstStyle/>
          <a:p>
            <a:pPr algn="ctr"/>
            <a:r>
              <a:rPr lang="en-US" sz="1050" dirty="0">
                <a:solidFill>
                  <a:srgbClr val="7CC04D"/>
                </a:solidFill>
                <a:latin typeface="Aptos" panose="020B0004020202020204" pitchFamily="34" charset="0"/>
              </a:rPr>
              <a:t>OVER 2X THE PRECISION OF ESTIMATES </a:t>
            </a:r>
          </a:p>
        </p:txBody>
      </p:sp>
      <p:sp>
        <p:nvSpPr>
          <p:cNvPr id="45" name="Multiply 44">
            <a:extLst>
              <a:ext uri="{FF2B5EF4-FFF2-40B4-BE49-F238E27FC236}">
                <a16:creationId xmlns:a16="http://schemas.microsoft.com/office/drawing/2014/main" id="{4557E188-5A16-F87C-609B-99E2ECD5DDE4}"/>
              </a:ext>
            </a:extLst>
          </p:cNvPr>
          <p:cNvSpPr/>
          <p:nvPr/>
        </p:nvSpPr>
        <p:spPr>
          <a:xfrm rot="1062317">
            <a:off x="2227116" y="3691865"/>
            <a:ext cx="318977" cy="330734"/>
          </a:xfrm>
          <a:prstGeom prst="mathMultiply">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4" name="TextBox 93">
            <a:extLst>
              <a:ext uri="{FF2B5EF4-FFF2-40B4-BE49-F238E27FC236}">
                <a16:creationId xmlns:a16="http://schemas.microsoft.com/office/drawing/2014/main" id="{0CB90895-1BDE-3B27-B00D-E67474791AE7}"/>
              </a:ext>
            </a:extLst>
          </p:cNvPr>
          <p:cNvSpPr txBox="1"/>
          <p:nvPr/>
        </p:nvSpPr>
        <p:spPr>
          <a:xfrm rot="1668696">
            <a:off x="4392600" y="3712085"/>
            <a:ext cx="450421" cy="369332"/>
          </a:xfrm>
          <a:prstGeom prst="rect">
            <a:avLst/>
          </a:prstGeom>
          <a:noFill/>
        </p:spPr>
        <p:txBody>
          <a:bodyPr wrap="square">
            <a:spAutoFit/>
          </a:bodyPr>
          <a:lstStyle/>
          <a:p>
            <a:r>
              <a:rPr lang="en-GB" dirty="0"/>
              <a:t>✅</a:t>
            </a:r>
            <a:endParaRPr lang="en-US" dirty="0"/>
          </a:p>
        </p:txBody>
      </p:sp>
      <p:sp>
        <p:nvSpPr>
          <p:cNvPr id="2" name="TextBox 1">
            <a:extLst>
              <a:ext uri="{FF2B5EF4-FFF2-40B4-BE49-F238E27FC236}">
                <a16:creationId xmlns:a16="http://schemas.microsoft.com/office/drawing/2014/main" id="{C7A96FAD-14A8-CCB5-0EFC-58F3D9C2334F}"/>
              </a:ext>
            </a:extLst>
          </p:cNvPr>
          <p:cNvSpPr txBox="1"/>
          <p:nvPr/>
        </p:nvSpPr>
        <p:spPr>
          <a:xfrm>
            <a:off x="316427" y="1057616"/>
            <a:ext cx="8441032" cy="523220"/>
          </a:xfrm>
          <a:prstGeom prst="rect">
            <a:avLst/>
          </a:prstGeom>
          <a:noFill/>
          <a:ln w="6350">
            <a:noFill/>
          </a:ln>
        </p:spPr>
        <p:txBody>
          <a:bodyPr wrap="square" rtlCol="0">
            <a:spAutoFit/>
          </a:bodyPr>
          <a:lstStyle/>
          <a:p>
            <a:r>
              <a:rPr lang="en-GB" sz="1400" dirty="0">
                <a:solidFill>
                  <a:schemeClr val="tx1">
                    <a:lumMod val="95000"/>
                    <a:lumOff val="5000"/>
                  </a:schemeClr>
                </a:solidFill>
                <a:latin typeface="Aptos Light" panose="020B0004020202020204" pitchFamily="34" charset="0"/>
              </a:rPr>
              <a:t>Multi-factor models provide deeper insight into the true drivers of return, resulting in more precise and reliable long-term return estimates relative to single factor models.</a:t>
            </a:r>
            <a:endParaRPr lang="en-US" sz="1400" dirty="0">
              <a:solidFill>
                <a:schemeClr val="tx1">
                  <a:lumMod val="95000"/>
                  <a:lumOff val="5000"/>
                </a:schemeClr>
              </a:solidFill>
              <a:latin typeface="Aptos Light" panose="020B0004020202020204" pitchFamily="34" charset="0"/>
              <a:cs typeface="Calibri Light" panose="020F0302020204030204" pitchFamily="34" charset="0"/>
            </a:endParaRPr>
          </a:p>
        </p:txBody>
      </p:sp>
      <p:sp>
        <p:nvSpPr>
          <p:cNvPr id="3" name="Rectangle 2">
            <a:extLst>
              <a:ext uri="{FF2B5EF4-FFF2-40B4-BE49-F238E27FC236}">
                <a16:creationId xmlns:a16="http://schemas.microsoft.com/office/drawing/2014/main" id="{3E83A8EA-55B8-4D7D-2A39-826EBC8FCF61}"/>
              </a:ext>
            </a:extLst>
          </p:cNvPr>
          <p:cNvSpPr/>
          <p:nvPr/>
        </p:nvSpPr>
        <p:spPr>
          <a:xfrm>
            <a:off x="382772" y="1814658"/>
            <a:ext cx="4869711" cy="2609151"/>
          </a:xfrm>
          <a:prstGeom prst="rect">
            <a:avLst/>
          </a:prstGeom>
          <a:noFill/>
          <a:ln w="12700">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DDDE485B-39C8-1232-4AD6-DEF4B7AF37C4}"/>
              </a:ext>
            </a:extLst>
          </p:cNvPr>
          <p:cNvSpPr/>
          <p:nvPr/>
        </p:nvSpPr>
        <p:spPr>
          <a:xfrm>
            <a:off x="5465135" y="1807569"/>
            <a:ext cx="3349256" cy="2626873"/>
          </a:xfrm>
          <a:prstGeom prst="rect">
            <a:avLst/>
          </a:prstGeom>
          <a:noFill/>
          <a:ln w="12700">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B7E586C7-E9C4-F005-F207-08C9EEFAF540}"/>
              </a:ext>
            </a:extLst>
          </p:cNvPr>
          <p:cNvSpPr txBox="1"/>
          <p:nvPr/>
        </p:nvSpPr>
        <p:spPr>
          <a:xfrm>
            <a:off x="5454502" y="1691782"/>
            <a:ext cx="3366770" cy="276999"/>
          </a:xfrm>
          <a:prstGeom prst="rect">
            <a:avLst/>
          </a:prstGeom>
          <a:solidFill>
            <a:srgbClr val="151824"/>
          </a:solidFill>
          <a:ln w="12700">
            <a:noFill/>
          </a:ln>
        </p:spPr>
        <p:txBody>
          <a:bodyPr wrap="square" rtlCol="0">
            <a:spAutoFit/>
          </a:bodyPr>
          <a:lstStyle/>
          <a:p>
            <a:pPr algn="ctr"/>
            <a:r>
              <a:rPr lang="en-US" sz="1200" dirty="0">
                <a:solidFill>
                  <a:schemeClr val="bg1"/>
                </a:solidFill>
                <a:latin typeface="+mj-lt"/>
              </a:rPr>
              <a:t>Each Asset Has a Unique Factor Profile</a:t>
            </a:r>
          </a:p>
        </p:txBody>
      </p:sp>
      <p:sp>
        <p:nvSpPr>
          <p:cNvPr id="12" name="TextBox 11">
            <a:extLst>
              <a:ext uri="{FF2B5EF4-FFF2-40B4-BE49-F238E27FC236}">
                <a16:creationId xmlns:a16="http://schemas.microsoft.com/office/drawing/2014/main" id="{7F01D5E2-9D27-EAA0-6465-C7EBD11C791F}"/>
              </a:ext>
            </a:extLst>
          </p:cNvPr>
          <p:cNvSpPr txBox="1"/>
          <p:nvPr/>
        </p:nvSpPr>
        <p:spPr>
          <a:xfrm>
            <a:off x="5559945" y="2112369"/>
            <a:ext cx="1510706" cy="253916"/>
          </a:xfrm>
          <a:prstGeom prst="rect">
            <a:avLst/>
          </a:prstGeom>
          <a:noFill/>
          <a:ln>
            <a:noFill/>
          </a:ln>
        </p:spPr>
        <p:txBody>
          <a:bodyPr wrap="square" rtlCol="0">
            <a:spAutoFit/>
          </a:bodyPr>
          <a:lstStyle/>
          <a:p>
            <a:pPr algn="ctr"/>
            <a:r>
              <a:rPr lang="en-US" sz="1050" dirty="0">
                <a:latin typeface="Aptos" panose="020B0004020202020204" pitchFamily="34" charset="0"/>
              </a:rPr>
              <a:t>EM External Debt</a:t>
            </a:r>
          </a:p>
        </p:txBody>
      </p:sp>
      <p:sp>
        <p:nvSpPr>
          <p:cNvPr id="16" name="TextBox 15">
            <a:extLst>
              <a:ext uri="{FF2B5EF4-FFF2-40B4-BE49-F238E27FC236}">
                <a16:creationId xmlns:a16="http://schemas.microsoft.com/office/drawing/2014/main" id="{192E6CF9-BC60-42CB-BF72-E2C67AB18E5E}"/>
              </a:ext>
            </a:extLst>
          </p:cNvPr>
          <p:cNvSpPr txBox="1"/>
          <p:nvPr/>
        </p:nvSpPr>
        <p:spPr>
          <a:xfrm>
            <a:off x="316427" y="4616073"/>
            <a:ext cx="8647582" cy="523220"/>
          </a:xfrm>
          <a:prstGeom prst="rect">
            <a:avLst/>
          </a:prstGeom>
          <a:noFill/>
          <a:ln w="6350">
            <a:noFill/>
          </a:ln>
        </p:spPr>
        <p:txBody>
          <a:bodyPr wrap="square" rtlCol="0">
            <a:spAutoFit/>
          </a:bodyPr>
          <a:lstStyle/>
          <a:p>
            <a:r>
              <a:rPr lang="en-GB" sz="1400" dirty="0">
                <a:latin typeface="Aptos Light" panose="020B0004020202020204" pitchFamily="34" charset="0"/>
              </a:rPr>
              <a:t>Factors represent systematic risk exposures that are grounded in economic rationale, capturing risk premia associated with the transfer of risk.</a:t>
            </a:r>
            <a:endParaRPr lang="en-US" sz="1400" dirty="0">
              <a:latin typeface="Aptos Light" panose="020B0004020202020204" pitchFamily="34" charset="0"/>
              <a:cs typeface="Calibri Light" panose="020F0302020204030204" pitchFamily="34" charset="0"/>
            </a:endParaRPr>
          </a:p>
        </p:txBody>
      </p:sp>
      <p:sp>
        <p:nvSpPr>
          <p:cNvPr id="17" name="TextBox 16">
            <a:extLst>
              <a:ext uri="{FF2B5EF4-FFF2-40B4-BE49-F238E27FC236}">
                <a16:creationId xmlns:a16="http://schemas.microsoft.com/office/drawing/2014/main" id="{C956CE3B-A169-7C88-F02D-A56342273E7F}"/>
              </a:ext>
            </a:extLst>
          </p:cNvPr>
          <p:cNvSpPr txBox="1"/>
          <p:nvPr/>
        </p:nvSpPr>
        <p:spPr>
          <a:xfrm>
            <a:off x="7222169" y="2105280"/>
            <a:ext cx="1510706" cy="253916"/>
          </a:xfrm>
          <a:prstGeom prst="rect">
            <a:avLst/>
          </a:prstGeom>
          <a:noFill/>
          <a:ln>
            <a:noFill/>
          </a:ln>
        </p:spPr>
        <p:txBody>
          <a:bodyPr wrap="square" rtlCol="0">
            <a:spAutoFit/>
          </a:bodyPr>
          <a:lstStyle/>
          <a:p>
            <a:pPr algn="ctr"/>
            <a:r>
              <a:rPr lang="en-US" sz="1050" dirty="0">
                <a:latin typeface="Aptos" panose="020B0004020202020204" pitchFamily="34" charset="0"/>
              </a:rPr>
              <a:t>Event Driven</a:t>
            </a:r>
          </a:p>
        </p:txBody>
      </p:sp>
      <p:sp>
        <p:nvSpPr>
          <p:cNvPr id="21" name="TextBox 20">
            <a:extLst>
              <a:ext uri="{FF2B5EF4-FFF2-40B4-BE49-F238E27FC236}">
                <a16:creationId xmlns:a16="http://schemas.microsoft.com/office/drawing/2014/main" id="{67C52633-4E36-71DA-438A-4B0549C63762}"/>
              </a:ext>
            </a:extLst>
          </p:cNvPr>
          <p:cNvSpPr txBox="1"/>
          <p:nvPr/>
        </p:nvSpPr>
        <p:spPr>
          <a:xfrm>
            <a:off x="947626" y="2045241"/>
            <a:ext cx="1510706" cy="253916"/>
          </a:xfrm>
          <a:prstGeom prst="rect">
            <a:avLst/>
          </a:prstGeom>
          <a:noFill/>
          <a:ln>
            <a:noFill/>
          </a:ln>
        </p:spPr>
        <p:txBody>
          <a:bodyPr wrap="square" rtlCol="0">
            <a:spAutoFit/>
          </a:bodyPr>
          <a:lstStyle/>
          <a:p>
            <a:pPr algn="ctr"/>
            <a:r>
              <a:rPr lang="en-US" sz="1050" dirty="0">
                <a:latin typeface="Aptos" panose="020B0004020202020204" pitchFamily="34" charset="0"/>
              </a:rPr>
              <a:t>Single-Factor Model</a:t>
            </a:r>
          </a:p>
        </p:txBody>
      </p:sp>
      <p:sp>
        <p:nvSpPr>
          <p:cNvPr id="22" name="TextBox 21">
            <a:extLst>
              <a:ext uri="{FF2B5EF4-FFF2-40B4-BE49-F238E27FC236}">
                <a16:creationId xmlns:a16="http://schemas.microsoft.com/office/drawing/2014/main" id="{B985809F-C560-BE63-92F9-B781EF7B3645}"/>
              </a:ext>
            </a:extLst>
          </p:cNvPr>
          <p:cNvSpPr txBox="1"/>
          <p:nvPr/>
        </p:nvSpPr>
        <p:spPr>
          <a:xfrm>
            <a:off x="2940599" y="2066269"/>
            <a:ext cx="1510706" cy="253916"/>
          </a:xfrm>
          <a:prstGeom prst="rect">
            <a:avLst/>
          </a:prstGeom>
          <a:noFill/>
          <a:ln>
            <a:noFill/>
          </a:ln>
        </p:spPr>
        <p:txBody>
          <a:bodyPr wrap="square" rtlCol="0">
            <a:spAutoFit/>
          </a:bodyPr>
          <a:lstStyle/>
          <a:p>
            <a:pPr algn="ctr"/>
            <a:r>
              <a:rPr lang="en-US" sz="1050" dirty="0">
                <a:latin typeface="Aptos" panose="020B0004020202020204" pitchFamily="34" charset="0"/>
              </a:rPr>
              <a:t>Multi-Factor Model</a:t>
            </a:r>
          </a:p>
        </p:txBody>
      </p:sp>
      <p:sp>
        <p:nvSpPr>
          <p:cNvPr id="37" name="TextBox 36">
            <a:extLst>
              <a:ext uri="{FF2B5EF4-FFF2-40B4-BE49-F238E27FC236}">
                <a16:creationId xmlns:a16="http://schemas.microsoft.com/office/drawing/2014/main" id="{51DDFAA3-BA83-AD32-EE35-F0913B2A5011}"/>
              </a:ext>
            </a:extLst>
          </p:cNvPr>
          <p:cNvSpPr txBox="1"/>
          <p:nvPr/>
        </p:nvSpPr>
        <p:spPr>
          <a:xfrm>
            <a:off x="374650" y="1688236"/>
            <a:ext cx="4883150" cy="276999"/>
          </a:xfrm>
          <a:prstGeom prst="rect">
            <a:avLst/>
          </a:prstGeom>
          <a:solidFill>
            <a:srgbClr val="151824"/>
          </a:solidFill>
          <a:ln w="12700">
            <a:noFill/>
          </a:ln>
        </p:spPr>
        <p:txBody>
          <a:bodyPr wrap="square" rtlCol="0">
            <a:spAutoFit/>
          </a:bodyPr>
          <a:lstStyle/>
          <a:p>
            <a:pPr algn="ctr"/>
            <a:r>
              <a:rPr lang="en-US" sz="1200" dirty="0">
                <a:solidFill>
                  <a:schemeClr val="bg1"/>
                </a:solidFill>
                <a:latin typeface="+mj-lt"/>
              </a:rPr>
              <a:t>Multi-Factor Modelling Enhances Our Understanding Of Return Drivers</a:t>
            </a:r>
          </a:p>
        </p:txBody>
      </p:sp>
      <p:sp>
        <p:nvSpPr>
          <p:cNvPr id="39" name="TextBox 38">
            <a:extLst>
              <a:ext uri="{FF2B5EF4-FFF2-40B4-BE49-F238E27FC236}">
                <a16:creationId xmlns:a16="http://schemas.microsoft.com/office/drawing/2014/main" id="{E66C5162-25E9-BE09-E019-4ED3EE5AF826}"/>
              </a:ext>
            </a:extLst>
          </p:cNvPr>
          <p:cNvSpPr txBox="1"/>
          <p:nvPr/>
        </p:nvSpPr>
        <p:spPr>
          <a:xfrm>
            <a:off x="5581479" y="4100357"/>
            <a:ext cx="3121085" cy="253916"/>
          </a:xfrm>
          <a:prstGeom prst="rect">
            <a:avLst/>
          </a:prstGeom>
          <a:noFill/>
          <a:ln>
            <a:solidFill>
              <a:srgbClr val="7CC04D"/>
            </a:solidFill>
          </a:ln>
        </p:spPr>
        <p:txBody>
          <a:bodyPr wrap="square" rtlCol="0">
            <a:spAutoFit/>
          </a:bodyPr>
          <a:lstStyle/>
          <a:p>
            <a:pPr algn="ctr"/>
            <a:r>
              <a:rPr lang="en-US" sz="1050" dirty="0">
                <a:solidFill>
                  <a:srgbClr val="7CC04D"/>
                </a:solidFill>
                <a:latin typeface="Aptos" panose="020B0004020202020204" pitchFamily="34" charset="0"/>
              </a:rPr>
              <a:t>BETTER UNDERSTANDING OF DIVERSIFICATION</a:t>
            </a:r>
          </a:p>
        </p:txBody>
      </p:sp>
      <p:pic>
        <p:nvPicPr>
          <p:cNvPr id="7" name="Picture 6">
            <a:extLst>
              <a:ext uri="{FF2B5EF4-FFF2-40B4-BE49-F238E27FC236}">
                <a16:creationId xmlns:a16="http://schemas.microsoft.com/office/drawing/2014/main" id="{C80F09B2-AA3A-B04E-37A6-D5257C13F26F}"/>
              </a:ext>
            </a:extLst>
          </p:cNvPr>
          <p:cNvPicPr>
            <a:picLocks noChangeAspect="1"/>
          </p:cNvPicPr>
          <p:nvPr/>
        </p:nvPicPr>
        <p:blipFill>
          <a:blip r:embed="rId3"/>
          <a:stretch>
            <a:fillRect/>
          </a:stretch>
        </p:blipFill>
        <p:spPr>
          <a:xfrm>
            <a:off x="3090910" y="2250372"/>
            <a:ext cx="1323428" cy="1536884"/>
          </a:xfrm>
          <a:prstGeom prst="rect">
            <a:avLst/>
          </a:prstGeom>
        </p:spPr>
      </p:pic>
      <p:graphicFrame>
        <p:nvGraphicFramePr>
          <p:cNvPr id="10" name="Chart 9">
            <a:extLst>
              <a:ext uri="{FF2B5EF4-FFF2-40B4-BE49-F238E27FC236}">
                <a16:creationId xmlns:a16="http://schemas.microsoft.com/office/drawing/2014/main" id="{39C8938A-49E7-2045-04DA-38BC539CDAA6}"/>
              </a:ext>
            </a:extLst>
          </p:cNvPr>
          <p:cNvGraphicFramePr>
            <a:graphicFrameLocks/>
          </p:cNvGraphicFramePr>
          <p:nvPr>
            <p:extLst>
              <p:ext uri="{D42A27DB-BD31-4B8C-83A1-F6EECF244321}">
                <p14:modId xmlns:p14="http://schemas.microsoft.com/office/powerpoint/2010/main" val="358837732"/>
              </p:ext>
            </p:extLst>
          </p:nvPr>
        </p:nvGraphicFramePr>
        <p:xfrm>
          <a:off x="7178566" y="2290357"/>
          <a:ext cx="1418896" cy="145777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1" name="Chart 10">
            <a:extLst>
              <a:ext uri="{FF2B5EF4-FFF2-40B4-BE49-F238E27FC236}">
                <a16:creationId xmlns:a16="http://schemas.microsoft.com/office/drawing/2014/main" id="{45AD2213-6AB2-304E-83F6-9CDE0C99BC88}"/>
              </a:ext>
            </a:extLst>
          </p:cNvPr>
          <p:cNvGraphicFramePr>
            <a:graphicFrameLocks/>
          </p:cNvGraphicFramePr>
          <p:nvPr>
            <p:extLst>
              <p:ext uri="{D42A27DB-BD31-4B8C-83A1-F6EECF244321}">
                <p14:modId xmlns:p14="http://schemas.microsoft.com/office/powerpoint/2010/main" val="2892538397"/>
              </p:ext>
            </p:extLst>
          </p:nvPr>
        </p:nvGraphicFramePr>
        <p:xfrm>
          <a:off x="5590424" y="2307773"/>
          <a:ext cx="1418400" cy="1443059"/>
        </p:xfrm>
        <a:graphic>
          <a:graphicData uri="http://schemas.openxmlformats.org/drawingml/2006/chart">
            <c:chart xmlns:c="http://schemas.openxmlformats.org/drawingml/2006/chart" xmlns:r="http://schemas.openxmlformats.org/officeDocument/2006/relationships" r:id="rId5"/>
          </a:graphicData>
        </a:graphic>
      </p:graphicFrame>
      <p:sp>
        <p:nvSpPr>
          <p:cNvPr id="13" name="TextBox 12">
            <a:extLst>
              <a:ext uri="{FF2B5EF4-FFF2-40B4-BE49-F238E27FC236}">
                <a16:creationId xmlns:a16="http://schemas.microsoft.com/office/drawing/2014/main" id="{0544619E-5052-73C1-5C2C-81158BFBBB74}"/>
              </a:ext>
            </a:extLst>
          </p:cNvPr>
          <p:cNvSpPr txBox="1"/>
          <p:nvPr/>
        </p:nvSpPr>
        <p:spPr>
          <a:xfrm>
            <a:off x="6086812" y="3658140"/>
            <a:ext cx="488159" cy="230832"/>
          </a:xfrm>
          <a:prstGeom prst="rect">
            <a:avLst/>
          </a:prstGeom>
          <a:noFill/>
          <a:ln>
            <a:noFill/>
          </a:ln>
        </p:spPr>
        <p:txBody>
          <a:bodyPr wrap="square" rtlCol="0">
            <a:spAutoFit/>
          </a:bodyPr>
          <a:lstStyle/>
          <a:p>
            <a:pPr algn="ctr"/>
            <a:r>
              <a:rPr lang="en-US" sz="900" dirty="0">
                <a:latin typeface="Aptos Light" panose="020B0004020202020204" pitchFamily="34" charset="0"/>
              </a:rPr>
              <a:t>4.9%</a:t>
            </a:r>
          </a:p>
        </p:txBody>
      </p:sp>
      <p:sp>
        <p:nvSpPr>
          <p:cNvPr id="18" name="TextBox 17">
            <a:extLst>
              <a:ext uri="{FF2B5EF4-FFF2-40B4-BE49-F238E27FC236}">
                <a16:creationId xmlns:a16="http://schemas.microsoft.com/office/drawing/2014/main" id="{9D501E96-FAD1-9698-0F41-081A6BD6937C}"/>
              </a:ext>
            </a:extLst>
          </p:cNvPr>
          <p:cNvSpPr txBox="1"/>
          <p:nvPr/>
        </p:nvSpPr>
        <p:spPr>
          <a:xfrm>
            <a:off x="6038913" y="3819249"/>
            <a:ext cx="597017" cy="230832"/>
          </a:xfrm>
          <a:prstGeom prst="rect">
            <a:avLst/>
          </a:prstGeom>
          <a:noFill/>
          <a:ln>
            <a:noFill/>
          </a:ln>
        </p:spPr>
        <p:txBody>
          <a:bodyPr wrap="square" rtlCol="0">
            <a:spAutoFit/>
          </a:bodyPr>
          <a:lstStyle/>
          <a:p>
            <a:pPr algn="ctr"/>
            <a:r>
              <a:rPr lang="en-US" sz="900" dirty="0">
                <a:latin typeface="Aptos Light" panose="020B0004020202020204" pitchFamily="34" charset="0"/>
              </a:rPr>
              <a:t>+/- 3%</a:t>
            </a:r>
          </a:p>
        </p:txBody>
      </p:sp>
      <p:sp>
        <p:nvSpPr>
          <p:cNvPr id="19" name="TextBox 18">
            <a:extLst>
              <a:ext uri="{FF2B5EF4-FFF2-40B4-BE49-F238E27FC236}">
                <a16:creationId xmlns:a16="http://schemas.microsoft.com/office/drawing/2014/main" id="{C55A333F-5FA6-623D-E246-B832ACF4797D}"/>
              </a:ext>
            </a:extLst>
          </p:cNvPr>
          <p:cNvSpPr txBox="1"/>
          <p:nvPr/>
        </p:nvSpPr>
        <p:spPr>
          <a:xfrm>
            <a:off x="7719669" y="3636368"/>
            <a:ext cx="488159" cy="230832"/>
          </a:xfrm>
          <a:prstGeom prst="rect">
            <a:avLst/>
          </a:prstGeom>
          <a:noFill/>
          <a:ln>
            <a:noFill/>
          </a:ln>
        </p:spPr>
        <p:txBody>
          <a:bodyPr wrap="square" rtlCol="0">
            <a:spAutoFit/>
          </a:bodyPr>
          <a:lstStyle/>
          <a:p>
            <a:pPr algn="ctr"/>
            <a:r>
              <a:rPr lang="en-US" sz="900" dirty="0">
                <a:latin typeface="Aptos Light" panose="020B0004020202020204" pitchFamily="34" charset="0"/>
              </a:rPr>
              <a:t>2.1%</a:t>
            </a:r>
          </a:p>
        </p:txBody>
      </p:sp>
      <p:sp>
        <p:nvSpPr>
          <p:cNvPr id="20" name="TextBox 19">
            <a:extLst>
              <a:ext uri="{FF2B5EF4-FFF2-40B4-BE49-F238E27FC236}">
                <a16:creationId xmlns:a16="http://schemas.microsoft.com/office/drawing/2014/main" id="{80815968-C680-A255-34C3-0048B53DD207}"/>
              </a:ext>
            </a:extLst>
          </p:cNvPr>
          <p:cNvSpPr txBox="1"/>
          <p:nvPr/>
        </p:nvSpPr>
        <p:spPr>
          <a:xfrm>
            <a:off x="7671770" y="3797477"/>
            <a:ext cx="597017" cy="230832"/>
          </a:xfrm>
          <a:prstGeom prst="rect">
            <a:avLst/>
          </a:prstGeom>
          <a:noFill/>
          <a:ln>
            <a:noFill/>
          </a:ln>
        </p:spPr>
        <p:txBody>
          <a:bodyPr wrap="square" rtlCol="0">
            <a:spAutoFit/>
          </a:bodyPr>
          <a:lstStyle/>
          <a:p>
            <a:pPr algn="ctr"/>
            <a:r>
              <a:rPr lang="en-US" sz="900" dirty="0">
                <a:latin typeface="Aptos Light" panose="020B0004020202020204" pitchFamily="34" charset="0"/>
              </a:rPr>
              <a:t>+/- 1%</a:t>
            </a:r>
          </a:p>
        </p:txBody>
      </p:sp>
      <p:cxnSp>
        <p:nvCxnSpPr>
          <p:cNvPr id="25" name="Straight Connector 24">
            <a:extLst>
              <a:ext uri="{FF2B5EF4-FFF2-40B4-BE49-F238E27FC236}">
                <a16:creationId xmlns:a16="http://schemas.microsoft.com/office/drawing/2014/main" id="{A63567CB-A4CF-0CDE-B565-1AB5F905765E}"/>
              </a:ext>
            </a:extLst>
          </p:cNvPr>
          <p:cNvCxnSpPr/>
          <p:nvPr/>
        </p:nvCxnSpPr>
        <p:spPr>
          <a:xfrm>
            <a:off x="441436" y="914400"/>
            <a:ext cx="1072055" cy="0"/>
          </a:xfrm>
          <a:prstGeom prst="line">
            <a:avLst/>
          </a:prstGeom>
        </p:spPr>
        <p:style>
          <a:lnRef idx="1">
            <a:schemeClr val="dk1"/>
          </a:lnRef>
          <a:fillRef idx="0">
            <a:schemeClr val="dk1"/>
          </a:fillRef>
          <a:effectRef idx="0">
            <a:schemeClr val="dk1"/>
          </a:effectRef>
          <a:fontRef idx="minor">
            <a:schemeClr val="tx1"/>
          </a:fontRef>
        </p:style>
      </p:cxnSp>
      <p:graphicFrame>
        <p:nvGraphicFramePr>
          <p:cNvPr id="27" name="Object 26">
            <a:extLst>
              <a:ext uri="{FF2B5EF4-FFF2-40B4-BE49-F238E27FC236}">
                <a16:creationId xmlns:a16="http://schemas.microsoft.com/office/drawing/2014/main" id="{C34615B5-4D5A-0D90-2E42-177D1C24781B}"/>
              </a:ext>
            </a:extLst>
          </p:cNvPr>
          <p:cNvGraphicFramePr>
            <a:graphicFrameLocks noChangeAspect="1"/>
          </p:cNvGraphicFramePr>
          <p:nvPr>
            <p:extLst>
              <p:ext uri="{D42A27DB-BD31-4B8C-83A1-F6EECF244321}">
                <p14:modId xmlns:p14="http://schemas.microsoft.com/office/powerpoint/2010/main" val="2526240723"/>
              </p:ext>
            </p:extLst>
          </p:nvPr>
        </p:nvGraphicFramePr>
        <p:xfrm>
          <a:off x="335305" y="5225746"/>
          <a:ext cx="8473391" cy="1349466"/>
        </p:xfrm>
        <a:graphic>
          <a:graphicData uri="http://schemas.openxmlformats.org/presentationml/2006/ole">
            <mc:AlternateContent xmlns:mc="http://schemas.openxmlformats.org/markup-compatibility/2006">
              <mc:Choice xmlns:v="urn:schemas-microsoft-com:vml" Requires="v">
                <p:oleObj name="Worksheet" r:id="rId6" imgW="11328400" imgH="1803400" progId="Excel.Sheet.12">
                  <p:embed/>
                </p:oleObj>
              </mc:Choice>
              <mc:Fallback>
                <p:oleObj name="Worksheet" r:id="rId6" imgW="11328400" imgH="1803400" progId="Excel.Sheet.12">
                  <p:embed/>
                  <p:pic>
                    <p:nvPicPr>
                      <p:cNvPr id="0" name=""/>
                      <p:cNvPicPr/>
                      <p:nvPr/>
                    </p:nvPicPr>
                    <p:blipFill>
                      <a:blip r:embed="rId7"/>
                      <a:stretch>
                        <a:fillRect/>
                      </a:stretch>
                    </p:blipFill>
                    <p:spPr>
                      <a:xfrm>
                        <a:off x="335305" y="5225746"/>
                        <a:ext cx="8473391" cy="1349466"/>
                      </a:xfrm>
                      <a:prstGeom prst="rect">
                        <a:avLst/>
                      </a:prstGeom>
                    </p:spPr>
                  </p:pic>
                </p:oleObj>
              </mc:Fallback>
            </mc:AlternateContent>
          </a:graphicData>
        </a:graphic>
      </p:graphicFrame>
    </p:spTree>
    <p:extLst>
      <p:ext uri="{BB962C8B-B14F-4D97-AF65-F5344CB8AC3E}">
        <p14:creationId xmlns:p14="http://schemas.microsoft.com/office/powerpoint/2010/main" val="27999159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7465B7-C208-963D-D26D-B108470BD67F}"/>
            </a:ext>
          </a:extLst>
        </p:cNvPr>
        <p:cNvGrpSpPr/>
        <p:nvPr/>
      </p:nvGrpSpPr>
      <p:grpSpPr>
        <a:xfrm>
          <a:off x="0" y="0"/>
          <a:ext cx="0" cy="0"/>
          <a:chOff x="0" y="0"/>
          <a:chExt cx="0" cy="0"/>
        </a:xfrm>
      </p:grpSpPr>
      <p:pic>
        <p:nvPicPr>
          <p:cNvPr id="15" name="Picture 14">
            <a:extLst>
              <a:ext uri="{FF2B5EF4-FFF2-40B4-BE49-F238E27FC236}">
                <a16:creationId xmlns:a16="http://schemas.microsoft.com/office/drawing/2014/main" id="{9A746641-E87C-A425-6F99-48FD35A9EF52}"/>
              </a:ext>
            </a:extLst>
          </p:cNvPr>
          <p:cNvPicPr>
            <a:picLocks noChangeAspect="1"/>
          </p:cNvPicPr>
          <p:nvPr/>
        </p:nvPicPr>
        <p:blipFill>
          <a:blip r:embed="rId2"/>
          <a:stretch>
            <a:fillRect/>
          </a:stretch>
        </p:blipFill>
        <p:spPr>
          <a:xfrm>
            <a:off x="664927" y="2827440"/>
            <a:ext cx="2715228" cy="2427440"/>
          </a:xfrm>
          <a:prstGeom prst="rect">
            <a:avLst/>
          </a:prstGeom>
        </p:spPr>
      </p:pic>
      <p:sp>
        <p:nvSpPr>
          <p:cNvPr id="4" name="TextBox 3">
            <a:extLst>
              <a:ext uri="{FF2B5EF4-FFF2-40B4-BE49-F238E27FC236}">
                <a16:creationId xmlns:a16="http://schemas.microsoft.com/office/drawing/2014/main" id="{D3EBF518-F7EA-077C-6231-08D53D67CB81}"/>
              </a:ext>
            </a:extLst>
          </p:cNvPr>
          <p:cNvSpPr txBox="1"/>
          <p:nvPr/>
        </p:nvSpPr>
        <p:spPr>
          <a:xfrm>
            <a:off x="351605" y="389382"/>
            <a:ext cx="7747376" cy="400110"/>
          </a:xfrm>
          <a:prstGeom prst="rect">
            <a:avLst/>
          </a:prstGeom>
          <a:noFill/>
        </p:spPr>
        <p:txBody>
          <a:bodyPr wrap="square" rtlCol="0">
            <a:spAutoFit/>
          </a:bodyPr>
          <a:lstStyle/>
          <a:p>
            <a:r>
              <a:rPr lang="en-US" sz="2000" dirty="0">
                <a:latin typeface="Grotesque Light" panose="020B0304020202020204" pitchFamily="34" charset="0"/>
              </a:rPr>
              <a:t>Improving Asset Allocations with Robust Portfolio Optimization</a:t>
            </a:r>
          </a:p>
        </p:txBody>
      </p:sp>
      <p:sp>
        <p:nvSpPr>
          <p:cNvPr id="37" name="TextBox 36">
            <a:extLst>
              <a:ext uri="{FF2B5EF4-FFF2-40B4-BE49-F238E27FC236}">
                <a16:creationId xmlns:a16="http://schemas.microsoft.com/office/drawing/2014/main" id="{163E2078-E921-293D-A070-989106796A8E}"/>
              </a:ext>
            </a:extLst>
          </p:cNvPr>
          <p:cNvSpPr txBox="1"/>
          <p:nvPr/>
        </p:nvSpPr>
        <p:spPr>
          <a:xfrm>
            <a:off x="397934" y="2076726"/>
            <a:ext cx="8348400" cy="276999"/>
          </a:xfrm>
          <a:prstGeom prst="rect">
            <a:avLst/>
          </a:prstGeom>
          <a:solidFill>
            <a:srgbClr val="151824"/>
          </a:solidFill>
          <a:ln w="12700">
            <a:solidFill>
              <a:schemeClr val="tx1">
                <a:lumMod val="95000"/>
                <a:lumOff val="5000"/>
              </a:schemeClr>
            </a:solidFill>
          </a:ln>
        </p:spPr>
        <p:txBody>
          <a:bodyPr wrap="square" rtlCol="0">
            <a:spAutoFit/>
          </a:bodyPr>
          <a:lstStyle/>
          <a:p>
            <a:pPr algn="ctr"/>
            <a:r>
              <a:rPr lang="en-US" sz="1200" dirty="0">
                <a:solidFill>
                  <a:schemeClr val="bg1"/>
                </a:solidFill>
                <a:latin typeface="+mj-lt"/>
              </a:rPr>
              <a:t>Robust Optimization is Designed to Deliver Superior Allocations</a:t>
            </a:r>
          </a:p>
        </p:txBody>
      </p:sp>
      <p:sp>
        <p:nvSpPr>
          <p:cNvPr id="2" name="TextBox 1">
            <a:extLst>
              <a:ext uri="{FF2B5EF4-FFF2-40B4-BE49-F238E27FC236}">
                <a16:creationId xmlns:a16="http://schemas.microsoft.com/office/drawing/2014/main" id="{88918B6C-CD26-D625-750A-82CFF5A45A18}"/>
              </a:ext>
            </a:extLst>
          </p:cNvPr>
          <p:cNvSpPr txBox="1"/>
          <p:nvPr/>
        </p:nvSpPr>
        <p:spPr>
          <a:xfrm>
            <a:off x="388882" y="1152855"/>
            <a:ext cx="8389843" cy="738664"/>
          </a:xfrm>
          <a:prstGeom prst="rect">
            <a:avLst/>
          </a:prstGeom>
          <a:noFill/>
          <a:ln w="6350">
            <a:noFill/>
          </a:ln>
        </p:spPr>
        <p:txBody>
          <a:bodyPr wrap="square" rtlCol="0">
            <a:spAutoFit/>
          </a:bodyPr>
          <a:lstStyle/>
          <a:p>
            <a:r>
              <a:rPr lang="en-GB" sz="1400" dirty="0">
                <a:latin typeface="Aptos Light" panose="020B0004020202020204" pitchFamily="34" charset="0"/>
              </a:rPr>
              <a:t>Traditional portfolio optimization overlooks uncertainty in risk and return estimates, resulting in unstable, poorly diversified portfolios; robust optimization addresses this shortcoming by incorporating uncertainty directly into the process, leading to superior optimal allocations.</a:t>
            </a:r>
            <a:endParaRPr lang="en-US" sz="1400" dirty="0">
              <a:solidFill>
                <a:schemeClr val="tx1">
                  <a:lumMod val="95000"/>
                  <a:lumOff val="5000"/>
                </a:schemeClr>
              </a:solidFill>
              <a:latin typeface="Aptos Light" panose="020B0004020202020204" pitchFamily="34" charset="0"/>
              <a:cs typeface="Calibri Light" panose="020F0302020204030204" pitchFamily="34" charset="0"/>
            </a:endParaRPr>
          </a:p>
        </p:txBody>
      </p:sp>
      <p:sp>
        <p:nvSpPr>
          <p:cNvPr id="3" name="Rectangle 2">
            <a:extLst>
              <a:ext uri="{FF2B5EF4-FFF2-40B4-BE49-F238E27FC236}">
                <a16:creationId xmlns:a16="http://schemas.microsoft.com/office/drawing/2014/main" id="{3052A6D4-0B92-F98E-3029-EB0B2EA94200}"/>
              </a:ext>
            </a:extLst>
          </p:cNvPr>
          <p:cNvSpPr/>
          <p:nvPr/>
        </p:nvSpPr>
        <p:spPr>
          <a:xfrm>
            <a:off x="398721" y="2352004"/>
            <a:ext cx="8348400" cy="3619240"/>
          </a:xfrm>
          <a:prstGeom prst="rect">
            <a:avLst/>
          </a:prstGeom>
          <a:noFill/>
          <a:ln w="12700">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7E2281DF-C099-366A-8A61-EEF991953C98}"/>
              </a:ext>
            </a:extLst>
          </p:cNvPr>
          <p:cNvSpPr txBox="1"/>
          <p:nvPr/>
        </p:nvSpPr>
        <p:spPr>
          <a:xfrm>
            <a:off x="560320" y="2507040"/>
            <a:ext cx="3288666" cy="253916"/>
          </a:xfrm>
          <a:prstGeom prst="rect">
            <a:avLst/>
          </a:prstGeom>
          <a:noFill/>
          <a:ln>
            <a:noFill/>
          </a:ln>
        </p:spPr>
        <p:txBody>
          <a:bodyPr wrap="square" rtlCol="0">
            <a:spAutoFit/>
          </a:bodyPr>
          <a:lstStyle/>
          <a:p>
            <a:pPr algn="ctr"/>
            <a:r>
              <a:rPr lang="en-US" sz="1050" dirty="0">
                <a:latin typeface="Aptos" panose="020B0004020202020204" pitchFamily="34" charset="0"/>
              </a:rPr>
              <a:t>TRADITIONAL OPTIMIZATION METHODOLOGIES</a:t>
            </a:r>
          </a:p>
        </p:txBody>
      </p:sp>
      <p:sp>
        <p:nvSpPr>
          <p:cNvPr id="7" name="TextBox 6">
            <a:extLst>
              <a:ext uri="{FF2B5EF4-FFF2-40B4-BE49-F238E27FC236}">
                <a16:creationId xmlns:a16="http://schemas.microsoft.com/office/drawing/2014/main" id="{7E2DFD52-F98A-5867-D8FC-42B632B393F9}"/>
              </a:ext>
            </a:extLst>
          </p:cNvPr>
          <p:cNvSpPr txBox="1"/>
          <p:nvPr/>
        </p:nvSpPr>
        <p:spPr>
          <a:xfrm>
            <a:off x="639051" y="5371874"/>
            <a:ext cx="2848429" cy="415498"/>
          </a:xfrm>
          <a:prstGeom prst="rect">
            <a:avLst/>
          </a:prstGeom>
          <a:noFill/>
          <a:ln>
            <a:solidFill>
              <a:srgbClr val="FF0000"/>
            </a:solidFill>
          </a:ln>
        </p:spPr>
        <p:txBody>
          <a:bodyPr wrap="square" rtlCol="0">
            <a:spAutoFit/>
          </a:bodyPr>
          <a:lstStyle/>
          <a:p>
            <a:pPr algn="ctr"/>
            <a:r>
              <a:rPr lang="en-US" sz="1050" dirty="0">
                <a:solidFill>
                  <a:srgbClr val="FF0000"/>
                </a:solidFill>
                <a:latin typeface="Aptos" panose="020B0004020202020204" pitchFamily="34" charset="0"/>
              </a:rPr>
              <a:t>IGNORES UNCERTAINTIES IN RETURN ESTIMTATES -&gt; POOR DIVERSIFICATION</a:t>
            </a:r>
          </a:p>
        </p:txBody>
      </p:sp>
      <p:sp>
        <p:nvSpPr>
          <p:cNvPr id="8" name="TextBox 7">
            <a:extLst>
              <a:ext uri="{FF2B5EF4-FFF2-40B4-BE49-F238E27FC236}">
                <a16:creationId xmlns:a16="http://schemas.microsoft.com/office/drawing/2014/main" id="{413C3F4F-BAA5-27C4-CA8D-F255D18254DB}"/>
              </a:ext>
            </a:extLst>
          </p:cNvPr>
          <p:cNvSpPr txBox="1"/>
          <p:nvPr/>
        </p:nvSpPr>
        <p:spPr>
          <a:xfrm>
            <a:off x="5651501" y="5393137"/>
            <a:ext cx="2875811" cy="415498"/>
          </a:xfrm>
          <a:prstGeom prst="rect">
            <a:avLst/>
          </a:prstGeom>
          <a:noFill/>
          <a:ln>
            <a:solidFill>
              <a:srgbClr val="7CC04D"/>
            </a:solidFill>
          </a:ln>
        </p:spPr>
        <p:txBody>
          <a:bodyPr wrap="square" rtlCol="0">
            <a:spAutoFit/>
          </a:bodyPr>
          <a:lstStyle/>
          <a:p>
            <a:pPr algn="ctr"/>
            <a:r>
              <a:rPr lang="en-US" sz="1050" dirty="0">
                <a:solidFill>
                  <a:srgbClr val="7CC04D"/>
                </a:solidFill>
                <a:latin typeface="Aptos" panose="020B0004020202020204" pitchFamily="34" charset="0"/>
              </a:rPr>
              <a:t>ACKNOWLEDGES UNCERTAINTIES IN RETURN ESTIMATES -&gt; SUPERIOR DIVERSIFICATION</a:t>
            </a:r>
          </a:p>
        </p:txBody>
      </p:sp>
      <p:sp>
        <p:nvSpPr>
          <p:cNvPr id="9" name="Multiply 8">
            <a:extLst>
              <a:ext uri="{FF2B5EF4-FFF2-40B4-BE49-F238E27FC236}">
                <a16:creationId xmlns:a16="http://schemas.microsoft.com/office/drawing/2014/main" id="{41666A2D-7463-95B1-BA36-6604FF2CA57A}"/>
              </a:ext>
            </a:extLst>
          </p:cNvPr>
          <p:cNvSpPr/>
          <p:nvPr/>
        </p:nvSpPr>
        <p:spPr>
          <a:xfrm rot="1062317">
            <a:off x="3316331" y="5174688"/>
            <a:ext cx="331213" cy="365052"/>
          </a:xfrm>
          <a:prstGeom prst="mathMultiply">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CFDF0FCE-58FE-D0BE-AD6A-7635DE5C832C}"/>
              </a:ext>
            </a:extLst>
          </p:cNvPr>
          <p:cNvSpPr txBox="1"/>
          <p:nvPr/>
        </p:nvSpPr>
        <p:spPr>
          <a:xfrm rot="1668696">
            <a:off x="5390537" y="5214701"/>
            <a:ext cx="467699" cy="369332"/>
          </a:xfrm>
          <a:prstGeom prst="rect">
            <a:avLst/>
          </a:prstGeom>
          <a:noFill/>
        </p:spPr>
        <p:txBody>
          <a:bodyPr wrap="square">
            <a:spAutoFit/>
          </a:bodyPr>
          <a:lstStyle/>
          <a:p>
            <a:r>
              <a:rPr lang="en-GB" dirty="0"/>
              <a:t>✅</a:t>
            </a:r>
            <a:endParaRPr lang="en-US" dirty="0"/>
          </a:p>
        </p:txBody>
      </p:sp>
      <p:pic>
        <p:nvPicPr>
          <p:cNvPr id="14" name="Picture 13">
            <a:extLst>
              <a:ext uri="{FF2B5EF4-FFF2-40B4-BE49-F238E27FC236}">
                <a16:creationId xmlns:a16="http://schemas.microsoft.com/office/drawing/2014/main" id="{19EBEFD3-4351-F964-4B11-AA8F36F15A59}"/>
              </a:ext>
            </a:extLst>
          </p:cNvPr>
          <p:cNvPicPr>
            <a:picLocks noChangeAspect="1"/>
          </p:cNvPicPr>
          <p:nvPr/>
        </p:nvPicPr>
        <p:blipFill>
          <a:blip r:embed="rId3"/>
          <a:stretch>
            <a:fillRect/>
          </a:stretch>
        </p:blipFill>
        <p:spPr>
          <a:xfrm>
            <a:off x="5696909" y="2776586"/>
            <a:ext cx="2787871" cy="2492382"/>
          </a:xfrm>
          <a:prstGeom prst="rect">
            <a:avLst/>
          </a:prstGeom>
        </p:spPr>
      </p:pic>
      <p:sp>
        <p:nvSpPr>
          <p:cNvPr id="20" name="TextBox 19">
            <a:extLst>
              <a:ext uri="{FF2B5EF4-FFF2-40B4-BE49-F238E27FC236}">
                <a16:creationId xmlns:a16="http://schemas.microsoft.com/office/drawing/2014/main" id="{CB7AD27E-7475-1BE6-30D4-AAB1A7260090}"/>
              </a:ext>
            </a:extLst>
          </p:cNvPr>
          <p:cNvSpPr txBox="1"/>
          <p:nvPr/>
        </p:nvSpPr>
        <p:spPr>
          <a:xfrm>
            <a:off x="5894773" y="2507040"/>
            <a:ext cx="2526212" cy="253916"/>
          </a:xfrm>
          <a:prstGeom prst="rect">
            <a:avLst/>
          </a:prstGeom>
          <a:noFill/>
          <a:ln>
            <a:noFill/>
          </a:ln>
        </p:spPr>
        <p:txBody>
          <a:bodyPr wrap="square" rtlCol="0">
            <a:spAutoFit/>
          </a:bodyPr>
          <a:lstStyle/>
          <a:p>
            <a:pPr algn="ctr"/>
            <a:r>
              <a:rPr lang="en-US" sz="1050" dirty="0">
                <a:latin typeface="Aptos" panose="020B0004020202020204" pitchFamily="34" charset="0"/>
              </a:rPr>
              <a:t>ROBUST PORTFOLIO OPTIMIZATION</a:t>
            </a:r>
          </a:p>
        </p:txBody>
      </p:sp>
      <p:pic>
        <p:nvPicPr>
          <p:cNvPr id="28" name="Picture 27">
            <a:extLst>
              <a:ext uri="{FF2B5EF4-FFF2-40B4-BE49-F238E27FC236}">
                <a16:creationId xmlns:a16="http://schemas.microsoft.com/office/drawing/2014/main" id="{DB9502F5-3320-B015-40FF-CB23C81F56E6}"/>
              </a:ext>
            </a:extLst>
          </p:cNvPr>
          <p:cNvPicPr>
            <a:picLocks noChangeAspect="1"/>
          </p:cNvPicPr>
          <p:nvPr/>
        </p:nvPicPr>
        <p:blipFill>
          <a:blip r:embed="rId4"/>
          <a:srcRect r="9719" b="23225"/>
          <a:stretch>
            <a:fillRect/>
          </a:stretch>
        </p:blipFill>
        <p:spPr>
          <a:xfrm>
            <a:off x="3972501" y="2802744"/>
            <a:ext cx="1198998" cy="903768"/>
          </a:xfrm>
          <a:prstGeom prst="rect">
            <a:avLst/>
          </a:prstGeom>
        </p:spPr>
      </p:pic>
      <p:sp>
        <p:nvSpPr>
          <p:cNvPr id="42" name="Rectangle 41">
            <a:extLst>
              <a:ext uri="{FF2B5EF4-FFF2-40B4-BE49-F238E27FC236}">
                <a16:creationId xmlns:a16="http://schemas.microsoft.com/office/drawing/2014/main" id="{2678A8D2-6DD2-A21B-23BB-A04CBCEBBE91}"/>
              </a:ext>
            </a:extLst>
          </p:cNvPr>
          <p:cNvSpPr/>
          <p:nvPr/>
        </p:nvSpPr>
        <p:spPr>
          <a:xfrm>
            <a:off x="3934047" y="2802742"/>
            <a:ext cx="1244009" cy="914400"/>
          </a:xfrm>
          <a:prstGeom prst="rect">
            <a:avLst/>
          </a:prstGeom>
          <a:noFill/>
          <a:ln w="19050">
            <a:solidFill>
              <a:schemeClr val="tx1">
                <a:lumMod val="95000"/>
                <a:lumOff val="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5" name="Curved Connector 54">
            <a:extLst>
              <a:ext uri="{FF2B5EF4-FFF2-40B4-BE49-F238E27FC236}">
                <a16:creationId xmlns:a16="http://schemas.microsoft.com/office/drawing/2014/main" id="{0B6513DE-70A3-0E2E-3917-F83F4931DD12}"/>
              </a:ext>
            </a:extLst>
          </p:cNvPr>
          <p:cNvCxnSpPr>
            <a:cxnSpLocks/>
          </p:cNvCxnSpPr>
          <p:nvPr/>
        </p:nvCxnSpPr>
        <p:spPr>
          <a:xfrm>
            <a:off x="5167422" y="3249309"/>
            <a:ext cx="839973" cy="733647"/>
          </a:xfrm>
          <a:prstGeom prst="curvedConnector3">
            <a:avLst>
              <a:gd name="adj1" fmla="val 46203"/>
            </a:avLst>
          </a:prstGeom>
          <a:ln w="22225">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63" name="Curved Connector 62">
            <a:extLst>
              <a:ext uri="{FF2B5EF4-FFF2-40B4-BE49-F238E27FC236}">
                <a16:creationId xmlns:a16="http://schemas.microsoft.com/office/drawing/2014/main" id="{63175A04-2692-726C-6ED7-830959414FFF}"/>
              </a:ext>
            </a:extLst>
          </p:cNvPr>
          <p:cNvCxnSpPr>
            <a:cxnSpLocks/>
          </p:cNvCxnSpPr>
          <p:nvPr/>
        </p:nvCxnSpPr>
        <p:spPr>
          <a:xfrm rot="10800000" flipV="1">
            <a:off x="3083442" y="3249303"/>
            <a:ext cx="839979" cy="744285"/>
          </a:xfrm>
          <a:prstGeom prst="curvedConnector3">
            <a:avLst>
              <a:gd name="adj1" fmla="val 50000"/>
            </a:avLst>
          </a:prstGeom>
          <a:ln w="22225">
            <a:solidFill>
              <a:schemeClr val="tx1">
                <a:lumMod val="95000"/>
                <a:lumOff val="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76ED3269-3732-1125-0B3F-363428E88208}"/>
              </a:ext>
            </a:extLst>
          </p:cNvPr>
          <p:cNvCxnSpPr/>
          <p:nvPr/>
        </p:nvCxnSpPr>
        <p:spPr>
          <a:xfrm>
            <a:off x="441436" y="914400"/>
            <a:ext cx="1072055"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4989957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F18CF0-2FA1-07A8-DDD9-355395D0FCE5}"/>
            </a:ext>
          </a:extLst>
        </p:cNvPr>
        <p:cNvGrpSpPr/>
        <p:nvPr/>
      </p:nvGrpSpPr>
      <p:grpSpPr>
        <a:xfrm>
          <a:off x="0" y="0"/>
          <a:ext cx="0" cy="0"/>
          <a:chOff x="0" y="0"/>
          <a:chExt cx="0" cy="0"/>
        </a:xfrm>
      </p:grpSpPr>
      <p:pic>
        <p:nvPicPr>
          <p:cNvPr id="26" name="Picture 25">
            <a:extLst>
              <a:ext uri="{FF2B5EF4-FFF2-40B4-BE49-F238E27FC236}">
                <a16:creationId xmlns:a16="http://schemas.microsoft.com/office/drawing/2014/main" id="{72E006FD-A5FA-0AC9-ED4D-8ABFFD4B7E17}"/>
              </a:ext>
            </a:extLst>
          </p:cNvPr>
          <p:cNvPicPr>
            <a:picLocks noChangeAspect="1"/>
          </p:cNvPicPr>
          <p:nvPr/>
        </p:nvPicPr>
        <p:blipFill>
          <a:blip r:embed="rId2"/>
          <a:srcRect r="18469"/>
          <a:stretch>
            <a:fillRect/>
          </a:stretch>
        </p:blipFill>
        <p:spPr>
          <a:xfrm>
            <a:off x="482307" y="2323520"/>
            <a:ext cx="4536846" cy="4088217"/>
          </a:xfrm>
          <a:prstGeom prst="rect">
            <a:avLst/>
          </a:prstGeom>
        </p:spPr>
      </p:pic>
      <p:sp>
        <p:nvSpPr>
          <p:cNvPr id="4" name="TextBox 3">
            <a:extLst>
              <a:ext uri="{FF2B5EF4-FFF2-40B4-BE49-F238E27FC236}">
                <a16:creationId xmlns:a16="http://schemas.microsoft.com/office/drawing/2014/main" id="{36CBA32A-5261-DDCD-F296-642543F12876}"/>
              </a:ext>
            </a:extLst>
          </p:cNvPr>
          <p:cNvSpPr txBox="1"/>
          <p:nvPr/>
        </p:nvSpPr>
        <p:spPr>
          <a:xfrm>
            <a:off x="383014" y="389138"/>
            <a:ext cx="7747376" cy="400110"/>
          </a:xfrm>
          <a:prstGeom prst="rect">
            <a:avLst/>
          </a:prstGeom>
          <a:noFill/>
          <a:ln>
            <a:noFill/>
          </a:ln>
        </p:spPr>
        <p:txBody>
          <a:bodyPr wrap="square" rtlCol="0">
            <a:spAutoFit/>
          </a:bodyPr>
          <a:lstStyle/>
          <a:p>
            <a:r>
              <a:rPr lang="en-US" sz="2000" dirty="0">
                <a:latin typeface="Grotesque Light" panose="020B0304020202020204" pitchFamily="34" charset="0"/>
              </a:rPr>
              <a:t>Factor-Based Risk Analytics</a:t>
            </a:r>
          </a:p>
        </p:txBody>
      </p:sp>
      <p:sp>
        <p:nvSpPr>
          <p:cNvPr id="3" name="Rectangle 2">
            <a:extLst>
              <a:ext uri="{FF2B5EF4-FFF2-40B4-BE49-F238E27FC236}">
                <a16:creationId xmlns:a16="http://schemas.microsoft.com/office/drawing/2014/main" id="{1441BD3A-47A5-F99A-1867-9383A0F5D872}"/>
              </a:ext>
            </a:extLst>
          </p:cNvPr>
          <p:cNvSpPr/>
          <p:nvPr/>
        </p:nvSpPr>
        <p:spPr>
          <a:xfrm>
            <a:off x="372140" y="2298084"/>
            <a:ext cx="4880343" cy="3342796"/>
          </a:xfrm>
          <a:prstGeom prst="rect">
            <a:avLst/>
          </a:prstGeom>
          <a:noFill/>
          <a:ln w="12700">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EB65950F-0F6B-CC93-A7A4-DBD094E351BD}"/>
              </a:ext>
            </a:extLst>
          </p:cNvPr>
          <p:cNvSpPr/>
          <p:nvPr/>
        </p:nvSpPr>
        <p:spPr>
          <a:xfrm>
            <a:off x="5465135" y="2216564"/>
            <a:ext cx="3349256" cy="3434945"/>
          </a:xfrm>
          <a:prstGeom prst="rect">
            <a:avLst/>
          </a:prstGeom>
          <a:noFill/>
          <a:ln w="12700">
            <a:solidFill>
              <a:schemeClr val="tx1"/>
            </a:solidFill>
            <a:prstDash val="soli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203BC275-E45A-2FF7-E4E1-1558F880767B}"/>
              </a:ext>
            </a:extLst>
          </p:cNvPr>
          <p:cNvSpPr txBox="1"/>
          <p:nvPr/>
        </p:nvSpPr>
        <p:spPr>
          <a:xfrm>
            <a:off x="5461000" y="2100777"/>
            <a:ext cx="3356934" cy="276999"/>
          </a:xfrm>
          <a:prstGeom prst="rect">
            <a:avLst/>
          </a:prstGeom>
          <a:solidFill>
            <a:srgbClr val="151824"/>
          </a:solidFill>
          <a:ln w="12700">
            <a:solidFill>
              <a:schemeClr val="tx2">
                <a:lumMod val="50000"/>
              </a:schemeClr>
            </a:solidFill>
          </a:ln>
        </p:spPr>
        <p:txBody>
          <a:bodyPr wrap="square" rtlCol="0">
            <a:spAutoFit/>
          </a:bodyPr>
          <a:lstStyle/>
          <a:p>
            <a:pPr algn="ctr"/>
            <a:r>
              <a:rPr lang="en-US" sz="1200" dirty="0">
                <a:solidFill>
                  <a:schemeClr val="bg1"/>
                </a:solidFill>
                <a:latin typeface="+mj-lt"/>
              </a:rPr>
              <a:t>Applying Factor Risk Analytics</a:t>
            </a:r>
          </a:p>
        </p:txBody>
      </p:sp>
      <p:sp>
        <p:nvSpPr>
          <p:cNvPr id="12" name="TextBox 11">
            <a:extLst>
              <a:ext uri="{FF2B5EF4-FFF2-40B4-BE49-F238E27FC236}">
                <a16:creationId xmlns:a16="http://schemas.microsoft.com/office/drawing/2014/main" id="{35894ED4-DDA5-E2CD-EADC-3465294B24FC}"/>
              </a:ext>
            </a:extLst>
          </p:cNvPr>
          <p:cNvSpPr txBox="1"/>
          <p:nvPr/>
        </p:nvSpPr>
        <p:spPr>
          <a:xfrm>
            <a:off x="5751331" y="2702118"/>
            <a:ext cx="2722818" cy="253916"/>
          </a:xfrm>
          <a:prstGeom prst="rect">
            <a:avLst/>
          </a:prstGeom>
          <a:noFill/>
          <a:ln>
            <a:noFill/>
          </a:ln>
        </p:spPr>
        <p:txBody>
          <a:bodyPr wrap="square" rtlCol="0">
            <a:spAutoFit/>
          </a:bodyPr>
          <a:lstStyle/>
          <a:p>
            <a:pPr algn="ctr"/>
            <a:r>
              <a:rPr lang="en-US" sz="1050" dirty="0">
                <a:latin typeface="Aptos" panose="020B0004020202020204" pitchFamily="34" charset="0"/>
              </a:rPr>
              <a:t>Event Driven Hedge Funds</a:t>
            </a:r>
          </a:p>
        </p:txBody>
      </p:sp>
      <p:sp>
        <p:nvSpPr>
          <p:cNvPr id="37" name="TextBox 36">
            <a:extLst>
              <a:ext uri="{FF2B5EF4-FFF2-40B4-BE49-F238E27FC236}">
                <a16:creationId xmlns:a16="http://schemas.microsoft.com/office/drawing/2014/main" id="{27CEF43C-74F2-F15D-9231-A0EEDC6AEDCD}"/>
              </a:ext>
            </a:extLst>
          </p:cNvPr>
          <p:cNvSpPr txBox="1"/>
          <p:nvPr/>
        </p:nvSpPr>
        <p:spPr>
          <a:xfrm>
            <a:off x="368593" y="2097231"/>
            <a:ext cx="4880343" cy="276999"/>
          </a:xfrm>
          <a:prstGeom prst="rect">
            <a:avLst/>
          </a:prstGeom>
          <a:solidFill>
            <a:srgbClr val="151824"/>
          </a:solidFill>
          <a:ln w="12700">
            <a:solidFill>
              <a:schemeClr val="tx2">
                <a:lumMod val="50000"/>
              </a:schemeClr>
            </a:solidFill>
          </a:ln>
        </p:spPr>
        <p:txBody>
          <a:bodyPr wrap="square" rtlCol="0">
            <a:spAutoFit/>
          </a:bodyPr>
          <a:lstStyle/>
          <a:p>
            <a:pPr algn="ctr"/>
            <a:r>
              <a:rPr lang="en-US" sz="1200" dirty="0">
                <a:solidFill>
                  <a:schemeClr val="bg1"/>
                </a:solidFill>
                <a:latin typeface="+mj-lt"/>
              </a:rPr>
              <a:t>Factor-Based Risk Models Better Capture True Market Dynamics</a:t>
            </a:r>
          </a:p>
        </p:txBody>
      </p:sp>
      <p:sp>
        <p:nvSpPr>
          <p:cNvPr id="39" name="TextBox 38">
            <a:extLst>
              <a:ext uri="{FF2B5EF4-FFF2-40B4-BE49-F238E27FC236}">
                <a16:creationId xmlns:a16="http://schemas.microsoft.com/office/drawing/2014/main" id="{72D25396-A637-57BA-075D-53E156C924AF}"/>
              </a:ext>
            </a:extLst>
          </p:cNvPr>
          <p:cNvSpPr txBox="1"/>
          <p:nvPr/>
        </p:nvSpPr>
        <p:spPr>
          <a:xfrm>
            <a:off x="5752214" y="4852835"/>
            <a:ext cx="2860158" cy="253916"/>
          </a:xfrm>
          <a:prstGeom prst="rect">
            <a:avLst/>
          </a:prstGeom>
          <a:noFill/>
          <a:ln>
            <a:solidFill>
              <a:srgbClr val="7CC04D"/>
            </a:solidFill>
          </a:ln>
        </p:spPr>
        <p:txBody>
          <a:bodyPr wrap="square" rtlCol="0">
            <a:spAutoFit/>
          </a:bodyPr>
          <a:lstStyle/>
          <a:p>
            <a:pPr algn="ctr"/>
            <a:r>
              <a:rPr lang="en-US" sz="1050" dirty="0">
                <a:solidFill>
                  <a:srgbClr val="7CC04D"/>
                </a:solidFill>
                <a:latin typeface="Aptos" panose="020B0004020202020204" pitchFamily="34" charset="0"/>
              </a:rPr>
              <a:t>MORE REALISTIC DOWNSIDE RISK ESTIMATES</a:t>
            </a:r>
          </a:p>
        </p:txBody>
      </p:sp>
      <p:sp>
        <p:nvSpPr>
          <p:cNvPr id="9" name="Oval 8">
            <a:extLst>
              <a:ext uri="{FF2B5EF4-FFF2-40B4-BE49-F238E27FC236}">
                <a16:creationId xmlns:a16="http://schemas.microsoft.com/office/drawing/2014/main" id="{EB5FECD8-A062-C36A-ABDB-3D2120D9239D}"/>
              </a:ext>
            </a:extLst>
          </p:cNvPr>
          <p:cNvSpPr/>
          <p:nvPr/>
        </p:nvSpPr>
        <p:spPr>
          <a:xfrm>
            <a:off x="4189228" y="4779639"/>
            <a:ext cx="531628" cy="308348"/>
          </a:xfrm>
          <a:prstGeom prst="ellipse">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7A6283E6-2CD8-A7C6-9DAD-E2DD2A87D4E0}"/>
              </a:ext>
            </a:extLst>
          </p:cNvPr>
          <p:cNvCxnSpPr/>
          <p:nvPr/>
        </p:nvCxnSpPr>
        <p:spPr>
          <a:xfrm>
            <a:off x="4465673" y="3918402"/>
            <a:ext cx="0" cy="786809"/>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C0F8F78C-4699-0E4D-F60B-0DB8D899EAB0}"/>
              </a:ext>
            </a:extLst>
          </p:cNvPr>
          <p:cNvSpPr txBox="1"/>
          <p:nvPr/>
        </p:nvSpPr>
        <p:spPr>
          <a:xfrm>
            <a:off x="3721393" y="3529018"/>
            <a:ext cx="1339705" cy="415498"/>
          </a:xfrm>
          <a:prstGeom prst="rect">
            <a:avLst/>
          </a:prstGeom>
          <a:solidFill>
            <a:schemeClr val="bg1"/>
          </a:solidFill>
          <a:ln>
            <a:solidFill>
              <a:srgbClr val="FF0000"/>
            </a:solidFill>
          </a:ln>
        </p:spPr>
        <p:txBody>
          <a:bodyPr wrap="square" rtlCol="0">
            <a:spAutoFit/>
          </a:bodyPr>
          <a:lstStyle/>
          <a:p>
            <a:pPr algn="ctr"/>
            <a:r>
              <a:rPr lang="en-US" sz="1050" dirty="0">
                <a:solidFill>
                  <a:srgbClr val="FF0000"/>
                </a:solidFill>
                <a:latin typeface="Aptos" panose="020B0004020202020204" pitchFamily="34" charset="0"/>
              </a:rPr>
              <a:t>UNABLE TO CAPTURE FAT TAILS</a:t>
            </a:r>
          </a:p>
        </p:txBody>
      </p:sp>
      <p:sp>
        <p:nvSpPr>
          <p:cNvPr id="45" name="Multiply 44">
            <a:extLst>
              <a:ext uri="{FF2B5EF4-FFF2-40B4-BE49-F238E27FC236}">
                <a16:creationId xmlns:a16="http://schemas.microsoft.com/office/drawing/2014/main" id="{32FF0F2E-9354-848F-9143-2D79449AC308}"/>
              </a:ext>
            </a:extLst>
          </p:cNvPr>
          <p:cNvSpPr/>
          <p:nvPr/>
        </p:nvSpPr>
        <p:spPr>
          <a:xfrm rot="1062317">
            <a:off x="3598716" y="3377845"/>
            <a:ext cx="318977" cy="330734"/>
          </a:xfrm>
          <a:prstGeom prst="mathMultiply">
            <a:avLst/>
          </a:prstGeom>
          <a:solidFill>
            <a:srgbClr val="FF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9D6DF57D-EC3C-4242-82BF-396CB8474439}"/>
              </a:ext>
            </a:extLst>
          </p:cNvPr>
          <p:cNvSpPr/>
          <p:nvPr/>
        </p:nvSpPr>
        <p:spPr>
          <a:xfrm>
            <a:off x="489098" y="4811540"/>
            <a:ext cx="1201478" cy="308344"/>
          </a:xfrm>
          <a:prstGeom prst="ellipse">
            <a:avLst/>
          </a:prstGeom>
          <a:noFill/>
          <a:ln w="19050">
            <a:solidFill>
              <a:srgbClr val="7CC04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51250C75-FDBB-B149-E7C5-45B31BDB3BD4}"/>
              </a:ext>
            </a:extLst>
          </p:cNvPr>
          <p:cNvCxnSpPr>
            <a:cxnSpLocks/>
          </p:cNvCxnSpPr>
          <p:nvPr/>
        </p:nvCxnSpPr>
        <p:spPr>
          <a:xfrm>
            <a:off x="1194387" y="3854609"/>
            <a:ext cx="0" cy="917945"/>
          </a:xfrm>
          <a:prstGeom prst="straightConnector1">
            <a:avLst/>
          </a:prstGeom>
          <a:ln>
            <a:solidFill>
              <a:srgbClr val="7CC04D"/>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50988488-AF07-5E11-2BDD-9729C15B64B6}"/>
              </a:ext>
            </a:extLst>
          </p:cNvPr>
          <p:cNvSpPr txBox="1"/>
          <p:nvPr/>
        </p:nvSpPr>
        <p:spPr>
          <a:xfrm>
            <a:off x="705270" y="3467061"/>
            <a:ext cx="1878441" cy="415498"/>
          </a:xfrm>
          <a:prstGeom prst="rect">
            <a:avLst/>
          </a:prstGeom>
          <a:solidFill>
            <a:schemeClr val="bg1"/>
          </a:solidFill>
          <a:ln>
            <a:solidFill>
              <a:srgbClr val="7CC04D"/>
            </a:solidFill>
          </a:ln>
        </p:spPr>
        <p:txBody>
          <a:bodyPr wrap="square" rtlCol="0">
            <a:spAutoFit/>
          </a:bodyPr>
          <a:lstStyle/>
          <a:p>
            <a:pPr algn="ctr"/>
            <a:r>
              <a:rPr lang="en-US" sz="1050" dirty="0">
                <a:solidFill>
                  <a:srgbClr val="7CC04D"/>
                </a:solidFill>
                <a:latin typeface="Aptos" panose="020B0004020202020204" pitchFamily="34" charset="0"/>
              </a:rPr>
              <a:t>BETTER CAPTURE OF REAL-WORLD TAIL EVENTS</a:t>
            </a:r>
          </a:p>
        </p:txBody>
      </p:sp>
      <p:sp>
        <p:nvSpPr>
          <p:cNvPr id="94" name="TextBox 93">
            <a:extLst>
              <a:ext uri="{FF2B5EF4-FFF2-40B4-BE49-F238E27FC236}">
                <a16:creationId xmlns:a16="http://schemas.microsoft.com/office/drawing/2014/main" id="{96A22526-0E03-2665-EC2D-171FAE076FE5}"/>
              </a:ext>
            </a:extLst>
          </p:cNvPr>
          <p:cNvSpPr txBox="1"/>
          <p:nvPr/>
        </p:nvSpPr>
        <p:spPr>
          <a:xfrm rot="1846201">
            <a:off x="481843" y="3355127"/>
            <a:ext cx="373749" cy="369332"/>
          </a:xfrm>
          <a:prstGeom prst="rect">
            <a:avLst/>
          </a:prstGeom>
          <a:noFill/>
        </p:spPr>
        <p:txBody>
          <a:bodyPr wrap="square">
            <a:spAutoFit/>
          </a:bodyPr>
          <a:lstStyle/>
          <a:p>
            <a:r>
              <a:rPr lang="en-GB" dirty="0"/>
              <a:t>✅</a:t>
            </a:r>
            <a:endParaRPr lang="en-US" dirty="0"/>
          </a:p>
        </p:txBody>
      </p:sp>
      <p:sp>
        <p:nvSpPr>
          <p:cNvPr id="29" name="TextBox 28">
            <a:extLst>
              <a:ext uri="{FF2B5EF4-FFF2-40B4-BE49-F238E27FC236}">
                <a16:creationId xmlns:a16="http://schemas.microsoft.com/office/drawing/2014/main" id="{5F3179DB-56F0-070C-68F0-E62427F39DD4}"/>
              </a:ext>
            </a:extLst>
          </p:cNvPr>
          <p:cNvSpPr txBox="1"/>
          <p:nvPr/>
        </p:nvSpPr>
        <p:spPr>
          <a:xfrm rot="1516188">
            <a:off x="5514834" y="4699599"/>
            <a:ext cx="373749" cy="369332"/>
          </a:xfrm>
          <a:prstGeom prst="rect">
            <a:avLst/>
          </a:prstGeom>
          <a:noFill/>
        </p:spPr>
        <p:txBody>
          <a:bodyPr wrap="square">
            <a:spAutoFit/>
          </a:bodyPr>
          <a:lstStyle/>
          <a:p>
            <a:r>
              <a:rPr lang="en-GB" dirty="0"/>
              <a:t>✅</a:t>
            </a:r>
            <a:endParaRPr lang="en-US" dirty="0"/>
          </a:p>
        </p:txBody>
      </p:sp>
      <p:sp>
        <p:nvSpPr>
          <p:cNvPr id="30" name="TextBox 29">
            <a:extLst>
              <a:ext uri="{FF2B5EF4-FFF2-40B4-BE49-F238E27FC236}">
                <a16:creationId xmlns:a16="http://schemas.microsoft.com/office/drawing/2014/main" id="{E526A335-6315-8329-6A34-CF74136BBA93}"/>
              </a:ext>
            </a:extLst>
          </p:cNvPr>
          <p:cNvSpPr txBox="1"/>
          <p:nvPr/>
        </p:nvSpPr>
        <p:spPr>
          <a:xfrm>
            <a:off x="420413" y="3152230"/>
            <a:ext cx="2507083" cy="253916"/>
          </a:xfrm>
          <a:prstGeom prst="rect">
            <a:avLst/>
          </a:prstGeom>
          <a:noFill/>
          <a:ln>
            <a:noFill/>
          </a:ln>
        </p:spPr>
        <p:txBody>
          <a:bodyPr wrap="square" rtlCol="0">
            <a:spAutoFit/>
          </a:bodyPr>
          <a:lstStyle/>
          <a:p>
            <a:pPr algn="ctr"/>
            <a:r>
              <a:rPr lang="en-US" sz="1050" dirty="0">
                <a:latin typeface="Aptos" panose="020B0004020202020204" pitchFamily="34" charset="0"/>
              </a:rPr>
              <a:t>Factor-Based</a:t>
            </a:r>
          </a:p>
        </p:txBody>
      </p:sp>
      <p:sp>
        <p:nvSpPr>
          <p:cNvPr id="31" name="TextBox 30">
            <a:extLst>
              <a:ext uri="{FF2B5EF4-FFF2-40B4-BE49-F238E27FC236}">
                <a16:creationId xmlns:a16="http://schemas.microsoft.com/office/drawing/2014/main" id="{9A9E49DC-CF25-5DA6-A1C7-45E926C08DBA}"/>
              </a:ext>
            </a:extLst>
          </p:cNvPr>
          <p:cNvSpPr txBox="1"/>
          <p:nvPr/>
        </p:nvSpPr>
        <p:spPr>
          <a:xfrm>
            <a:off x="3057749" y="3177040"/>
            <a:ext cx="2722818" cy="253916"/>
          </a:xfrm>
          <a:prstGeom prst="rect">
            <a:avLst/>
          </a:prstGeom>
          <a:noFill/>
          <a:ln>
            <a:noFill/>
          </a:ln>
        </p:spPr>
        <p:txBody>
          <a:bodyPr wrap="square" rtlCol="0">
            <a:spAutoFit/>
          </a:bodyPr>
          <a:lstStyle/>
          <a:p>
            <a:pPr algn="ctr"/>
            <a:r>
              <a:rPr lang="en-US" sz="1050" dirty="0">
                <a:latin typeface="Aptos" panose="020B0004020202020204" pitchFamily="34" charset="0"/>
              </a:rPr>
              <a:t>Normal Distribution</a:t>
            </a:r>
          </a:p>
        </p:txBody>
      </p:sp>
      <p:cxnSp>
        <p:nvCxnSpPr>
          <p:cNvPr id="33" name="Straight Arrow Connector 32">
            <a:extLst>
              <a:ext uri="{FF2B5EF4-FFF2-40B4-BE49-F238E27FC236}">
                <a16:creationId xmlns:a16="http://schemas.microsoft.com/office/drawing/2014/main" id="{2782EF9C-B1C4-F86C-CFBD-828442BC1158}"/>
              </a:ext>
            </a:extLst>
          </p:cNvPr>
          <p:cNvCxnSpPr/>
          <p:nvPr/>
        </p:nvCxnSpPr>
        <p:spPr>
          <a:xfrm flipH="1" flipV="1">
            <a:off x="3423684" y="3067797"/>
            <a:ext cx="361507" cy="14885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34" name="Straight Arrow Connector 33">
            <a:extLst>
              <a:ext uri="{FF2B5EF4-FFF2-40B4-BE49-F238E27FC236}">
                <a16:creationId xmlns:a16="http://schemas.microsoft.com/office/drawing/2014/main" id="{5D234065-7413-E52F-2DBE-7BAA4C345E78}"/>
              </a:ext>
            </a:extLst>
          </p:cNvPr>
          <p:cNvCxnSpPr>
            <a:cxnSpLocks/>
          </p:cNvCxnSpPr>
          <p:nvPr/>
        </p:nvCxnSpPr>
        <p:spPr>
          <a:xfrm>
            <a:off x="2249214" y="3321268"/>
            <a:ext cx="866126" cy="10803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21" name="Straight Connector 20">
            <a:extLst>
              <a:ext uri="{FF2B5EF4-FFF2-40B4-BE49-F238E27FC236}">
                <a16:creationId xmlns:a16="http://schemas.microsoft.com/office/drawing/2014/main" id="{F9A5143E-6BAD-A9D4-B38A-1A3A9173DEDB}"/>
              </a:ext>
            </a:extLst>
          </p:cNvPr>
          <p:cNvCxnSpPr/>
          <p:nvPr/>
        </p:nvCxnSpPr>
        <p:spPr>
          <a:xfrm>
            <a:off x="441436" y="914400"/>
            <a:ext cx="1072055" cy="0"/>
          </a:xfrm>
          <a:prstGeom prst="line">
            <a:avLst/>
          </a:prstGeom>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C315B075-AFB2-1435-8876-5B2D6357E47F}"/>
              </a:ext>
            </a:extLst>
          </p:cNvPr>
          <p:cNvSpPr txBox="1"/>
          <p:nvPr/>
        </p:nvSpPr>
        <p:spPr>
          <a:xfrm>
            <a:off x="351484" y="1116980"/>
            <a:ext cx="8441032" cy="830997"/>
          </a:xfrm>
          <a:prstGeom prst="rect">
            <a:avLst/>
          </a:prstGeom>
          <a:noFill/>
          <a:ln w="6350">
            <a:noFill/>
          </a:ln>
        </p:spPr>
        <p:txBody>
          <a:bodyPr wrap="square" rtlCol="0">
            <a:spAutoFit/>
          </a:bodyPr>
          <a:lstStyle>
            <a:defPPr>
              <a:defRPr lang="en-US"/>
            </a:defPPr>
            <a:lvl1pPr>
              <a:defRPr sz="1400">
                <a:latin typeface="Aptos Light" panose="020B0004020202020204" pitchFamily="34" charset="0"/>
              </a:defRPr>
            </a:lvl1pPr>
          </a:lstStyle>
          <a:p>
            <a:r>
              <a:rPr lang="en-GB" sz="1600" dirty="0"/>
              <a:t>Factor-based risk models better capture real-world market behaviour leading to more realistic measures of portfolio risk when compared to traditional risk analytics, even in stressed market scenarios.</a:t>
            </a:r>
          </a:p>
        </p:txBody>
      </p:sp>
      <p:graphicFrame>
        <p:nvGraphicFramePr>
          <p:cNvPr id="10" name="Object 9">
            <a:extLst>
              <a:ext uri="{FF2B5EF4-FFF2-40B4-BE49-F238E27FC236}">
                <a16:creationId xmlns:a16="http://schemas.microsoft.com/office/drawing/2014/main" id="{E51DEE8E-1CD0-3949-A9FE-B08970DA87F3}"/>
              </a:ext>
            </a:extLst>
          </p:cNvPr>
          <p:cNvGraphicFramePr>
            <a:graphicFrameLocks noChangeAspect="1"/>
          </p:cNvGraphicFramePr>
          <p:nvPr>
            <p:extLst>
              <p:ext uri="{D42A27DB-BD31-4B8C-83A1-F6EECF244321}">
                <p14:modId xmlns:p14="http://schemas.microsoft.com/office/powerpoint/2010/main" val="2715550012"/>
              </p:ext>
            </p:extLst>
          </p:nvPr>
        </p:nvGraphicFramePr>
        <p:xfrm>
          <a:off x="5847621" y="3109394"/>
          <a:ext cx="2611042" cy="1369346"/>
        </p:xfrm>
        <a:graphic>
          <a:graphicData uri="http://schemas.openxmlformats.org/presentationml/2006/ole">
            <mc:AlternateContent xmlns:mc="http://schemas.openxmlformats.org/markup-compatibility/2006">
              <mc:Choice xmlns:v="urn:schemas-microsoft-com:vml" Requires="v">
                <p:oleObj name="Worksheet" r:id="rId3" imgW="2857500" imgH="1498600" progId="Excel.Sheet.12">
                  <p:embed/>
                </p:oleObj>
              </mc:Choice>
              <mc:Fallback>
                <p:oleObj name="Worksheet" r:id="rId3" imgW="2857500" imgH="1498600" progId="Excel.Sheet.12">
                  <p:embed/>
                  <p:pic>
                    <p:nvPicPr>
                      <p:cNvPr id="0" name=""/>
                      <p:cNvPicPr/>
                      <p:nvPr/>
                    </p:nvPicPr>
                    <p:blipFill>
                      <a:blip r:embed="rId4"/>
                      <a:stretch>
                        <a:fillRect/>
                      </a:stretch>
                    </p:blipFill>
                    <p:spPr>
                      <a:xfrm>
                        <a:off x="5847621" y="3109394"/>
                        <a:ext cx="2611042" cy="1369346"/>
                      </a:xfrm>
                      <a:prstGeom prst="rect">
                        <a:avLst/>
                      </a:prstGeom>
                    </p:spPr>
                  </p:pic>
                </p:oleObj>
              </mc:Fallback>
            </mc:AlternateContent>
          </a:graphicData>
        </a:graphic>
      </p:graphicFrame>
    </p:spTree>
    <p:extLst>
      <p:ext uri="{BB962C8B-B14F-4D97-AF65-F5344CB8AC3E}">
        <p14:creationId xmlns:p14="http://schemas.microsoft.com/office/powerpoint/2010/main" val="12615099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495BE-1818-E109-32C1-2C731A2EA734}"/>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B8DF3BC-0AD5-FAF1-F262-BF7873421B81}"/>
              </a:ext>
            </a:extLst>
          </p:cNvPr>
          <p:cNvSpPr txBox="1"/>
          <p:nvPr/>
        </p:nvSpPr>
        <p:spPr>
          <a:xfrm>
            <a:off x="1769918" y="2736503"/>
            <a:ext cx="5604165" cy="1384995"/>
          </a:xfrm>
          <a:prstGeom prst="rect">
            <a:avLst/>
          </a:prstGeom>
          <a:noFill/>
        </p:spPr>
        <p:txBody>
          <a:bodyPr wrap="square" rtlCol="0">
            <a:spAutoFit/>
          </a:bodyPr>
          <a:lstStyle>
            <a:defPPr>
              <a:defRPr lang="en-US"/>
            </a:defPPr>
            <a:lvl1pPr algn="ctr">
              <a:defRPr sz="2800">
                <a:latin typeface="Grotesque Light" panose="020B0304020202020204" pitchFamily="34" charset="0"/>
              </a:defRPr>
            </a:lvl1pPr>
          </a:lstStyle>
          <a:p>
            <a:r>
              <a:rPr lang="en-US" dirty="0"/>
              <a:t>Case Studies:</a:t>
            </a:r>
          </a:p>
          <a:p>
            <a:r>
              <a:rPr lang="en-US" dirty="0"/>
              <a:t>Sample Portfolio Risk and Return Analytics</a:t>
            </a:r>
          </a:p>
        </p:txBody>
      </p:sp>
    </p:spTree>
    <p:extLst>
      <p:ext uri="{BB962C8B-B14F-4D97-AF65-F5344CB8AC3E}">
        <p14:creationId xmlns:p14="http://schemas.microsoft.com/office/powerpoint/2010/main" val="413723299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EE856-C901-FF68-A896-340EF470A4C0}"/>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831C97-B8FD-ADED-555B-7172C37C91E1}"/>
              </a:ext>
            </a:extLst>
          </p:cNvPr>
          <p:cNvSpPr txBox="1"/>
          <p:nvPr/>
        </p:nvSpPr>
        <p:spPr>
          <a:xfrm>
            <a:off x="338291" y="289102"/>
            <a:ext cx="7747376" cy="400110"/>
          </a:xfrm>
          <a:prstGeom prst="rect">
            <a:avLst/>
          </a:prstGeom>
          <a:noFill/>
        </p:spPr>
        <p:txBody>
          <a:bodyPr wrap="square" rtlCol="0">
            <a:spAutoFit/>
          </a:bodyPr>
          <a:lstStyle/>
          <a:p>
            <a:r>
              <a:rPr lang="en-US" sz="2000" dirty="0">
                <a:latin typeface="Grotesque Light" panose="020B0304020202020204" pitchFamily="34" charset="0"/>
              </a:rPr>
              <a:t>Sample Portfolio Risk and Return Analysis</a:t>
            </a:r>
          </a:p>
        </p:txBody>
      </p:sp>
      <p:sp>
        <p:nvSpPr>
          <p:cNvPr id="2" name="TextBox 1">
            <a:extLst>
              <a:ext uri="{FF2B5EF4-FFF2-40B4-BE49-F238E27FC236}">
                <a16:creationId xmlns:a16="http://schemas.microsoft.com/office/drawing/2014/main" id="{B47DFE78-E2CF-5F9E-A512-6EC39A7B3DED}"/>
              </a:ext>
            </a:extLst>
          </p:cNvPr>
          <p:cNvSpPr txBox="1"/>
          <p:nvPr/>
        </p:nvSpPr>
        <p:spPr>
          <a:xfrm>
            <a:off x="302496" y="1003170"/>
            <a:ext cx="8539009" cy="276999"/>
          </a:xfrm>
          <a:prstGeom prst="rect">
            <a:avLst/>
          </a:prstGeom>
          <a:solidFill>
            <a:schemeClr val="tx2">
              <a:lumMod val="75000"/>
            </a:schemeClr>
          </a:solidFill>
          <a:ln w="12700">
            <a:noFill/>
          </a:ln>
        </p:spPr>
        <p:txBody>
          <a:bodyPr wrap="square" rtlCol="0">
            <a:spAutoFit/>
          </a:bodyPr>
          <a:lstStyle>
            <a:defPPr>
              <a:defRPr lang="en-US"/>
            </a:defPPr>
            <a:lvl1pPr algn="ctr">
              <a:defRPr sz="1100" b="1">
                <a:solidFill>
                  <a:schemeClr val="bg1"/>
                </a:solidFill>
                <a:latin typeface="+mj-lt"/>
              </a:defRPr>
            </a:lvl1pPr>
          </a:lstStyle>
          <a:p>
            <a:r>
              <a:rPr lang="en-US" dirty="0"/>
              <a:t>Forward Looking Portfolio Risk and </a:t>
            </a:r>
            <a:r>
              <a:rPr lang="en-US"/>
              <a:t>Return Analytics </a:t>
            </a:r>
            <a:endParaRPr lang="en-US" dirty="0"/>
          </a:p>
        </p:txBody>
      </p:sp>
      <p:graphicFrame>
        <p:nvGraphicFramePr>
          <p:cNvPr id="6" name="Object 5">
            <a:extLst>
              <a:ext uri="{FF2B5EF4-FFF2-40B4-BE49-F238E27FC236}">
                <a16:creationId xmlns:a16="http://schemas.microsoft.com/office/drawing/2014/main" id="{71C636B3-34E4-B9EB-D790-CDD89E413854}"/>
              </a:ext>
            </a:extLst>
          </p:cNvPr>
          <p:cNvGraphicFramePr>
            <a:graphicFrameLocks noChangeAspect="1"/>
          </p:cNvGraphicFramePr>
          <p:nvPr>
            <p:extLst>
              <p:ext uri="{D42A27DB-BD31-4B8C-83A1-F6EECF244321}">
                <p14:modId xmlns:p14="http://schemas.microsoft.com/office/powerpoint/2010/main" val="1793967877"/>
              </p:ext>
            </p:extLst>
          </p:nvPr>
        </p:nvGraphicFramePr>
        <p:xfrm>
          <a:off x="478658" y="1413379"/>
          <a:ext cx="3563796" cy="4819503"/>
        </p:xfrm>
        <a:graphic>
          <a:graphicData uri="http://schemas.openxmlformats.org/presentationml/2006/ole">
            <mc:AlternateContent xmlns:mc="http://schemas.openxmlformats.org/markup-compatibility/2006">
              <mc:Choice xmlns:v="urn:schemas-microsoft-com:vml" Requires="v">
                <p:oleObj name="Worksheet" r:id="rId2" imgW="5803900" imgH="7848600" progId="Excel.Sheet.12">
                  <p:embed/>
                </p:oleObj>
              </mc:Choice>
              <mc:Fallback>
                <p:oleObj name="Worksheet" r:id="rId2" imgW="5803900" imgH="7848600" progId="Excel.Sheet.12">
                  <p:embed/>
                  <p:pic>
                    <p:nvPicPr>
                      <p:cNvPr id="0" name=""/>
                      <p:cNvPicPr/>
                      <p:nvPr/>
                    </p:nvPicPr>
                    <p:blipFill>
                      <a:blip r:embed="rId3"/>
                      <a:stretch>
                        <a:fillRect/>
                      </a:stretch>
                    </p:blipFill>
                    <p:spPr>
                      <a:xfrm>
                        <a:off x="478658" y="1413379"/>
                        <a:ext cx="3563796" cy="4819503"/>
                      </a:xfrm>
                      <a:prstGeom prst="rect">
                        <a:avLst/>
                      </a:prstGeom>
                    </p:spPr>
                  </p:pic>
                </p:oleObj>
              </mc:Fallback>
            </mc:AlternateContent>
          </a:graphicData>
        </a:graphic>
      </p:graphicFrame>
      <p:graphicFrame>
        <p:nvGraphicFramePr>
          <p:cNvPr id="9" name="Object 8">
            <a:extLst>
              <a:ext uri="{FF2B5EF4-FFF2-40B4-BE49-F238E27FC236}">
                <a16:creationId xmlns:a16="http://schemas.microsoft.com/office/drawing/2014/main" id="{BA9D689C-CEBF-85B7-5F2F-88913F5BB314}"/>
              </a:ext>
            </a:extLst>
          </p:cNvPr>
          <p:cNvGraphicFramePr>
            <a:graphicFrameLocks noChangeAspect="1"/>
          </p:cNvGraphicFramePr>
          <p:nvPr>
            <p:extLst>
              <p:ext uri="{D42A27DB-BD31-4B8C-83A1-F6EECF244321}">
                <p14:modId xmlns:p14="http://schemas.microsoft.com/office/powerpoint/2010/main" val="1544604413"/>
              </p:ext>
            </p:extLst>
          </p:nvPr>
        </p:nvGraphicFramePr>
        <p:xfrm>
          <a:off x="4485139" y="1626895"/>
          <a:ext cx="4214495" cy="4605588"/>
        </p:xfrm>
        <a:graphic>
          <a:graphicData uri="http://schemas.openxmlformats.org/presentationml/2006/ole">
            <mc:AlternateContent xmlns:mc="http://schemas.openxmlformats.org/markup-compatibility/2006">
              <mc:Choice xmlns:v="urn:schemas-microsoft-com:vml" Requires="v">
                <p:oleObj name="Worksheet" r:id="rId4" imgW="6438900" imgH="7035800" progId="Excel.Sheet.12">
                  <p:embed/>
                </p:oleObj>
              </mc:Choice>
              <mc:Fallback>
                <p:oleObj name="Worksheet" r:id="rId4" imgW="6438900" imgH="7035800" progId="Excel.Sheet.12">
                  <p:embed/>
                  <p:pic>
                    <p:nvPicPr>
                      <p:cNvPr id="0" name=""/>
                      <p:cNvPicPr/>
                      <p:nvPr/>
                    </p:nvPicPr>
                    <p:blipFill>
                      <a:blip r:embed="rId5"/>
                      <a:stretch>
                        <a:fillRect/>
                      </a:stretch>
                    </p:blipFill>
                    <p:spPr>
                      <a:xfrm>
                        <a:off x="4485139" y="1626895"/>
                        <a:ext cx="4214495" cy="4605588"/>
                      </a:xfrm>
                      <a:prstGeom prst="rect">
                        <a:avLst/>
                      </a:prstGeom>
                    </p:spPr>
                  </p:pic>
                </p:oleObj>
              </mc:Fallback>
            </mc:AlternateContent>
          </a:graphicData>
        </a:graphic>
      </p:graphicFrame>
      <p:sp>
        <p:nvSpPr>
          <p:cNvPr id="10" name="TextBox 9">
            <a:extLst>
              <a:ext uri="{FF2B5EF4-FFF2-40B4-BE49-F238E27FC236}">
                <a16:creationId xmlns:a16="http://schemas.microsoft.com/office/drawing/2014/main" id="{D16B4329-6EFE-196D-D94A-9B60009C7E1E}"/>
              </a:ext>
            </a:extLst>
          </p:cNvPr>
          <p:cNvSpPr txBox="1"/>
          <p:nvPr/>
        </p:nvSpPr>
        <p:spPr>
          <a:xfrm>
            <a:off x="347435" y="606892"/>
            <a:ext cx="7747376" cy="307777"/>
          </a:xfrm>
          <a:prstGeom prst="rect">
            <a:avLst/>
          </a:prstGeom>
          <a:noFill/>
        </p:spPr>
        <p:txBody>
          <a:bodyPr wrap="square" rtlCol="0">
            <a:spAutoFit/>
          </a:bodyPr>
          <a:lstStyle/>
          <a:p>
            <a:r>
              <a:rPr lang="en-US" sz="1400" dirty="0">
                <a:solidFill>
                  <a:schemeClr val="tx1">
                    <a:lumMod val="85000"/>
                    <a:lumOff val="15000"/>
                  </a:schemeClr>
                </a:solidFill>
                <a:latin typeface="Grotesque Light" panose="020B0304020202020204" pitchFamily="34" charset="0"/>
              </a:rPr>
              <a:t>Base Currency: USD</a:t>
            </a:r>
          </a:p>
        </p:txBody>
      </p:sp>
      <p:cxnSp>
        <p:nvCxnSpPr>
          <p:cNvPr id="12" name="Straight Connector 11">
            <a:extLst>
              <a:ext uri="{FF2B5EF4-FFF2-40B4-BE49-F238E27FC236}">
                <a16:creationId xmlns:a16="http://schemas.microsoft.com/office/drawing/2014/main" id="{00BE04B9-7B16-9B76-E4AC-9FC610AA1899}"/>
              </a:ext>
            </a:extLst>
          </p:cNvPr>
          <p:cNvCxnSpPr/>
          <p:nvPr/>
        </p:nvCxnSpPr>
        <p:spPr>
          <a:xfrm>
            <a:off x="302496" y="6436242"/>
            <a:ext cx="8539009" cy="0"/>
          </a:xfrm>
          <a:prstGeom prst="line">
            <a:avLst/>
          </a:prstGeom>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FEF60B05-2298-2A08-B562-00A35E0A143E}"/>
              </a:ext>
            </a:extLst>
          </p:cNvPr>
          <p:cNvSpPr txBox="1"/>
          <p:nvPr/>
        </p:nvSpPr>
        <p:spPr>
          <a:xfrm>
            <a:off x="237947" y="6470773"/>
            <a:ext cx="8596470" cy="307777"/>
          </a:xfrm>
          <a:prstGeom prst="rect">
            <a:avLst/>
          </a:prstGeom>
          <a:noFill/>
        </p:spPr>
        <p:txBody>
          <a:bodyPr wrap="square" rtlCol="0">
            <a:spAutoFit/>
          </a:bodyPr>
          <a:lstStyle/>
          <a:p>
            <a:r>
              <a:rPr lang="en-US" sz="700" baseline="30000" dirty="0">
                <a:latin typeface="Grotesque Light" panose="020B0304020202020204" pitchFamily="34" charset="0"/>
              </a:rPr>
              <a:t>1</a:t>
            </a:r>
            <a:r>
              <a:rPr lang="en-US" sz="700" dirty="0">
                <a:latin typeface="Grotesque Light" panose="020B0304020202020204" pitchFamily="34" charset="0"/>
              </a:rPr>
              <a:t>Predicted performance over stress periods captures the expected cumulative portfolio performance should a similar type economic shock happens again in the future. Past performance is not indicative of future results, which may vary. Not investment advice.</a:t>
            </a:r>
          </a:p>
        </p:txBody>
      </p:sp>
    </p:spTree>
    <p:extLst>
      <p:ext uri="{BB962C8B-B14F-4D97-AF65-F5344CB8AC3E}">
        <p14:creationId xmlns:p14="http://schemas.microsoft.com/office/powerpoint/2010/main" val="263671453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058801-7EA8-BE34-422D-B22A73EB189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0027511-E1A0-5646-C7ED-AF8203B013F3}"/>
              </a:ext>
            </a:extLst>
          </p:cNvPr>
          <p:cNvSpPr txBox="1"/>
          <p:nvPr/>
        </p:nvSpPr>
        <p:spPr>
          <a:xfrm>
            <a:off x="302495" y="311996"/>
            <a:ext cx="7747376" cy="400110"/>
          </a:xfrm>
          <a:prstGeom prst="rect">
            <a:avLst/>
          </a:prstGeom>
          <a:noFill/>
        </p:spPr>
        <p:txBody>
          <a:bodyPr wrap="square" rtlCol="0">
            <a:spAutoFit/>
          </a:bodyPr>
          <a:lstStyle/>
          <a:p>
            <a:r>
              <a:rPr lang="en-US" sz="2000" dirty="0">
                <a:latin typeface="Grotesque Light" panose="020B0304020202020204" pitchFamily="34" charset="0"/>
              </a:rPr>
              <a:t>Portfolio Risk</a:t>
            </a:r>
            <a:r>
              <a:rPr lang="en-US" sz="2000" baseline="30000" dirty="0">
                <a:latin typeface="Grotesque Light" panose="020B0304020202020204" pitchFamily="34" charset="0"/>
              </a:rPr>
              <a:t>1</a:t>
            </a:r>
            <a:r>
              <a:rPr lang="en-US" sz="2000" dirty="0">
                <a:latin typeface="Grotesque Light" panose="020B0304020202020204" pitchFamily="34" charset="0"/>
              </a:rPr>
              <a:t> Decomposition</a:t>
            </a:r>
          </a:p>
        </p:txBody>
      </p:sp>
      <p:sp>
        <p:nvSpPr>
          <p:cNvPr id="6" name="TextBox 5">
            <a:extLst>
              <a:ext uri="{FF2B5EF4-FFF2-40B4-BE49-F238E27FC236}">
                <a16:creationId xmlns:a16="http://schemas.microsoft.com/office/drawing/2014/main" id="{E8C65087-5F7A-9CC0-C4F8-18C39F468874}"/>
              </a:ext>
            </a:extLst>
          </p:cNvPr>
          <p:cNvSpPr txBox="1"/>
          <p:nvPr/>
        </p:nvSpPr>
        <p:spPr>
          <a:xfrm>
            <a:off x="302495" y="1155211"/>
            <a:ext cx="3998843" cy="261610"/>
          </a:xfrm>
          <a:prstGeom prst="rect">
            <a:avLst/>
          </a:prstGeom>
          <a:solidFill>
            <a:schemeClr val="tx2">
              <a:lumMod val="75000"/>
            </a:schemeClr>
          </a:solidFill>
          <a:ln w="12700">
            <a:noFill/>
          </a:ln>
        </p:spPr>
        <p:txBody>
          <a:bodyPr wrap="square" rtlCol="0">
            <a:spAutoFit/>
          </a:bodyPr>
          <a:lstStyle>
            <a:defPPr>
              <a:defRPr lang="en-US"/>
            </a:defPPr>
            <a:lvl1pPr algn="ctr">
              <a:defRPr sz="1100" b="1">
                <a:solidFill>
                  <a:schemeClr val="bg1"/>
                </a:solidFill>
                <a:latin typeface="+mj-lt"/>
              </a:defRPr>
            </a:lvl1pPr>
          </a:lstStyle>
          <a:p>
            <a:r>
              <a:rPr lang="en-US" dirty="0"/>
              <a:t>Risk </a:t>
            </a:r>
            <a:r>
              <a:rPr lang="en-US"/>
              <a:t>Decomposition by Asset Class</a:t>
            </a:r>
            <a:endParaRPr lang="en-US" dirty="0"/>
          </a:p>
        </p:txBody>
      </p:sp>
      <p:sp>
        <p:nvSpPr>
          <p:cNvPr id="8" name="TextBox 7">
            <a:extLst>
              <a:ext uri="{FF2B5EF4-FFF2-40B4-BE49-F238E27FC236}">
                <a16:creationId xmlns:a16="http://schemas.microsoft.com/office/drawing/2014/main" id="{35CD0A72-9B7D-06B1-1085-AC7870394F3A}"/>
              </a:ext>
            </a:extLst>
          </p:cNvPr>
          <p:cNvSpPr txBox="1"/>
          <p:nvPr/>
        </p:nvSpPr>
        <p:spPr>
          <a:xfrm>
            <a:off x="4520794" y="1160191"/>
            <a:ext cx="4320711" cy="261610"/>
          </a:xfrm>
          <a:prstGeom prst="rect">
            <a:avLst/>
          </a:prstGeom>
          <a:solidFill>
            <a:schemeClr val="tx2">
              <a:lumMod val="75000"/>
            </a:schemeClr>
          </a:solidFill>
          <a:ln w="12700">
            <a:noFill/>
          </a:ln>
        </p:spPr>
        <p:txBody>
          <a:bodyPr wrap="square" rtlCol="0">
            <a:spAutoFit/>
          </a:bodyPr>
          <a:lstStyle>
            <a:defPPr>
              <a:defRPr lang="en-US"/>
            </a:defPPr>
            <a:lvl1pPr algn="ctr">
              <a:defRPr sz="1100" b="1">
                <a:solidFill>
                  <a:schemeClr val="bg1"/>
                </a:solidFill>
                <a:latin typeface="+mj-lt"/>
              </a:defRPr>
            </a:lvl1pPr>
          </a:lstStyle>
          <a:p>
            <a:r>
              <a:rPr lang="en-US" dirty="0"/>
              <a:t>Risk </a:t>
            </a:r>
            <a:r>
              <a:rPr lang="en-US"/>
              <a:t>Decomposition by FX Exposure</a:t>
            </a:r>
            <a:endParaRPr lang="en-US" dirty="0"/>
          </a:p>
        </p:txBody>
      </p:sp>
      <p:graphicFrame>
        <p:nvGraphicFramePr>
          <p:cNvPr id="10" name="Chart 9">
            <a:extLst>
              <a:ext uri="{FF2B5EF4-FFF2-40B4-BE49-F238E27FC236}">
                <a16:creationId xmlns:a16="http://schemas.microsoft.com/office/drawing/2014/main" id="{7CF8B335-84BD-19F5-3C3B-2FFA69D00839}"/>
              </a:ext>
            </a:extLst>
          </p:cNvPr>
          <p:cNvGraphicFramePr>
            <a:graphicFrameLocks/>
          </p:cNvGraphicFramePr>
          <p:nvPr>
            <p:extLst>
              <p:ext uri="{D42A27DB-BD31-4B8C-83A1-F6EECF244321}">
                <p14:modId xmlns:p14="http://schemas.microsoft.com/office/powerpoint/2010/main" val="2589702999"/>
              </p:ext>
            </p:extLst>
          </p:nvPr>
        </p:nvGraphicFramePr>
        <p:xfrm>
          <a:off x="416530" y="1671713"/>
          <a:ext cx="3636661" cy="4243143"/>
        </p:xfrm>
        <a:graphic>
          <a:graphicData uri="http://schemas.openxmlformats.org/drawingml/2006/chart">
            <c:chart xmlns:c="http://schemas.openxmlformats.org/drawingml/2006/chart" xmlns:r="http://schemas.openxmlformats.org/officeDocument/2006/relationships" r:id="rId3"/>
          </a:graphicData>
        </a:graphic>
      </p:graphicFrame>
      <p:sp>
        <p:nvSpPr>
          <p:cNvPr id="11" name="Oval 10">
            <a:extLst>
              <a:ext uri="{FF2B5EF4-FFF2-40B4-BE49-F238E27FC236}">
                <a16:creationId xmlns:a16="http://schemas.microsoft.com/office/drawing/2014/main" id="{AB950D54-8C89-40B7-6CFD-0A37722B79D8}"/>
              </a:ext>
            </a:extLst>
          </p:cNvPr>
          <p:cNvSpPr/>
          <p:nvPr/>
        </p:nvSpPr>
        <p:spPr>
          <a:xfrm>
            <a:off x="3636659" y="4890200"/>
            <a:ext cx="337721" cy="333929"/>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34DED66C-AE00-1949-59D0-B0455183828A}"/>
              </a:ext>
            </a:extLst>
          </p:cNvPr>
          <p:cNvSpPr txBox="1"/>
          <p:nvPr/>
        </p:nvSpPr>
        <p:spPr>
          <a:xfrm>
            <a:off x="4474723" y="3754287"/>
            <a:ext cx="4252747" cy="261610"/>
          </a:xfrm>
          <a:prstGeom prst="rect">
            <a:avLst/>
          </a:prstGeom>
          <a:solidFill>
            <a:schemeClr val="tx2">
              <a:lumMod val="75000"/>
            </a:schemeClr>
          </a:solidFill>
          <a:ln w="12700">
            <a:noFill/>
          </a:ln>
        </p:spPr>
        <p:txBody>
          <a:bodyPr wrap="square" rtlCol="0">
            <a:spAutoFit/>
          </a:bodyPr>
          <a:lstStyle>
            <a:defPPr>
              <a:defRPr lang="en-US"/>
            </a:defPPr>
            <a:lvl1pPr algn="ctr">
              <a:defRPr sz="1100" b="1">
                <a:solidFill>
                  <a:schemeClr val="bg1"/>
                </a:solidFill>
                <a:latin typeface="+mj-lt"/>
              </a:defRPr>
            </a:lvl1pPr>
          </a:lstStyle>
          <a:p>
            <a:r>
              <a:rPr lang="en-US" dirty="0"/>
              <a:t>Portfolio Volatility Under Various Currency Hedging Scenarios</a:t>
            </a:r>
          </a:p>
        </p:txBody>
      </p:sp>
      <p:graphicFrame>
        <p:nvGraphicFramePr>
          <p:cNvPr id="17" name="Chart 16">
            <a:extLst>
              <a:ext uri="{FF2B5EF4-FFF2-40B4-BE49-F238E27FC236}">
                <a16:creationId xmlns:a16="http://schemas.microsoft.com/office/drawing/2014/main" id="{C86B274B-F430-D553-8FEB-31F4119C3A73}"/>
              </a:ext>
            </a:extLst>
          </p:cNvPr>
          <p:cNvGraphicFramePr>
            <a:graphicFrameLocks/>
          </p:cNvGraphicFramePr>
          <p:nvPr>
            <p:extLst>
              <p:ext uri="{D42A27DB-BD31-4B8C-83A1-F6EECF244321}">
                <p14:modId xmlns:p14="http://schemas.microsoft.com/office/powerpoint/2010/main" val="3555143231"/>
              </p:ext>
            </p:extLst>
          </p:nvPr>
        </p:nvGraphicFramePr>
        <p:xfrm>
          <a:off x="4753583" y="4224739"/>
          <a:ext cx="3761767" cy="1809783"/>
        </p:xfrm>
        <a:graphic>
          <a:graphicData uri="http://schemas.openxmlformats.org/drawingml/2006/chart">
            <c:chart xmlns:c="http://schemas.openxmlformats.org/drawingml/2006/chart" xmlns:r="http://schemas.openxmlformats.org/officeDocument/2006/relationships" r:id="rId4"/>
          </a:graphicData>
        </a:graphic>
      </p:graphicFrame>
      <p:sp>
        <p:nvSpPr>
          <p:cNvPr id="18" name="TextBox 17">
            <a:extLst>
              <a:ext uri="{FF2B5EF4-FFF2-40B4-BE49-F238E27FC236}">
                <a16:creationId xmlns:a16="http://schemas.microsoft.com/office/drawing/2014/main" id="{26157E1D-4D6A-EAB3-8A6E-CFF040D370F2}"/>
              </a:ext>
            </a:extLst>
          </p:cNvPr>
          <p:cNvSpPr txBox="1"/>
          <p:nvPr/>
        </p:nvSpPr>
        <p:spPr>
          <a:xfrm>
            <a:off x="7168028" y="4186286"/>
            <a:ext cx="1559442" cy="507831"/>
          </a:xfrm>
          <a:prstGeom prst="rect">
            <a:avLst/>
          </a:prstGeom>
          <a:noFill/>
          <a:ln w="6350">
            <a:solidFill>
              <a:schemeClr val="bg1">
                <a:lumMod val="65000"/>
              </a:schemeClr>
            </a:solidFill>
          </a:ln>
        </p:spPr>
        <p:txBody>
          <a:bodyPr wrap="square" rtlCol="0">
            <a:spAutoFit/>
          </a:bodyPr>
          <a:lstStyle>
            <a:defPPr>
              <a:defRPr lang="en-US"/>
            </a:defPPr>
            <a:lvl1pPr marL="171450" indent="-171450" algn="ctr">
              <a:buFont typeface="Arial" panose="020B0604020202020204" pitchFamily="34" charset="0"/>
              <a:buChar char="•"/>
              <a:defRPr sz="1100">
                <a:latin typeface="Calibri Light" panose="020F0302020204030204" pitchFamily="34" charset="0"/>
                <a:cs typeface="Calibri Light" panose="020F0302020204030204" pitchFamily="34" charset="0"/>
              </a:defRPr>
            </a:lvl1pPr>
          </a:lstStyle>
          <a:p>
            <a:pPr marL="0" indent="0">
              <a:buNone/>
            </a:pPr>
            <a:r>
              <a:rPr lang="en-US" sz="900" dirty="0"/>
              <a:t>The portfolio volatility can be minimized further by hedging all foreign currencies</a:t>
            </a:r>
          </a:p>
        </p:txBody>
      </p:sp>
      <p:cxnSp>
        <p:nvCxnSpPr>
          <p:cNvPr id="3" name="Straight Connector 2">
            <a:extLst>
              <a:ext uri="{FF2B5EF4-FFF2-40B4-BE49-F238E27FC236}">
                <a16:creationId xmlns:a16="http://schemas.microsoft.com/office/drawing/2014/main" id="{9EE5745D-8085-8D77-A4F5-1102756F63B1}"/>
              </a:ext>
            </a:extLst>
          </p:cNvPr>
          <p:cNvCxnSpPr/>
          <p:nvPr/>
        </p:nvCxnSpPr>
        <p:spPr>
          <a:xfrm>
            <a:off x="302495" y="6500036"/>
            <a:ext cx="8539009" cy="0"/>
          </a:xfrm>
          <a:prstGeom prst="line">
            <a:avLst/>
          </a:prstGeom>
        </p:spPr>
        <p:style>
          <a:lnRef idx="1">
            <a:schemeClr val="dk1"/>
          </a:lnRef>
          <a:fillRef idx="0">
            <a:schemeClr val="dk1"/>
          </a:fillRef>
          <a:effectRef idx="0">
            <a:schemeClr val="dk1"/>
          </a:effectRef>
          <a:fontRef idx="minor">
            <a:schemeClr val="tx1"/>
          </a:fontRef>
        </p:style>
      </p:cxnSp>
      <p:sp>
        <p:nvSpPr>
          <p:cNvPr id="5" name="TextBox 4">
            <a:extLst>
              <a:ext uri="{FF2B5EF4-FFF2-40B4-BE49-F238E27FC236}">
                <a16:creationId xmlns:a16="http://schemas.microsoft.com/office/drawing/2014/main" id="{9E9630B3-32EF-D46C-D1E8-D1FFCC088C93}"/>
              </a:ext>
            </a:extLst>
          </p:cNvPr>
          <p:cNvSpPr txBox="1"/>
          <p:nvPr/>
        </p:nvSpPr>
        <p:spPr>
          <a:xfrm>
            <a:off x="245035" y="6581915"/>
            <a:ext cx="7747376" cy="200055"/>
          </a:xfrm>
          <a:prstGeom prst="rect">
            <a:avLst/>
          </a:prstGeom>
          <a:noFill/>
        </p:spPr>
        <p:txBody>
          <a:bodyPr wrap="square" rtlCol="0">
            <a:spAutoFit/>
          </a:bodyPr>
          <a:lstStyle/>
          <a:p>
            <a:r>
              <a:rPr lang="en-US" sz="700" baseline="30000" dirty="0">
                <a:latin typeface="Grotesque Light" panose="020B0304020202020204" pitchFamily="34" charset="0"/>
              </a:rPr>
              <a:t>1</a:t>
            </a:r>
            <a:r>
              <a:rPr lang="en-US" sz="700" dirty="0">
                <a:latin typeface="Grotesque Light" panose="020B0304020202020204" pitchFamily="34" charset="0"/>
              </a:rPr>
              <a:t>Risk is quantified by the ex-ante variance of portfolio returns</a:t>
            </a:r>
          </a:p>
        </p:txBody>
      </p:sp>
      <p:cxnSp>
        <p:nvCxnSpPr>
          <p:cNvPr id="13" name="Straight Arrow Connector 12">
            <a:extLst>
              <a:ext uri="{FF2B5EF4-FFF2-40B4-BE49-F238E27FC236}">
                <a16:creationId xmlns:a16="http://schemas.microsoft.com/office/drawing/2014/main" id="{023FC3FD-33ED-8790-CE85-20C66D68F3D1}"/>
              </a:ext>
            </a:extLst>
          </p:cNvPr>
          <p:cNvCxnSpPr>
            <a:cxnSpLocks/>
          </p:cNvCxnSpPr>
          <p:nvPr/>
        </p:nvCxnSpPr>
        <p:spPr>
          <a:xfrm>
            <a:off x="3805519" y="4362113"/>
            <a:ext cx="0" cy="513911"/>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2FFF632F-7A25-C3F1-5485-0D4D4F153500}"/>
              </a:ext>
            </a:extLst>
          </p:cNvPr>
          <p:cNvSpPr txBox="1"/>
          <p:nvPr/>
        </p:nvSpPr>
        <p:spPr>
          <a:xfrm>
            <a:off x="2716978" y="3854282"/>
            <a:ext cx="1395403" cy="646331"/>
          </a:xfrm>
          <a:prstGeom prst="rect">
            <a:avLst/>
          </a:prstGeom>
          <a:solidFill>
            <a:schemeClr val="bg1"/>
          </a:solidFill>
          <a:ln w="6350">
            <a:solidFill>
              <a:schemeClr val="bg1">
                <a:lumMod val="75000"/>
              </a:schemeClr>
            </a:solidFill>
          </a:ln>
        </p:spPr>
        <p:txBody>
          <a:bodyPr wrap="square" rtlCol="0">
            <a:spAutoFit/>
          </a:bodyPr>
          <a:lstStyle/>
          <a:p>
            <a:pPr algn="ctr"/>
            <a:r>
              <a:rPr lang="en-US" sz="900" dirty="0">
                <a:latin typeface="Calibri Light" panose="020F0302020204030204" pitchFamily="34" charset="0"/>
                <a:cs typeface="Calibri Light" panose="020F0302020204030204" pitchFamily="34" charset="0"/>
              </a:rPr>
              <a:t>Close to half of the portfolio volatility is driven by exposure to US Equity</a:t>
            </a:r>
          </a:p>
        </p:txBody>
      </p:sp>
      <p:sp>
        <p:nvSpPr>
          <p:cNvPr id="19" name="TextBox 18">
            <a:extLst>
              <a:ext uri="{FF2B5EF4-FFF2-40B4-BE49-F238E27FC236}">
                <a16:creationId xmlns:a16="http://schemas.microsoft.com/office/drawing/2014/main" id="{DED4AB2C-DB9C-7329-2CBD-82ADC4950067}"/>
              </a:ext>
            </a:extLst>
          </p:cNvPr>
          <p:cNvSpPr txBox="1"/>
          <p:nvPr/>
        </p:nvSpPr>
        <p:spPr>
          <a:xfrm>
            <a:off x="299609" y="641462"/>
            <a:ext cx="7747376" cy="261610"/>
          </a:xfrm>
          <a:prstGeom prst="rect">
            <a:avLst/>
          </a:prstGeom>
          <a:noFill/>
        </p:spPr>
        <p:txBody>
          <a:bodyPr wrap="square" rtlCol="0">
            <a:spAutoFit/>
          </a:bodyPr>
          <a:lstStyle/>
          <a:p>
            <a:r>
              <a:rPr lang="en-US" sz="1100" dirty="0">
                <a:solidFill>
                  <a:schemeClr val="tx1">
                    <a:lumMod val="85000"/>
                    <a:lumOff val="15000"/>
                  </a:schemeClr>
                </a:solidFill>
                <a:latin typeface="Grotesque Light" panose="020B0304020202020204" pitchFamily="34" charset="0"/>
              </a:rPr>
              <a:t>Base Currency: USD</a:t>
            </a:r>
          </a:p>
        </p:txBody>
      </p:sp>
      <p:graphicFrame>
        <p:nvGraphicFramePr>
          <p:cNvPr id="2" name="Chart 1">
            <a:extLst>
              <a:ext uri="{FF2B5EF4-FFF2-40B4-BE49-F238E27FC236}">
                <a16:creationId xmlns:a16="http://schemas.microsoft.com/office/drawing/2014/main" id="{BAB1F986-2E67-5F2C-A768-931B8C5773ED}"/>
              </a:ext>
            </a:extLst>
          </p:cNvPr>
          <p:cNvGraphicFramePr>
            <a:graphicFrameLocks/>
          </p:cNvGraphicFramePr>
          <p:nvPr>
            <p:extLst>
              <p:ext uri="{D42A27DB-BD31-4B8C-83A1-F6EECF244321}">
                <p14:modId xmlns:p14="http://schemas.microsoft.com/office/powerpoint/2010/main" val="2885405002"/>
              </p:ext>
            </p:extLst>
          </p:nvPr>
        </p:nvGraphicFramePr>
        <p:xfrm>
          <a:off x="4632959" y="1576252"/>
          <a:ext cx="4005943" cy="1985554"/>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94158070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7547D3-69BF-4848-16EB-8DEE57A55FB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7C8BF4C-58D3-640F-09F0-4D52535DBB73}"/>
              </a:ext>
            </a:extLst>
          </p:cNvPr>
          <p:cNvSpPr txBox="1"/>
          <p:nvPr/>
        </p:nvSpPr>
        <p:spPr>
          <a:xfrm>
            <a:off x="317027" y="289102"/>
            <a:ext cx="7747376" cy="400110"/>
          </a:xfrm>
          <a:prstGeom prst="rect">
            <a:avLst/>
          </a:prstGeom>
          <a:noFill/>
        </p:spPr>
        <p:txBody>
          <a:bodyPr wrap="square" rtlCol="0">
            <a:spAutoFit/>
          </a:bodyPr>
          <a:lstStyle/>
          <a:p>
            <a:r>
              <a:rPr lang="en-US" sz="2000" dirty="0">
                <a:latin typeface="Grotesque Light" panose="020B0304020202020204" pitchFamily="34" charset="0"/>
              </a:rPr>
              <a:t>Portfolio Factor Decomposition</a:t>
            </a:r>
          </a:p>
        </p:txBody>
      </p:sp>
      <p:sp>
        <p:nvSpPr>
          <p:cNvPr id="6" name="TextBox 5">
            <a:extLst>
              <a:ext uri="{FF2B5EF4-FFF2-40B4-BE49-F238E27FC236}">
                <a16:creationId xmlns:a16="http://schemas.microsoft.com/office/drawing/2014/main" id="{564C6099-039A-C340-A268-BD7F3DF29FB2}"/>
              </a:ext>
            </a:extLst>
          </p:cNvPr>
          <p:cNvSpPr txBox="1"/>
          <p:nvPr/>
        </p:nvSpPr>
        <p:spPr>
          <a:xfrm>
            <a:off x="302495" y="1109211"/>
            <a:ext cx="3998843" cy="261610"/>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sz="1100"/>
              <a:t>Excess Return </a:t>
            </a:r>
            <a:r>
              <a:rPr lang="en-US" sz="1100" dirty="0"/>
              <a:t>Decomposition </a:t>
            </a:r>
            <a:r>
              <a:rPr lang="en-US" sz="1100"/>
              <a:t>by Factor</a:t>
            </a:r>
            <a:endParaRPr lang="en-US" sz="1100" dirty="0"/>
          </a:p>
        </p:txBody>
      </p:sp>
      <p:sp>
        <p:nvSpPr>
          <p:cNvPr id="8" name="TextBox 7">
            <a:extLst>
              <a:ext uri="{FF2B5EF4-FFF2-40B4-BE49-F238E27FC236}">
                <a16:creationId xmlns:a16="http://schemas.microsoft.com/office/drawing/2014/main" id="{8F6F0554-EBD5-6754-F517-9DE8E5BC07FB}"/>
              </a:ext>
            </a:extLst>
          </p:cNvPr>
          <p:cNvSpPr txBox="1"/>
          <p:nvPr/>
        </p:nvSpPr>
        <p:spPr>
          <a:xfrm>
            <a:off x="4520794" y="1101221"/>
            <a:ext cx="4320711" cy="261610"/>
          </a:xfrm>
          <a:prstGeom prst="rect">
            <a:avLst/>
          </a:prstGeom>
          <a:solidFill>
            <a:schemeClr val="tx2">
              <a:lumMod val="75000"/>
            </a:schemeClr>
          </a:solidFill>
          <a:ln w="12700">
            <a:noFill/>
          </a:ln>
        </p:spPr>
        <p:txBody>
          <a:bodyPr wrap="square" rtlCol="0">
            <a:spAutoFit/>
          </a:bodyPr>
          <a:lstStyle>
            <a:defPPr>
              <a:defRPr lang="en-US"/>
            </a:defPPr>
            <a:lvl1pPr algn="ctr">
              <a:defRPr sz="1100" b="1">
                <a:solidFill>
                  <a:schemeClr val="bg1"/>
                </a:solidFill>
                <a:latin typeface="+mj-lt"/>
              </a:defRPr>
            </a:lvl1pPr>
          </a:lstStyle>
          <a:p>
            <a:r>
              <a:rPr lang="en-US"/>
              <a:t>Portfolio Loss Given 2 Standard Deviation Factor Shock</a:t>
            </a:r>
            <a:endParaRPr lang="en-US" dirty="0"/>
          </a:p>
        </p:txBody>
      </p:sp>
      <p:graphicFrame>
        <p:nvGraphicFramePr>
          <p:cNvPr id="3" name="Chart 2">
            <a:extLst>
              <a:ext uri="{FF2B5EF4-FFF2-40B4-BE49-F238E27FC236}">
                <a16:creationId xmlns:a16="http://schemas.microsoft.com/office/drawing/2014/main" id="{DB9802A8-594D-AEE9-98F2-701F267832F0}"/>
              </a:ext>
            </a:extLst>
          </p:cNvPr>
          <p:cNvGraphicFramePr>
            <a:graphicFrameLocks/>
          </p:cNvGraphicFramePr>
          <p:nvPr>
            <p:extLst>
              <p:ext uri="{D42A27DB-BD31-4B8C-83A1-F6EECF244321}">
                <p14:modId xmlns:p14="http://schemas.microsoft.com/office/powerpoint/2010/main" val="1596959347"/>
              </p:ext>
            </p:extLst>
          </p:nvPr>
        </p:nvGraphicFramePr>
        <p:xfrm>
          <a:off x="412480" y="1565269"/>
          <a:ext cx="3799499" cy="4007827"/>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9" name="Chart 8">
            <a:extLst>
              <a:ext uri="{FF2B5EF4-FFF2-40B4-BE49-F238E27FC236}">
                <a16:creationId xmlns:a16="http://schemas.microsoft.com/office/drawing/2014/main" id="{AF3683AD-052A-4312-F594-807ADDD9F444}"/>
              </a:ext>
            </a:extLst>
          </p:cNvPr>
          <p:cNvGraphicFramePr>
            <a:graphicFrameLocks/>
          </p:cNvGraphicFramePr>
          <p:nvPr>
            <p:extLst>
              <p:ext uri="{D42A27DB-BD31-4B8C-83A1-F6EECF244321}">
                <p14:modId xmlns:p14="http://schemas.microsoft.com/office/powerpoint/2010/main" val="3915682188"/>
              </p:ext>
            </p:extLst>
          </p:nvPr>
        </p:nvGraphicFramePr>
        <p:xfrm>
          <a:off x="4572000" y="1475380"/>
          <a:ext cx="4089843" cy="4096080"/>
        </p:xfrm>
        <a:graphic>
          <a:graphicData uri="http://schemas.openxmlformats.org/drawingml/2006/chart">
            <c:chart xmlns:c="http://schemas.openxmlformats.org/drawingml/2006/chart" xmlns:r="http://schemas.openxmlformats.org/officeDocument/2006/relationships" r:id="rId4"/>
          </a:graphicData>
        </a:graphic>
      </p:graphicFrame>
      <p:sp>
        <p:nvSpPr>
          <p:cNvPr id="10" name="TextBox 9">
            <a:extLst>
              <a:ext uri="{FF2B5EF4-FFF2-40B4-BE49-F238E27FC236}">
                <a16:creationId xmlns:a16="http://schemas.microsoft.com/office/drawing/2014/main" id="{AC963BCA-E6F3-3457-521C-53C1B623FFFE}"/>
              </a:ext>
            </a:extLst>
          </p:cNvPr>
          <p:cNvSpPr txBox="1"/>
          <p:nvPr/>
        </p:nvSpPr>
        <p:spPr>
          <a:xfrm>
            <a:off x="317027" y="624044"/>
            <a:ext cx="7747376" cy="261610"/>
          </a:xfrm>
          <a:prstGeom prst="rect">
            <a:avLst/>
          </a:prstGeom>
          <a:noFill/>
        </p:spPr>
        <p:txBody>
          <a:bodyPr wrap="square" rtlCol="0">
            <a:spAutoFit/>
          </a:bodyPr>
          <a:lstStyle/>
          <a:p>
            <a:r>
              <a:rPr lang="en-US" sz="1100" dirty="0">
                <a:solidFill>
                  <a:schemeClr val="tx1">
                    <a:lumMod val="85000"/>
                    <a:lumOff val="15000"/>
                  </a:schemeClr>
                </a:solidFill>
                <a:latin typeface="Grotesque Light" panose="020B0304020202020204" pitchFamily="34" charset="0"/>
              </a:rPr>
              <a:t>Base Currency: USD</a:t>
            </a:r>
          </a:p>
        </p:txBody>
      </p:sp>
      <p:cxnSp>
        <p:nvCxnSpPr>
          <p:cNvPr id="11" name="Straight Connector 10">
            <a:extLst>
              <a:ext uri="{FF2B5EF4-FFF2-40B4-BE49-F238E27FC236}">
                <a16:creationId xmlns:a16="http://schemas.microsoft.com/office/drawing/2014/main" id="{222AD8A8-7963-D5BB-5A1F-1EFB1D80261C}"/>
              </a:ext>
            </a:extLst>
          </p:cNvPr>
          <p:cNvCxnSpPr/>
          <p:nvPr/>
        </p:nvCxnSpPr>
        <p:spPr>
          <a:xfrm>
            <a:off x="302495" y="6500036"/>
            <a:ext cx="8539009"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33184130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ED990-EDA5-93B9-1247-B2BA65E01751}"/>
            </a:ext>
          </a:extLst>
        </p:cNvPr>
        <p:cNvGrpSpPr/>
        <p:nvPr/>
      </p:nvGrpSpPr>
      <p:grpSpPr>
        <a:xfrm>
          <a:off x="0" y="0"/>
          <a:ext cx="0" cy="0"/>
          <a:chOff x="0" y="0"/>
          <a:chExt cx="0" cy="0"/>
        </a:xfrm>
      </p:grpSpPr>
      <p:graphicFrame>
        <p:nvGraphicFramePr>
          <p:cNvPr id="9" name="Chart 8">
            <a:extLst>
              <a:ext uri="{FF2B5EF4-FFF2-40B4-BE49-F238E27FC236}">
                <a16:creationId xmlns:a16="http://schemas.microsoft.com/office/drawing/2014/main" id="{00000000-0008-0000-0400-000003000000}"/>
              </a:ext>
            </a:extLst>
          </p:cNvPr>
          <p:cNvGraphicFramePr>
            <a:graphicFrameLocks/>
          </p:cNvGraphicFramePr>
          <p:nvPr>
            <p:extLst>
              <p:ext uri="{D42A27DB-BD31-4B8C-83A1-F6EECF244321}">
                <p14:modId xmlns:p14="http://schemas.microsoft.com/office/powerpoint/2010/main" val="3815827551"/>
              </p:ext>
            </p:extLst>
          </p:nvPr>
        </p:nvGraphicFramePr>
        <p:xfrm>
          <a:off x="338291" y="1451869"/>
          <a:ext cx="6027608" cy="4013588"/>
        </p:xfrm>
        <a:graphic>
          <a:graphicData uri="http://schemas.openxmlformats.org/drawingml/2006/chart">
            <c:chart xmlns:c="http://schemas.openxmlformats.org/drawingml/2006/chart" xmlns:r="http://schemas.openxmlformats.org/officeDocument/2006/relationships" r:id="rId2"/>
          </a:graphicData>
        </a:graphic>
      </p:graphicFrame>
      <p:sp>
        <p:nvSpPr>
          <p:cNvPr id="2" name="TextBox 1">
            <a:extLst>
              <a:ext uri="{FF2B5EF4-FFF2-40B4-BE49-F238E27FC236}">
                <a16:creationId xmlns:a16="http://schemas.microsoft.com/office/drawing/2014/main" id="{77721431-2CC8-123C-C694-FD7352C7CCC7}"/>
              </a:ext>
            </a:extLst>
          </p:cNvPr>
          <p:cNvSpPr txBox="1"/>
          <p:nvPr/>
        </p:nvSpPr>
        <p:spPr>
          <a:xfrm>
            <a:off x="302496" y="1023947"/>
            <a:ext cx="8539009"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Projected Nominal Portfolio Value Paths, Over 20 Years</a:t>
            </a:r>
          </a:p>
        </p:txBody>
      </p:sp>
      <p:sp>
        <p:nvSpPr>
          <p:cNvPr id="11" name="TextBox 10">
            <a:extLst>
              <a:ext uri="{FF2B5EF4-FFF2-40B4-BE49-F238E27FC236}">
                <a16:creationId xmlns:a16="http://schemas.microsoft.com/office/drawing/2014/main" id="{91BECEF5-8C2E-0B67-5638-CF5F6375D00B}"/>
              </a:ext>
            </a:extLst>
          </p:cNvPr>
          <p:cNvSpPr txBox="1"/>
          <p:nvPr/>
        </p:nvSpPr>
        <p:spPr>
          <a:xfrm>
            <a:off x="6702254" y="3487370"/>
            <a:ext cx="2057399" cy="246221"/>
          </a:xfrm>
          <a:prstGeom prst="rect">
            <a:avLst/>
          </a:prstGeom>
          <a:noFill/>
        </p:spPr>
        <p:txBody>
          <a:bodyPr wrap="square" rtlCol="0">
            <a:spAutoFit/>
          </a:bodyPr>
          <a:lstStyle/>
          <a:p>
            <a:r>
              <a:rPr lang="en-US" sz="1000" dirty="0"/>
              <a:t>Reference Portfolio Median Case</a:t>
            </a:r>
          </a:p>
        </p:txBody>
      </p:sp>
      <p:cxnSp>
        <p:nvCxnSpPr>
          <p:cNvPr id="13" name="Straight Arrow Connector 12">
            <a:extLst>
              <a:ext uri="{FF2B5EF4-FFF2-40B4-BE49-F238E27FC236}">
                <a16:creationId xmlns:a16="http://schemas.microsoft.com/office/drawing/2014/main" id="{46050885-67A2-1CA1-F36C-E38993B1A687}"/>
              </a:ext>
            </a:extLst>
          </p:cNvPr>
          <p:cNvCxnSpPr/>
          <p:nvPr/>
        </p:nvCxnSpPr>
        <p:spPr>
          <a:xfrm flipH="1">
            <a:off x="6442679" y="3603501"/>
            <a:ext cx="22336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2436186C-024D-7652-ADED-5A90AE8DEFBE}"/>
              </a:ext>
            </a:extLst>
          </p:cNvPr>
          <p:cNvSpPr txBox="1"/>
          <p:nvPr/>
        </p:nvSpPr>
        <p:spPr>
          <a:xfrm>
            <a:off x="6702254" y="3183584"/>
            <a:ext cx="2057399" cy="246221"/>
          </a:xfrm>
          <a:prstGeom prst="rect">
            <a:avLst/>
          </a:prstGeom>
          <a:noFill/>
        </p:spPr>
        <p:txBody>
          <a:bodyPr wrap="square" rtlCol="0">
            <a:spAutoFit/>
          </a:bodyPr>
          <a:lstStyle/>
          <a:p>
            <a:r>
              <a:rPr lang="en-US" sz="1000" dirty="0"/>
              <a:t>SAA Portfolio Median Case</a:t>
            </a:r>
            <a:endParaRPr lang="en-US" sz="1000" dirty="0">
              <a:solidFill>
                <a:srgbClr val="7CC04D"/>
              </a:solidFill>
            </a:endParaRPr>
          </a:p>
        </p:txBody>
      </p:sp>
      <p:cxnSp>
        <p:nvCxnSpPr>
          <p:cNvPr id="15" name="Straight Arrow Connector 14">
            <a:extLst>
              <a:ext uri="{FF2B5EF4-FFF2-40B4-BE49-F238E27FC236}">
                <a16:creationId xmlns:a16="http://schemas.microsoft.com/office/drawing/2014/main" id="{925912D7-CFD8-EE30-39EB-9BF033520932}"/>
              </a:ext>
            </a:extLst>
          </p:cNvPr>
          <p:cNvCxnSpPr/>
          <p:nvPr/>
        </p:nvCxnSpPr>
        <p:spPr>
          <a:xfrm flipH="1">
            <a:off x="6442679" y="3299715"/>
            <a:ext cx="223365"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21BF37A9-8B5D-F983-1FC3-258D70E7A3FF}"/>
              </a:ext>
            </a:extLst>
          </p:cNvPr>
          <p:cNvSpPr txBox="1"/>
          <p:nvPr/>
        </p:nvSpPr>
        <p:spPr>
          <a:xfrm>
            <a:off x="460745" y="5537147"/>
            <a:ext cx="8380760" cy="769441"/>
          </a:xfrm>
          <a:prstGeom prst="rect">
            <a:avLst/>
          </a:prstGeom>
          <a:noFill/>
          <a:ln w="6350">
            <a:solidFill>
              <a:schemeClr val="bg1">
                <a:lumMod val="65000"/>
              </a:schemeClr>
            </a:solidFill>
          </a:ln>
        </p:spPr>
        <p:txBody>
          <a:bodyPr wrap="square" rtlCol="0">
            <a:spAutoFit/>
          </a:bodyPr>
          <a:lstStyle/>
          <a:p>
            <a:pPr marL="171450" indent="-171450" algn="ctr">
              <a:buFont typeface="Arial" panose="020B0604020202020204" pitchFamily="34" charset="0"/>
              <a:buChar char="•"/>
            </a:pPr>
            <a:r>
              <a:rPr lang="en-US" sz="1100" dirty="0">
                <a:latin typeface="Calibri Light" panose="020F0302020204030204" pitchFamily="34" charset="0"/>
                <a:cs typeface="Calibri Light" panose="020F0302020204030204" pitchFamily="34" charset="0"/>
              </a:rPr>
              <a:t>In the median case, the SAA portfolio would be expected to grow to around $373, in nominal terms, representing $74 additional growth over the reference portfolio over the 20-year horizon.</a:t>
            </a:r>
          </a:p>
          <a:p>
            <a:pPr marL="171450" indent="-171450" algn="ctr">
              <a:buFont typeface="Arial" panose="020B0604020202020204" pitchFamily="34" charset="0"/>
              <a:buChar char="•"/>
            </a:pPr>
            <a:endParaRPr lang="en-US" sz="1100" dirty="0">
              <a:latin typeface="Calibri Light" panose="020F0302020204030204" pitchFamily="34" charset="0"/>
              <a:cs typeface="Calibri Light" panose="020F0302020204030204" pitchFamily="34" charset="0"/>
            </a:endParaRPr>
          </a:p>
          <a:p>
            <a:pPr marL="171450" indent="-171450" algn="ctr">
              <a:buFont typeface="Arial" panose="020B0604020202020204" pitchFamily="34" charset="0"/>
              <a:buChar char="•"/>
            </a:pPr>
            <a:r>
              <a:rPr lang="en-US" sz="1100" dirty="0">
                <a:latin typeface="Calibri Light" panose="020F0302020204030204" pitchFamily="34" charset="0"/>
                <a:cs typeface="Calibri Light" panose="020F0302020204030204" pitchFamily="34" charset="0"/>
              </a:rPr>
              <a:t>In the very bad case (1</a:t>
            </a:r>
            <a:r>
              <a:rPr lang="en-US" sz="1100" baseline="30000" dirty="0">
                <a:latin typeface="Calibri Light" panose="020F0302020204030204" pitchFamily="34" charset="0"/>
                <a:cs typeface="Calibri Light" panose="020F0302020204030204" pitchFamily="34" charset="0"/>
              </a:rPr>
              <a:t>st</a:t>
            </a:r>
            <a:r>
              <a:rPr lang="en-US" sz="1100" dirty="0">
                <a:latin typeface="Calibri Light" panose="020F0302020204030204" pitchFamily="34" charset="0"/>
                <a:cs typeface="Calibri Light" panose="020F0302020204030204" pitchFamily="34" charset="0"/>
              </a:rPr>
              <a:t> Percentile), the portfolio would still be expected to grow in nominal terms.</a:t>
            </a:r>
          </a:p>
        </p:txBody>
      </p:sp>
      <p:sp>
        <p:nvSpPr>
          <p:cNvPr id="17" name="TextBox 16">
            <a:extLst>
              <a:ext uri="{FF2B5EF4-FFF2-40B4-BE49-F238E27FC236}">
                <a16:creationId xmlns:a16="http://schemas.microsoft.com/office/drawing/2014/main" id="{9E901AA9-D0BE-D819-A9C8-11348B06BC8C}"/>
              </a:ext>
            </a:extLst>
          </p:cNvPr>
          <p:cNvSpPr txBox="1"/>
          <p:nvPr/>
        </p:nvSpPr>
        <p:spPr>
          <a:xfrm>
            <a:off x="338291" y="289102"/>
            <a:ext cx="7747376" cy="400110"/>
          </a:xfrm>
          <a:prstGeom prst="rect">
            <a:avLst/>
          </a:prstGeom>
          <a:noFill/>
        </p:spPr>
        <p:txBody>
          <a:bodyPr wrap="square" rtlCol="0">
            <a:spAutoFit/>
          </a:bodyPr>
          <a:lstStyle/>
          <a:p>
            <a:r>
              <a:rPr lang="en-US" sz="2000" dirty="0">
                <a:latin typeface="Grotesque Light" panose="020B0304020202020204" pitchFamily="34" charset="0"/>
              </a:rPr>
              <a:t>Portfolio Wealth Projections</a:t>
            </a:r>
          </a:p>
        </p:txBody>
      </p:sp>
      <p:sp>
        <p:nvSpPr>
          <p:cNvPr id="18" name="TextBox 17">
            <a:extLst>
              <a:ext uri="{FF2B5EF4-FFF2-40B4-BE49-F238E27FC236}">
                <a16:creationId xmlns:a16="http://schemas.microsoft.com/office/drawing/2014/main" id="{B5936D7F-89B8-C8B5-D050-7B14494E386D}"/>
              </a:ext>
            </a:extLst>
          </p:cNvPr>
          <p:cNvSpPr txBox="1"/>
          <p:nvPr/>
        </p:nvSpPr>
        <p:spPr>
          <a:xfrm>
            <a:off x="338291" y="588604"/>
            <a:ext cx="7747376" cy="276999"/>
          </a:xfrm>
          <a:prstGeom prst="rect">
            <a:avLst/>
          </a:prstGeom>
          <a:noFill/>
        </p:spPr>
        <p:txBody>
          <a:bodyPr wrap="square" rtlCol="0">
            <a:spAutoFit/>
          </a:bodyPr>
          <a:lstStyle/>
          <a:p>
            <a:r>
              <a:rPr lang="en-US" sz="1200" dirty="0">
                <a:solidFill>
                  <a:schemeClr val="tx1">
                    <a:lumMod val="85000"/>
                    <a:lumOff val="15000"/>
                  </a:schemeClr>
                </a:solidFill>
                <a:latin typeface="Grotesque Light" panose="020B0304020202020204" pitchFamily="34" charset="0"/>
              </a:rPr>
              <a:t>Currency: USD. No Inflows or Outflows</a:t>
            </a:r>
          </a:p>
        </p:txBody>
      </p:sp>
      <p:cxnSp>
        <p:nvCxnSpPr>
          <p:cNvPr id="3" name="Straight Connector 2">
            <a:extLst>
              <a:ext uri="{FF2B5EF4-FFF2-40B4-BE49-F238E27FC236}">
                <a16:creationId xmlns:a16="http://schemas.microsoft.com/office/drawing/2014/main" id="{3E28A640-95FF-CC71-4B29-1BB1163BB34E}"/>
              </a:ext>
            </a:extLst>
          </p:cNvPr>
          <p:cNvCxnSpPr/>
          <p:nvPr/>
        </p:nvCxnSpPr>
        <p:spPr>
          <a:xfrm>
            <a:off x="302495" y="6500036"/>
            <a:ext cx="8539009"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8930911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E06753-B0B4-376E-9014-32E18E3B9B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5CF33C7-9276-F324-2DCB-69624477106F}"/>
              </a:ext>
            </a:extLst>
          </p:cNvPr>
          <p:cNvSpPr txBox="1"/>
          <p:nvPr/>
        </p:nvSpPr>
        <p:spPr>
          <a:xfrm>
            <a:off x="338291" y="233262"/>
            <a:ext cx="7747376" cy="400110"/>
          </a:xfrm>
          <a:prstGeom prst="rect">
            <a:avLst/>
          </a:prstGeom>
          <a:noFill/>
        </p:spPr>
        <p:txBody>
          <a:bodyPr wrap="square" rtlCol="0">
            <a:spAutoFit/>
          </a:bodyPr>
          <a:lstStyle/>
          <a:p>
            <a:r>
              <a:rPr lang="en-US" sz="2000" dirty="0">
                <a:latin typeface="Grotesque Light" panose="020B0304020202020204" pitchFamily="34" charset="0"/>
              </a:rPr>
              <a:t>Portfolio Capital Preservation</a:t>
            </a:r>
          </a:p>
        </p:txBody>
      </p:sp>
      <p:sp>
        <p:nvSpPr>
          <p:cNvPr id="2" name="TextBox 1">
            <a:extLst>
              <a:ext uri="{FF2B5EF4-FFF2-40B4-BE49-F238E27FC236}">
                <a16:creationId xmlns:a16="http://schemas.microsoft.com/office/drawing/2014/main" id="{8D6090D4-F37F-CE20-B207-BD276D0E5E63}"/>
              </a:ext>
            </a:extLst>
          </p:cNvPr>
          <p:cNvSpPr txBox="1"/>
          <p:nvPr/>
        </p:nvSpPr>
        <p:spPr>
          <a:xfrm>
            <a:off x="302496" y="1039422"/>
            <a:ext cx="8539009"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Portfolio Wealth Illustrations </a:t>
            </a:r>
          </a:p>
        </p:txBody>
      </p:sp>
      <p:sp>
        <p:nvSpPr>
          <p:cNvPr id="9" name="TextBox 8">
            <a:extLst>
              <a:ext uri="{FF2B5EF4-FFF2-40B4-BE49-F238E27FC236}">
                <a16:creationId xmlns:a16="http://schemas.microsoft.com/office/drawing/2014/main" id="{34BA0733-B160-F21F-F7CC-59D810F719E8}"/>
              </a:ext>
            </a:extLst>
          </p:cNvPr>
          <p:cNvSpPr txBox="1"/>
          <p:nvPr/>
        </p:nvSpPr>
        <p:spPr>
          <a:xfrm>
            <a:off x="338291" y="567664"/>
            <a:ext cx="7747376" cy="276999"/>
          </a:xfrm>
          <a:prstGeom prst="rect">
            <a:avLst/>
          </a:prstGeom>
          <a:noFill/>
        </p:spPr>
        <p:txBody>
          <a:bodyPr wrap="square" rtlCol="0">
            <a:spAutoFit/>
          </a:bodyPr>
          <a:lstStyle/>
          <a:p>
            <a:r>
              <a:rPr lang="en-US" sz="1200" dirty="0">
                <a:solidFill>
                  <a:schemeClr val="tx1">
                    <a:lumMod val="85000"/>
                    <a:lumOff val="15000"/>
                  </a:schemeClr>
                </a:solidFill>
                <a:latin typeface="Grotesque Light" panose="020B0304020202020204" pitchFamily="34" charset="0"/>
              </a:rPr>
              <a:t>Currency: USD. 5.5 Million Yearly Spend</a:t>
            </a:r>
          </a:p>
        </p:txBody>
      </p:sp>
      <p:sp>
        <p:nvSpPr>
          <p:cNvPr id="10" name="TextBox 9">
            <a:extLst>
              <a:ext uri="{FF2B5EF4-FFF2-40B4-BE49-F238E27FC236}">
                <a16:creationId xmlns:a16="http://schemas.microsoft.com/office/drawing/2014/main" id="{F448886F-8D60-E291-30E0-633BA85B9EC4}"/>
              </a:ext>
            </a:extLst>
          </p:cNvPr>
          <p:cNvSpPr txBox="1"/>
          <p:nvPr/>
        </p:nvSpPr>
        <p:spPr>
          <a:xfrm>
            <a:off x="781997" y="5578593"/>
            <a:ext cx="7831295" cy="600164"/>
          </a:xfrm>
          <a:prstGeom prst="rect">
            <a:avLst/>
          </a:prstGeom>
          <a:noFill/>
          <a:ln w="6350">
            <a:solidFill>
              <a:schemeClr val="bg1">
                <a:lumMod val="65000"/>
              </a:schemeClr>
            </a:solidFill>
          </a:ln>
        </p:spPr>
        <p:txBody>
          <a:bodyPr wrap="square" rtlCol="0">
            <a:spAutoFit/>
          </a:bodyPr>
          <a:lstStyle/>
          <a:p>
            <a:pPr marL="171450" indent="-171450" algn="ctr">
              <a:buFont typeface="Arial" panose="020B0604020202020204" pitchFamily="34" charset="0"/>
              <a:buChar char="•"/>
            </a:pPr>
            <a:r>
              <a:rPr lang="en-US" sz="1100" dirty="0">
                <a:latin typeface="Calibri Light" panose="020F0302020204030204" pitchFamily="34" charset="0"/>
                <a:cs typeface="Calibri Light" panose="020F0302020204030204" pitchFamily="34" charset="0"/>
              </a:rPr>
              <a:t>With a spend of $5.5mm per year, some amount of real capital depletion would be expected</a:t>
            </a:r>
          </a:p>
          <a:p>
            <a:pPr marL="171450" indent="-171450" algn="ctr">
              <a:buFont typeface="Arial" panose="020B0604020202020204" pitchFamily="34" charset="0"/>
              <a:buChar char="•"/>
            </a:pPr>
            <a:endParaRPr lang="en-US" sz="1100" dirty="0">
              <a:latin typeface="Calibri Light" panose="020F0302020204030204" pitchFamily="34" charset="0"/>
              <a:cs typeface="Calibri Light" panose="020F0302020204030204" pitchFamily="34" charset="0"/>
            </a:endParaRPr>
          </a:p>
          <a:p>
            <a:pPr marL="171450" indent="-171450" algn="ctr">
              <a:buFont typeface="Arial" panose="020B0604020202020204" pitchFamily="34" charset="0"/>
              <a:buChar char="•"/>
            </a:pPr>
            <a:r>
              <a:rPr lang="en-US" sz="1100" dirty="0">
                <a:latin typeface="Calibri Light" panose="020F0302020204030204" pitchFamily="34" charset="0"/>
                <a:cs typeface="Calibri Light" panose="020F0302020204030204" pitchFamily="34" charset="0"/>
              </a:rPr>
              <a:t>In the very bad case (1</a:t>
            </a:r>
            <a:r>
              <a:rPr lang="en-US" sz="1100" baseline="30000" dirty="0">
                <a:latin typeface="Calibri Light" panose="020F0302020204030204" pitchFamily="34" charset="0"/>
                <a:cs typeface="Calibri Light" panose="020F0302020204030204" pitchFamily="34" charset="0"/>
              </a:rPr>
              <a:t>st</a:t>
            </a:r>
            <a:r>
              <a:rPr lang="en-US" sz="1100" dirty="0">
                <a:latin typeface="Calibri Light" panose="020F0302020204030204" pitchFamily="34" charset="0"/>
                <a:cs typeface="Calibri Light" panose="020F0302020204030204" pitchFamily="34" charset="0"/>
              </a:rPr>
              <a:t> Percentile), the portfolio could experience full capital depletion within the 20-year investment horizon.</a:t>
            </a:r>
          </a:p>
        </p:txBody>
      </p:sp>
      <p:grpSp>
        <p:nvGrpSpPr>
          <p:cNvPr id="13" name="Group 12">
            <a:extLst>
              <a:ext uri="{FF2B5EF4-FFF2-40B4-BE49-F238E27FC236}">
                <a16:creationId xmlns:a16="http://schemas.microsoft.com/office/drawing/2014/main" id="{8F78CF40-D4D8-9660-A548-E92F41683D22}"/>
              </a:ext>
            </a:extLst>
          </p:cNvPr>
          <p:cNvGrpSpPr/>
          <p:nvPr/>
        </p:nvGrpSpPr>
        <p:grpSpPr>
          <a:xfrm>
            <a:off x="302495" y="1556951"/>
            <a:ext cx="8539009" cy="3797339"/>
            <a:chOff x="302495" y="1530330"/>
            <a:chExt cx="8539009" cy="3797339"/>
          </a:xfrm>
        </p:grpSpPr>
        <p:graphicFrame>
          <p:nvGraphicFramePr>
            <p:cNvPr id="11" name="Chart 10">
              <a:extLst>
                <a:ext uri="{FF2B5EF4-FFF2-40B4-BE49-F238E27FC236}">
                  <a16:creationId xmlns:a16="http://schemas.microsoft.com/office/drawing/2014/main" id="{00000000-0008-0000-0A00-000004000000}"/>
                </a:ext>
              </a:extLst>
            </p:cNvPr>
            <p:cNvGraphicFramePr>
              <a:graphicFrameLocks/>
            </p:cNvGraphicFramePr>
            <p:nvPr>
              <p:extLst>
                <p:ext uri="{D42A27DB-BD31-4B8C-83A1-F6EECF244321}">
                  <p14:modId xmlns:p14="http://schemas.microsoft.com/office/powerpoint/2010/main" val="431744640"/>
                </p:ext>
              </p:extLst>
            </p:nvPr>
          </p:nvGraphicFramePr>
          <p:xfrm>
            <a:off x="302495" y="1530330"/>
            <a:ext cx="8539009" cy="373152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2" name="Chart 11">
              <a:extLst>
                <a:ext uri="{FF2B5EF4-FFF2-40B4-BE49-F238E27FC236}">
                  <a16:creationId xmlns:a16="http://schemas.microsoft.com/office/drawing/2014/main" id="{00000000-0008-0000-0A00-000002000000}"/>
                </a:ext>
              </a:extLst>
            </p:cNvPr>
            <p:cNvGraphicFramePr>
              <a:graphicFrameLocks/>
            </p:cNvGraphicFramePr>
            <p:nvPr>
              <p:extLst>
                <p:ext uri="{D42A27DB-BD31-4B8C-83A1-F6EECF244321}">
                  <p14:modId xmlns:p14="http://schemas.microsoft.com/office/powerpoint/2010/main" val="2432867668"/>
                </p:ext>
              </p:extLst>
            </p:nvPr>
          </p:nvGraphicFramePr>
          <p:xfrm>
            <a:off x="4572000" y="1604152"/>
            <a:ext cx="4194356" cy="3723517"/>
          </p:xfrm>
          <a:graphic>
            <a:graphicData uri="http://schemas.openxmlformats.org/drawingml/2006/chart">
              <c:chart xmlns:c="http://schemas.openxmlformats.org/drawingml/2006/chart" xmlns:r="http://schemas.openxmlformats.org/officeDocument/2006/relationships" r:id="rId4"/>
            </a:graphicData>
          </a:graphic>
        </p:graphicFrame>
      </p:grpSp>
      <p:sp>
        <p:nvSpPr>
          <p:cNvPr id="14" name="TextBox 13">
            <a:extLst>
              <a:ext uri="{FF2B5EF4-FFF2-40B4-BE49-F238E27FC236}">
                <a16:creationId xmlns:a16="http://schemas.microsoft.com/office/drawing/2014/main" id="{4A58B946-1E66-5757-23B5-C88CFA7B8CCC}"/>
              </a:ext>
            </a:extLst>
          </p:cNvPr>
          <p:cNvSpPr txBox="1"/>
          <p:nvPr/>
        </p:nvSpPr>
        <p:spPr>
          <a:xfrm>
            <a:off x="302495" y="1364065"/>
            <a:ext cx="3998843" cy="261610"/>
          </a:xfrm>
          <a:prstGeom prst="rect">
            <a:avLst/>
          </a:prstGeom>
          <a:solidFill>
            <a:schemeClr val="tx2">
              <a:lumMod val="60000"/>
              <a:lumOff val="40000"/>
            </a:schemeClr>
          </a:solidFill>
          <a:ln w="6350">
            <a:solidFill>
              <a:schemeClr val="bg1">
                <a:lumMod val="75000"/>
              </a:schemeClr>
            </a:solidFill>
          </a:ln>
        </p:spPr>
        <p:txBody>
          <a:bodyPr wrap="square" rtlCol="0">
            <a:spAutoFit/>
          </a:bodyPr>
          <a:lstStyle>
            <a:defPPr>
              <a:defRPr lang="en-US"/>
            </a:defPPr>
            <a:lvl1pPr algn="ctr">
              <a:defRPr sz="1100">
                <a:solidFill>
                  <a:schemeClr val="bg1"/>
                </a:solidFill>
                <a:latin typeface="+mj-lt"/>
              </a:defRPr>
            </a:lvl1pPr>
          </a:lstStyle>
          <a:p>
            <a:r>
              <a:rPr lang="en-US" dirty="0"/>
              <a:t>Portfolio Value Paths, Adjusted for Inflation</a:t>
            </a:r>
          </a:p>
        </p:txBody>
      </p:sp>
      <p:sp>
        <p:nvSpPr>
          <p:cNvPr id="15" name="TextBox 14">
            <a:extLst>
              <a:ext uri="{FF2B5EF4-FFF2-40B4-BE49-F238E27FC236}">
                <a16:creationId xmlns:a16="http://schemas.microsoft.com/office/drawing/2014/main" id="{851F41FD-7777-AE1B-F2E4-708DDEF2DFBD}"/>
              </a:ext>
            </a:extLst>
          </p:cNvPr>
          <p:cNvSpPr txBox="1"/>
          <p:nvPr/>
        </p:nvSpPr>
        <p:spPr>
          <a:xfrm>
            <a:off x="4520794" y="1362947"/>
            <a:ext cx="4320711" cy="261610"/>
          </a:xfrm>
          <a:prstGeom prst="rect">
            <a:avLst/>
          </a:prstGeom>
          <a:solidFill>
            <a:schemeClr val="tx2">
              <a:lumMod val="60000"/>
              <a:lumOff val="40000"/>
            </a:schemeClr>
          </a:solidFill>
          <a:ln w="6350">
            <a:solidFill>
              <a:schemeClr val="bg1">
                <a:lumMod val="75000"/>
              </a:schemeClr>
            </a:solidFill>
          </a:ln>
        </p:spPr>
        <p:txBody>
          <a:bodyPr wrap="square" rtlCol="0">
            <a:spAutoFit/>
          </a:bodyPr>
          <a:lstStyle>
            <a:defPPr>
              <a:defRPr lang="en-US"/>
            </a:defPPr>
            <a:lvl1pPr algn="ctr">
              <a:defRPr sz="1100">
                <a:solidFill>
                  <a:schemeClr val="bg1"/>
                </a:solidFill>
                <a:latin typeface="+mj-lt"/>
              </a:defRPr>
            </a:lvl1pPr>
          </a:lstStyle>
          <a:p>
            <a:r>
              <a:rPr lang="en-US" dirty="0"/>
              <a:t>Yearly Nominal Outflow Quantiles</a:t>
            </a:r>
          </a:p>
        </p:txBody>
      </p:sp>
      <p:sp>
        <p:nvSpPr>
          <p:cNvPr id="16" name="Oval 15">
            <a:extLst>
              <a:ext uri="{FF2B5EF4-FFF2-40B4-BE49-F238E27FC236}">
                <a16:creationId xmlns:a16="http://schemas.microsoft.com/office/drawing/2014/main" id="{763BDF97-9B99-2D27-41D9-DEC946834A66}"/>
              </a:ext>
            </a:extLst>
          </p:cNvPr>
          <p:cNvSpPr/>
          <p:nvPr/>
        </p:nvSpPr>
        <p:spPr>
          <a:xfrm>
            <a:off x="4069209" y="3329480"/>
            <a:ext cx="328067" cy="314107"/>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Connector 17">
            <a:extLst>
              <a:ext uri="{FF2B5EF4-FFF2-40B4-BE49-F238E27FC236}">
                <a16:creationId xmlns:a16="http://schemas.microsoft.com/office/drawing/2014/main" id="{7E86B78B-78CC-57BB-7545-15F07EA2C1BC}"/>
              </a:ext>
            </a:extLst>
          </p:cNvPr>
          <p:cNvCxnSpPr/>
          <p:nvPr/>
        </p:nvCxnSpPr>
        <p:spPr>
          <a:xfrm>
            <a:off x="935125" y="3226290"/>
            <a:ext cx="3352037"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 name="Straight Connector 2">
            <a:extLst>
              <a:ext uri="{FF2B5EF4-FFF2-40B4-BE49-F238E27FC236}">
                <a16:creationId xmlns:a16="http://schemas.microsoft.com/office/drawing/2014/main" id="{AD7BBA2E-CEE7-A857-7C2A-611D396E98CB}"/>
              </a:ext>
            </a:extLst>
          </p:cNvPr>
          <p:cNvCxnSpPr/>
          <p:nvPr/>
        </p:nvCxnSpPr>
        <p:spPr>
          <a:xfrm>
            <a:off x="302495" y="6500036"/>
            <a:ext cx="8539009"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97620270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D47BA1-F357-E0B7-CABB-755AE64731E9}"/>
            </a:ext>
          </a:extLst>
        </p:cNvPr>
        <p:cNvGrpSpPr/>
        <p:nvPr/>
      </p:nvGrpSpPr>
      <p:grpSpPr>
        <a:xfrm>
          <a:off x="0" y="0"/>
          <a:ext cx="0" cy="0"/>
          <a:chOff x="0" y="0"/>
          <a:chExt cx="0" cy="0"/>
        </a:xfrm>
      </p:grpSpPr>
      <p:graphicFrame>
        <p:nvGraphicFramePr>
          <p:cNvPr id="13" name="Chart 12">
            <a:extLst>
              <a:ext uri="{FF2B5EF4-FFF2-40B4-BE49-F238E27FC236}">
                <a16:creationId xmlns:a16="http://schemas.microsoft.com/office/drawing/2014/main" id="{CC15D3C2-5CA1-C2CB-08BA-53429653B776}"/>
              </a:ext>
            </a:extLst>
          </p:cNvPr>
          <p:cNvGraphicFramePr>
            <a:graphicFrameLocks/>
          </p:cNvGraphicFramePr>
          <p:nvPr>
            <p:extLst>
              <p:ext uri="{D42A27DB-BD31-4B8C-83A1-F6EECF244321}">
                <p14:modId xmlns:p14="http://schemas.microsoft.com/office/powerpoint/2010/main" val="1281687004"/>
              </p:ext>
            </p:extLst>
          </p:nvPr>
        </p:nvGraphicFramePr>
        <p:xfrm>
          <a:off x="506415" y="1394134"/>
          <a:ext cx="8131170" cy="4226983"/>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Box 3">
            <a:extLst>
              <a:ext uri="{FF2B5EF4-FFF2-40B4-BE49-F238E27FC236}">
                <a16:creationId xmlns:a16="http://schemas.microsoft.com/office/drawing/2014/main" id="{A82040C3-DBCE-44EA-1E31-B426D2AE9161}"/>
              </a:ext>
            </a:extLst>
          </p:cNvPr>
          <p:cNvSpPr txBox="1"/>
          <p:nvPr/>
        </p:nvSpPr>
        <p:spPr>
          <a:xfrm>
            <a:off x="338291" y="289102"/>
            <a:ext cx="7747376" cy="400110"/>
          </a:xfrm>
          <a:prstGeom prst="rect">
            <a:avLst/>
          </a:prstGeom>
          <a:noFill/>
        </p:spPr>
        <p:txBody>
          <a:bodyPr wrap="square" rtlCol="0">
            <a:spAutoFit/>
          </a:bodyPr>
          <a:lstStyle/>
          <a:p>
            <a:r>
              <a:rPr lang="en-US" sz="2000" dirty="0">
                <a:latin typeface="Grotesque Light" panose="020B0304020202020204" pitchFamily="34" charset="0"/>
              </a:rPr>
              <a:t>Probability of Wealth Preservation</a:t>
            </a:r>
          </a:p>
        </p:txBody>
      </p:sp>
      <p:sp>
        <p:nvSpPr>
          <p:cNvPr id="2" name="TextBox 1">
            <a:extLst>
              <a:ext uri="{FF2B5EF4-FFF2-40B4-BE49-F238E27FC236}">
                <a16:creationId xmlns:a16="http://schemas.microsoft.com/office/drawing/2014/main" id="{4D7F05CC-8F1F-EA77-0228-AE616BC5229B}"/>
              </a:ext>
            </a:extLst>
          </p:cNvPr>
          <p:cNvSpPr txBox="1"/>
          <p:nvPr/>
        </p:nvSpPr>
        <p:spPr>
          <a:xfrm>
            <a:off x="302496" y="982066"/>
            <a:ext cx="8539009"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Probability of Real Wealth Preservation Across Spending Level and Investment Horizon</a:t>
            </a:r>
          </a:p>
        </p:txBody>
      </p:sp>
      <p:sp>
        <p:nvSpPr>
          <p:cNvPr id="10" name="TextBox 9">
            <a:extLst>
              <a:ext uri="{FF2B5EF4-FFF2-40B4-BE49-F238E27FC236}">
                <a16:creationId xmlns:a16="http://schemas.microsoft.com/office/drawing/2014/main" id="{1020E49B-4298-6478-3440-3F151A56BC66}"/>
              </a:ext>
            </a:extLst>
          </p:cNvPr>
          <p:cNvSpPr txBox="1"/>
          <p:nvPr/>
        </p:nvSpPr>
        <p:spPr>
          <a:xfrm>
            <a:off x="656353" y="5665542"/>
            <a:ext cx="7831295" cy="600164"/>
          </a:xfrm>
          <a:prstGeom prst="rect">
            <a:avLst/>
          </a:prstGeom>
          <a:noFill/>
          <a:ln w="6350">
            <a:solidFill>
              <a:schemeClr val="bg1">
                <a:lumMod val="65000"/>
              </a:schemeClr>
            </a:solidFill>
          </a:ln>
        </p:spPr>
        <p:txBody>
          <a:bodyPr wrap="square" rtlCol="0">
            <a:spAutoFit/>
          </a:bodyPr>
          <a:lstStyle/>
          <a:p>
            <a:pPr marL="171450" indent="-171450" algn="ctr">
              <a:buFont typeface="Arial" panose="020B0604020202020204" pitchFamily="34" charset="0"/>
              <a:buChar char="•"/>
            </a:pPr>
            <a:r>
              <a:rPr lang="en-US" sz="1100" dirty="0">
                <a:latin typeface="Calibri Light" panose="020F0302020204030204" pitchFamily="34" charset="0"/>
                <a:cs typeface="Calibri Light" panose="020F0302020204030204" pitchFamily="34" charset="0"/>
              </a:rPr>
              <a:t>At spending levels below 5%, the portfolio would be expected to preserve real wealth over both the near and long-term.</a:t>
            </a:r>
          </a:p>
          <a:p>
            <a:pPr marL="171450" indent="-171450" algn="ctr">
              <a:buFont typeface="Arial" panose="020B0604020202020204" pitchFamily="34" charset="0"/>
              <a:buChar char="•"/>
            </a:pPr>
            <a:endParaRPr lang="en-US" sz="1100" dirty="0">
              <a:latin typeface="Calibri Light" panose="020F0302020204030204" pitchFamily="34" charset="0"/>
              <a:cs typeface="Calibri Light" panose="020F0302020204030204" pitchFamily="34" charset="0"/>
            </a:endParaRPr>
          </a:p>
          <a:p>
            <a:pPr marL="171450" indent="-171450" algn="ctr">
              <a:buFont typeface="Arial" panose="020B0604020202020204" pitchFamily="34" charset="0"/>
              <a:buChar char="•"/>
            </a:pPr>
            <a:r>
              <a:rPr lang="en-US" sz="1100" dirty="0">
                <a:latin typeface="Calibri Light" panose="020F0302020204030204" pitchFamily="34" charset="0"/>
                <a:cs typeface="Calibri Light" panose="020F0302020204030204" pitchFamily="34" charset="0"/>
              </a:rPr>
              <a:t>Above a 5% spending level, there is a meaningful change of some loss of real wealth.</a:t>
            </a:r>
          </a:p>
        </p:txBody>
      </p:sp>
      <p:cxnSp>
        <p:nvCxnSpPr>
          <p:cNvPr id="12" name="Straight Connector 11">
            <a:extLst>
              <a:ext uri="{FF2B5EF4-FFF2-40B4-BE49-F238E27FC236}">
                <a16:creationId xmlns:a16="http://schemas.microsoft.com/office/drawing/2014/main" id="{C7D334C0-FFCA-96A4-A6A0-0C57C89EAA6B}"/>
              </a:ext>
            </a:extLst>
          </p:cNvPr>
          <p:cNvCxnSpPr>
            <a:cxnSpLocks/>
          </p:cNvCxnSpPr>
          <p:nvPr/>
        </p:nvCxnSpPr>
        <p:spPr>
          <a:xfrm>
            <a:off x="1047022" y="3371414"/>
            <a:ext cx="7405943" cy="0"/>
          </a:xfrm>
          <a:prstGeom prst="line">
            <a:avLst/>
          </a:prstGeom>
          <a:ln>
            <a:prstDash val="dash"/>
          </a:ln>
        </p:spPr>
        <p:style>
          <a:lnRef idx="1">
            <a:schemeClr val="dk1"/>
          </a:lnRef>
          <a:fillRef idx="0">
            <a:schemeClr val="dk1"/>
          </a:fillRef>
          <a:effectRef idx="0">
            <a:schemeClr val="dk1"/>
          </a:effectRef>
          <a:fontRef idx="minor">
            <a:schemeClr val="tx1"/>
          </a:fontRef>
        </p:style>
      </p:cxnSp>
      <p:cxnSp>
        <p:nvCxnSpPr>
          <p:cNvPr id="3" name="Straight Connector 2">
            <a:extLst>
              <a:ext uri="{FF2B5EF4-FFF2-40B4-BE49-F238E27FC236}">
                <a16:creationId xmlns:a16="http://schemas.microsoft.com/office/drawing/2014/main" id="{F348B962-3241-D66C-0A45-32755C423AAB}"/>
              </a:ext>
            </a:extLst>
          </p:cNvPr>
          <p:cNvCxnSpPr/>
          <p:nvPr/>
        </p:nvCxnSpPr>
        <p:spPr>
          <a:xfrm>
            <a:off x="302495" y="6500036"/>
            <a:ext cx="8539009" cy="0"/>
          </a:xfrm>
          <a:prstGeom prst="line">
            <a:avLst/>
          </a:prstGeom>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23032478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4E719-26F0-6578-78E6-A739F45C7D4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59BD2C5-AE7F-83BC-F998-CFE98EF5AD52}"/>
              </a:ext>
            </a:extLst>
          </p:cNvPr>
          <p:cNvSpPr txBox="1"/>
          <p:nvPr/>
        </p:nvSpPr>
        <p:spPr>
          <a:xfrm>
            <a:off x="338291" y="289102"/>
            <a:ext cx="7747376" cy="400110"/>
          </a:xfrm>
          <a:prstGeom prst="rect">
            <a:avLst/>
          </a:prstGeom>
          <a:noFill/>
        </p:spPr>
        <p:txBody>
          <a:bodyPr wrap="square" rtlCol="0">
            <a:spAutoFit/>
          </a:bodyPr>
          <a:lstStyle/>
          <a:p>
            <a:r>
              <a:rPr lang="en-US" sz="2000" dirty="0">
                <a:latin typeface="Grotesque Light" panose="020B0304020202020204" pitchFamily="34" charset="0"/>
              </a:rPr>
              <a:t>Probability of Wealth Preservation</a:t>
            </a:r>
          </a:p>
        </p:txBody>
      </p:sp>
      <p:sp>
        <p:nvSpPr>
          <p:cNvPr id="2" name="TextBox 1">
            <a:extLst>
              <a:ext uri="{FF2B5EF4-FFF2-40B4-BE49-F238E27FC236}">
                <a16:creationId xmlns:a16="http://schemas.microsoft.com/office/drawing/2014/main" id="{B8ACDE8E-4172-8A07-7F03-DAFDA98D41F7}"/>
              </a:ext>
            </a:extLst>
          </p:cNvPr>
          <p:cNvSpPr txBox="1"/>
          <p:nvPr/>
        </p:nvSpPr>
        <p:spPr>
          <a:xfrm>
            <a:off x="302496" y="982066"/>
            <a:ext cx="8539009"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Probability of Real Wealth Preservation Across Starting Values and Investment Horizon</a:t>
            </a:r>
          </a:p>
        </p:txBody>
      </p:sp>
      <p:cxnSp>
        <p:nvCxnSpPr>
          <p:cNvPr id="3" name="Straight Connector 2">
            <a:extLst>
              <a:ext uri="{FF2B5EF4-FFF2-40B4-BE49-F238E27FC236}">
                <a16:creationId xmlns:a16="http://schemas.microsoft.com/office/drawing/2014/main" id="{48FF0E2D-AEBE-A79A-537D-56F56924DD3F}"/>
              </a:ext>
            </a:extLst>
          </p:cNvPr>
          <p:cNvCxnSpPr/>
          <p:nvPr/>
        </p:nvCxnSpPr>
        <p:spPr>
          <a:xfrm>
            <a:off x="302495" y="6500036"/>
            <a:ext cx="8539009" cy="0"/>
          </a:xfrm>
          <a:prstGeom prst="line">
            <a:avLst/>
          </a:prstGeom>
        </p:spPr>
        <p:style>
          <a:lnRef idx="1">
            <a:schemeClr val="dk1"/>
          </a:lnRef>
          <a:fillRef idx="0">
            <a:schemeClr val="dk1"/>
          </a:fillRef>
          <a:effectRef idx="0">
            <a:schemeClr val="dk1"/>
          </a:effectRef>
          <a:fontRef idx="minor">
            <a:schemeClr val="tx1"/>
          </a:fontRef>
        </p:style>
      </p:cxnSp>
      <p:sp>
        <p:nvSpPr>
          <p:cNvPr id="5" name="TextBox 4">
            <a:extLst>
              <a:ext uri="{FF2B5EF4-FFF2-40B4-BE49-F238E27FC236}">
                <a16:creationId xmlns:a16="http://schemas.microsoft.com/office/drawing/2014/main" id="{D5FD57B5-5D92-253D-C6C5-E8E584EFDB87}"/>
              </a:ext>
            </a:extLst>
          </p:cNvPr>
          <p:cNvSpPr txBox="1"/>
          <p:nvPr/>
        </p:nvSpPr>
        <p:spPr>
          <a:xfrm>
            <a:off x="302495" y="1321533"/>
            <a:ext cx="4163179" cy="261610"/>
          </a:xfrm>
          <a:prstGeom prst="rect">
            <a:avLst/>
          </a:prstGeom>
          <a:solidFill>
            <a:schemeClr val="tx2">
              <a:lumMod val="60000"/>
              <a:lumOff val="40000"/>
            </a:schemeClr>
          </a:solidFill>
          <a:ln w="6350">
            <a:solidFill>
              <a:schemeClr val="bg1">
                <a:lumMod val="75000"/>
              </a:schemeClr>
            </a:solidFill>
          </a:ln>
        </p:spPr>
        <p:txBody>
          <a:bodyPr wrap="square" rtlCol="0">
            <a:spAutoFit/>
          </a:bodyPr>
          <a:lstStyle>
            <a:defPPr>
              <a:defRPr lang="en-US"/>
            </a:defPPr>
            <a:lvl1pPr algn="ctr">
              <a:defRPr sz="1100">
                <a:solidFill>
                  <a:schemeClr val="bg1"/>
                </a:solidFill>
                <a:latin typeface="+mj-lt"/>
              </a:defRPr>
            </a:lvl1pPr>
          </a:lstStyle>
          <a:p>
            <a:r>
              <a:rPr lang="en-US" dirty="0"/>
              <a:t>Low Volatility</a:t>
            </a:r>
          </a:p>
        </p:txBody>
      </p:sp>
      <p:sp>
        <p:nvSpPr>
          <p:cNvPr id="6" name="TextBox 5">
            <a:extLst>
              <a:ext uri="{FF2B5EF4-FFF2-40B4-BE49-F238E27FC236}">
                <a16:creationId xmlns:a16="http://schemas.microsoft.com/office/drawing/2014/main" id="{06627D31-8425-8541-B296-998CE531DCED}"/>
              </a:ext>
            </a:extLst>
          </p:cNvPr>
          <p:cNvSpPr txBox="1"/>
          <p:nvPr/>
        </p:nvSpPr>
        <p:spPr>
          <a:xfrm>
            <a:off x="4678325" y="1321533"/>
            <a:ext cx="4163179" cy="261610"/>
          </a:xfrm>
          <a:prstGeom prst="rect">
            <a:avLst/>
          </a:prstGeom>
          <a:solidFill>
            <a:schemeClr val="tx2">
              <a:lumMod val="60000"/>
              <a:lumOff val="40000"/>
            </a:schemeClr>
          </a:solidFill>
          <a:ln w="6350">
            <a:solidFill>
              <a:schemeClr val="bg1">
                <a:lumMod val="75000"/>
              </a:schemeClr>
            </a:solidFill>
          </a:ln>
        </p:spPr>
        <p:txBody>
          <a:bodyPr wrap="square" rtlCol="0">
            <a:spAutoFit/>
          </a:bodyPr>
          <a:lstStyle>
            <a:defPPr>
              <a:defRPr lang="en-US"/>
            </a:defPPr>
            <a:lvl1pPr algn="ctr">
              <a:defRPr sz="1100">
                <a:solidFill>
                  <a:schemeClr val="bg1"/>
                </a:solidFill>
                <a:latin typeface="+mj-lt"/>
              </a:defRPr>
            </a:lvl1pPr>
          </a:lstStyle>
          <a:p>
            <a:r>
              <a:rPr lang="en-US" dirty="0"/>
              <a:t>Conservative</a:t>
            </a:r>
          </a:p>
        </p:txBody>
      </p:sp>
      <p:sp>
        <p:nvSpPr>
          <p:cNvPr id="7" name="TextBox 6">
            <a:extLst>
              <a:ext uri="{FF2B5EF4-FFF2-40B4-BE49-F238E27FC236}">
                <a16:creationId xmlns:a16="http://schemas.microsoft.com/office/drawing/2014/main" id="{E19A8FCF-3D3D-E666-E5D1-AC2785A903A8}"/>
              </a:ext>
            </a:extLst>
          </p:cNvPr>
          <p:cNvSpPr txBox="1"/>
          <p:nvPr/>
        </p:nvSpPr>
        <p:spPr>
          <a:xfrm>
            <a:off x="302495" y="3845880"/>
            <a:ext cx="4163179" cy="261610"/>
          </a:xfrm>
          <a:prstGeom prst="rect">
            <a:avLst/>
          </a:prstGeom>
          <a:solidFill>
            <a:schemeClr val="tx2">
              <a:lumMod val="60000"/>
              <a:lumOff val="40000"/>
            </a:schemeClr>
          </a:solidFill>
          <a:ln w="6350">
            <a:solidFill>
              <a:schemeClr val="bg1">
                <a:lumMod val="75000"/>
              </a:schemeClr>
            </a:solidFill>
          </a:ln>
        </p:spPr>
        <p:txBody>
          <a:bodyPr wrap="square" rtlCol="0">
            <a:spAutoFit/>
          </a:bodyPr>
          <a:lstStyle>
            <a:defPPr>
              <a:defRPr lang="en-US"/>
            </a:defPPr>
            <a:lvl1pPr algn="ctr">
              <a:defRPr sz="1100">
                <a:solidFill>
                  <a:schemeClr val="bg1"/>
                </a:solidFill>
                <a:latin typeface="+mj-lt"/>
              </a:defRPr>
            </a:lvl1pPr>
          </a:lstStyle>
          <a:p>
            <a:r>
              <a:rPr lang="en-US" dirty="0"/>
              <a:t>Moderate</a:t>
            </a:r>
          </a:p>
        </p:txBody>
      </p:sp>
      <p:sp>
        <p:nvSpPr>
          <p:cNvPr id="8" name="TextBox 7">
            <a:extLst>
              <a:ext uri="{FF2B5EF4-FFF2-40B4-BE49-F238E27FC236}">
                <a16:creationId xmlns:a16="http://schemas.microsoft.com/office/drawing/2014/main" id="{5DF05E42-9108-2265-1E5B-D48A074F7DBA}"/>
              </a:ext>
            </a:extLst>
          </p:cNvPr>
          <p:cNvSpPr txBox="1"/>
          <p:nvPr/>
        </p:nvSpPr>
        <p:spPr>
          <a:xfrm>
            <a:off x="4678325" y="3845880"/>
            <a:ext cx="4163179" cy="261610"/>
          </a:xfrm>
          <a:prstGeom prst="rect">
            <a:avLst/>
          </a:prstGeom>
          <a:solidFill>
            <a:schemeClr val="tx2">
              <a:lumMod val="60000"/>
              <a:lumOff val="40000"/>
            </a:schemeClr>
          </a:solidFill>
          <a:ln w="6350">
            <a:solidFill>
              <a:schemeClr val="bg1">
                <a:lumMod val="75000"/>
              </a:schemeClr>
            </a:solidFill>
          </a:ln>
        </p:spPr>
        <p:txBody>
          <a:bodyPr wrap="square" rtlCol="0">
            <a:spAutoFit/>
          </a:bodyPr>
          <a:lstStyle>
            <a:defPPr>
              <a:defRPr lang="en-US"/>
            </a:defPPr>
            <a:lvl1pPr algn="ctr">
              <a:defRPr sz="1100">
                <a:solidFill>
                  <a:schemeClr val="bg1"/>
                </a:solidFill>
                <a:latin typeface="+mj-lt"/>
              </a:defRPr>
            </a:lvl1pPr>
          </a:lstStyle>
          <a:p>
            <a:r>
              <a:rPr lang="en-US" dirty="0"/>
              <a:t>Conservative</a:t>
            </a:r>
          </a:p>
        </p:txBody>
      </p:sp>
    </p:spTree>
    <p:extLst>
      <p:ext uri="{BB962C8B-B14F-4D97-AF65-F5344CB8AC3E}">
        <p14:creationId xmlns:p14="http://schemas.microsoft.com/office/powerpoint/2010/main" val="17637366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98F272-64F2-51BE-08EE-F5535C6E34C6}"/>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5624E6F-E595-49BB-B5CC-9A848ED67484}"/>
              </a:ext>
            </a:extLst>
          </p:cNvPr>
          <p:cNvSpPr txBox="1"/>
          <p:nvPr/>
        </p:nvSpPr>
        <p:spPr>
          <a:xfrm>
            <a:off x="1769918" y="2951947"/>
            <a:ext cx="5604165" cy="954107"/>
          </a:xfrm>
          <a:prstGeom prst="rect">
            <a:avLst/>
          </a:prstGeom>
          <a:noFill/>
        </p:spPr>
        <p:txBody>
          <a:bodyPr wrap="square" rtlCol="0">
            <a:spAutoFit/>
          </a:bodyPr>
          <a:lstStyle>
            <a:defPPr>
              <a:defRPr lang="en-US"/>
            </a:defPPr>
            <a:lvl1pPr algn="ctr">
              <a:defRPr sz="2800">
                <a:latin typeface="Grotesque Light" panose="020B0304020202020204" pitchFamily="34" charset="0"/>
              </a:defRPr>
            </a:lvl1pPr>
          </a:lstStyle>
          <a:p>
            <a:r>
              <a:rPr lang="en-US" dirty="0"/>
              <a:t>Case Studies:</a:t>
            </a:r>
          </a:p>
          <a:p>
            <a:r>
              <a:rPr lang="en-US" dirty="0"/>
              <a:t>Portfolio Optimization</a:t>
            </a:r>
          </a:p>
        </p:txBody>
      </p:sp>
    </p:spTree>
    <p:extLst>
      <p:ext uri="{BB962C8B-B14F-4D97-AF65-F5344CB8AC3E}">
        <p14:creationId xmlns:p14="http://schemas.microsoft.com/office/powerpoint/2010/main" val="4754388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DE628F-740B-BEDA-3A71-CB650E119AA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552D726-DE9D-DB23-01AF-5AF817C179C1}"/>
              </a:ext>
            </a:extLst>
          </p:cNvPr>
          <p:cNvSpPr txBox="1"/>
          <p:nvPr/>
        </p:nvSpPr>
        <p:spPr>
          <a:xfrm>
            <a:off x="287491" y="365302"/>
            <a:ext cx="7747376" cy="400110"/>
          </a:xfrm>
          <a:prstGeom prst="rect">
            <a:avLst/>
          </a:prstGeom>
          <a:noFill/>
        </p:spPr>
        <p:txBody>
          <a:bodyPr wrap="square" rtlCol="0">
            <a:spAutoFit/>
          </a:bodyPr>
          <a:lstStyle/>
          <a:p>
            <a:r>
              <a:rPr lang="en-US" sz="2000" dirty="0">
                <a:latin typeface="Grotesque Light" panose="020B0304020202020204" pitchFamily="34" charset="0"/>
              </a:rPr>
              <a:t>Return Matched Optimization</a:t>
            </a:r>
          </a:p>
        </p:txBody>
      </p:sp>
      <p:cxnSp>
        <p:nvCxnSpPr>
          <p:cNvPr id="10" name="Straight Connector 9">
            <a:extLst>
              <a:ext uri="{FF2B5EF4-FFF2-40B4-BE49-F238E27FC236}">
                <a16:creationId xmlns:a16="http://schemas.microsoft.com/office/drawing/2014/main" id="{821217FF-4355-686F-613F-C9E2304B9635}"/>
              </a:ext>
            </a:extLst>
          </p:cNvPr>
          <p:cNvCxnSpPr/>
          <p:nvPr/>
        </p:nvCxnSpPr>
        <p:spPr>
          <a:xfrm>
            <a:off x="302495" y="6500036"/>
            <a:ext cx="8539009" cy="0"/>
          </a:xfrm>
          <a:prstGeom prst="line">
            <a:avLst/>
          </a:prstGeom>
        </p:spPr>
        <p:style>
          <a:lnRef idx="1">
            <a:schemeClr val="dk1"/>
          </a:lnRef>
          <a:fillRef idx="0">
            <a:schemeClr val="dk1"/>
          </a:fillRef>
          <a:effectRef idx="0">
            <a:schemeClr val="dk1"/>
          </a:effectRef>
          <a:fontRef idx="minor">
            <a:schemeClr val="tx1"/>
          </a:fontRef>
        </p:style>
      </p:cxnSp>
      <p:graphicFrame>
        <p:nvGraphicFramePr>
          <p:cNvPr id="8" name="Object 7">
            <a:extLst>
              <a:ext uri="{FF2B5EF4-FFF2-40B4-BE49-F238E27FC236}">
                <a16:creationId xmlns:a16="http://schemas.microsoft.com/office/drawing/2014/main" id="{0835E208-1D83-7AFB-FC78-ACA3919D39B9}"/>
              </a:ext>
            </a:extLst>
          </p:cNvPr>
          <p:cNvGraphicFramePr>
            <a:graphicFrameLocks noChangeAspect="1"/>
          </p:cNvGraphicFramePr>
          <p:nvPr>
            <p:extLst>
              <p:ext uri="{D42A27DB-BD31-4B8C-83A1-F6EECF244321}">
                <p14:modId xmlns:p14="http://schemas.microsoft.com/office/powerpoint/2010/main" val="1408843061"/>
              </p:ext>
            </p:extLst>
          </p:nvPr>
        </p:nvGraphicFramePr>
        <p:xfrm>
          <a:off x="320672" y="1397000"/>
          <a:ext cx="4081345" cy="4919135"/>
        </p:xfrm>
        <a:graphic>
          <a:graphicData uri="http://schemas.openxmlformats.org/presentationml/2006/ole">
            <mc:AlternateContent xmlns:mc="http://schemas.openxmlformats.org/markup-compatibility/2006">
              <mc:Choice xmlns:v="urn:schemas-microsoft-com:vml" Requires="v">
                <p:oleObj name="Worksheet" r:id="rId2" imgW="6997700" imgH="8432800" progId="Excel.Sheet.12">
                  <p:embed/>
                </p:oleObj>
              </mc:Choice>
              <mc:Fallback>
                <p:oleObj name="Worksheet" r:id="rId2" imgW="6997700" imgH="8432800" progId="Excel.Sheet.12">
                  <p:embed/>
                  <p:pic>
                    <p:nvPicPr>
                      <p:cNvPr id="0" name=""/>
                      <p:cNvPicPr/>
                      <p:nvPr/>
                    </p:nvPicPr>
                    <p:blipFill>
                      <a:blip r:embed="rId3"/>
                      <a:stretch>
                        <a:fillRect/>
                      </a:stretch>
                    </p:blipFill>
                    <p:spPr>
                      <a:xfrm>
                        <a:off x="320672" y="1397000"/>
                        <a:ext cx="4081345" cy="4919135"/>
                      </a:xfrm>
                      <a:prstGeom prst="rect">
                        <a:avLst/>
                      </a:prstGeom>
                    </p:spPr>
                  </p:pic>
                </p:oleObj>
              </mc:Fallback>
            </mc:AlternateContent>
          </a:graphicData>
        </a:graphic>
      </p:graphicFrame>
      <p:sp>
        <p:nvSpPr>
          <p:cNvPr id="17" name="Rectangle 16">
            <a:extLst>
              <a:ext uri="{FF2B5EF4-FFF2-40B4-BE49-F238E27FC236}">
                <a16:creationId xmlns:a16="http://schemas.microsoft.com/office/drawing/2014/main" id="{E0E9A5CB-D088-126D-C84F-5FA63F160484}"/>
              </a:ext>
            </a:extLst>
          </p:cNvPr>
          <p:cNvSpPr/>
          <p:nvPr/>
        </p:nvSpPr>
        <p:spPr>
          <a:xfrm>
            <a:off x="2336800" y="5765800"/>
            <a:ext cx="2048934" cy="19473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 name="Object 17">
            <a:extLst>
              <a:ext uri="{FF2B5EF4-FFF2-40B4-BE49-F238E27FC236}">
                <a16:creationId xmlns:a16="http://schemas.microsoft.com/office/drawing/2014/main" id="{F2669D8B-A0DB-82D8-8073-829AA0FC392C}"/>
              </a:ext>
            </a:extLst>
          </p:cNvPr>
          <p:cNvGraphicFramePr>
            <a:graphicFrameLocks noChangeAspect="1"/>
          </p:cNvGraphicFramePr>
          <p:nvPr>
            <p:extLst>
              <p:ext uri="{D42A27DB-BD31-4B8C-83A1-F6EECF244321}">
                <p14:modId xmlns:p14="http://schemas.microsoft.com/office/powerpoint/2010/main" val="2471281355"/>
              </p:ext>
            </p:extLst>
          </p:nvPr>
        </p:nvGraphicFramePr>
        <p:xfrm>
          <a:off x="4722358" y="1599477"/>
          <a:ext cx="4064433" cy="4716658"/>
        </p:xfrm>
        <a:graphic>
          <a:graphicData uri="http://schemas.openxmlformats.org/presentationml/2006/ole">
            <mc:AlternateContent xmlns:mc="http://schemas.openxmlformats.org/markup-compatibility/2006">
              <mc:Choice xmlns:v="urn:schemas-microsoft-com:vml" Requires="v">
                <p:oleObj name="Worksheet" r:id="rId4" imgW="6172200" imgH="7162800" progId="Excel.Sheet.12">
                  <p:embed/>
                </p:oleObj>
              </mc:Choice>
              <mc:Fallback>
                <p:oleObj name="Worksheet" r:id="rId4" imgW="6172200" imgH="7162800" progId="Excel.Sheet.12">
                  <p:embed/>
                  <p:pic>
                    <p:nvPicPr>
                      <p:cNvPr id="0" name=""/>
                      <p:cNvPicPr/>
                      <p:nvPr/>
                    </p:nvPicPr>
                    <p:blipFill>
                      <a:blip r:embed="rId5"/>
                      <a:stretch>
                        <a:fillRect/>
                      </a:stretch>
                    </p:blipFill>
                    <p:spPr>
                      <a:xfrm>
                        <a:off x="4722358" y="1599477"/>
                        <a:ext cx="4064433" cy="4716658"/>
                      </a:xfrm>
                      <a:prstGeom prst="rect">
                        <a:avLst/>
                      </a:prstGeom>
                    </p:spPr>
                  </p:pic>
                </p:oleObj>
              </mc:Fallback>
            </mc:AlternateContent>
          </a:graphicData>
        </a:graphic>
      </p:graphicFrame>
      <p:sp>
        <p:nvSpPr>
          <p:cNvPr id="19" name="TextBox 18">
            <a:extLst>
              <a:ext uri="{FF2B5EF4-FFF2-40B4-BE49-F238E27FC236}">
                <a16:creationId xmlns:a16="http://schemas.microsoft.com/office/drawing/2014/main" id="{860FE8AF-80A5-2A66-F1D1-60719A8B1C4B}"/>
              </a:ext>
            </a:extLst>
          </p:cNvPr>
          <p:cNvSpPr txBox="1"/>
          <p:nvPr/>
        </p:nvSpPr>
        <p:spPr>
          <a:xfrm>
            <a:off x="294030" y="978513"/>
            <a:ext cx="8539009"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Forward Looking Portfolio Risk and Return Analytics </a:t>
            </a:r>
          </a:p>
        </p:txBody>
      </p:sp>
    </p:spTree>
    <p:extLst>
      <p:ext uri="{BB962C8B-B14F-4D97-AF65-F5344CB8AC3E}">
        <p14:creationId xmlns:p14="http://schemas.microsoft.com/office/powerpoint/2010/main" val="8501500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8CAFC-E135-578D-2FF1-35E47D048863}"/>
            </a:ext>
          </a:extLst>
        </p:cNvPr>
        <p:cNvGrpSpPr/>
        <p:nvPr/>
      </p:nvGrpSpPr>
      <p:grpSpPr>
        <a:xfrm>
          <a:off x="0" y="0"/>
          <a:ext cx="0" cy="0"/>
          <a:chOff x="0" y="0"/>
          <a:chExt cx="0" cy="0"/>
        </a:xfrm>
      </p:grpSpPr>
      <p:graphicFrame>
        <p:nvGraphicFramePr>
          <p:cNvPr id="6" name="Object 5">
            <a:extLst>
              <a:ext uri="{FF2B5EF4-FFF2-40B4-BE49-F238E27FC236}">
                <a16:creationId xmlns:a16="http://schemas.microsoft.com/office/drawing/2014/main" id="{AA4B2BC2-ACF3-BAB8-3C31-CAECAA865CE0}"/>
              </a:ext>
            </a:extLst>
          </p:cNvPr>
          <p:cNvGraphicFramePr>
            <a:graphicFrameLocks noChangeAspect="1"/>
          </p:cNvGraphicFramePr>
          <p:nvPr>
            <p:extLst>
              <p:ext uri="{D42A27DB-BD31-4B8C-83A1-F6EECF244321}">
                <p14:modId xmlns:p14="http://schemas.microsoft.com/office/powerpoint/2010/main" val="1328450986"/>
              </p:ext>
            </p:extLst>
          </p:nvPr>
        </p:nvGraphicFramePr>
        <p:xfrm>
          <a:off x="309600" y="1396229"/>
          <a:ext cx="4058666" cy="4905756"/>
        </p:xfrm>
        <a:graphic>
          <a:graphicData uri="http://schemas.openxmlformats.org/presentationml/2006/ole">
            <mc:AlternateContent xmlns:mc="http://schemas.openxmlformats.org/markup-compatibility/2006">
              <mc:Choice xmlns:v="urn:schemas-microsoft-com:vml" Requires="v">
                <p:oleObj name="Worksheet" r:id="rId2" imgW="6997700" imgH="8458200" progId="Excel.Sheet.12">
                  <p:embed/>
                </p:oleObj>
              </mc:Choice>
              <mc:Fallback>
                <p:oleObj name="Worksheet" r:id="rId2" imgW="6997700" imgH="8458200" progId="Excel.Sheet.12">
                  <p:embed/>
                  <p:pic>
                    <p:nvPicPr>
                      <p:cNvPr id="0" name=""/>
                      <p:cNvPicPr/>
                      <p:nvPr/>
                    </p:nvPicPr>
                    <p:blipFill>
                      <a:blip r:embed="rId3"/>
                      <a:stretch>
                        <a:fillRect/>
                      </a:stretch>
                    </p:blipFill>
                    <p:spPr>
                      <a:xfrm>
                        <a:off x="309600" y="1396229"/>
                        <a:ext cx="4058666" cy="4905756"/>
                      </a:xfrm>
                      <a:prstGeom prst="rect">
                        <a:avLst/>
                      </a:prstGeom>
                    </p:spPr>
                  </p:pic>
                </p:oleObj>
              </mc:Fallback>
            </mc:AlternateContent>
          </a:graphicData>
        </a:graphic>
      </p:graphicFrame>
      <p:sp>
        <p:nvSpPr>
          <p:cNvPr id="5" name="TextBox 4">
            <a:extLst>
              <a:ext uri="{FF2B5EF4-FFF2-40B4-BE49-F238E27FC236}">
                <a16:creationId xmlns:a16="http://schemas.microsoft.com/office/drawing/2014/main" id="{3B869FF9-284A-343B-7571-FFF5B5784A00}"/>
              </a:ext>
            </a:extLst>
          </p:cNvPr>
          <p:cNvSpPr txBox="1"/>
          <p:nvPr/>
        </p:nvSpPr>
        <p:spPr>
          <a:xfrm>
            <a:off x="287491" y="365302"/>
            <a:ext cx="7747376" cy="400110"/>
          </a:xfrm>
          <a:prstGeom prst="rect">
            <a:avLst/>
          </a:prstGeom>
          <a:noFill/>
        </p:spPr>
        <p:txBody>
          <a:bodyPr wrap="square" rtlCol="0">
            <a:spAutoFit/>
          </a:bodyPr>
          <a:lstStyle/>
          <a:p>
            <a:r>
              <a:rPr lang="en-US" sz="2000" dirty="0">
                <a:latin typeface="Grotesque Light" panose="020B0304020202020204" pitchFamily="34" charset="0"/>
              </a:rPr>
              <a:t>Risk Matched Optimization</a:t>
            </a:r>
          </a:p>
        </p:txBody>
      </p:sp>
      <p:cxnSp>
        <p:nvCxnSpPr>
          <p:cNvPr id="10" name="Straight Connector 9">
            <a:extLst>
              <a:ext uri="{FF2B5EF4-FFF2-40B4-BE49-F238E27FC236}">
                <a16:creationId xmlns:a16="http://schemas.microsoft.com/office/drawing/2014/main" id="{D9F376A1-5402-BA3B-66D4-1F61E3FCD56A}"/>
              </a:ext>
            </a:extLst>
          </p:cNvPr>
          <p:cNvCxnSpPr/>
          <p:nvPr/>
        </p:nvCxnSpPr>
        <p:spPr>
          <a:xfrm>
            <a:off x="302495" y="6500036"/>
            <a:ext cx="8539009" cy="0"/>
          </a:xfrm>
          <a:prstGeom prst="line">
            <a:avLst/>
          </a:prstGeom>
        </p:spPr>
        <p:style>
          <a:lnRef idx="1">
            <a:schemeClr val="dk1"/>
          </a:lnRef>
          <a:fillRef idx="0">
            <a:schemeClr val="dk1"/>
          </a:fillRef>
          <a:effectRef idx="0">
            <a:schemeClr val="dk1"/>
          </a:effectRef>
          <a:fontRef idx="minor">
            <a:schemeClr val="tx1"/>
          </a:fontRef>
        </p:style>
      </p:cxnSp>
      <p:graphicFrame>
        <p:nvGraphicFramePr>
          <p:cNvPr id="9" name="Object 8">
            <a:extLst>
              <a:ext uri="{FF2B5EF4-FFF2-40B4-BE49-F238E27FC236}">
                <a16:creationId xmlns:a16="http://schemas.microsoft.com/office/drawing/2014/main" id="{011E32FD-F1E4-783A-7AEC-1937D8176CAE}"/>
              </a:ext>
            </a:extLst>
          </p:cNvPr>
          <p:cNvGraphicFramePr>
            <a:graphicFrameLocks noChangeAspect="1"/>
          </p:cNvGraphicFramePr>
          <p:nvPr>
            <p:extLst>
              <p:ext uri="{D42A27DB-BD31-4B8C-83A1-F6EECF244321}">
                <p14:modId xmlns:p14="http://schemas.microsoft.com/office/powerpoint/2010/main" val="4026348279"/>
              </p:ext>
            </p:extLst>
          </p:nvPr>
        </p:nvGraphicFramePr>
        <p:xfrm>
          <a:off x="4656128" y="1558835"/>
          <a:ext cx="4081472" cy="4732141"/>
        </p:xfrm>
        <a:graphic>
          <a:graphicData uri="http://schemas.openxmlformats.org/presentationml/2006/ole">
            <mc:AlternateContent xmlns:mc="http://schemas.openxmlformats.org/markup-compatibility/2006">
              <mc:Choice xmlns:v="urn:schemas-microsoft-com:vml" Requires="v">
                <p:oleObj name="Worksheet" r:id="rId4" imgW="6045200" imgH="7010400" progId="Excel.Sheet.12">
                  <p:embed/>
                </p:oleObj>
              </mc:Choice>
              <mc:Fallback>
                <p:oleObj name="Worksheet" r:id="rId4" imgW="6045200" imgH="7010400" progId="Excel.Sheet.12">
                  <p:embed/>
                  <p:pic>
                    <p:nvPicPr>
                      <p:cNvPr id="0" name=""/>
                      <p:cNvPicPr/>
                      <p:nvPr/>
                    </p:nvPicPr>
                    <p:blipFill>
                      <a:blip r:embed="rId5"/>
                      <a:stretch>
                        <a:fillRect/>
                      </a:stretch>
                    </p:blipFill>
                    <p:spPr>
                      <a:xfrm>
                        <a:off x="4656128" y="1558835"/>
                        <a:ext cx="4081472" cy="4732141"/>
                      </a:xfrm>
                      <a:prstGeom prst="rect">
                        <a:avLst/>
                      </a:prstGeom>
                    </p:spPr>
                  </p:pic>
                </p:oleObj>
              </mc:Fallback>
            </mc:AlternateContent>
          </a:graphicData>
        </a:graphic>
      </p:graphicFrame>
      <p:sp>
        <p:nvSpPr>
          <p:cNvPr id="11" name="Rectangle 10">
            <a:extLst>
              <a:ext uri="{FF2B5EF4-FFF2-40B4-BE49-F238E27FC236}">
                <a16:creationId xmlns:a16="http://schemas.microsoft.com/office/drawing/2014/main" id="{6AD07135-C579-129D-1E02-AC7FCA4DDF76}"/>
              </a:ext>
            </a:extLst>
          </p:cNvPr>
          <p:cNvSpPr/>
          <p:nvPr/>
        </p:nvSpPr>
        <p:spPr>
          <a:xfrm>
            <a:off x="2286000" y="6104951"/>
            <a:ext cx="2048934" cy="194734"/>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4111344D-E44B-1465-18BD-E0FADA347A3E}"/>
              </a:ext>
            </a:extLst>
          </p:cNvPr>
          <p:cNvSpPr txBox="1"/>
          <p:nvPr/>
        </p:nvSpPr>
        <p:spPr>
          <a:xfrm>
            <a:off x="294030" y="978513"/>
            <a:ext cx="8539009"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Forward Looking Portfolio Risk and Return Analytics </a:t>
            </a:r>
          </a:p>
        </p:txBody>
      </p:sp>
    </p:spTree>
    <p:extLst>
      <p:ext uri="{BB962C8B-B14F-4D97-AF65-F5344CB8AC3E}">
        <p14:creationId xmlns:p14="http://schemas.microsoft.com/office/powerpoint/2010/main" val="11060384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AE9222-1BE5-539F-80E5-7AA7DEC0C6C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1923062-11DE-6550-DF80-48FC129EB677}"/>
              </a:ext>
            </a:extLst>
          </p:cNvPr>
          <p:cNvSpPr txBox="1"/>
          <p:nvPr/>
        </p:nvSpPr>
        <p:spPr>
          <a:xfrm>
            <a:off x="287491" y="260200"/>
            <a:ext cx="7747376" cy="400110"/>
          </a:xfrm>
          <a:prstGeom prst="rect">
            <a:avLst/>
          </a:prstGeom>
          <a:noFill/>
        </p:spPr>
        <p:txBody>
          <a:bodyPr wrap="square" rtlCol="0">
            <a:spAutoFit/>
          </a:bodyPr>
          <a:lstStyle/>
          <a:p>
            <a:r>
              <a:rPr lang="en-US" sz="2000" dirty="0">
                <a:latin typeface="Grotesque Light" panose="020B0304020202020204" pitchFamily="34" charset="0"/>
              </a:rPr>
              <a:t>Constrained Downside Risk Optimization</a:t>
            </a:r>
          </a:p>
        </p:txBody>
      </p:sp>
      <p:cxnSp>
        <p:nvCxnSpPr>
          <p:cNvPr id="10" name="Straight Connector 9">
            <a:extLst>
              <a:ext uri="{FF2B5EF4-FFF2-40B4-BE49-F238E27FC236}">
                <a16:creationId xmlns:a16="http://schemas.microsoft.com/office/drawing/2014/main" id="{B6DC6E7E-D29B-7C4B-AD6C-E989C0F7B862}"/>
              </a:ext>
            </a:extLst>
          </p:cNvPr>
          <p:cNvCxnSpPr/>
          <p:nvPr/>
        </p:nvCxnSpPr>
        <p:spPr>
          <a:xfrm>
            <a:off x="302495" y="6500036"/>
            <a:ext cx="8539009" cy="0"/>
          </a:xfrm>
          <a:prstGeom prst="line">
            <a:avLst/>
          </a:prstGeom>
        </p:spPr>
        <p:style>
          <a:lnRef idx="1">
            <a:schemeClr val="dk1"/>
          </a:lnRef>
          <a:fillRef idx="0">
            <a:schemeClr val="dk1"/>
          </a:fillRef>
          <a:effectRef idx="0">
            <a:schemeClr val="dk1"/>
          </a:effectRef>
          <a:fontRef idx="minor">
            <a:schemeClr val="tx1"/>
          </a:fontRef>
        </p:style>
      </p:cxnSp>
      <p:graphicFrame>
        <p:nvGraphicFramePr>
          <p:cNvPr id="4" name="Object 3">
            <a:extLst>
              <a:ext uri="{FF2B5EF4-FFF2-40B4-BE49-F238E27FC236}">
                <a16:creationId xmlns:a16="http://schemas.microsoft.com/office/drawing/2014/main" id="{AE4A3D78-148B-EE22-B722-31E9C98B8874}"/>
              </a:ext>
            </a:extLst>
          </p:cNvPr>
          <p:cNvGraphicFramePr>
            <a:graphicFrameLocks noChangeAspect="1"/>
          </p:cNvGraphicFramePr>
          <p:nvPr>
            <p:extLst>
              <p:ext uri="{D42A27DB-BD31-4B8C-83A1-F6EECF244321}">
                <p14:modId xmlns:p14="http://schemas.microsoft.com/office/powerpoint/2010/main" val="1244812882"/>
              </p:ext>
            </p:extLst>
          </p:nvPr>
        </p:nvGraphicFramePr>
        <p:xfrm>
          <a:off x="268288" y="1397000"/>
          <a:ext cx="4110037" cy="4945063"/>
        </p:xfrm>
        <a:graphic>
          <a:graphicData uri="http://schemas.openxmlformats.org/presentationml/2006/ole">
            <mc:AlternateContent xmlns:mc="http://schemas.openxmlformats.org/markup-compatibility/2006">
              <mc:Choice xmlns:v="urn:schemas-microsoft-com:vml" Requires="v">
                <p:oleObj name="Worksheet" r:id="rId2" imgW="6997700" imgH="8420100" progId="Excel.Sheet.12">
                  <p:embed/>
                </p:oleObj>
              </mc:Choice>
              <mc:Fallback>
                <p:oleObj name="Worksheet" r:id="rId2" imgW="6997700" imgH="8420100" progId="Excel.Sheet.12">
                  <p:embed/>
                  <p:pic>
                    <p:nvPicPr>
                      <p:cNvPr id="0" name=""/>
                      <p:cNvPicPr/>
                      <p:nvPr/>
                    </p:nvPicPr>
                    <p:blipFill>
                      <a:blip r:embed="rId3"/>
                      <a:stretch>
                        <a:fillRect/>
                      </a:stretch>
                    </p:blipFill>
                    <p:spPr>
                      <a:xfrm>
                        <a:off x="268288" y="1397000"/>
                        <a:ext cx="4110037" cy="4945063"/>
                      </a:xfrm>
                      <a:prstGeom prst="rect">
                        <a:avLst/>
                      </a:prstGeom>
                    </p:spPr>
                  </p:pic>
                </p:oleObj>
              </mc:Fallback>
            </mc:AlternateContent>
          </a:graphicData>
        </a:graphic>
      </p:graphicFrame>
      <p:graphicFrame>
        <p:nvGraphicFramePr>
          <p:cNvPr id="7" name="Object 6">
            <a:extLst>
              <a:ext uri="{FF2B5EF4-FFF2-40B4-BE49-F238E27FC236}">
                <a16:creationId xmlns:a16="http://schemas.microsoft.com/office/drawing/2014/main" id="{77D33380-904B-4C91-03B6-1A6E36CD3E1F}"/>
              </a:ext>
            </a:extLst>
          </p:cNvPr>
          <p:cNvGraphicFramePr>
            <a:graphicFrameLocks noChangeAspect="1"/>
          </p:cNvGraphicFramePr>
          <p:nvPr>
            <p:extLst>
              <p:ext uri="{D42A27DB-BD31-4B8C-83A1-F6EECF244321}">
                <p14:modId xmlns:p14="http://schemas.microsoft.com/office/powerpoint/2010/main" val="313113908"/>
              </p:ext>
            </p:extLst>
          </p:nvPr>
        </p:nvGraphicFramePr>
        <p:xfrm>
          <a:off x="4630876" y="1551865"/>
          <a:ext cx="4101621" cy="4781489"/>
        </p:xfrm>
        <a:graphic>
          <a:graphicData uri="http://schemas.openxmlformats.org/presentationml/2006/ole">
            <mc:AlternateContent xmlns:mc="http://schemas.openxmlformats.org/markup-compatibility/2006">
              <mc:Choice xmlns:v="urn:schemas-microsoft-com:vml" Requires="v">
                <p:oleObj name="Worksheet" r:id="rId4" imgW="5969000" imgH="6959600" progId="Excel.Sheet.12">
                  <p:embed/>
                </p:oleObj>
              </mc:Choice>
              <mc:Fallback>
                <p:oleObj name="Worksheet" r:id="rId4" imgW="5969000" imgH="6959600" progId="Excel.Sheet.12">
                  <p:embed/>
                  <p:pic>
                    <p:nvPicPr>
                      <p:cNvPr id="0" name=""/>
                      <p:cNvPicPr/>
                      <p:nvPr/>
                    </p:nvPicPr>
                    <p:blipFill>
                      <a:blip r:embed="rId5"/>
                      <a:stretch>
                        <a:fillRect/>
                      </a:stretch>
                    </p:blipFill>
                    <p:spPr>
                      <a:xfrm>
                        <a:off x="4630876" y="1551865"/>
                        <a:ext cx="4101621" cy="4781489"/>
                      </a:xfrm>
                      <a:prstGeom prst="rect">
                        <a:avLst/>
                      </a:prstGeom>
                    </p:spPr>
                  </p:pic>
                </p:oleObj>
              </mc:Fallback>
            </mc:AlternateContent>
          </a:graphicData>
        </a:graphic>
      </p:graphicFrame>
      <p:sp>
        <p:nvSpPr>
          <p:cNvPr id="8" name="Rectangle 7">
            <a:extLst>
              <a:ext uri="{FF2B5EF4-FFF2-40B4-BE49-F238E27FC236}">
                <a16:creationId xmlns:a16="http://schemas.microsoft.com/office/drawing/2014/main" id="{D8CF88B6-12B9-B352-FFC3-BD154B165004}"/>
              </a:ext>
            </a:extLst>
          </p:cNvPr>
          <p:cNvSpPr/>
          <p:nvPr/>
        </p:nvSpPr>
        <p:spPr>
          <a:xfrm>
            <a:off x="7094583" y="4918648"/>
            <a:ext cx="1515533" cy="16933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86C7CA9C-F347-3AA7-A294-D7AE7F340A49}"/>
              </a:ext>
            </a:extLst>
          </p:cNvPr>
          <p:cNvSpPr txBox="1"/>
          <p:nvPr/>
        </p:nvSpPr>
        <p:spPr>
          <a:xfrm>
            <a:off x="294030" y="978513"/>
            <a:ext cx="8539009"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Forward Looking Portfolio Risk and Return Analytics </a:t>
            </a:r>
          </a:p>
        </p:txBody>
      </p:sp>
      <p:sp>
        <p:nvSpPr>
          <p:cNvPr id="2" name="TextBox 1">
            <a:extLst>
              <a:ext uri="{FF2B5EF4-FFF2-40B4-BE49-F238E27FC236}">
                <a16:creationId xmlns:a16="http://schemas.microsoft.com/office/drawing/2014/main" id="{14AE95FB-3B31-3239-5222-7EE261FF0EF0}"/>
              </a:ext>
            </a:extLst>
          </p:cNvPr>
          <p:cNvSpPr txBox="1"/>
          <p:nvPr/>
        </p:nvSpPr>
        <p:spPr>
          <a:xfrm>
            <a:off x="299609" y="578402"/>
            <a:ext cx="7747376" cy="261610"/>
          </a:xfrm>
          <a:prstGeom prst="rect">
            <a:avLst/>
          </a:prstGeom>
          <a:noFill/>
        </p:spPr>
        <p:txBody>
          <a:bodyPr wrap="square" rtlCol="0">
            <a:spAutoFit/>
          </a:bodyPr>
          <a:lstStyle/>
          <a:p>
            <a:r>
              <a:rPr lang="en-US" sz="1100" dirty="0">
                <a:solidFill>
                  <a:schemeClr val="tx1">
                    <a:lumMod val="85000"/>
                    <a:lumOff val="15000"/>
                  </a:schemeClr>
                </a:solidFill>
                <a:latin typeface="Grotesque Light" panose="020B0304020202020204" pitchFamily="34" charset="0"/>
              </a:rPr>
              <a:t>Capped 99% Value at Risk over 1 Year at 25%</a:t>
            </a:r>
          </a:p>
        </p:txBody>
      </p:sp>
    </p:spTree>
    <p:extLst>
      <p:ext uri="{BB962C8B-B14F-4D97-AF65-F5344CB8AC3E}">
        <p14:creationId xmlns:p14="http://schemas.microsoft.com/office/powerpoint/2010/main" val="9092548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8EC4F-A0AC-1F7D-D114-08ED2370D3F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3283EB00-D804-56C1-0262-06F225194538}"/>
              </a:ext>
            </a:extLst>
          </p:cNvPr>
          <p:cNvSpPr txBox="1"/>
          <p:nvPr/>
        </p:nvSpPr>
        <p:spPr>
          <a:xfrm>
            <a:off x="287491" y="260199"/>
            <a:ext cx="7747376" cy="400110"/>
          </a:xfrm>
          <a:prstGeom prst="rect">
            <a:avLst/>
          </a:prstGeom>
          <a:noFill/>
        </p:spPr>
        <p:txBody>
          <a:bodyPr wrap="square" rtlCol="0">
            <a:spAutoFit/>
          </a:bodyPr>
          <a:lstStyle/>
          <a:p>
            <a:r>
              <a:rPr lang="en-US" sz="2000" dirty="0">
                <a:latin typeface="Grotesque Light" panose="020B0304020202020204" pitchFamily="34" charset="0"/>
              </a:rPr>
              <a:t>Constrained Drawdown Optimization</a:t>
            </a:r>
          </a:p>
        </p:txBody>
      </p:sp>
      <p:cxnSp>
        <p:nvCxnSpPr>
          <p:cNvPr id="10" name="Straight Connector 9">
            <a:extLst>
              <a:ext uri="{FF2B5EF4-FFF2-40B4-BE49-F238E27FC236}">
                <a16:creationId xmlns:a16="http://schemas.microsoft.com/office/drawing/2014/main" id="{659CE1ED-796A-30E5-4E51-9D3EDE64F0D3}"/>
              </a:ext>
            </a:extLst>
          </p:cNvPr>
          <p:cNvCxnSpPr/>
          <p:nvPr/>
        </p:nvCxnSpPr>
        <p:spPr>
          <a:xfrm>
            <a:off x="302495" y="6500036"/>
            <a:ext cx="8539009" cy="0"/>
          </a:xfrm>
          <a:prstGeom prst="line">
            <a:avLst/>
          </a:prstGeom>
        </p:spPr>
        <p:style>
          <a:lnRef idx="1">
            <a:schemeClr val="dk1"/>
          </a:lnRef>
          <a:fillRef idx="0">
            <a:schemeClr val="dk1"/>
          </a:fillRef>
          <a:effectRef idx="0">
            <a:schemeClr val="dk1"/>
          </a:effectRef>
          <a:fontRef idx="minor">
            <a:schemeClr val="tx1"/>
          </a:fontRef>
        </p:style>
      </p:cxnSp>
      <p:graphicFrame>
        <p:nvGraphicFramePr>
          <p:cNvPr id="3" name="Object 2">
            <a:extLst>
              <a:ext uri="{FF2B5EF4-FFF2-40B4-BE49-F238E27FC236}">
                <a16:creationId xmlns:a16="http://schemas.microsoft.com/office/drawing/2014/main" id="{9A6D8D79-9400-BA4B-CBB0-EF0DB63974E9}"/>
              </a:ext>
            </a:extLst>
          </p:cNvPr>
          <p:cNvGraphicFramePr>
            <a:graphicFrameLocks noChangeAspect="1"/>
          </p:cNvGraphicFramePr>
          <p:nvPr>
            <p:extLst>
              <p:ext uri="{D42A27DB-BD31-4B8C-83A1-F6EECF244321}">
                <p14:modId xmlns:p14="http://schemas.microsoft.com/office/powerpoint/2010/main" val="1428649484"/>
              </p:ext>
            </p:extLst>
          </p:nvPr>
        </p:nvGraphicFramePr>
        <p:xfrm>
          <a:off x="274638" y="1385889"/>
          <a:ext cx="4140000" cy="4980593"/>
        </p:xfrm>
        <a:graphic>
          <a:graphicData uri="http://schemas.openxmlformats.org/presentationml/2006/ole">
            <mc:AlternateContent xmlns:mc="http://schemas.openxmlformats.org/markup-compatibility/2006">
              <mc:Choice xmlns:v="urn:schemas-microsoft-com:vml" Requires="v">
                <p:oleObj name="Worksheet" r:id="rId2" imgW="6997700" imgH="8420100" progId="Excel.Sheet.12">
                  <p:embed/>
                </p:oleObj>
              </mc:Choice>
              <mc:Fallback>
                <p:oleObj name="Worksheet" r:id="rId2" imgW="6997700" imgH="8420100" progId="Excel.Sheet.12">
                  <p:embed/>
                  <p:pic>
                    <p:nvPicPr>
                      <p:cNvPr id="0" name=""/>
                      <p:cNvPicPr/>
                      <p:nvPr/>
                    </p:nvPicPr>
                    <p:blipFill>
                      <a:blip r:embed="rId3"/>
                      <a:stretch>
                        <a:fillRect/>
                      </a:stretch>
                    </p:blipFill>
                    <p:spPr>
                      <a:xfrm>
                        <a:off x="274638" y="1385889"/>
                        <a:ext cx="4140000" cy="4980593"/>
                      </a:xfrm>
                      <a:prstGeom prst="rect">
                        <a:avLst/>
                      </a:prstGeom>
                    </p:spPr>
                  </p:pic>
                </p:oleObj>
              </mc:Fallback>
            </mc:AlternateContent>
          </a:graphicData>
        </a:graphic>
      </p:graphicFrame>
      <p:sp>
        <p:nvSpPr>
          <p:cNvPr id="4" name="TextBox 3">
            <a:extLst>
              <a:ext uri="{FF2B5EF4-FFF2-40B4-BE49-F238E27FC236}">
                <a16:creationId xmlns:a16="http://schemas.microsoft.com/office/drawing/2014/main" id="{9D07F5A3-2832-09F7-7C25-457F5DB8AE83}"/>
              </a:ext>
            </a:extLst>
          </p:cNvPr>
          <p:cNvSpPr txBox="1"/>
          <p:nvPr/>
        </p:nvSpPr>
        <p:spPr>
          <a:xfrm>
            <a:off x="294030" y="946983"/>
            <a:ext cx="8539009"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Forward Looking Portfolio Risk and Return Analytics </a:t>
            </a:r>
          </a:p>
        </p:txBody>
      </p:sp>
      <p:graphicFrame>
        <p:nvGraphicFramePr>
          <p:cNvPr id="8" name="Object 7">
            <a:extLst>
              <a:ext uri="{FF2B5EF4-FFF2-40B4-BE49-F238E27FC236}">
                <a16:creationId xmlns:a16="http://schemas.microsoft.com/office/drawing/2014/main" id="{15D112AC-9513-6789-F46A-9B1851259669}"/>
              </a:ext>
            </a:extLst>
          </p:cNvPr>
          <p:cNvGraphicFramePr>
            <a:graphicFrameLocks noChangeAspect="1"/>
          </p:cNvGraphicFramePr>
          <p:nvPr>
            <p:extLst>
              <p:ext uri="{D42A27DB-BD31-4B8C-83A1-F6EECF244321}">
                <p14:modId xmlns:p14="http://schemas.microsoft.com/office/powerpoint/2010/main" val="3715842358"/>
              </p:ext>
            </p:extLst>
          </p:nvPr>
        </p:nvGraphicFramePr>
        <p:xfrm>
          <a:off x="4636904" y="1386159"/>
          <a:ext cx="3979518" cy="5006174"/>
        </p:xfrm>
        <a:graphic>
          <a:graphicData uri="http://schemas.openxmlformats.org/presentationml/2006/ole">
            <mc:AlternateContent xmlns:mc="http://schemas.openxmlformats.org/markup-compatibility/2006">
              <mc:Choice xmlns:v="urn:schemas-microsoft-com:vml" Requires="v">
                <p:oleObj name="Worksheet" r:id="rId4" imgW="5765800" imgH="7251700" progId="Excel.Sheet.12">
                  <p:embed/>
                </p:oleObj>
              </mc:Choice>
              <mc:Fallback>
                <p:oleObj name="Worksheet" r:id="rId4" imgW="5765800" imgH="7251700" progId="Excel.Sheet.12">
                  <p:embed/>
                  <p:pic>
                    <p:nvPicPr>
                      <p:cNvPr id="0" name=""/>
                      <p:cNvPicPr/>
                      <p:nvPr/>
                    </p:nvPicPr>
                    <p:blipFill>
                      <a:blip r:embed="rId5"/>
                      <a:stretch>
                        <a:fillRect/>
                      </a:stretch>
                    </p:blipFill>
                    <p:spPr>
                      <a:xfrm>
                        <a:off x="4636904" y="1386159"/>
                        <a:ext cx="3979518" cy="5006174"/>
                      </a:xfrm>
                      <a:prstGeom prst="rect">
                        <a:avLst/>
                      </a:prstGeom>
                      <a:ln w="19050">
                        <a:noFill/>
                      </a:ln>
                    </p:spPr>
                  </p:pic>
                </p:oleObj>
              </mc:Fallback>
            </mc:AlternateContent>
          </a:graphicData>
        </a:graphic>
      </p:graphicFrame>
      <p:sp>
        <p:nvSpPr>
          <p:cNvPr id="9" name="Rectangle 8">
            <a:extLst>
              <a:ext uri="{FF2B5EF4-FFF2-40B4-BE49-F238E27FC236}">
                <a16:creationId xmlns:a16="http://schemas.microsoft.com/office/drawing/2014/main" id="{B9C8C542-831D-7D3D-9B4C-CFF25034A7E3}"/>
              </a:ext>
            </a:extLst>
          </p:cNvPr>
          <p:cNvSpPr/>
          <p:nvPr/>
        </p:nvSpPr>
        <p:spPr>
          <a:xfrm>
            <a:off x="6942667" y="4411133"/>
            <a:ext cx="381000" cy="160867"/>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AEBB7F4E-1898-DF2E-5009-B66E637BE586}"/>
              </a:ext>
            </a:extLst>
          </p:cNvPr>
          <p:cNvSpPr/>
          <p:nvPr/>
        </p:nvSpPr>
        <p:spPr>
          <a:xfrm>
            <a:off x="7780867" y="4411133"/>
            <a:ext cx="381000" cy="160867"/>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a:extLst>
              <a:ext uri="{FF2B5EF4-FFF2-40B4-BE49-F238E27FC236}">
                <a16:creationId xmlns:a16="http://schemas.microsoft.com/office/drawing/2014/main" id="{4942C7F7-F5D3-D301-6605-F3BC6F4A367C}"/>
              </a:ext>
            </a:extLst>
          </p:cNvPr>
          <p:cNvSpPr txBox="1"/>
          <p:nvPr/>
        </p:nvSpPr>
        <p:spPr>
          <a:xfrm>
            <a:off x="299609" y="578402"/>
            <a:ext cx="7747376" cy="261610"/>
          </a:xfrm>
          <a:prstGeom prst="rect">
            <a:avLst/>
          </a:prstGeom>
          <a:noFill/>
        </p:spPr>
        <p:txBody>
          <a:bodyPr wrap="square" rtlCol="0">
            <a:spAutoFit/>
          </a:bodyPr>
          <a:lstStyle/>
          <a:p>
            <a:r>
              <a:rPr lang="en-US" sz="1100" dirty="0">
                <a:solidFill>
                  <a:schemeClr val="tx1">
                    <a:lumMod val="85000"/>
                    <a:lumOff val="15000"/>
                  </a:schemeClr>
                </a:solidFill>
                <a:latin typeface="Grotesque Light" panose="020B0304020202020204" pitchFamily="34" charset="0"/>
              </a:rPr>
              <a:t>Capped 2008 Financial Crisis Loss at -30%</a:t>
            </a:r>
          </a:p>
        </p:txBody>
      </p:sp>
    </p:spTree>
    <p:extLst>
      <p:ext uri="{BB962C8B-B14F-4D97-AF65-F5344CB8AC3E}">
        <p14:creationId xmlns:p14="http://schemas.microsoft.com/office/powerpoint/2010/main" val="20841176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3B93D-D3C1-A24F-86B6-5BF5596CC80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F1FCA055-950D-C4E0-2B58-A074450C6CF0}"/>
              </a:ext>
            </a:extLst>
          </p:cNvPr>
          <p:cNvSpPr txBox="1"/>
          <p:nvPr/>
        </p:nvSpPr>
        <p:spPr>
          <a:xfrm>
            <a:off x="287491" y="365302"/>
            <a:ext cx="7747376" cy="400110"/>
          </a:xfrm>
          <a:prstGeom prst="rect">
            <a:avLst/>
          </a:prstGeom>
          <a:noFill/>
        </p:spPr>
        <p:txBody>
          <a:bodyPr wrap="square" rtlCol="0">
            <a:spAutoFit/>
          </a:bodyPr>
          <a:lstStyle/>
          <a:p>
            <a:r>
              <a:rPr lang="en-US" sz="2000" dirty="0">
                <a:latin typeface="Grotesque Light" panose="020B0304020202020204" pitchFamily="34" charset="0"/>
              </a:rPr>
              <a:t>Optimized For Real Return Target with Spending</a:t>
            </a:r>
          </a:p>
        </p:txBody>
      </p:sp>
      <p:cxnSp>
        <p:nvCxnSpPr>
          <p:cNvPr id="10" name="Straight Connector 9">
            <a:extLst>
              <a:ext uri="{FF2B5EF4-FFF2-40B4-BE49-F238E27FC236}">
                <a16:creationId xmlns:a16="http://schemas.microsoft.com/office/drawing/2014/main" id="{84A7172F-1963-044D-32CE-2A4A033EDFB5}"/>
              </a:ext>
            </a:extLst>
          </p:cNvPr>
          <p:cNvCxnSpPr/>
          <p:nvPr/>
        </p:nvCxnSpPr>
        <p:spPr>
          <a:xfrm>
            <a:off x="302495" y="6500036"/>
            <a:ext cx="8539009" cy="0"/>
          </a:xfrm>
          <a:prstGeom prst="line">
            <a:avLst/>
          </a:prstGeom>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8CF6E55E-70E6-D2C9-8F5D-C09605C0ED69}"/>
              </a:ext>
            </a:extLst>
          </p:cNvPr>
          <p:cNvSpPr txBox="1"/>
          <p:nvPr/>
        </p:nvSpPr>
        <p:spPr>
          <a:xfrm>
            <a:off x="484743" y="1478619"/>
            <a:ext cx="3816416"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Portfolio Optimized for 2% Real Growth after Spending </a:t>
            </a:r>
          </a:p>
        </p:txBody>
      </p:sp>
      <p:sp>
        <p:nvSpPr>
          <p:cNvPr id="15" name="TextBox 14">
            <a:extLst>
              <a:ext uri="{FF2B5EF4-FFF2-40B4-BE49-F238E27FC236}">
                <a16:creationId xmlns:a16="http://schemas.microsoft.com/office/drawing/2014/main" id="{87E9678D-7CA6-5EB1-67E1-DA67A78DC36C}"/>
              </a:ext>
            </a:extLst>
          </p:cNvPr>
          <p:cNvSpPr txBox="1"/>
          <p:nvPr/>
        </p:nvSpPr>
        <p:spPr>
          <a:xfrm>
            <a:off x="377077" y="841997"/>
            <a:ext cx="8389843" cy="461665"/>
          </a:xfrm>
          <a:prstGeom prst="rect">
            <a:avLst/>
          </a:prstGeom>
          <a:noFill/>
          <a:ln w="6350">
            <a:noFill/>
          </a:ln>
        </p:spPr>
        <p:txBody>
          <a:bodyPr wrap="square" rtlCol="0">
            <a:spAutoFit/>
          </a:bodyPr>
          <a:lstStyle/>
          <a:p>
            <a:r>
              <a:rPr lang="en-GB" sz="1200" dirty="0">
                <a:solidFill>
                  <a:schemeClr val="tx1">
                    <a:lumMod val="95000"/>
                    <a:lumOff val="5000"/>
                  </a:schemeClr>
                </a:solidFill>
                <a:latin typeface="Aptos Light" panose="020B0004020202020204" pitchFamily="34" charset="0"/>
                <a:cs typeface="Calibri Light" panose="020F0302020204030204" pitchFamily="34" charset="0"/>
              </a:rPr>
              <a:t>Here we solve for the optimal portfolio with the objective to grow at 2% per annum in real terms, net of spending, over the next 20 years. Spending is assumed to be </a:t>
            </a:r>
            <a:r>
              <a:rPr lang="en-GB" sz="1200" b="1" i="1" dirty="0">
                <a:solidFill>
                  <a:schemeClr val="tx1">
                    <a:lumMod val="95000"/>
                    <a:lumOff val="5000"/>
                  </a:schemeClr>
                </a:solidFill>
                <a:latin typeface="Aptos Light" panose="020B0004020202020204" pitchFamily="34" charset="0"/>
                <a:cs typeface="Calibri Light" panose="020F0302020204030204" pitchFamily="34" charset="0"/>
              </a:rPr>
              <a:t>2% in years 1-5 and then 3% thereafter</a:t>
            </a:r>
            <a:r>
              <a:rPr lang="en-GB" sz="1200" dirty="0">
                <a:solidFill>
                  <a:schemeClr val="tx1">
                    <a:lumMod val="95000"/>
                    <a:lumOff val="5000"/>
                  </a:schemeClr>
                </a:solidFill>
                <a:latin typeface="Aptos Light" panose="020B0004020202020204" pitchFamily="34" charset="0"/>
                <a:cs typeface="Calibri Light" panose="020F0302020204030204" pitchFamily="34" charset="0"/>
              </a:rPr>
              <a:t>.</a:t>
            </a:r>
            <a:endParaRPr lang="en-US" sz="1200" dirty="0">
              <a:solidFill>
                <a:schemeClr val="tx1">
                  <a:lumMod val="95000"/>
                  <a:lumOff val="5000"/>
                </a:schemeClr>
              </a:solidFill>
              <a:latin typeface="Aptos Light" panose="020B0004020202020204" pitchFamily="34" charset="0"/>
              <a:cs typeface="Calibri Light" panose="020F0302020204030204" pitchFamily="34" charset="0"/>
            </a:endParaRPr>
          </a:p>
        </p:txBody>
      </p:sp>
      <p:sp>
        <p:nvSpPr>
          <p:cNvPr id="16" name="TextBox 15">
            <a:extLst>
              <a:ext uri="{FF2B5EF4-FFF2-40B4-BE49-F238E27FC236}">
                <a16:creationId xmlns:a16="http://schemas.microsoft.com/office/drawing/2014/main" id="{60A5C655-F41C-EE26-193F-2F9C89543C2C}"/>
              </a:ext>
            </a:extLst>
          </p:cNvPr>
          <p:cNvSpPr txBox="1"/>
          <p:nvPr/>
        </p:nvSpPr>
        <p:spPr>
          <a:xfrm>
            <a:off x="4906966" y="1488666"/>
            <a:ext cx="3816416"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Distribution of Simulated Portfolio Real Returns</a:t>
            </a:r>
          </a:p>
        </p:txBody>
      </p:sp>
      <p:graphicFrame>
        <p:nvGraphicFramePr>
          <p:cNvPr id="21" name="Chart 20">
            <a:extLst>
              <a:ext uri="{FF2B5EF4-FFF2-40B4-BE49-F238E27FC236}">
                <a16:creationId xmlns:a16="http://schemas.microsoft.com/office/drawing/2014/main" id="{4574A5FC-DCB5-39F0-5F16-53DCE6387FCA}"/>
              </a:ext>
            </a:extLst>
          </p:cNvPr>
          <p:cNvGraphicFramePr>
            <a:graphicFrameLocks/>
          </p:cNvGraphicFramePr>
          <p:nvPr>
            <p:extLst>
              <p:ext uri="{D42A27DB-BD31-4B8C-83A1-F6EECF244321}">
                <p14:modId xmlns:p14="http://schemas.microsoft.com/office/powerpoint/2010/main" val="2758285040"/>
              </p:ext>
            </p:extLst>
          </p:nvPr>
        </p:nvGraphicFramePr>
        <p:xfrm>
          <a:off x="4828587" y="2011680"/>
          <a:ext cx="3816416" cy="423006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25" name="Object 24">
            <a:extLst>
              <a:ext uri="{FF2B5EF4-FFF2-40B4-BE49-F238E27FC236}">
                <a16:creationId xmlns:a16="http://schemas.microsoft.com/office/drawing/2014/main" id="{F07EAA51-9800-BF3F-132F-F20471CD6053}"/>
              </a:ext>
            </a:extLst>
          </p:cNvPr>
          <p:cNvGraphicFramePr>
            <a:graphicFrameLocks noChangeAspect="1"/>
          </p:cNvGraphicFramePr>
          <p:nvPr>
            <p:extLst>
              <p:ext uri="{D42A27DB-BD31-4B8C-83A1-F6EECF244321}">
                <p14:modId xmlns:p14="http://schemas.microsoft.com/office/powerpoint/2010/main" val="1799711236"/>
              </p:ext>
            </p:extLst>
          </p:nvPr>
        </p:nvGraphicFramePr>
        <p:xfrm>
          <a:off x="829673" y="1902272"/>
          <a:ext cx="2993390" cy="4379054"/>
        </p:xfrm>
        <a:graphic>
          <a:graphicData uri="http://schemas.openxmlformats.org/presentationml/2006/ole">
            <mc:AlternateContent xmlns:mc="http://schemas.openxmlformats.org/markup-compatibility/2006">
              <mc:Choice xmlns:v="urn:schemas-microsoft-com:vml" Requires="v">
                <p:oleObj name="Worksheet" r:id="rId3" imgW="4279900" imgH="6261100" progId="Excel.Sheet.12">
                  <p:embed/>
                </p:oleObj>
              </mc:Choice>
              <mc:Fallback>
                <p:oleObj name="Worksheet" r:id="rId3" imgW="4279900" imgH="6261100" progId="Excel.Sheet.12">
                  <p:embed/>
                  <p:pic>
                    <p:nvPicPr>
                      <p:cNvPr id="0" name=""/>
                      <p:cNvPicPr/>
                      <p:nvPr/>
                    </p:nvPicPr>
                    <p:blipFill>
                      <a:blip r:embed="rId4"/>
                      <a:stretch>
                        <a:fillRect/>
                      </a:stretch>
                    </p:blipFill>
                    <p:spPr>
                      <a:xfrm>
                        <a:off x="829673" y="1902272"/>
                        <a:ext cx="2993390" cy="4379054"/>
                      </a:xfrm>
                      <a:prstGeom prst="rect">
                        <a:avLst/>
                      </a:prstGeom>
                    </p:spPr>
                  </p:pic>
                </p:oleObj>
              </mc:Fallback>
            </mc:AlternateContent>
          </a:graphicData>
        </a:graphic>
      </p:graphicFrame>
      <p:sp>
        <p:nvSpPr>
          <p:cNvPr id="26" name="Oval 25">
            <a:extLst>
              <a:ext uri="{FF2B5EF4-FFF2-40B4-BE49-F238E27FC236}">
                <a16:creationId xmlns:a16="http://schemas.microsoft.com/office/drawing/2014/main" id="{98C776F0-950F-EA46-FDE6-4C5C3A4027ED}"/>
              </a:ext>
            </a:extLst>
          </p:cNvPr>
          <p:cNvSpPr/>
          <p:nvPr/>
        </p:nvSpPr>
        <p:spPr>
          <a:xfrm>
            <a:off x="7783101" y="3849153"/>
            <a:ext cx="426720" cy="278674"/>
          </a:xfrm>
          <a:prstGeom prst="ellipse">
            <a:avLst/>
          </a:prstGeom>
          <a:noFill/>
          <a:ln w="19050">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4649A9EE-2E30-36EA-801B-231369A4F86D}"/>
              </a:ext>
            </a:extLst>
          </p:cNvPr>
          <p:cNvCxnSpPr>
            <a:cxnSpLocks/>
          </p:cNvCxnSpPr>
          <p:nvPr/>
        </p:nvCxnSpPr>
        <p:spPr>
          <a:xfrm>
            <a:off x="8334102" y="4206240"/>
            <a:ext cx="0" cy="105373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13">
            <a:extLst>
              <a:ext uri="{FF2B5EF4-FFF2-40B4-BE49-F238E27FC236}">
                <a16:creationId xmlns:a16="http://schemas.microsoft.com/office/drawing/2014/main" id="{1A778670-C2C5-7D2C-5F67-47C9E9DB4EFD}"/>
              </a:ext>
            </a:extLst>
          </p:cNvPr>
          <p:cNvSpPr txBox="1"/>
          <p:nvPr/>
        </p:nvSpPr>
        <p:spPr>
          <a:xfrm>
            <a:off x="8270784" y="4442291"/>
            <a:ext cx="655495" cy="584775"/>
          </a:xfrm>
          <a:prstGeom prst="rect">
            <a:avLst/>
          </a:prstGeom>
          <a:solidFill>
            <a:schemeClr val="bg1"/>
          </a:solidFill>
          <a:ln w="6350">
            <a:solidFill>
              <a:srgbClr val="FF0000"/>
            </a:solidFill>
          </a:ln>
        </p:spPr>
        <p:txBody>
          <a:bodyPr wrap="square" rtlCol="0">
            <a:spAutoFit/>
          </a:bodyPr>
          <a:lstStyle>
            <a:defPPr>
              <a:defRPr lang="en-US"/>
            </a:defPPr>
            <a:lvl1pPr marL="0" indent="0" algn="l" defTabSz="457200" rtl="0" eaLnBrk="1" latinLnBrk="0" hangingPunct="1">
              <a:defRPr sz="1800" kern="1200">
                <a:solidFill>
                  <a:schemeClr val="tx1"/>
                </a:solidFill>
                <a:latin typeface="+mn-lt"/>
                <a:ea typeface="+mn-ea"/>
                <a:cs typeface="+mn-cs"/>
              </a:defRPr>
            </a:lvl1pPr>
            <a:lvl2pPr marL="457200" indent="0" algn="l" defTabSz="457200" rtl="0" eaLnBrk="1" latinLnBrk="0" hangingPunct="1">
              <a:defRPr sz="1800" kern="1200">
                <a:solidFill>
                  <a:schemeClr val="tx1"/>
                </a:solidFill>
                <a:latin typeface="+mn-lt"/>
                <a:ea typeface="+mn-ea"/>
                <a:cs typeface="+mn-cs"/>
              </a:defRPr>
            </a:lvl2pPr>
            <a:lvl3pPr marL="914400" indent="0" algn="l" defTabSz="457200" rtl="0" eaLnBrk="1" latinLnBrk="0" hangingPunct="1">
              <a:defRPr sz="1800" kern="1200">
                <a:solidFill>
                  <a:schemeClr val="tx1"/>
                </a:solidFill>
                <a:latin typeface="+mn-lt"/>
                <a:ea typeface="+mn-ea"/>
                <a:cs typeface="+mn-cs"/>
              </a:defRPr>
            </a:lvl3pPr>
            <a:lvl4pPr marL="1371600" indent="0" algn="l" defTabSz="457200" rtl="0" eaLnBrk="1" latinLnBrk="0" hangingPunct="1">
              <a:defRPr sz="1800" kern="1200">
                <a:solidFill>
                  <a:schemeClr val="tx1"/>
                </a:solidFill>
                <a:latin typeface="+mn-lt"/>
                <a:ea typeface="+mn-ea"/>
                <a:cs typeface="+mn-cs"/>
              </a:defRPr>
            </a:lvl4pPr>
            <a:lvl5pPr marL="1828800" indent="0" algn="l" defTabSz="457200" rtl="0" eaLnBrk="1" latinLnBrk="0" hangingPunct="1">
              <a:defRPr sz="1800" kern="1200">
                <a:solidFill>
                  <a:schemeClr val="tx1"/>
                </a:solidFill>
                <a:latin typeface="+mn-lt"/>
                <a:ea typeface="+mn-ea"/>
                <a:cs typeface="+mn-cs"/>
              </a:defRPr>
            </a:lvl5pPr>
            <a:lvl6pPr marL="2286000" indent="0" algn="l" defTabSz="457200" rtl="0" eaLnBrk="1" latinLnBrk="0" hangingPunct="1">
              <a:defRPr sz="1800" kern="1200">
                <a:solidFill>
                  <a:schemeClr val="tx1"/>
                </a:solidFill>
                <a:latin typeface="+mn-lt"/>
                <a:ea typeface="+mn-ea"/>
                <a:cs typeface="+mn-cs"/>
              </a:defRPr>
            </a:lvl6pPr>
            <a:lvl7pPr marL="2743200" indent="0" algn="l" defTabSz="457200" rtl="0" eaLnBrk="1" latinLnBrk="0" hangingPunct="1">
              <a:defRPr sz="1800" kern="1200">
                <a:solidFill>
                  <a:schemeClr val="tx1"/>
                </a:solidFill>
                <a:latin typeface="+mn-lt"/>
                <a:ea typeface="+mn-ea"/>
                <a:cs typeface="+mn-cs"/>
              </a:defRPr>
            </a:lvl7pPr>
            <a:lvl8pPr marL="3200400" indent="0" algn="l" defTabSz="457200" rtl="0" eaLnBrk="1" latinLnBrk="0" hangingPunct="1">
              <a:defRPr sz="1800" kern="1200">
                <a:solidFill>
                  <a:schemeClr val="tx1"/>
                </a:solidFill>
                <a:latin typeface="+mn-lt"/>
                <a:ea typeface="+mn-ea"/>
                <a:cs typeface="+mn-cs"/>
              </a:defRPr>
            </a:lvl8pPr>
            <a:lvl9pPr marL="3657600" indent="0" algn="l" defTabSz="457200" rtl="0" eaLnBrk="1" latinLnBrk="0" hangingPunct="1">
              <a:defRPr sz="1800" kern="1200">
                <a:solidFill>
                  <a:schemeClr val="tx1"/>
                </a:solidFill>
                <a:latin typeface="+mn-lt"/>
                <a:ea typeface="+mn-ea"/>
                <a:cs typeface="+mn-cs"/>
              </a:defRPr>
            </a:lvl9pPr>
          </a:lstStyle>
          <a:p>
            <a:pPr algn="ctr"/>
            <a:r>
              <a:rPr lang="en-US" sz="800" dirty="0">
                <a:solidFill>
                  <a:srgbClr val="FF0000"/>
                </a:solidFill>
                <a:latin typeface="Aptos" panose="020B0004020202020204" pitchFamily="34" charset="0"/>
              </a:rPr>
              <a:t>50% Probability of missing target</a:t>
            </a:r>
          </a:p>
        </p:txBody>
      </p:sp>
    </p:spTree>
    <p:extLst>
      <p:ext uri="{BB962C8B-B14F-4D97-AF65-F5344CB8AC3E}">
        <p14:creationId xmlns:p14="http://schemas.microsoft.com/office/powerpoint/2010/main" val="267997937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98B21D-1076-9822-DF0D-44BBCF5DBF40}"/>
            </a:ext>
          </a:extLst>
        </p:cNvPr>
        <p:cNvGrpSpPr/>
        <p:nvPr/>
      </p:nvGrpSpPr>
      <p:grpSpPr>
        <a:xfrm>
          <a:off x="0" y="0"/>
          <a:ext cx="0" cy="0"/>
          <a:chOff x="0" y="0"/>
          <a:chExt cx="0" cy="0"/>
        </a:xfrm>
      </p:grpSpPr>
      <p:sp>
        <p:nvSpPr>
          <p:cNvPr id="6" name="Rectangle 5">
            <a:extLst>
              <a:ext uri="{FF2B5EF4-FFF2-40B4-BE49-F238E27FC236}">
                <a16:creationId xmlns:a16="http://schemas.microsoft.com/office/drawing/2014/main" id="{CDC8977F-BF3E-3D25-919B-B1D96B65D417}"/>
              </a:ext>
            </a:extLst>
          </p:cNvPr>
          <p:cNvSpPr/>
          <p:nvPr/>
        </p:nvSpPr>
        <p:spPr>
          <a:xfrm>
            <a:off x="1027611" y="2508069"/>
            <a:ext cx="1402080" cy="312637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 name="Chart 1">
            <a:extLst>
              <a:ext uri="{FF2B5EF4-FFF2-40B4-BE49-F238E27FC236}">
                <a16:creationId xmlns:a16="http://schemas.microsoft.com/office/drawing/2014/main" id="{00000000-0008-0000-0300-000003000000}"/>
              </a:ext>
            </a:extLst>
          </p:cNvPr>
          <p:cNvGraphicFramePr>
            <a:graphicFrameLocks/>
          </p:cNvGraphicFramePr>
          <p:nvPr>
            <p:extLst>
              <p:ext uri="{D42A27DB-BD31-4B8C-83A1-F6EECF244321}">
                <p14:modId xmlns:p14="http://schemas.microsoft.com/office/powerpoint/2010/main" val="2815609141"/>
              </p:ext>
            </p:extLst>
          </p:nvPr>
        </p:nvGraphicFramePr>
        <p:xfrm>
          <a:off x="377077" y="2033454"/>
          <a:ext cx="6055394" cy="4200191"/>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a:extLst>
              <a:ext uri="{FF2B5EF4-FFF2-40B4-BE49-F238E27FC236}">
                <a16:creationId xmlns:a16="http://schemas.microsoft.com/office/drawing/2014/main" id="{5B0207BF-094D-1420-94E0-B158BD2A465E}"/>
              </a:ext>
            </a:extLst>
          </p:cNvPr>
          <p:cNvSpPr txBox="1"/>
          <p:nvPr/>
        </p:nvSpPr>
        <p:spPr>
          <a:xfrm>
            <a:off x="287491" y="365302"/>
            <a:ext cx="7747376" cy="400110"/>
          </a:xfrm>
          <a:prstGeom prst="rect">
            <a:avLst/>
          </a:prstGeom>
          <a:noFill/>
        </p:spPr>
        <p:txBody>
          <a:bodyPr wrap="square" rtlCol="0">
            <a:spAutoFit/>
          </a:bodyPr>
          <a:lstStyle/>
          <a:p>
            <a:r>
              <a:rPr lang="en-US" sz="2000" dirty="0">
                <a:latin typeface="Grotesque Light" panose="020B0304020202020204" pitchFamily="34" charset="0"/>
              </a:rPr>
              <a:t>Optimized For Real Return Target with Spending</a:t>
            </a:r>
          </a:p>
        </p:txBody>
      </p:sp>
      <p:cxnSp>
        <p:nvCxnSpPr>
          <p:cNvPr id="10" name="Straight Connector 9">
            <a:extLst>
              <a:ext uri="{FF2B5EF4-FFF2-40B4-BE49-F238E27FC236}">
                <a16:creationId xmlns:a16="http://schemas.microsoft.com/office/drawing/2014/main" id="{BB3119EE-47AC-F09A-3646-3A644D84B2A4}"/>
              </a:ext>
            </a:extLst>
          </p:cNvPr>
          <p:cNvCxnSpPr/>
          <p:nvPr/>
        </p:nvCxnSpPr>
        <p:spPr>
          <a:xfrm>
            <a:off x="302495" y="6500036"/>
            <a:ext cx="8539009" cy="0"/>
          </a:xfrm>
          <a:prstGeom prst="line">
            <a:avLst/>
          </a:prstGeom>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223FD32F-861E-5FE8-20C3-9FD85521BE0B}"/>
              </a:ext>
            </a:extLst>
          </p:cNvPr>
          <p:cNvSpPr txBox="1"/>
          <p:nvPr/>
        </p:nvSpPr>
        <p:spPr>
          <a:xfrm>
            <a:off x="377077" y="1599699"/>
            <a:ext cx="8188994"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Simulated Nominal Portfolio Values, Net of Spending</a:t>
            </a:r>
          </a:p>
        </p:txBody>
      </p:sp>
      <p:sp>
        <p:nvSpPr>
          <p:cNvPr id="15" name="TextBox 14">
            <a:extLst>
              <a:ext uri="{FF2B5EF4-FFF2-40B4-BE49-F238E27FC236}">
                <a16:creationId xmlns:a16="http://schemas.microsoft.com/office/drawing/2014/main" id="{A6D3D41F-51E0-D80C-2C5E-9C071C3B5CD4}"/>
              </a:ext>
            </a:extLst>
          </p:cNvPr>
          <p:cNvSpPr txBox="1"/>
          <p:nvPr/>
        </p:nvSpPr>
        <p:spPr>
          <a:xfrm>
            <a:off x="377077" y="911668"/>
            <a:ext cx="8389843" cy="461665"/>
          </a:xfrm>
          <a:prstGeom prst="rect">
            <a:avLst/>
          </a:prstGeom>
          <a:noFill/>
          <a:ln w="6350">
            <a:noFill/>
          </a:ln>
        </p:spPr>
        <p:txBody>
          <a:bodyPr wrap="square" rtlCol="0">
            <a:spAutoFit/>
          </a:bodyPr>
          <a:lstStyle/>
          <a:p>
            <a:r>
              <a:rPr lang="en-GB" sz="1200" dirty="0">
                <a:solidFill>
                  <a:schemeClr val="tx1">
                    <a:lumMod val="95000"/>
                    <a:lumOff val="5000"/>
                  </a:schemeClr>
                </a:solidFill>
                <a:latin typeface="Aptos Light" panose="020B0004020202020204" pitchFamily="34" charset="0"/>
                <a:cs typeface="Calibri Light" panose="020F0302020204030204" pitchFamily="34" charset="0"/>
              </a:rPr>
              <a:t>Here we solve for the optimal portfolio with the objective to grow at 2% per annum in real terms, net of spending, over the next 20 years. Spending is assumed to be </a:t>
            </a:r>
            <a:r>
              <a:rPr lang="en-GB" sz="1200" b="1" i="1" dirty="0">
                <a:solidFill>
                  <a:schemeClr val="tx1">
                    <a:lumMod val="95000"/>
                    <a:lumOff val="5000"/>
                  </a:schemeClr>
                </a:solidFill>
                <a:latin typeface="Aptos Light" panose="020B0004020202020204" pitchFamily="34" charset="0"/>
                <a:cs typeface="Calibri Light" panose="020F0302020204030204" pitchFamily="34" charset="0"/>
              </a:rPr>
              <a:t>2% in years 1-5 and then 3% thereafter</a:t>
            </a:r>
            <a:r>
              <a:rPr lang="en-GB" sz="1200" dirty="0">
                <a:solidFill>
                  <a:schemeClr val="tx1">
                    <a:lumMod val="95000"/>
                    <a:lumOff val="5000"/>
                  </a:schemeClr>
                </a:solidFill>
                <a:latin typeface="Aptos Light" panose="020B0004020202020204" pitchFamily="34" charset="0"/>
                <a:cs typeface="Calibri Light" panose="020F0302020204030204" pitchFamily="34" charset="0"/>
              </a:rPr>
              <a:t>.</a:t>
            </a:r>
            <a:endParaRPr lang="en-US" sz="1200" dirty="0">
              <a:solidFill>
                <a:schemeClr val="tx1">
                  <a:lumMod val="95000"/>
                  <a:lumOff val="5000"/>
                </a:schemeClr>
              </a:solidFill>
              <a:latin typeface="Aptos Light" panose="020B0004020202020204" pitchFamily="34" charset="0"/>
              <a:cs typeface="Calibri Light" panose="020F0302020204030204" pitchFamily="34" charset="0"/>
            </a:endParaRPr>
          </a:p>
        </p:txBody>
      </p:sp>
      <p:cxnSp>
        <p:nvCxnSpPr>
          <p:cNvPr id="3" name="Straight Arrow Connector 2">
            <a:extLst>
              <a:ext uri="{FF2B5EF4-FFF2-40B4-BE49-F238E27FC236}">
                <a16:creationId xmlns:a16="http://schemas.microsoft.com/office/drawing/2014/main" id="{ECC336D2-2DD6-A29D-8270-630325BD22A5}"/>
              </a:ext>
            </a:extLst>
          </p:cNvPr>
          <p:cNvCxnSpPr>
            <a:cxnSpLocks/>
          </p:cNvCxnSpPr>
          <p:nvPr/>
        </p:nvCxnSpPr>
        <p:spPr>
          <a:xfrm flipV="1">
            <a:off x="2540908" y="2725188"/>
            <a:ext cx="3515006" cy="13173"/>
          </a:xfrm>
          <a:prstGeom prst="straightConnector1">
            <a:avLst/>
          </a:prstGeom>
          <a:ln>
            <a:solidFill>
              <a:schemeClr val="bg1">
                <a:lumMod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 name="TextBox 3">
            <a:extLst>
              <a:ext uri="{FF2B5EF4-FFF2-40B4-BE49-F238E27FC236}">
                <a16:creationId xmlns:a16="http://schemas.microsoft.com/office/drawing/2014/main" id="{5E0009B9-0519-9A6D-756D-E6E535566843}"/>
              </a:ext>
            </a:extLst>
          </p:cNvPr>
          <p:cNvSpPr txBox="1"/>
          <p:nvPr/>
        </p:nvSpPr>
        <p:spPr>
          <a:xfrm>
            <a:off x="1138828" y="2630639"/>
            <a:ext cx="1179646" cy="215444"/>
          </a:xfrm>
          <a:prstGeom prst="rect">
            <a:avLst/>
          </a:prstGeom>
          <a:noFill/>
          <a:ln w="6350">
            <a:solidFill>
              <a:schemeClr val="bg1">
                <a:lumMod val="50000"/>
              </a:schemeClr>
            </a:solidFill>
          </a:ln>
        </p:spPr>
        <p:txBody>
          <a:bodyPr wrap="square" rtlCol="0">
            <a:spAutoFit/>
          </a:bodyPr>
          <a:lstStyle/>
          <a:p>
            <a:pPr algn="ctr"/>
            <a:r>
              <a:rPr lang="en-US" sz="800" dirty="0">
                <a:latin typeface="Aptos" panose="020B0004020202020204" pitchFamily="34" charset="0"/>
              </a:rPr>
              <a:t>2% Yearly Spending</a:t>
            </a:r>
          </a:p>
        </p:txBody>
      </p:sp>
      <p:sp>
        <p:nvSpPr>
          <p:cNvPr id="8" name="TextBox 13">
            <a:extLst>
              <a:ext uri="{FF2B5EF4-FFF2-40B4-BE49-F238E27FC236}">
                <a16:creationId xmlns:a16="http://schemas.microsoft.com/office/drawing/2014/main" id="{C8A87DDC-F524-3199-C1E3-DB5E75EAC6B5}"/>
              </a:ext>
            </a:extLst>
          </p:cNvPr>
          <p:cNvSpPr txBox="1"/>
          <p:nvPr/>
        </p:nvSpPr>
        <p:spPr>
          <a:xfrm>
            <a:off x="3708597" y="2616875"/>
            <a:ext cx="1179628" cy="215444"/>
          </a:xfrm>
          <a:prstGeom prst="rect">
            <a:avLst/>
          </a:prstGeom>
          <a:solidFill>
            <a:schemeClr val="bg1"/>
          </a:solidFill>
          <a:ln w="6350">
            <a:solidFill>
              <a:schemeClr val="bg1">
                <a:lumMod val="50000"/>
              </a:schemeClr>
            </a:solidFill>
          </a:ln>
        </p:spPr>
        <p:txBody>
          <a:bodyPr wrap="square" rtlCol="0">
            <a:spAutoFit/>
          </a:bodyPr>
          <a:lstStyle>
            <a:defPPr>
              <a:defRPr lang="en-US"/>
            </a:defPPr>
            <a:lvl1pPr marL="0" indent="0" algn="l" defTabSz="457200" rtl="0" eaLnBrk="1" latinLnBrk="0" hangingPunct="1">
              <a:defRPr sz="1800" kern="1200">
                <a:solidFill>
                  <a:schemeClr val="tx1"/>
                </a:solidFill>
                <a:latin typeface="+mn-lt"/>
                <a:ea typeface="+mn-ea"/>
                <a:cs typeface="+mn-cs"/>
              </a:defRPr>
            </a:lvl1pPr>
            <a:lvl2pPr marL="457200" indent="0" algn="l" defTabSz="457200" rtl="0" eaLnBrk="1" latinLnBrk="0" hangingPunct="1">
              <a:defRPr sz="1800" kern="1200">
                <a:solidFill>
                  <a:schemeClr val="tx1"/>
                </a:solidFill>
                <a:latin typeface="+mn-lt"/>
                <a:ea typeface="+mn-ea"/>
                <a:cs typeface="+mn-cs"/>
              </a:defRPr>
            </a:lvl2pPr>
            <a:lvl3pPr marL="914400" indent="0" algn="l" defTabSz="457200" rtl="0" eaLnBrk="1" latinLnBrk="0" hangingPunct="1">
              <a:defRPr sz="1800" kern="1200">
                <a:solidFill>
                  <a:schemeClr val="tx1"/>
                </a:solidFill>
                <a:latin typeface="+mn-lt"/>
                <a:ea typeface="+mn-ea"/>
                <a:cs typeface="+mn-cs"/>
              </a:defRPr>
            </a:lvl3pPr>
            <a:lvl4pPr marL="1371600" indent="0" algn="l" defTabSz="457200" rtl="0" eaLnBrk="1" latinLnBrk="0" hangingPunct="1">
              <a:defRPr sz="1800" kern="1200">
                <a:solidFill>
                  <a:schemeClr val="tx1"/>
                </a:solidFill>
                <a:latin typeface="+mn-lt"/>
                <a:ea typeface="+mn-ea"/>
                <a:cs typeface="+mn-cs"/>
              </a:defRPr>
            </a:lvl4pPr>
            <a:lvl5pPr marL="1828800" indent="0" algn="l" defTabSz="457200" rtl="0" eaLnBrk="1" latinLnBrk="0" hangingPunct="1">
              <a:defRPr sz="1800" kern="1200">
                <a:solidFill>
                  <a:schemeClr val="tx1"/>
                </a:solidFill>
                <a:latin typeface="+mn-lt"/>
                <a:ea typeface="+mn-ea"/>
                <a:cs typeface="+mn-cs"/>
              </a:defRPr>
            </a:lvl5pPr>
            <a:lvl6pPr marL="2286000" indent="0" algn="l" defTabSz="457200" rtl="0" eaLnBrk="1" latinLnBrk="0" hangingPunct="1">
              <a:defRPr sz="1800" kern="1200">
                <a:solidFill>
                  <a:schemeClr val="tx1"/>
                </a:solidFill>
                <a:latin typeface="+mn-lt"/>
                <a:ea typeface="+mn-ea"/>
                <a:cs typeface="+mn-cs"/>
              </a:defRPr>
            </a:lvl6pPr>
            <a:lvl7pPr marL="2743200" indent="0" algn="l" defTabSz="457200" rtl="0" eaLnBrk="1" latinLnBrk="0" hangingPunct="1">
              <a:defRPr sz="1800" kern="1200">
                <a:solidFill>
                  <a:schemeClr val="tx1"/>
                </a:solidFill>
                <a:latin typeface="+mn-lt"/>
                <a:ea typeface="+mn-ea"/>
                <a:cs typeface="+mn-cs"/>
              </a:defRPr>
            </a:lvl7pPr>
            <a:lvl8pPr marL="3200400" indent="0" algn="l" defTabSz="457200" rtl="0" eaLnBrk="1" latinLnBrk="0" hangingPunct="1">
              <a:defRPr sz="1800" kern="1200">
                <a:solidFill>
                  <a:schemeClr val="tx1"/>
                </a:solidFill>
                <a:latin typeface="+mn-lt"/>
                <a:ea typeface="+mn-ea"/>
                <a:cs typeface="+mn-cs"/>
              </a:defRPr>
            </a:lvl8pPr>
            <a:lvl9pPr marL="3657600" indent="0" algn="l" defTabSz="457200" rtl="0" eaLnBrk="1" latinLnBrk="0" hangingPunct="1">
              <a:defRPr sz="1800" kern="1200">
                <a:solidFill>
                  <a:schemeClr val="tx1"/>
                </a:solidFill>
                <a:latin typeface="+mn-lt"/>
                <a:ea typeface="+mn-ea"/>
                <a:cs typeface="+mn-cs"/>
              </a:defRPr>
            </a:lvl9pPr>
          </a:lstStyle>
          <a:p>
            <a:pPr algn="ctr"/>
            <a:r>
              <a:rPr lang="en-US" sz="800" dirty="0">
                <a:latin typeface="Aptos" panose="020B0004020202020204" pitchFamily="34" charset="0"/>
              </a:rPr>
              <a:t>3% Yearly Spending</a:t>
            </a:r>
          </a:p>
        </p:txBody>
      </p:sp>
      <p:cxnSp>
        <p:nvCxnSpPr>
          <p:cNvPr id="11" name="Straight Arrow Connector 10">
            <a:extLst>
              <a:ext uri="{FF2B5EF4-FFF2-40B4-BE49-F238E27FC236}">
                <a16:creationId xmlns:a16="http://schemas.microsoft.com/office/drawing/2014/main" id="{B496D658-FF5B-CC71-A734-61DB1906AD2C}"/>
              </a:ext>
            </a:extLst>
          </p:cNvPr>
          <p:cNvCxnSpPr>
            <a:cxnSpLocks/>
          </p:cNvCxnSpPr>
          <p:nvPr/>
        </p:nvCxnSpPr>
        <p:spPr>
          <a:xfrm flipV="1">
            <a:off x="6505303" y="3017859"/>
            <a:ext cx="1529564" cy="6587"/>
          </a:xfrm>
          <a:prstGeom prst="straightConnector1">
            <a:avLst/>
          </a:prstGeom>
          <a:ln>
            <a:solidFill>
              <a:schemeClr val="bg1">
                <a:lumMod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9" name="TextBox 13">
            <a:extLst>
              <a:ext uri="{FF2B5EF4-FFF2-40B4-BE49-F238E27FC236}">
                <a16:creationId xmlns:a16="http://schemas.microsoft.com/office/drawing/2014/main" id="{01A0944E-12F7-C5CE-21A8-D9209397D440}"/>
              </a:ext>
            </a:extLst>
          </p:cNvPr>
          <p:cNvSpPr txBox="1"/>
          <p:nvPr/>
        </p:nvSpPr>
        <p:spPr>
          <a:xfrm>
            <a:off x="6936761" y="2846083"/>
            <a:ext cx="1179628" cy="338554"/>
          </a:xfrm>
          <a:prstGeom prst="rect">
            <a:avLst/>
          </a:prstGeom>
          <a:solidFill>
            <a:schemeClr val="bg1"/>
          </a:solidFill>
          <a:ln w="6350">
            <a:solidFill>
              <a:schemeClr val="bg1">
                <a:lumMod val="50000"/>
              </a:schemeClr>
            </a:solidFill>
          </a:ln>
        </p:spPr>
        <p:txBody>
          <a:bodyPr wrap="square" rtlCol="0">
            <a:spAutoFit/>
          </a:bodyPr>
          <a:lstStyle>
            <a:defPPr>
              <a:defRPr lang="en-US"/>
            </a:defPPr>
            <a:lvl1pPr marL="0" indent="0" algn="l" defTabSz="457200" rtl="0" eaLnBrk="1" latinLnBrk="0" hangingPunct="1">
              <a:defRPr sz="1800" kern="1200">
                <a:solidFill>
                  <a:schemeClr val="tx1"/>
                </a:solidFill>
                <a:latin typeface="+mn-lt"/>
                <a:ea typeface="+mn-ea"/>
                <a:cs typeface="+mn-cs"/>
              </a:defRPr>
            </a:lvl1pPr>
            <a:lvl2pPr marL="457200" indent="0" algn="l" defTabSz="457200" rtl="0" eaLnBrk="1" latinLnBrk="0" hangingPunct="1">
              <a:defRPr sz="1800" kern="1200">
                <a:solidFill>
                  <a:schemeClr val="tx1"/>
                </a:solidFill>
                <a:latin typeface="+mn-lt"/>
                <a:ea typeface="+mn-ea"/>
                <a:cs typeface="+mn-cs"/>
              </a:defRPr>
            </a:lvl2pPr>
            <a:lvl3pPr marL="914400" indent="0" algn="l" defTabSz="457200" rtl="0" eaLnBrk="1" latinLnBrk="0" hangingPunct="1">
              <a:defRPr sz="1800" kern="1200">
                <a:solidFill>
                  <a:schemeClr val="tx1"/>
                </a:solidFill>
                <a:latin typeface="+mn-lt"/>
                <a:ea typeface="+mn-ea"/>
                <a:cs typeface="+mn-cs"/>
              </a:defRPr>
            </a:lvl3pPr>
            <a:lvl4pPr marL="1371600" indent="0" algn="l" defTabSz="457200" rtl="0" eaLnBrk="1" latinLnBrk="0" hangingPunct="1">
              <a:defRPr sz="1800" kern="1200">
                <a:solidFill>
                  <a:schemeClr val="tx1"/>
                </a:solidFill>
                <a:latin typeface="+mn-lt"/>
                <a:ea typeface="+mn-ea"/>
                <a:cs typeface="+mn-cs"/>
              </a:defRPr>
            </a:lvl4pPr>
            <a:lvl5pPr marL="1828800" indent="0" algn="l" defTabSz="457200" rtl="0" eaLnBrk="1" latinLnBrk="0" hangingPunct="1">
              <a:defRPr sz="1800" kern="1200">
                <a:solidFill>
                  <a:schemeClr val="tx1"/>
                </a:solidFill>
                <a:latin typeface="+mn-lt"/>
                <a:ea typeface="+mn-ea"/>
                <a:cs typeface="+mn-cs"/>
              </a:defRPr>
            </a:lvl5pPr>
            <a:lvl6pPr marL="2286000" indent="0" algn="l" defTabSz="457200" rtl="0" eaLnBrk="1" latinLnBrk="0" hangingPunct="1">
              <a:defRPr sz="1800" kern="1200">
                <a:solidFill>
                  <a:schemeClr val="tx1"/>
                </a:solidFill>
                <a:latin typeface="+mn-lt"/>
                <a:ea typeface="+mn-ea"/>
                <a:cs typeface="+mn-cs"/>
              </a:defRPr>
            </a:lvl6pPr>
            <a:lvl7pPr marL="2743200" indent="0" algn="l" defTabSz="457200" rtl="0" eaLnBrk="1" latinLnBrk="0" hangingPunct="1">
              <a:defRPr sz="1800" kern="1200">
                <a:solidFill>
                  <a:schemeClr val="tx1"/>
                </a:solidFill>
                <a:latin typeface="+mn-lt"/>
                <a:ea typeface="+mn-ea"/>
                <a:cs typeface="+mn-cs"/>
              </a:defRPr>
            </a:lvl7pPr>
            <a:lvl8pPr marL="3200400" indent="0" algn="l" defTabSz="457200" rtl="0" eaLnBrk="1" latinLnBrk="0" hangingPunct="1">
              <a:defRPr sz="1800" kern="1200">
                <a:solidFill>
                  <a:schemeClr val="tx1"/>
                </a:solidFill>
                <a:latin typeface="+mn-lt"/>
                <a:ea typeface="+mn-ea"/>
                <a:cs typeface="+mn-cs"/>
              </a:defRPr>
            </a:lvl8pPr>
            <a:lvl9pPr marL="3657600" indent="0" algn="l" defTabSz="457200" rtl="0" eaLnBrk="1" latinLnBrk="0" hangingPunct="1">
              <a:defRPr sz="1800" kern="1200">
                <a:solidFill>
                  <a:schemeClr val="tx1"/>
                </a:solidFill>
                <a:latin typeface="+mn-lt"/>
                <a:ea typeface="+mn-ea"/>
                <a:cs typeface="+mn-cs"/>
              </a:defRPr>
            </a:lvl9pPr>
          </a:lstStyle>
          <a:p>
            <a:pPr algn="ctr"/>
            <a:r>
              <a:rPr lang="en-US" sz="800" dirty="0">
                <a:latin typeface="Aptos" panose="020B0004020202020204" pitchFamily="34" charset="0"/>
              </a:rPr>
              <a:t>90% of outcomes will be less than this value</a:t>
            </a:r>
          </a:p>
        </p:txBody>
      </p:sp>
      <p:cxnSp>
        <p:nvCxnSpPr>
          <p:cNvPr id="14" name="Straight Arrow Connector 13">
            <a:extLst>
              <a:ext uri="{FF2B5EF4-FFF2-40B4-BE49-F238E27FC236}">
                <a16:creationId xmlns:a16="http://schemas.microsoft.com/office/drawing/2014/main" id="{730D2FD9-3A8A-3716-6A82-2F9A034C5B28}"/>
              </a:ext>
            </a:extLst>
          </p:cNvPr>
          <p:cNvCxnSpPr>
            <a:cxnSpLocks/>
          </p:cNvCxnSpPr>
          <p:nvPr/>
        </p:nvCxnSpPr>
        <p:spPr>
          <a:xfrm flipV="1">
            <a:off x="6505303" y="4074224"/>
            <a:ext cx="1529564" cy="6587"/>
          </a:xfrm>
          <a:prstGeom prst="straightConnector1">
            <a:avLst/>
          </a:prstGeom>
          <a:ln>
            <a:solidFill>
              <a:schemeClr val="bg1">
                <a:lumMod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7" name="TextBox 13">
            <a:extLst>
              <a:ext uri="{FF2B5EF4-FFF2-40B4-BE49-F238E27FC236}">
                <a16:creationId xmlns:a16="http://schemas.microsoft.com/office/drawing/2014/main" id="{137B2374-7102-E571-0DE9-823A88D5FBF1}"/>
              </a:ext>
            </a:extLst>
          </p:cNvPr>
          <p:cNvSpPr txBox="1"/>
          <p:nvPr/>
        </p:nvSpPr>
        <p:spPr>
          <a:xfrm>
            <a:off x="6936761" y="3902448"/>
            <a:ext cx="1179628" cy="338554"/>
          </a:xfrm>
          <a:prstGeom prst="rect">
            <a:avLst/>
          </a:prstGeom>
          <a:solidFill>
            <a:schemeClr val="bg1"/>
          </a:solidFill>
          <a:ln w="6350">
            <a:solidFill>
              <a:schemeClr val="bg1">
                <a:lumMod val="50000"/>
              </a:schemeClr>
            </a:solidFill>
          </a:ln>
        </p:spPr>
        <p:txBody>
          <a:bodyPr wrap="square" rtlCol="0">
            <a:spAutoFit/>
          </a:bodyPr>
          <a:lstStyle>
            <a:defPPr>
              <a:defRPr lang="en-US"/>
            </a:defPPr>
            <a:lvl1pPr marL="0" indent="0" algn="l" defTabSz="457200" rtl="0" eaLnBrk="1" latinLnBrk="0" hangingPunct="1">
              <a:defRPr sz="1800" kern="1200">
                <a:solidFill>
                  <a:schemeClr val="tx1"/>
                </a:solidFill>
                <a:latin typeface="+mn-lt"/>
                <a:ea typeface="+mn-ea"/>
                <a:cs typeface="+mn-cs"/>
              </a:defRPr>
            </a:lvl1pPr>
            <a:lvl2pPr marL="457200" indent="0" algn="l" defTabSz="457200" rtl="0" eaLnBrk="1" latinLnBrk="0" hangingPunct="1">
              <a:defRPr sz="1800" kern="1200">
                <a:solidFill>
                  <a:schemeClr val="tx1"/>
                </a:solidFill>
                <a:latin typeface="+mn-lt"/>
                <a:ea typeface="+mn-ea"/>
                <a:cs typeface="+mn-cs"/>
              </a:defRPr>
            </a:lvl2pPr>
            <a:lvl3pPr marL="914400" indent="0" algn="l" defTabSz="457200" rtl="0" eaLnBrk="1" latinLnBrk="0" hangingPunct="1">
              <a:defRPr sz="1800" kern="1200">
                <a:solidFill>
                  <a:schemeClr val="tx1"/>
                </a:solidFill>
                <a:latin typeface="+mn-lt"/>
                <a:ea typeface="+mn-ea"/>
                <a:cs typeface="+mn-cs"/>
              </a:defRPr>
            </a:lvl3pPr>
            <a:lvl4pPr marL="1371600" indent="0" algn="l" defTabSz="457200" rtl="0" eaLnBrk="1" latinLnBrk="0" hangingPunct="1">
              <a:defRPr sz="1800" kern="1200">
                <a:solidFill>
                  <a:schemeClr val="tx1"/>
                </a:solidFill>
                <a:latin typeface="+mn-lt"/>
                <a:ea typeface="+mn-ea"/>
                <a:cs typeface="+mn-cs"/>
              </a:defRPr>
            </a:lvl4pPr>
            <a:lvl5pPr marL="1828800" indent="0" algn="l" defTabSz="457200" rtl="0" eaLnBrk="1" latinLnBrk="0" hangingPunct="1">
              <a:defRPr sz="1800" kern="1200">
                <a:solidFill>
                  <a:schemeClr val="tx1"/>
                </a:solidFill>
                <a:latin typeface="+mn-lt"/>
                <a:ea typeface="+mn-ea"/>
                <a:cs typeface="+mn-cs"/>
              </a:defRPr>
            </a:lvl5pPr>
            <a:lvl6pPr marL="2286000" indent="0" algn="l" defTabSz="457200" rtl="0" eaLnBrk="1" latinLnBrk="0" hangingPunct="1">
              <a:defRPr sz="1800" kern="1200">
                <a:solidFill>
                  <a:schemeClr val="tx1"/>
                </a:solidFill>
                <a:latin typeface="+mn-lt"/>
                <a:ea typeface="+mn-ea"/>
                <a:cs typeface="+mn-cs"/>
              </a:defRPr>
            </a:lvl6pPr>
            <a:lvl7pPr marL="2743200" indent="0" algn="l" defTabSz="457200" rtl="0" eaLnBrk="1" latinLnBrk="0" hangingPunct="1">
              <a:defRPr sz="1800" kern="1200">
                <a:solidFill>
                  <a:schemeClr val="tx1"/>
                </a:solidFill>
                <a:latin typeface="+mn-lt"/>
                <a:ea typeface="+mn-ea"/>
                <a:cs typeface="+mn-cs"/>
              </a:defRPr>
            </a:lvl7pPr>
            <a:lvl8pPr marL="3200400" indent="0" algn="l" defTabSz="457200" rtl="0" eaLnBrk="1" latinLnBrk="0" hangingPunct="1">
              <a:defRPr sz="1800" kern="1200">
                <a:solidFill>
                  <a:schemeClr val="tx1"/>
                </a:solidFill>
                <a:latin typeface="+mn-lt"/>
                <a:ea typeface="+mn-ea"/>
                <a:cs typeface="+mn-cs"/>
              </a:defRPr>
            </a:lvl8pPr>
            <a:lvl9pPr marL="3657600" indent="0" algn="l" defTabSz="457200" rtl="0" eaLnBrk="1" latinLnBrk="0" hangingPunct="1">
              <a:defRPr sz="1800" kern="1200">
                <a:solidFill>
                  <a:schemeClr val="tx1"/>
                </a:solidFill>
                <a:latin typeface="+mn-lt"/>
                <a:ea typeface="+mn-ea"/>
                <a:cs typeface="+mn-cs"/>
              </a:defRPr>
            </a:lvl9pPr>
          </a:lstStyle>
          <a:p>
            <a:pPr algn="ctr"/>
            <a:r>
              <a:rPr lang="en-US" sz="800" dirty="0">
                <a:latin typeface="Aptos" panose="020B0004020202020204" pitchFamily="34" charset="0"/>
              </a:rPr>
              <a:t>50% of outcomes will be less than this value</a:t>
            </a:r>
          </a:p>
        </p:txBody>
      </p:sp>
      <p:cxnSp>
        <p:nvCxnSpPr>
          <p:cNvPr id="18" name="Straight Arrow Connector 17">
            <a:extLst>
              <a:ext uri="{FF2B5EF4-FFF2-40B4-BE49-F238E27FC236}">
                <a16:creationId xmlns:a16="http://schemas.microsoft.com/office/drawing/2014/main" id="{8FB91CE6-BE5A-2406-4636-646EFB0A052C}"/>
              </a:ext>
            </a:extLst>
          </p:cNvPr>
          <p:cNvCxnSpPr>
            <a:cxnSpLocks/>
          </p:cNvCxnSpPr>
          <p:nvPr/>
        </p:nvCxnSpPr>
        <p:spPr>
          <a:xfrm flipV="1">
            <a:off x="6505303" y="4691231"/>
            <a:ext cx="1529564" cy="6587"/>
          </a:xfrm>
          <a:prstGeom prst="straightConnector1">
            <a:avLst/>
          </a:prstGeom>
          <a:ln>
            <a:solidFill>
              <a:schemeClr val="bg1">
                <a:lumMod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9" name="TextBox 13">
            <a:extLst>
              <a:ext uri="{FF2B5EF4-FFF2-40B4-BE49-F238E27FC236}">
                <a16:creationId xmlns:a16="http://schemas.microsoft.com/office/drawing/2014/main" id="{0EA62E1A-3E15-EB15-9952-24727EF97C85}"/>
              </a:ext>
            </a:extLst>
          </p:cNvPr>
          <p:cNvSpPr txBox="1"/>
          <p:nvPr/>
        </p:nvSpPr>
        <p:spPr>
          <a:xfrm>
            <a:off x="6936761" y="4519455"/>
            <a:ext cx="1179628" cy="338554"/>
          </a:xfrm>
          <a:prstGeom prst="rect">
            <a:avLst/>
          </a:prstGeom>
          <a:solidFill>
            <a:schemeClr val="bg1"/>
          </a:solidFill>
          <a:ln w="6350">
            <a:solidFill>
              <a:schemeClr val="bg1">
                <a:lumMod val="50000"/>
              </a:schemeClr>
            </a:solidFill>
          </a:ln>
        </p:spPr>
        <p:txBody>
          <a:bodyPr wrap="square" rtlCol="0">
            <a:spAutoFit/>
          </a:bodyPr>
          <a:lstStyle>
            <a:defPPr>
              <a:defRPr lang="en-US"/>
            </a:defPPr>
            <a:lvl1pPr marL="0" indent="0" algn="l" defTabSz="457200" rtl="0" eaLnBrk="1" latinLnBrk="0" hangingPunct="1">
              <a:defRPr sz="1800" kern="1200">
                <a:solidFill>
                  <a:schemeClr val="tx1"/>
                </a:solidFill>
                <a:latin typeface="+mn-lt"/>
                <a:ea typeface="+mn-ea"/>
                <a:cs typeface="+mn-cs"/>
              </a:defRPr>
            </a:lvl1pPr>
            <a:lvl2pPr marL="457200" indent="0" algn="l" defTabSz="457200" rtl="0" eaLnBrk="1" latinLnBrk="0" hangingPunct="1">
              <a:defRPr sz="1800" kern="1200">
                <a:solidFill>
                  <a:schemeClr val="tx1"/>
                </a:solidFill>
                <a:latin typeface="+mn-lt"/>
                <a:ea typeface="+mn-ea"/>
                <a:cs typeface="+mn-cs"/>
              </a:defRPr>
            </a:lvl2pPr>
            <a:lvl3pPr marL="914400" indent="0" algn="l" defTabSz="457200" rtl="0" eaLnBrk="1" latinLnBrk="0" hangingPunct="1">
              <a:defRPr sz="1800" kern="1200">
                <a:solidFill>
                  <a:schemeClr val="tx1"/>
                </a:solidFill>
                <a:latin typeface="+mn-lt"/>
                <a:ea typeface="+mn-ea"/>
                <a:cs typeface="+mn-cs"/>
              </a:defRPr>
            </a:lvl3pPr>
            <a:lvl4pPr marL="1371600" indent="0" algn="l" defTabSz="457200" rtl="0" eaLnBrk="1" latinLnBrk="0" hangingPunct="1">
              <a:defRPr sz="1800" kern="1200">
                <a:solidFill>
                  <a:schemeClr val="tx1"/>
                </a:solidFill>
                <a:latin typeface="+mn-lt"/>
                <a:ea typeface="+mn-ea"/>
                <a:cs typeface="+mn-cs"/>
              </a:defRPr>
            </a:lvl4pPr>
            <a:lvl5pPr marL="1828800" indent="0" algn="l" defTabSz="457200" rtl="0" eaLnBrk="1" latinLnBrk="0" hangingPunct="1">
              <a:defRPr sz="1800" kern="1200">
                <a:solidFill>
                  <a:schemeClr val="tx1"/>
                </a:solidFill>
                <a:latin typeface="+mn-lt"/>
                <a:ea typeface="+mn-ea"/>
                <a:cs typeface="+mn-cs"/>
              </a:defRPr>
            </a:lvl5pPr>
            <a:lvl6pPr marL="2286000" indent="0" algn="l" defTabSz="457200" rtl="0" eaLnBrk="1" latinLnBrk="0" hangingPunct="1">
              <a:defRPr sz="1800" kern="1200">
                <a:solidFill>
                  <a:schemeClr val="tx1"/>
                </a:solidFill>
                <a:latin typeface="+mn-lt"/>
                <a:ea typeface="+mn-ea"/>
                <a:cs typeface="+mn-cs"/>
              </a:defRPr>
            </a:lvl6pPr>
            <a:lvl7pPr marL="2743200" indent="0" algn="l" defTabSz="457200" rtl="0" eaLnBrk="1" latinLnBrk="0" hangingPunct="1">
              <a:defRPr sz="1800" kern="1200">
                <a:solidFill>
                  <a:schemeClr val="tx1"/>
                </a:solidFill>
                <a:latin typeface="+mn-lt"/>
                <a:ea typeface="+mn-ea"/>
                <a:cs typeface="+mn-cs"/>
              </a:defRPr>
            </a:lvl7pPr>
            <a:lvl8pPr marL="3200400" indent="0" algn="l" defTabSz="457200" rtl="0" eaLnBrk="1" latinLnBrk="0" hangingPunct="1">
              <a:defRPr sz="1800" kern="1200">
                <a:solidFill>
                  <a:schemeClr val="tx1"/>
                </a:solidFill>
                <a:latin typeface="+mn-lt"/>
                <a:ea typeface="+mn-ea"/>
                <a:cs typeface="+mn-cs"/>
              </a:defRPr>
            </a:lvl8pPr>
            <a:lvl9pPr marL="3657600" indent="0" algn="l" defTabSz="457200" rtl="0" eaLnBrk="1" latinLnBrk="0" hangingPunct="1">
              <a:defRPr sz="1800" kern="1200">
                <a:solidFill>
                  <a:schemeClr val="tx1"/>
                </a:solidFill>
                <a:latin typeface="+mn-lt"/>
                <a:ea typeface="+mn-ea"/>
                <a:cs typeface="+mn-cs"/>
              </a:defRPr>
            </a:lvl9pPr>
          </a:lstStyle>
          <a:p>
            <a:pPr algn="ctr"/>
            <a:r>
              <a:rPr lang="en-US" sz="800" dirty="0">
                <a:latin typeface="Aptos" panose="020B0004020202020204" pitchFamily="34" charset="0"/>
              </a:rPr>
              <a:t>10% of outcomes will be less than this value</a:t>
            </a:r>
          </a:p>
        </p:txBody>
      </p:sp>
      <p:cxnSp>
        <p:nvCxnSpPr>
          <p:cNvPr id="20" name="Straight Arrow Connector 19">
            <a:extLst>
              <a:ext uri="{FF2B5EF4-FFF2-40B4-BE49-F238E27FC236}">
                <a16:creationId xmlns:a16="http://schemas.microsoft.com/office/drawing/2014/main" id="{4781582B-240A-058A-D264-F487380754E6}"/>
              </a:ext>
            </a:extLst>
          </p:cNvPr>
          <p:cNvCxnSpPr>
            <a:cxnSpLocks/>
          </p:cNvCxnSpPr>
          <p:nvPr/>
        </p:nvCxnSpPr>
        <p:spPr>
          <a:xfrm flipV="1">
            <a:off x="6505303" y="5091523"/>
            <a:ext cx="1529564" cy="6587"/>
          </a:xfrm>
          <a:prstGeom prst="straightConnector1">
            <a:avLst/>
          </a:prstGeom>
          <a:ln>
            <a:solidFill>
              <a:schemeClr val="bg1">
                <a:lumMod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2" name="TextBox 13">
            <a:extLst>
              <a:ext uri="{FF2B5EF4-FFF2-40B4-BE49-F238E27FC236}">
                <a16:creationId xmlns:a16="http://schemas.microsoft.com/office/drawing/2014/main" id="{D544845B-FF90-8623-6F9D-B1F0A8AD4AE0}"/>
              </a:ext>
            </a:extLst>
          </p:cNvPr>
          <p:cNvSpPr txBox="1"/>
          <p:nvPr/>
        </p:nvSpPr>
        <p:spPr>
          <a:xfrm>
            <a:off x="6936761" y="4919747"/>
            <a:ext cx="1179628" cy="338554"/>
          </a:xfrm>
          <a:prstGeom prst="rect">
            <a:avLst/>
          </a:prstGeom>
          <a:solidFill>
            <a:schemeClr val="bg1"/>
          </a:solidFill>
          <a:ln w="6350">
            <a:solidFill>
              <a:schemeClr val="bg1">
                <a:lumMod val="50000"/>
              </a:schemeClr>
            </a:solidFill>
          </a:ln>
        </p:spPr>
        <p:txBody>
          <a:bodyPr wrap="square" rtlCol="0">
            <a:spAutoFit/>
          </a:bodyPr>
          <a:lstStyle>
            <a:defPPr>
              <a:defRPr lang="en-US"/>
            </a:defPPr>
            <a:lvl1pPr marL="0" indent="0" algn="l" defTabSz="457200" rtl="0" eaLnBrk="1" latinLnBrk="0" hangingPunct="1">
              <a:defRPr sz="1800" kern="1200">
                <a:solidFill>
                  <a:schemeClr val="tx1"/>
                </a:solidFill>
                <a:latin typeface="+mn-lt"/>
                <a:ea typeface="+mn-ea"/>
                <a:cs typeface="+mn-cs"/>
              </a:defRPr>
            </a:lvl1pPr>
            <a:lvl2pPr marL="457200" indent="0" algn="l" defTabSz="457200" rtl="0" eaLnBrk="1" latinLnBrk="0" hangingPunct="1">
              <a:defRPr sz="1800" kern="1200">
                <a:solidFill>
                  <a:schemeClr val="tx1"/>
                </a:solidFill>
                <a:latin typeface="+mn-lt"/>
                <a:ea typeface="+mn-ea"/>
                <a:cs typeface="+mn-cs"/>
              </a:defRPr>
            </a:lvl2pPr>
            <a:lvl3pPr marL="914400" indent="0" algn="l" defTabSz="457200" rtl="0" eaLnBrk="1" latinLnBrk="0" hangingPunct="1">
              <a:defRPr sz="1800" kern="1200">
                <a:solidFill>
                  <a:schemeClr val="tx1"/>
                </a:solidFill>
                <a:latin typeface="+mn-lt"/>
                <a:ea typeface="+mn-ea"/>
                <a:cs typeface="+mn-cs"/>
              </a:defRPr>
            </a:lvl3pPr>
            <a:lvl4pPr marL="1371600" indent="0" algn="l" defTabSz="457200" rtl="0" eaLnBrk="1" latinLnBrk="0" hangingPunct="1">
              <a:defRPr sz="1800" kern="1200">
                <a:solidFill>
                  <a:schemeClr val="tx1"/>
                </a:solidFill>
                <a:latin typeface="+mn-lt"/>
                <a:ea typeface="+mn-ea"/>
                <a:cs typeface="+mn-cs"/>
              </a:defRPr>
            </a:lvl4pPr>
            <a:lvl5pPr marL="1828800" indent="0" algn="l" defTabSz="457200" rtl="0" eaLnBrk="1" latinLnBrk="0" hangingPunct="1">
              <a:defRPr sz="1800" kern="1200">
                <a:solidFill>
                  <a:schemeClr val="tx1"/>
                </a:solidFill>
                <a:latin typeface="+mn-lt"/>
                <a:ea typeface="+mn-ea"/>
                <a:cs typeface="+mn-cs"/>
              </a:defRPr>
            </a:lvl5pPr>
            <a:lvl6pPr marL="2286000" indent="0" algn="l" defTabSz="457200" rtl="0" eaLnBrk="1" latinLnBrk="0" hangingPunct="1">
              <a:defRPr sz="1800" kern="1200">
                <a:solidFill>
                  <a:schemeClr val="tx1"/>
                </a:solidFill>
                <a:latin typeface="+mn-lt"/>
                <a:ea typeface="+mn-ea"/>
                <a:cs typeface="+mn-cs"/>
              </a:defRPr>
            </a:lvl6pPr>
            <a:lvl7pPr marL="2743200" indent="0" algn="l" defTabSz="457200" rtl="0" eaLnBrk="1" latinLnBrk="0" hangingPunct="1">
              <a:defRPr sz="1800" kern="1200">
                <a:solidFill>
                  <a:schemeClr val="tx1"/>
                </a:solidFill>
                <a:latin typeface="+mn-lt"/>
                <a:ea typeface="+mn-ea"/>
                <a:cs typeface="+mn-cs"/>
              </a:defRPr>
            </a:lvl7pPr>
            <a:lvl8pPr marL="3200400" indent="0" algn="l" defTabSz="457200" rtl="0" eaLnBrk="1" latinLnBrk="0" hangingPunct="1">
              <a:defRPr sz="1800" kern="1200">
                <a:solidFill>
                  <a:schemeClr val="tx1"/>
                </a:solidFill>
                <a:latin typeface="+mn-lt"/>
                <a:ea typeface="+mn-ea"/>
                <a:cs typeface="+mn-cs"/>
              </a:defRPr>
            </a:lvl8pPr>
            <a:lvl9pPr marL="3657600" indent="0" algn="l" defTabSz="457200" rtl="0" eaLnBrk="1" latinLnBrk="0" hangingPunct="1">
              <a:defRPr sz="1800" kern="1200">
                <a:solidFill>
                  <a:schemeClr val="tx1"/>
                </a:solidFill>
                <a:latin typeface="+mn-lt"/>
                <a:ea typeface="+mn-ea"/>
                <a:cs typeface="+mn-cs"/>
              </a:defRPr>
            </a:lvl9pPr>
          </a:lstStyle>
          <a:p>
            <a:pPr algn="ctr"/>
            <a:r>
              <a:rPr lang="en-US" sz="800" dirty="0">
                <a:latin typeface="Aptos" panose="020B0004020202020204" pitchFamily="34" charset="0"/>
              </a:rPr>
              <a:t>1% of outcomes will be less than this value</a:t>
            </a:r>
          </a:p>
        </p:txBody>
      </p:sp>
    </p:spTree>
    <p:extLst>
      <p:ext uri="{BB962C8B-B14F-4D97-AF65-F5344CB8AC3E}">
        <p14:creationId xmlns:p14="http://schemas.microsoft.com/office/powerpoint/2010/main" val="254483673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921508-1377-CFA5-7401-4879FC36955E}"/>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E512B6F-64BC-F081-4895-43323BB05856}"/>
              </a:ext>
            </a:extLst>
          </p:cNvPr>
          <p:cNvSpPr txBox="1"/>
          <p:nvPr/>
        </p:nvSpPr>
        <p:spPr>
          <a:xfrm>
            <a:off x="287491" y="365302"/>
            <a:ext cx="7747376" cy="400110"/>
          </a:xfrm>
          <a:prstGeom prst="rect">
            <a:avLst/>
          </a:prstGeom>
          <a:noFill/>
        </p:spPr>
        <p:txBody>
          <a:bodyPr wrap="square" rtlCol="0">
            <a:spAutoFit/>
          </a:bodyPr>
          <a:lstStyle/>
          <a:p>
            <a:r>
              <a:rPr lang="en-US" sz="2000" dirty="0">
                <a:latin typeface="Grotesque Light" panose="020B0304020202020204" pitchFamily="34" charset="0"/>
              </a:rPr>
              <a:t>Optimized For Real Return Target with Spending</a:t>
            </a:r>
          </a:p>
        </p:txBody>
      </p:sp>
      <p:cxnSp>
        <p:nvCxnSpPr>
          <p:cNvPr id="10" name="Straight Connector 9">
            <a:extLst>
              <a:ext uri="{FF2B5EF4-FFF2-40B4-BE49-F238E27FC236}">
                <a16:creationId xmlns:a16="http://schemas.microsoft.com/office/drawing/2014/main" id="{5556C582-EAFC-D04E-37A2-897BC87D7B4B}"/>
              </a:ext>
            </a:extLst>
          </p:cNvPr>
          <p:cNvCxnSpPr/>
          <p:nvPr/>
        </p:nvCxnSpPr>
        <p:spPr>
          <a:xfrm>
            <a:off x="302495" y="6500036"/>
            <a:ext cx="8539009" cy="0"/>
          </a:xfrm>
          <a:prstGeom prst="line">
            <a:avLst/>
          </a:prstGeom>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86DE4625-AFB1-4469-CE45-484B80E52177}"/>
              </a:ext>
            </a:extLst>
          </p:cNvPr>
          <p:cNvSpPr txBox="1"/>
          <p:nvPr/>
        </p:nvSpPr>
        <p:spPr>
          <a:xfrm>
            <a:off x="428785" y="1539232"/>
            <a:ext cx="8137285"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Likelihood of Real Wealth Preservation under Growth and Inflation Scenarios</a:t>
            </a:r>
          </a:p>
        </p:txBody>
      </p:sp>
      <p:sp>
        <p:nvSpPr>
          <p:cNvPr id="15" name="TextBox 14">
            <a:extLst>
              <a:ext uri="{FF2B5EF4-FFF2-40B4-BE49-F238E27FC236}">
                <a16:creationId xmlns:a16="http://schemas.microsoft.com/office/drawing/2014/main" id="{C165905F-0B3B-DB8F-5C87-A54300D84E21}"/>
              </a:ext>
            </a:extLst>
          </p:cNvPr>
          <p:cNvSpPr txBox="1"/>
          <p:nvPr/>
        </p:nvSpPr>
        <p:spPr>
          <a:xfrm>
            <a:off x="377077" y="911668"/>
            <a:ext cx="8389843" cy="461665"/>
          </a:xfrm>
          <a:prstGeom prst="rect">
            <a:avLst/>
          </a:prstGeom>
          <a:noFill/>
          <a:ln w="6350">
            <a:noFill/>
          </a:ln>
        </p:spPr>
        <p:txBody>
          <a:bodyPr wrap="square" rtlCol="0">
            <a:spAutoFit/>
          </a:bodyPr>
          <a:lstStyle/>
          <a:p>
            <a:r>
              <a:rPr lang="en-GB" sz="1200" dirty="0">
                <a:solidFill>
                  <a:schemeClr val="tx1">
                    <a:lumMod val="95000"/>
                    <a:lumOff val="5000"/>
                  </a:schemeClr>
                </a:solidFill>
                <a:latin typeface="Aptos Light" panose="020B0004020202020204" pitchFamily="34" charset="0"/>
                <a:cs typeface="Calibri Light" panose="020F0302020204030204" pitchFamily="34" charset="0"/>
              </a:rPr>
              <a:t>Here we solve for the optimal portfolio with the objective to grow at 2% per annum in real terms, net of spending, over the next 20 years. Spending is assumed to be </a:t>
            </a:r>
            <a:r>
              <a:rPr lang="en-GB" sz="1200" b="1" i="1" dirty="0">
                <a:solidFill>
                  <a:schemeClr val="tx1">
                    <a:lumMod val="95000"/>
                    <a:lumOff val="5000"/>
                  </a:schemeClr>
                </a:solidFill>
                <a:latin typeface="Aptos Light" panose="020B0004020202020204" pitchFamily="34" charset="0"/>
                <a:cs typeface="Calibri Light" panose="020F0302020204030204" pitchFamily="34" charset="0"/>
              </a:rPr>
              <a:t>2% in years 1-5 and then 3% thereafter</a:t>
            </a:r>
            <a:r>
              <a:rPr lang="en-GB" sz="1200" dirty="0">
                <a:solidFill>
                  <a:schemeClr val="tx1">
                    <a:lumMod val="95000"/>
                    <a:lumOff val="5000"/>
                  </a:schemeClr>
                </a:solidFill>
                <a:latin typeface="Aptos Light" panose="020B0004020202020204" pitchFamily="34" charset="0"/>
                <a:cs typeface="Calibri Light" panose="020F0302020204030204" pitchFamily="34" charset="0"/>
              </a:rPr>
              <a:t>.</a:t>
            </a:r>
            <a:endParaRPr lang="en-US" sz="1200" dirty="0">
              <a:solidFill>
                <a:schemeClr val="tx1">
                  <a:lumMod val="95000"/>
                  <a:lumOff val="5000"/>
                </a:schemeClr>
              </a:solidFill>
              <a:latin typeface="Aptos Light" panose="020B0004020202020204" pitchFamily="34" charset="0"/>
              <a:cs typeface="Calibri Light" panose="020F0302020204030204" pitchFamily="34" charset="0"/>
            </a:endParaRPr>
          </a:p>
        </p:txBody>
      </p:sp>
      <p:graphicFrame>
        <p:nvGraphicFramePr>
          <p:cNvPr id="16" name="Diagram 15">
            <a:extLst>
              <a:ext uri="{FF2B5EF4-FFF2-40B4-BE49-F238E27FC236}">
                <a16:creationId xmlns:a16="http://schemas.microsoft.com/office/drawing/2014/main" id="{97A890C3-07E9-AAAA-7E2C-6F65859C8125}"/>
              </a:ext>
            </a:extLst>
          </p:cNvPr>
          <p:cNvGraphicFramePr/>
          <p:nvPr>
            <p:extLst>
              <p:ext uri="{D42A27DB-BD31-4B8C-83A1-F6EECF244321}">
                <p14:modId xmlns:p14="http://schemas.microsoft.com/office/powerpoint/2010/main" val="3880723601"/>
              </p:ext>
            </p:extLst>
          </p:nvPr>
        </p:nvGraphicFramePr>
        <p:xfrm>
          <a:off x="1423574" y="2086716"/>
          <a:ext cx="6096000" cy="4064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1" name="TextBox 20">
            <a:extLst>
              <a:ext uri="{FF2B5EF4-FFF2-40B4-BE49-F238E27FC236}">
                <a16:creationId xmlns:a16="http://schemas.microsoft.com/office/drawing/2014/main" id="{EAA5157F-DEE7-892C-D6DB-74B92D3C2B45}"/>
              </a:ext>
            </a:extLst>
          </p:cNvPr>
          <p:cNvSpPr txBox="1"/>
          <p:nvPr/>
        </p:nvSpPr>
        <p:spPr>
          <a:xfrm>
            <a:off x="2931465" y="2028067"/>
            <a:ext cx="1179646" cy="215444"/>
          </a:xfrm>
          <a:prstGeom prst="rect">
            <a:avLst/>
          </a:prstGeom>
          <a:noFill/>
          <a:ln w="6350">
            <a:solidFill>
              <a:schemeClr val="tx1"/>
            </a:solidFill>
          </a:ln>
        </p:spPr>
        <p:txBody>
          <a:bodyPr wrap="square" rtlCol="0">
            <a:spAutoFit/>
          </a:bodyPr>
          <a:lstStyle/>
          <a:p>
            <a:pPr algn="ctr"/>
            <a:r>
              <a:rPr lang="en-US" sz="800" dirty="0">
                <a:latin typeface="Aptos" panose="020B0004020202020204" pitchFamily="34" charset="0"/>
              </a:rPr>
              <a:t>High Inflation</a:t>
            </a:r>
          </a:p>
        </p:txBody>
      </p:sp>
      <p:sp>
        <p:nvSpPr>
          <p:cNvPr id="23" name="TextBox 22">
            <a:extLst>
              <a:ext uri="{FF2B5EF4-FFF2-40B4-BE49-F238E27FC236}">
                <a16:creationId xmlns:a16="http://schemas.microsoft.com/office/drawing/2014/main" id="{F048CD97-58E0-4B82-1763-5D72F57122A6}"/>
              </a:ext>
            </a:extLst>
          </p:cNvPr>
          <p:cNvSpPr txBox="1"/>
          <p:nvPr/>
        </p:nvSpPr>
        <p:spPr>
          <a:xfrm>
            <a:off x="4840340" y="2028067"/>
            <a:ext cx="1179646" cy="215444"/>
          </a:xfrm>
          <a:prstGeom prst="rect">
            <a:avLst/>
          </a:prstGeom>
          <a:noFill/>
          <a:ln w="6350">
            <a:solidFill>
              <a:schemeClr val="tx1"/>
            </a:solidFill>
          </a:ln>
        </p:spPr>
        <p:txBody>
          <a:bodyPr wrap="square" rtlCol="0">
            <a:spAutoFit/>
          </a:bodyPr>
          <a:lstStyle/>
          <a:p>
            <a:pPr algn="ctr"/>
            <a:r>
              <a:rPr lang="en-US" sz="800" dirty="0">
                <a:latin typeface="Aptos" panose="020B0004020202020204" pitchFamily="34" charset="0"/>
              </a:rPr>
              <a:t>Low Inflation</a:t>
            </a:r>
          </a:p>
        </p:txBody>
      </p:sp>
      <p:sp>
        <p:nvSpPr>
          <p:cNvPr id="26" name="TextBox 25">
            <a:extLst>
              <a:ext uri="{FF2B5EF4-FFF2-40B4-BE49-F238E27FC236}">
                <a16:creationId xmlns:a16="http://schemas.microsoft.com/office/drawing/2014/main" id="{A2069694-1150-3485-8235-EC00F14BBA26}"/>
              </a:ext>
            </a:extLst>
          </p:cNvPr>
          <p:cNvSpPr txBox="1"/>
          <p:nvPr/>
        </p:nvSpPr>
        <p:spPr>
          <a:xfrm rot="16200000">
            <a:off x="1714848" y="3049450"/>
            <a:ext cx="1179646" cy="215444"/>
          </a:xfrm>
          <a:prstGeom prst="rect">
            <a:avLst/>
          </a:prstGeom>
          <a:noFill/>
          <a:ln w="6350">
            <a:solidFill>
              <a:schemeClr val="tx1"/>
            </a:solidFill>
          </a:ln>
        </p:spPr>
        <p:txBody>
          <a:bodyPr wrap="square" rtlCol="0">
            <a:spAutoFit/>
          </a:bodyPr>
          <a:lstStyle/>
          <a:p>
            <a:pPr algn="ctr"/>
            <a:r>
              <a:rPr lang="en-US" sz="800" dirty="0">
                <a:latin typeface="Aptos" panose="020B0004020202020204" pitchFamily="34" charset="0"/>
              </a:rPr>
              <a:t>High Growth</a:t>
            </a:r>
          </a:p>
        </p:txBody>
      </p:sp>
      <p:sp>
        <p:nvSpPr>
          <p:cNvPr id="27" name="TextBox 26">
            <a:extLst>
              <a:ext uri="{FF2B5EF4-FFF2-40B4-BE49-F238E27FC236}">
                <a16:creationId xmlns:a16="http://schemas.microsoft.com/office/drawing/2014/main" id="{E15DDBD3-92D6-5DC9-CABA-AC734455F5FE}"/>
              </a:ext>
            </a:extLst>
          </p:cNvPr>
          <p:cNvSpPr txBox="1"/>
          <p:nvPr/>
        </p:nvSpPr>
        <p:spPr>
          <a:xfrm rot="16200000">
            <a:off x="1714848" y="5000183"/>
            <a:ext cx="1179646" cy="215444"/>
          </a:xfrm>
          <a:prstGeom prst="rect">
            <a:avLst/>
          </a:prstGeom>
          <a:noFill/>
          <a:ln w="6350">
            <a:solidFill>
              <a:schemeClr val="tx1"/>
            </a:solidFill>
          </a:ln>
        </p:spPr>
        <p:txBody>
          <a:bodyPr wrap="square" rtlCol="0">
            <a:spAutoFit/>
          </a:bodyPr>
          <a:lstStyle/>
          <a:p>
            <a:pPr algn="ctr"/>
            <a:r>
              <a:rPr lang="en-US" sz="800" dirty="0">
                <a:latin typeface="Aptos" panose="020B0004020202020204" pitchFamily="34" charset="0"/>
              </a:rPr>
              <a:t>Low Growth</a:t>
            </a:r>
          </a:p>
        </p:txBody>
      </p:sp>
    </p:spTree>
    <p:extLst>
      <p:ext uri="{BB962C8B-B14F-4D97-AF65-F5344CB8AC3E}">
        <p14:creationId xmlns:p14="http://schemas.microsoft.com/office/powerpoint/2010/main" val="239597375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52085E-2483-579E-1912-E411008BF209}"/>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35C9D87-E1C1-4F58-B63C-6574977B7668}"/>
              </a:ext>
            </a:extLst>
          </p:cNvPr>
          <p:cNvSpPr txBox="1"/>
          <p:nvPr/>
        </p:nvSpPr>
        <p:spPr>
          <a:xfrm>
            <a:off x="287491" y="249690"/>
            <a:ext cx="7747376" cy="400110"/>
          </a:xfrm>
          <a:prstGeom prst="rect">
            <a:avLst/>
          </a:prstGeom>
          <a:noFill/>
        </p:spPr>
        <p:txBody>
          <a:bodyPr wrap="square" rtlCol="0">
            <a:spAutoFit/>
          </a:bodyPr>
          <a:lstStyle/>
          <a:p>
            <a:r>
              <a:rPr lang="en-US" sz="2000" dirty="0">
                <a:latin typeface="Grotesque Light" panose="020B0304020202020204" pitchFamily="34" charset="0"/>
              </a:rPr>
              <a:t>Optimizing with Manager Alpha</a:t>
            </a:r>
          </a:p>
        </p:txBody>
      </p:sp>
      <p:cxnSp>
        <p:nvCxnSpPr>
          <p:cNvPr id="10" name="Straight Connector 9">
            <a:extLst>
              <a:ext uri="{FF2B5EF4-FFF2-40B4-BE49-F238E27FC236}">
                <a16:creationId xmlns:a16="http://schemas.microsoft.com/office/drawing/2014/main" id="{9A426E96-B61E-2642-EF6A-20B04A5D4199}"/>
              </a:ext>
            </a:extLst>
          </p:cNvPr>
          <p:cNvCxnSpPr/>
          <p:nvPr/>
        </p:nvCxnSpPr>
        <p:spPr>
          <a:xfrm>
            <a:off x="302495" y="6500036"/>
            <a:ext cx="8539009" cy="0"/>
          </a:xfrm>
          <a:prstGeom prst="line">
            <a:avLst/>
          </a:prstGeom>
        </p:spPr>
        <p:style>
          <a:lnRef idx="1">
            <a:schemeClr val="dk1"/>
          </a:lnRef>
          <a:fillRef idx="0">
            <a:schemeClr val="dk1"/>
          </a:fillRef>
          <a:effectRef idx="0">
            <a:schemeClr val="dk1"/>
          </a:effectRef>
          <a:fontRef idx="minor">
            <a:schemeClr val="tx1"/>
          </a:fontRef>
        </p:style>
      </p:cxnSp>
      <p:sp>
        <p:nvSpPr>
          <p:cNvPr id="3" name="TextBox 2">
            <a:extLst>
              <a:ext uri="{FF2B5EF4-FFF2-40B4-BE49-F238E27FC236}">
                <a16:creationId xmlns:a16="http://schemas.microsoft.com/office/drawing/2014/main" id="{0DBFAD34-A54F-B1F6-2FA1-093AE6DAEBFA}"/>
              </a:ext>
            </a:extLst>
          </p:cNvPr>
          <p:cNvSpPr txBox="1"/>
          <p:nvPr/>
        </p:nvSpPr>
        <p:spPr>
          <a:xfrm>
            <a:off x="398504" y="1102835"/>
            <a:ext cx="8188994"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Impact of Varying Levels of  Private Equity Manager Alpha on Optimal Allocation</a:t>
            </a:r>
          </a:p>
        </p:txBody>
      </p:sp>
      <p:graphicFrame>
        <p:nvGraphicFramePr>
          <p:cNvPr id="7" name="Object 6">
            <a:extLst>
              <a:ext uri="{FF2B5EF4-FFF2-40B4-BE49-F238E27FC236}">
                <a16:creationId xmlns:a16="http://schemas.microsoft.com/office/drawing/2014/main" id="{469C0EB6-DF20-9132-4DBD-C667BCB7C3B6}"/>
              </a:ext>
            </a:extLst>
          </p:cNvPr>
          <p:cNvGraphicFramePr>
            <a:graphicFrameLocks noChangeAspect="1"/>
          </p:cNvGraphicFramePr>
          <p:nvPr>
            <p:extLst>
              <p:ext uri="{D42A27DB-BD31-4B8C-83A1-F6EECF244321}">
                <p14:modId xmlns:p14="http://schemas.microsoft.com/office/powerpoint/2010/main" val="3112627934"/>
              </p:ext>
            </p:extLst>
          </p:nvPr>
        </p:nvGraphicFramePr>
        <p:xfrm>
          <a:off x="655737" y="1562734"/>
          <a:ext cx="7832526" cy="3705945"/>
        </p:xfrm>
        <a:graphic>
          <a:graphicData uri="http://schemas.openxmlformats.org/presentationml/2006/ole">
            <mc:AlternateContent xmlns:mc="http://schemas.openxmlformats.org/markup-compatibility/2006">
              <mc:Choice xmlns:v="urn:schemas-microsoft-com:vml" Requires="v">
                <p:oleObj name="Worksheet" r:id="rId2" imgW="12319000" imgH="5829300" progId="Excel.Sheet.12">
                  <p:embed/>
                </p:oleObj>
              </mc:Choice>
              <mc:Fallback>
                <p:oleObj name="Worksheet" r:id="rId2" imgW="12319000" imgH="5829300" progId="Excel.Sheet.12">
                  <p:embed/>
                  <p:pic>
                    <p:nvPicPr>
                      <p:cNvPr id="0" name=""/>
                      <p:cNvPicPr/>
                      <p:nvPr/>
                    </p:nvPicPr>
                    <p:blipFill>
                      <a:blip r:embed="rId3"/>
                      <a:stretch>
                        <a:fillRect/>
                      </a:stretch>
                    </p:blipFill>
                    <p:spPr>
                      <a:xfrm>
                        <a:off x="655737" y="1562734"/>
                        <a:ext cx="7832526" cy="3705945"/>
                      </a:xfrm>
                      <a:prstGeom prst="rect">
                        <a:avLst/>
                      </a:prstGeom>
                    </p:spPr>
                  </p:pic>
                </p:oleObj>
              </mc:Fallback>
            </mc:AlternateContent>
          </a:graphicData>
        </a:graphic>
      </p:graphicFrame>
      <p:sp>
        <p:nvSpPr>
          <p:cNvPr id="8" name="TextBox 7">
            <a:extLst>
              <a:ext uri="{FF2B5EF4-FFF2-40B4-BE49-F238E27FC236}">
                <a16:creationId xmlns:a16="http://schemas.microsoft.com/office/drawing/2014/main" id="{0183F3B9-B3D9-B265-93B5-A42212363AAC}"/>
              </a:ext>
            </a:extLst>
          </p:cNvPr>
          <p:cNvSpPr txBox="1"/>
          <p:nvPr/>
        </p:nvSpPr>
        <p:spPr>
          <a:xfrm>
            <a:off x="558646" y="5566372"/>
            <a:ext cx="8026709" cy="461665"/>
          </a:xfrm>
          <a:prstGeom prst="rect">
            <a:avLst/>
          </a:prstGeom>
          <a:noFill/>
          <a:ln w="6350">
            <a:noFill/>
          </a:ln>
        </p:spPr>
        <p:txBody>
          <a:bodyPr wrap="square" rtlCol="0">
            <a:spAutoFit/>
          </a:bodyPr>
          <a:lstStyle>
            <a:defPPr>
              <a:defRPr lang="en-US"/>
            </a:defPPr>
            <a:lvl1pPr>
              <a:defRPr sz="1200">
                <a:solidFill>
                  <a:schemeClr val="tx1">
                    <a:lumMod val="95000"/>
                    <a:lumOff val="5000"/>
                  </a:schemeClr>
                </a:solidFill>
                <a:latin typeface="Aptos Light" panose="020B0004020202020204" pitchFamily="34" charset="0"/>
                <a:cs typeface="Calibri Light" panose="020F0302020204030204" pitchFamily="34" charset="0"/>
              </a:defRPr>
            </a:lvl1pPr>
          </a:lstStyle>
          <a:p>
            <a:r>
              <a:rPr lang="en-GB" dirty="0"/>
              <a:t>Investors who believe they possess superior skill in selecting top-performing managers may be justified in allocating a greater share of their portfolio to private market funds.</a:t>
            </a:r>
            <a:endParaRPr lang="en-US" dirty="0"/>
          </a:p>
        </p:txBody>
      </p:sp>
      <p:sp>
        <p:nvSpPr>
          <p:cNvPr id="2" name="TextBox 1">
            <a:extLst>
              <a:ext uri="{FF2B5EF4-FFF2-40B4-BE49-F238E27FC236}">
                <a16:creationId xmlns:a16="http://schemas.microsoft.com/office/drawing/2014/main" id="{D0D3AC84-7A4B-6D32-F044-307FECF40A04}"/>
              </a:ext>
            </a:extLst>
          </p:cNvPr>
          <p:cNvSpPr txBox="1"/>
          <p:nvPr/>
        </p:nvSpPr>
        <p:spPr>
          <a:xfrm>
            <a:off x="299609" y="599422"/>
            <a:ext cx="7747376" cy="261610"/>
          </a:xfrm>
          <a:prstGeom prst="rect">
            <a:avLst/>
          </a:prstGeom>
          <a:noFill/>
        </p:spPr>
        <p:txBody>
          <a:bodyPr wrap="square" rtlCol="0">
            <a:spAutoFit/>
          </a:bodyPr>
          <a:lstStyle/>
          <a:p>
            <a:r>
              <a:rPr lang="en-US" sz="1100" dirty="0">
                <a:solidFill>
                  <a:schemeClr val="tx1">
                    <a:lumMod val="85000"/>
                    <a:lumOff val="15000"/>
                  </a:schemeClr>
                </a:solidFill>
                <a:latin typeface="Grotesque Light" panose="020B0304020202020204" pitchFamily="34" charset="0"/>
              </a:rPr>
              <a:t>Introducing Private Equity Manager Alpha Assumptions</a:t>
            </a:r>
          </a:p>
        </p:txBody>
      </p:sp>
    </p:spTree>
    <p:extLst>
      <p:ext uri="{BB962C8B-B14F-4D97-AF65-F5344CB8AC3E}">
        <p14:creationId xmlns:p14="http://schemas.microsoft.com/office/powerpoint/2010/main" val="19986587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4100AA-0157-F4EF-B2A0-8E3CE945ECD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E93E696B-2AA7-3F1F-5D45-91A89B060F86}"/>
              </a:ext>
            </a:extLst>
          </p:cNvPr>
          <p:cNvSpPr txBox="1"/>
          <p:nvPr/>
        </p:nvSpPr>
        <p:spPr>
          <a:xfrm>
            <a:off x="287491" y="249690"/>
            <a:ext cx="7747376" cy="400110"/>
          </a:xfrm>
          <a:prstGeom prst="rect">
            <a:avLst/>
          </a:prstGeom>
          <a:noFill/>
        </p:spPr>
        <p:txBody>
          <a:bodyPr wrap="square" rtlCol="0">
            <a:spAutoFit/>
          </a:bodyPr>
          <a:lstStyle/>
          <a:p>
            <a:r>
              <a:rPr lang="en-US" sz="2000" dirty="0">
                <a:latin typeface="Grotesque Light" panose="020B0304020202020204" pitchFamily="34" charset="0"/>
              </a:rPr>
              <a:t>Sunsetting the Portfolio</a:t>
            </a:r>
          </a:p>
        </p:txBody>
      </p:sp>
      <p:cxnSp>
        <p:nvCxnSpPr>
          <p:cNvPr id="10" name="Straight Connector 9">
            <a:extLst>
              <a:ext uri="{FF2B5EF4-FFF2-40B4-BE49-F238E27FC236}">
                <a16:creationId xmlns:a16="http://schemas.microsoft.com/office/drawing/2014/main" id="{5368BF1E-4922-D0C7-D4C8-325D7A1D03D2}"/>
              </a:ext>
            </a:extLst>
          </p:cNvPr>
          <p:cNvCxnSpPr/>
          <p:nvPr/>
        </p:nvCxnSpPr>
        <p:spPr>
          <a:xfrm>
            <a:off x="302495" y="6500036"/>
            <a:ext cx="8539009" cy="0"/>
          </a:xfrm>
          <a:prstGeom prst="line">
            <a:avLst/>
          </a:prstGeom>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1BB331DF-7A2A-440A-5741-587DCEAA6A39}"/>
              </a:ext>
            </a:extLst>
          </p:cNvPr>
          <p:cNvSpPr txBox="1"/>
          <p:nvPr/>
        </p:nvSpPr>
        <p:spPr>
          <a:xfrm>
            <a:off x="558646" y="5566372"/>
            <a:ext cx="8026709" cy="461665"/>
          </a:xfrm>
          <a:prstGeom prst="rect">
            <a:avLst/>
          </a:prstGeom>
          <a:noFill/>
          <a:ln w="6350">
            <a:noFill/>
          </a:ln>
        </p:spPr>
        <p:txBody>
          <a:bodyPr wrap="square" rtlCol="0">
            <a:spAutoFit/>
          </a:bodyPr>
          <a:lstStyle>
            <a:defPPr>
              <a:defRPr lang="en-US"/>
            </a:defPPr>
            <a:lvl1pPr>
              <a:defRPr sz="1200">
                <a:solidFill>
                  <a:schemeClr val="tx1">
                    <a:lumMod val="95000"/>
                    <a:lumOff val="5000"/>
                  </a:schemeClr>
                </a:solidFill>
                <a:latin typeface="Aptos Light" panose="020B0004020202020204" pitchFamily="34" charset="0"/>
                <a:cs typeface="Calibri Light" panose="020F0302020204030204" pitchFamily="34" charset="0"/>
              </a:defRPr>
            </a:lvl1pPr>
          </a:lstStyle>
          <a:p>
            <a:r>
              <a:rPr lang="en-GB" dirty="0"/>
              <a:t>Investors who believe they possess superior skill in selecting top-performing managers may be justified in allocating a greater share of their portfolio to private market funds.</a:t>
            </a:r>
            <a:endParaRPr lang="en-US" dirty="0"/>
          </a:p>
        </p:txBody>
      </p:sp>
      <p:sp>
        <p:nvSpPr>
          <p:cNvPr id="2" name="TextBox 1">
            <a:extLst>
              <a:ext uri="{FF2B5EF4-FFF2-40B4-BE49-F238E27FC236}">
                <a16:creationId xmlns:a16="http://schemas.microsoft.com/office/drawing/2014/main" id="{E5E5CC0C-A54B-4190-21E5-DE883CCC075C}"/>
              </a:ext>
            </a:extLst>
          </p:cNvPr>
          <p:cNvSpPr txBox="1"/>
          <p:nvPr/>
        </p:nvSpPr>
        <p:spPr>
          <a:xfrm>
            <a:off x="299609" y="599422"/>
            <a:ext cx="7747376" cy="261610"/>
          </a:xfrm>
          <a:prstGeom prst="rect">
            <a:avLst/>
          </a:prstGeom>
          <a:noFill/>
        </p:spPr>
        <p:txBody>
          <a:bodyPr wrap="square" rtlCol="0">
            <a:spAutoFit/>
          </a:bodyPr>
          <a:lstStyle/>
          <a:p>
            <a:r>
              <a:rPr lang="en-US" sz="1100" dirty="0">
                <a:solidFill>
                  <a:schemeClr val="tx1">
                    <a:lumMod val="85000"/>
                    <a:lumOff val="15000"/>
                  </a:schemeClr>
                </a:solidFill>
                <a:latin typeface="Grotesque Light" panose="020B0304020202020204" pitchFamily="34" charset="0"/>
              </a:rPr>
              <a:t>Introducing Private Equity Manager Alpha Assumptions</a:t>
            </a:r>
          </a:p>
        </p:txBody>
      </p:sp>
    </p:spTree>
    <p:extLst>
      <p:ext uri="{BB962C8B-B14F-4D97-AF65-F5344CB8AC3E}">
        <p14:creationId xmlns:p14="http://schemas.microsoft.com/office/powerpoint/2010/main" val="35164824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21942B-9CDA-1BFD-6151-596573075AA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83ABBC86-D119-6DE5-BE75-B5CDD684A9C1}"/>
              </a:ext>
            </a:extLst>
          </p:cNvPr>
          <p:cNvSpPr txBox="1"/>
          <p:nvPr/>
        </p:nvSpPr>
        <p:spPr>
          <a:xfrm>
            <a:off x="1769918" y="2951947"/>
            <a:ext cx="5604165" cy="954107"/>
          </a:xfrm>
          <a:prstGeom prst="rect">
            <a:avLst/>
          </a:prstGeom>
          <a:noFill/>
        </p:spPr>
        <p:txBody>
          <a:bodyPr wrap="square" rtlCol="0">
            <a:spAutoFit/>
          </a:bodyPr>
          <a:lstStyle/>
          <a:p>
            <a:pPr algn="ctr"/>
            <a:r>
              <a:rPr lang="en-US" sz="2800" dirty="0">
                <a:latin typeface="Grotesque Light" panose="020B0304020202020204" pitchFamily="34" charset="0"/>
              </a:rPr>
              <a:t>Case Studies:</a:t>
            </a:r>
          </a:p>
          <a:p>
            <a:pPr algn="ctr"/>
            <a:r>
              <a:rPr lang="en-US" sz="2800" dirty="0">
                <a:latin typeface="Grotesque Light" panose="020B0304020202020204" pitchFamily="34" charset="0"/>
              </a:rPr>
              <a:t>Concentrated Risk Analysis</a:t>
            </a:r>
          </a:p>
        </p:txBody>
      </p:sp>
    </p:spTree>
    <p:extLst>
      <p:ext uri="{BB962C8B-B14F-4D97-AF65-F5344CB8AC3E}">
        <p14:creationId xmlns:p14="http://schemas.microsoft.com/office/powerpoint/2010/main" val="354418496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484BBA-D5B5-C8D2-6FE8-78AE77576B6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C120C29-EB57-CA8E-AE1E-04A1D144A0CD}"/>
              </a:ext>
            </a:extLst>
          </p:cNvPr>
          <p:cNvSpPr txBox="1"/>
          <p:nvPr/>
        </p:nvSpPr>
        <p:spPr>
          <a:xfrm>
            <a:off x="338291" y="289102"/>
            <a:ext cx="7747376" cy="400110"/>
          </a:xfrm>
          <a:prstGeom prst="rect">
            <a:avLst/>
          </a:prstGeom>
          <a:noFill/>
        </p:spPr>
        <p:txBody>
          <a:bodyPr wrap="square" rtlCol="0">
            <a:spAutoFit/>
          </a:bodyPr>
          <a:lstStyle/>
          <a:p>
            <a:r>
              <a:rPr lang="en-US" sz="2000" dirty="0">
                <a:latin typeface="Grotesque Light" panose="020B0304020202020204" pitchFamily="34" charset="0"/>
              </a:rPr>
              <a:t>Concentrated Equity Position</a:t>
            </a:r>
          </a:p>
        </p:txBody>
      </p:sp>
      <p:sp>
        <p:nvSpPr>
          <p:cNvPr id="2" name="TextBox 1">
            <a:extLst>
              <a:ext uri="{FF2B5EF4-FFF2-40B4-BE49-F238E27FC236}">
                <a16:creationId xmlns:a16="http://schemas.microsoft.com/office/drawing/2014/main" id="{51D486EC-85B1-5F82-9EF8-6DCE82811978}"/>
              </a:ext>
            </a:extLst>
          </p:cNvPr>
          <p:cNvSpPr txBox="1"/>
          <p:nvPr/>
        </p:nvSpPr>
        <p:spPr>
          <a:xfrm>
            <a:off x="1131488" y="857471"/>
            <a:ext cx="6881024"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Forward Looking Portfolio Risk and Return Analytics </a:t>
            </a:r>
          </a:p>
        </p:txBody>
      </p:sp>
      <p:sp>
        <p:nvSpPr>
          <p:cNvPr id="5" name="Oval 4">
            <a:extLst>
              <a:ext uri="{FF2B5EF4-FFF2-40B4-BE49-F238E27FC236}">
                <a16:creationId xmlns:a16="http://schemas.microsoft.com/office/drawing/2014/main" id="{BC12DECC-AF5E-E916-A756-E570658541B3}"/>
              </a:ext>
            </a:extLst>
          </p:cNvPr>
          <p:cNvSpPr/>
          <p:nvPr/>
        </p:nvSpPr>
        <p:spPr>
          <a:xfrm>
            <a:off x="4039149" y="5552183"/>
            <a:ext cx="447332" cy="195252"/>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E749097A-2074-1F71-DA1C-A9A8F7F5C01A}"/>
              </a:ext>
            </a:extLst>
          </p:cNvPr>
          <p:cNvSpPr txBox="1"/>
          <p:nvPr/>
        </p:nvSpPr>
        <p:spPr>
          <a:xfrm>
            <a:off x="2709891" y="5925309"/>
            <a:ext cx="3105848" cy="430887"/>
          </a:xfrm>
          <a:prstGeom prst="rect">
            <a:avLst/>
          </a:prstGeom>
          <a:noFill/>
          <a:ln w="6350">
            <a:solidFill>
              <a:srgbClr val="C00000"/>
            </a:solidFill>
          </a:ln>
        </p:spPr>
        <p:txBody>
          <a:bodyPr wrap="square" rtlCol="0">
            <a:spAutoFit/>
          </a:bodyPr>
          <a:lstStyle/>
          <a:p>
            <a:pPr algn="ctr"/>
            <a:r>
              <a:rPr lang="en-US" sz="1100" dirty="0">
                <a:latin typeface="Calibri Light" panose="020F0302020204030204" pitchFamily="34" charset="0"/>
                <a:cs typeface="Calibri Light" panose="020F0302020204030204" pitchFamily="34" charset="0"/>
              </a:rPr>
              <a:t>Portfolio risk over twice that of an 30% Fixed Income/ 70% Equity diversified portfolio</a:t>
            </a:r>
          </a:p>
        </p:txBody>
      </p:sp>
      <p:cxnSp>
        <p:nvCxnSpPr>
          <p:cNvPr id="9" name="Straight Arrow Connector 8">
            <a:extLst>
              <a:ext uri="{FF2B5EF4-FFF2-40B4-BE49-F238E27FC236}">
                <a16:creationId xmlns:a16="http://schemas.microsoft.com/office/drawing/2014/main" id="{20E68E7F-1AA9-4FA3-6D65-2A1F35FFDF49}"/>
              </a:ext>
            </a:extLst>
          </p:cNvPr>
          <p:cNvCxnSpPr>
            <a:cxnSpLocks/>
            <a:stCxn id="6" idx="0"/>
            <a:endCxn id="5" idx="4"/>
          </p:cNvCxnSpPr>
          <p:nvPr/>
        </p:nvCxnSpPr>
        <p:spPr>
          <a:xfrm flipV="1">
            <a:off x="4262815" y="5747435"/>
            <a:ext cx="0" cy="177874"/>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12" name="Rectangle 11">
            <a:extLst>
              <a:ext uri="{FF2B5EF4-FFF2-40B4-BE49-F238E27FC236}">
                <a16:creationId xmlns:a16="http://schemas.microsoft.com/office/drawing/2014/main" id="{A4E51727-7245-4EA1-2A00-7329E9D95795}"/>
              </a:ext>
            </a:extLst>
          </p:cNvPr>
          <p:cNvSpPr/>
          <p:nvPr/>
        </p:nvSpPr>
        <p:spPr>
          <a:xfrm>
            <a:off x="1551071" y="4605235"/>
            <a:ext cx="6041856" cy="296029"/>
          </a:xfrm>
          <a:prstGeom prst="rect">
            <a:avLst/>
          </a:prstGeom>
          <a:noFill/>
          <a:ln w="1270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0EF7EA01-C570-15AA-6B52-8562B22E7961}"/>
              </a:ext>
            </a:extLst>
          </p:cNvPr>
          <p:cNvSpPr txBox="1"/>
          <p:nvPr/>
        </p:nvSpPr>
        <p:spPr>
          <a:xfrm>
            <a:off x="66668" y="6451403"/>
            <a:ext cx="9010662" cy="338554"/>
          </a:xfrm>
          <a:prstGeom prst="rect">
            <a:avLst/>
          </a:prstGeom>
          <a:noFill/>
        </p:spPr>
        <p:txBody>
          <a:bodyPr wrap="square" rtlCol="0">
            <a:spAutoFit/>
          </a:bodyPr>
          <a:lstStyle/>
          <a:p>
            <a:r>
              <a:rPr lang="en-US" sz="800" dirty="0"/>
              <a:t>Intel Stock systematic risk and return is modelled using the stocks designated GICS sector, in this case, S&amp;P 500 Information Technology. The idiosyncratic sector risk is adjusted upwards to match the stocks historical trading volatility.</a:t>
            </a:r>
          </a:p>
        </p:txBody>
      </p:sp>
    </p:spTree>
    <p:extLst>
      <p:ext uri="{BB962C8B-B14F-4D97-AF65-F5344CB8AC3E}">
        <p14:creationId xmlns:p14="http://schemas.microsoft.com/office/powerpoint/2010/main" val="35697684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A46D20-315D-F555-9389-750903EECED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8A19030-9CE5-76E5-87FC-7FAA5049DD76}"/>
              </a:ext>
            </a:extLst>
          </p:cNvPr>
          <p:cNvSpPr txBox="1"/>
          <p:nvPr/>
        </p:nvSpPr>
        <p:spPr>
          <a:xfrm>
            <a:off x="338291" y="289102"/>
            <a:ext cx="7747376" cy="400110"/>
          </a:xfrm>
          <a:prstGeom prst="rect">
            <a:avLst/>
          </a:prstGeom>
          <a:noFill/>
        </p:spPr>
        <p:txBody>
          <a:bodyPr wrap="square" rtlCol="0">
            <a:spAutoFit/>
          </a:bodyPr>
          <a:lstStyle/>
          <a:p>
            <a:r>
              <a:rPr lang="en-US" sz="2000" dirty="0">
                <a:latin typeface="Grotesque Light" panose="020B0304020202020204" pitchFamily="34" charset="0"/>
              </a:rPr>
              <a:t>Concentrated Equity Position Risk</a:t>
            </a:r>
          </a:p>
        </p:txBody>
      </p:sp>
      <p:sp>
        <p:nvSpPr>
          <p:cNvPr id="2" name="TextBox 1">
            <a:extLst>
              <a:ext uri="{FF2B5EF4-FFF2-40B4-BE49-F238E27FC236}">
                <a16:creationId xmlns:a16="http://schemas.microsoft.com/office/drawing/2014/main" id="{08F7DCD7-C1DF-277F-5BAE-99341680140D}"/>
              </a:ext>
            </a:extLst>
          </p:cNvPr>
          <p:cNvSpPr txBox="1"/>
          <p:nvPr/>
        </p:nvSpPr>
        <p:spPr>
          <a:xfrm>
            <a:off x="498863" y="4224332"/>
            <a:ext cx="3737638" cy="261610"/>
          </a:xfrm>
          <a:prstGeom prst="rect">
            <a:avLst/>
          </a:prstGeom>
          <a:solidFill>
            <a:srgbClr val="151824"/>
          </a:solidFill>
          <a:ln w="12700">
            <a:noFill/>
          </a:ln>
        </p:spPr>
        <p:txBody>
          <a:bodyPr wrap="square" rtlCol="0">
            <a:spAutoFit/>
          </a:bodyPr>
          <a:lstStyle/>
          <a:p>
            <a:pPr algn="ctr"/>
            <a:r>
              <a:rPr lang="en-US" sz="1100" b="1" dirty="0">
                <a:solidFill>
                  <a:schemeClr val="bg1"/>
                </a:solidFill>
                <a:latin typeface="+mj-lt"/>
              </a:rPr>
              <a:t>Impact of Concentrated Position on Portfolio Value at Risk</a:t>
            </a:r>
          </a:p>
        </p:txBody>
      </p:sp>
      <p:graphicFrame>
        <p:nvGraphicFramePr>
          <p:cNvPr id="5" name="Chart 4">
            <a:extLst>
              <a:ext uri="{FF2B5EF4-FFF2-40B4-BE49-F238E27FC236}">
                <a16:creationId xmlns:a16="http://schemas.microsoft.com/office/drawing/2014/main" id="{9A9E159A-E50C-8CC7-0EA9-439DB6AD9C82}"/>
              </a:ext>
            </a:extLst>
          </p:cNvPr>
          <p:cNvGraphicFramePr>
            <a:graphicFrameLocks/>
          </p:cNvGraphicFramePr>
          <p:nvPr>
            <p:extLst>
              <p:ext uri="{D42A27DB-BD31-4B8C-83A1-F6EECF244321}">
                <p14:modId xmlns:p14="http://schemas.microsoft.com/office/powerpoint/2010/main" val="3793616478"/>
              </p:ext>
            </p:extLst>
          </p:nvPr>
        </p:nvGraphicFramePr>
        <p:xfrm>
          <a:off x="628650" y="4617510"/>
          <a:ext cx="3391200" cy="1797507"/>
        </p:xfrm>
        <a:graphic>
          <a:graphicData uri="http://schemas.openxmlformats.org/drawingml/2006/chart">
            <c:chart xmlns:c="http://schemas.openxmlformats.org/drawingml/2006/chart" xmlns:r="http://schemas.openxmlformats.org/officeDocument/2006/relationships" r:id="rId2"/>
          </a:graphicData>
        </a:graphic>
      </p:graphicFrame>
      <p:sp>
        <p:nvSpPr>
          <p:cNvPr id="8" name="TextBox 7">
            <a:extLst>
              <a:ext uri="{FF2B5EF4-FFF2-40B4-BE49-F238E27FC236}">
                <a16:creationId xmlns:a16="http://schemas.microsoft.com/office/drawing/2014/main" id="{852B7A2A-E1EE-2C5C-3561-0527A766C545}"/>
              </a:ext>
            </a:extLst>
          </p:cNvPr>
          <p:cNvSpPr txBox="1"/>
          <p:nvPr/>
        </p:nvSpPr>
        <p:spPr>
          <a:xfrm>
            <a:off x="498864" y="982984"/>
            <a:ext cx="8146272" cy="261610"/>
          </a:xfrm>
          <a:prstGeom prst="rect">
            <a:avLst/>
          </a:prstGeom>
          <a:noFill/>
          <a:ln w="6350">
            <a:solidFill>
              <a:schemeClr val="bg1">
                <a:lumMod val="75000"/>
              </a:schemeClr>
            </a:solidFill>
          </a:ln>
        </p:spPr>
        <p:txBody>
          <a:bodyPr wrap="square" rtlCol="0">
            <a:spAutoFit/>
          </a:bodyPr>
          <a:lstStyle/>
          <a:p>
            <a:pPr algn="ctr"/>
            <a:r>
              <a:rPr lang="en-US" sz="1100" dirty="0">
                <a:latin typeface="Calibri Light" panose="020F0302020204030204" pitchFamily="34" charset="0"/>
                <a:cs typeface="Calibri Light" panose="020F0302020204030204" pitchFamily="34" charset="0"/>
              </a:rPr>
              <a:t>Most of the risk inherent in a concentrated stock position is idiosyncratic, and absent a strong forward view, should be diversified away</a:t>
            </a:r>
          </a:p>
        </p:txBody>
      </p:sp>
      <p:sp>
        <p:nvSpPr>
          <p:cNvPr id="9" name="TextBox 8">
            <a:extLst>
              <a:ext uri="{FF2B5EF4-FFF2-40B4-BE49-F238E27FC236}">
                <a16:creationId xmlns:a16="http://schemas.microsoft.com/office/drawing/2014/main" id="{2B4E8A25-032E-97F9-E9F8-5A373A8DA7E1}"/>
              </a:ext>
            </a:extLst>
          </p:cNvPr>
          <p:cNvSpPr txBox="1"/>
          <p:nvPr/>
        </p:nvSpPr>
        <p:spPr>
          <a:xfrm>
            <a:off x="4907497" y="4224332"/>
            <a:ext cx="3737639" cy="261610"/>
          </a:xfrm>
          <a:prstGeom prst="rect">
            <a:avLst/>
          </a:prstGeom>
          <a:solidFill>
            <a:srgbClr val="151824"/>
          </a:solidFill>
          <a:ln w="12700">
            <a:noFill/>
          </a:ln>
        </p:spPr>
        <p:txBody>
          <a:bodyPr wrap="square" rtlCol="0">
            <a:spAutoFit/>
          </a:bodyPr>
          <a:lstStyle/>
          <a:p>
            <a:pPr algn="ctr"/>
            <a:r>
              <a:rPr lang="en-US" sz="1100" b="1" dirty="0">
                <a:solidFill>
                  <a:schemeClr val="bg1"/>
                </a:solidFill>
                <a:latin typeface="+mj-lt"/>
              </a:rPr>
              <a:t>Impact of Concentrated Position on Probability of Loss</a:t>
            </a:r>
          </a:p>
        </p:txBody>
      </p:sp>
      <p:graphicFrame>
        <p:nvGraphicFramePr>
          <p:cNvPr id="10" name="Chart 9">
            <a:extLst>
              <a:ext uri="{FF2B5EF4-FFF2-40B4-BE49-F238E27FC236}">
                <a16:creationId xmlns:a16="http://schemas.microsoft.com/office/drawing/2014/main" id="{55BBC4F7-4522-7348-8A20-1AB34DEEBDCF}"/>
              </a:ext>
            </a:extLst>
          </p:cNvPr>
          <p:cNvGraphicFramePr>
            <a:graphicFrameLocks/>
          </p:cNvGraphicFramePr>
          <p:nvPr>
            <p:extLst>
              <p:ext uri="{D42A27DB-BD31-4B8C-83A1-F6EECF244321}">
                <p14:modId xmlns:p14="http://schemas.microsoft.com/office/powerpoint/2010/main" val="2610034240"/>
              </p:ext>
            </p:extLst>
          </p:nvPr>
        </p:nvGraphicFramePr>
        <p:xfrm>
          <a:off x="5033632" y="4617510"/>
          <a:ext cx="3391200" cy="18000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4" name="Chart 13">
            <a:extLst>
              <a:ext uri="{FF2B5EF4-FFF2-40B4-BE49-F238E27FC236}">
                <a16:creationId xmlns:a16="http://schemas.microsoft.com/office/drawing/2014/main" id="{E54BAF49-5A9D-D8DB-8C48-7E8D6386EE67}"/>
              </a:ext>
            </a:extLst>
          </p:cNvPr>
          <p:cNvGraphicFramePr>
            <a:graphicFrameLocks/>
          </p:cNvGraphicFramePr>
          <p:nvPr>
            <p:extLst>
              <p:ext uri="{D42A27DB-BD31-4B8C-83A1-F6EECF244321}">
                <p14:modId xmlns:p14="http://schemas.microsoft.com/office/powerpoint/2010/main" val="1941258716"/>
              </p:ext>
            </p:extLst>
          </p:nvPr>
        </p:nvGraphicFramePr>
        <p:xfrm>
          <a:off x="5033632" y="1467061"/>
          <a:ext cx="3179411" cy="2364575"/>
        </p:xfrm>
        <a:graphic>
          <a:graphicData uri="http://schemas.openxmlformats.org/drawingml/2006/chart">
            <c:chart xmlns:c="http://schemas.openxmlformats.org/drawingml/2006/chart" xmlns:r="http://schemas.openxmlformats.org/officeDocument/2006/relationships" r:id="rId4"/>
          </a:graphicData>
        </a:graphic>
      </p:graphicFrame>
      <p:sp>
        <p:nvSpPr>
          <p:cNvPr id="15" name="TextBox 14">
            <a:extLst>
              <a:ext uri="{FF2B5EF4-FFF2-40B4-BE49-F238E27FC236}">
                <a16:creationId xmlns:a16="http://schemas.microsoft.com/office/drawing/2014/main" id="{5D324663-6050-7EEE-6237-D3BC4E61D4D6}"/>
              </a:ext>
            </a:extLst>
          </p:cNvPr>
          <p:cNvSpPr txBox="1"/>
          <p:nvPr/>
        </p:nvSpPr>
        <p:spPr>
          <a:xfrm>
            <a:off x="66669" y="6568898"/>
            <a:ext cx="9010662" cy="230832"/>
          </a:xfrm>
          <a:prstGeom prst="rect">
            <a:avLst/>
          </a:prstGeom>
          <a:noFill/>
        </p:spPr>
        <p:txBody>
          <a:bodyPr wrap="square" rtlCol="0">
            <a:spAutoFit/>
          </a:bodyPr>
          <a:lstStyle/>
          <a:p>
            <a:r>
              <a:rPr lang="en-US" sz="900" dirty="0"/>
              <a:t>Implied return assumes the risk aversion of an aggressive (30% Fixed Income, 70% Equity) risk global investor</a:t>
            </a:r>
          </a:p>
        </p:txBody>
      </p:sp>
      <p:graphicFrame>
        <p:nvGraphicFramePr>
          <p:cNvPr id="16" name="Chart 15">
            <a:extLst>
              <a:ext uri="{FF2B5EF4-FFF2-40B4-BE49-F238E27FC236}">
                <a16:creationId xmlns:a16="http://schemas.microsoft.com/office/drawing/2014/main" id="{98FA5FD0-8933-5964-01AF-93BA1A6BE745}"/>
              </a:ext>
            </a:extLst>
          </p:cNvPr>
          <p:cNvGraphicFramePr>
            <a:graphicFrameLocks/>
          </p:cNvGraphicFramePr>
          <p:nvPr>
            <p:extLst>
              <p:ext uri="{D42A27DB-BD31-4B8C-83A1-F6EECF244321}">
                <p14:modId xmlns:p14="http://schemas.microsoft.com/office/powerpoint/2010/main" val="3785131047"/>
              </p:ext>
            </p:extLst>
          </p:nvPr>
        </p:nvGraphicFramePr>
        <p:xfrm>
          <a:off x="734544" y="1517401"/>
          <a:ext cx="3179411" cy="2475724"/>
        </p:xfrm>
        <a:graphic>
          <a:graphicData uri="http://schemas.openxmlformats.org/drawingml/2006/chart">
            <c:chart xmlns:c="http://schemas.openxmlformats.org/drawingml/2006/chart" xmlns:r="http://schemas.openxmlformats.org/officeDocument/2006/relationships" r:id="rId5"/>
          </a:graphicData>
        </a:graphic>
      </p:graphicFrame>
    </p:spTree>
    <p:extLst>
      <p:ext uri="{BB962C8B-B14F-4D97-AF65-F5344CB8AC3E}">
        <p14:creationId xmlns:p14="http://schemas.microsoft.com/office/powerpoint/2010/main" val="268493109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A8E2A9-B068-2D8B-D3C3-FB0F3CBF9861}"/>
            </a:ext>
          </a:extLst>
        </p:cNvPr>
        <p:cNvGrpSpPr/>
        <p:nvPr/>
      </p:nvGrpSpPr>
      <p:grpSpPr>
        <a:xfrm>
          <a:off x="0" y="0"/>
          <a:ext cx="0" cy="0"/>
          <a:chOff x="0" y="0"/>
          <a:chExt cx="0" cy="0"/>
        </a:xfrm>
      </p:grpSpPr>
      <p:sp>
        <p:nvSpPr>
          <p:cNvPr id="5" name="Oval 4">
            <a:extLst>
              <a:ext uri="{FF2B5EF4-FFF2-40B4-BE49-F238E27FC236}">
                <a16:creationId xmlns:a16="http://schemas.microsoft.com/office/drawing/2014/main" id="{DCF5330C-C74E-1CEB-9A43-79F2C202DF98}"/>
              </a:ext>
            </a:extLst>
          </p:cNvPr>
          <p:cNvSpPr/>
          <p:nvPr/>
        </p:nvSpPr>
        <p:spPr>
          <a:xfrm>
            <a:off x="1661276" y="4320716"/>
            <a:ext cx="1765979" cy="642174"/>
          </a:xfrm>
          <a:prstGeom prst="ellipse">
            <a:avLst/>
          </a:prstGeom>
          <a:solidFill>
            <a:srgbClr val="DAE3F3">
              <a:alpha val="41569"/>
            </a:srgbClr>
          </a:solidFill>
          <a:ln>
            <a:solidFill>
              <a:srgbClr val="C0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2" name="Chart 11">
            <a:extLst>
              <a:ext uri="{FF2B5EF4-FFF2-40B4-BE49-F238E27FC236}">
                <a16:creationId xmlns:a16="http://schemas.microsoft.com/office/drawing/2014/main" id="{B73F5AFF-436E-81FC-A26E-30B6A624547E}"/>
              </a:ext>
            </a:extLst>
          </p:cNvPr>
          <p:cNvGraphicFramePr>
            <a:graphicFrameLocks/>
          </p:cNvGraphicFramePr>
          <p:nvPr>
            <p:extLst>
              <p:ext uri="{D42A27DB-BD31-4B8C-83A1-F6EECF244321}">
                <p14:modId xmlns:p14="http://schemas.microsoft.com/office/powerpoint/2010/main" val="940508918"/>
              </p:ext>
            </p:extLst>
          </p:nvPr>
        </p:nvGraphicFramePr>
        <p:xfrm>
          <a:off x="812967" y="1298853"/>
          <a:ext cx="7518065" cy="4260294"/>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Box 3">
            <a:extLst>
              <a:ext uri="{FF2B5EF4-FFF2-40B4-BE49-F238E27FC236}">
                <a16:creationId xmlns:a16="http://schemas.microsoft.com/office/drawing/2014/main" id="{C8B1ECD1-6320-2DBE-194E-1890AAD3A561}"/>
              </a:ext>
            </a:extLst>
          </p:cNvPr>
          <p:cNvSpPr txBox="1"/>
          <p:nvPr/>
        </p:nvSpPr>
        <p:spPr>
          <a:xfrm>
            <a:off x="338291" y="289102"/>
            <a:ext cx="7747376" cy="400110"/>
          </a:xfrm>
          <a:prstGeom prst="rect">
            <a:avLst/>
          </a:prstGeom>
          <a:noFill/>
        </p:spPr>
        <p:txBody>
          <a:bodyPr wrap="square" rtlCol="0">
            <a:spAutoFit/>
          </a:bodyPr>
          <a:lstStyle/>
          <a:p>
            <a:r>
              <a:rPr lang="en-US" sz="2000" dirty="0">
                <a:latin typeface="Grotesque Light" panose="020B0304020202020204" pitchFamily="34" charset="0"/>
              </a:rPr>
              <a:t>Diversification Opportunities by Asset Class</a:t>
            </a:r>
          </a:p>
        </p:txBody>
      </p:sp>
      <p:sp>
        <p:nvSpPr>
          <p:cNvPr id="2" name="TextBox 1">
            <a:extLst>
              <a:ext uri="{FF2B5EF4-FFF2-40B4-BE49-F238E27FC236}">
                <a16:creationId xmlns:a16="http://schemas.microsoft.com/office/drawing/2014/main" id="{1078AD09-1790-4E2A-F252-079321639212}"/>
              </a:ext>
            </a:extLst>
          </p:cNvPr>
          <p:cNvSpPr txBox="1"/>
          <p:nvPr/>
        </p:nvSpPr>
        <p:spPr>
          <a:xfrm>
            <a:off x="552893" y="908613"/>
            <a:ext cx="8038214"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Asset Class Volatilities and Correlation to Intel Stock Proxy</a:t>
            </a:r>
          </a:p>
        </p:txBody>
      </p:sp>
      <p:cxnSp>
        <p:nvCxnSpPr>
          <p:cNvPr id="8" name="Straight Arrow Connector 7">
            <a:extLst>
              <a:ext uri="{FF2B5EF4-FFF2-40B4-BE49-F238E27FC236}">
                <a16:creationId xmlns:a16="http://schemas.microsoft.com/office/drawing/2014/main" id="{69D8588E-77B9-F670-828E-BD57E3393343}"/>
              </a:ext>
            </a:extLst>
          </p:cNvPr>
          <p:cNvCxnSpPr>
            <a:cxnSpLocks/>
          </p:cNvCxnSpPr>
          <p:nvPr/>
        </p:nvCxnSpPr>
        <p:spPr>
          <a:xfrm flipV="1">
            <a:off x="2297898" y="4962890"/>
            <a:ext cx="0" cy="837019"/>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909E8A64-FCD5-1280-7F9B-9B14D5B0AB65}"/>
              </a:ext>
            </a:extLst>
          </p:cNvPr>
          <p:cNvSpPr txBox="1"/>
          <p:nvPr/>
        </p:nvSpPr>
        <p:spPr>
          <a:xfrm>
            <a:off x="1233758" y="5720774"/>
            <a:ext cx="5837595" cy="430887"/>
          </a:xfrm>
          <a:prstGeom prst="rect">
            <a:avLst/>
          </a:prstGeom>
          <a:solidFill>
            <a:schemeClr val="bg1"/>
          </a:solidFill>
          <a:ln w="6350">
            <a:solidFill>
              <a:schemeClr val="bg1">
                <a:lumMod val="75000"/>
              </a:schemeClr>
            </a:solidFill>
          </a:ln>
        </p:spPr>
        <p:txBody>
          <a:bodyPr wrap="square" rtlCol="0">
            <a:spAutoFit/>
          </a:bodyPr>
          <a:lstStyle/>
          <a:p>
            <a:pPr algn="ctr"/>
            <a:r>
              <a:rPr lang="en-US" sz="1100" dirty="0">
                <a:latin typeface="Calibri Light" panose="020F0302020204030204" pitchFamily="34" charset="0"/>
                <a:cs typeface="Calibri Light" panose="020F0302020204030204" pitchFamily="34" charset="0"/>
              </a:rPr>
              <a:t>Ideal diversifiers for holders of Intel stock would be those assets with both low correlation to Intel and low volatility. This means </a:t>
            </a:r>
            <a:r>
              <a:rPr lang="en-US" sz="1100" b="1" i="1" dirty="0">
                <a:latin typeface="Calibri Light" panose="020F0302020204030204" pitchFamily="34" charset="0"/>
                <a:cs typeface="Calibri Light" panose="020F0302020204030204" pitchFamily="34" charset="0"/>
              </a:rPr>
              <a:t>high quality fixed income </a:t>
            </a:r>
            <a:r>
              <a:rPr lang="en-US" sz="1100" dirty="0">
                <a:latin typeface="Calibri Light" panose="020F0302020204030204" pitchFamily="34" charset="0"/>
                <a:cs typeface="Calibri Light" panose="020F0302020204030204" pitchFamily="34" charset="0"/>
              </a:rPr>
              <a:t>and </a:t>
            </a:r>
            <a:r>
              <a:rPr lang="en-US" sz="1100" b="1" i="1" dirty="0">
                <a:latin typeface="Calibri Light" panose="020F0302020204030204" pitchFamily="34" charset="0"/>
                <a:cs typeface="Calibri Light" panose="020F0302020204030204" pitchFamily="34" charset="0"/>
              </a:rPr>
              <a:t>tactical trading hedge funds</a:t>
            </a:r>
            <a:r>
              <a:rPr lang="en-US" sz="1100" dirty="0">
                <a:latin typeface="Calibri Light" panose="020F0302020204030204" pitchFamily="34" charset="0"/>
                <a:cs typeface="Calibri Light" panose="020F0302020204030204" pitchFamily="34" charset="0"/>
              </a:rPr>
              <a:t>.</a:t>
            </a:r>
          </a:p>
        </p:txBody>
      </p:sp>
    </p:spTree>
    <p:extLst>
      <p:ext uri="{BB962C8B-B14F-4D97-AF65-F5344CB8AC3E}">
        <p14:creationId xmlns:p14="http://schemas.microsoft.com/office/powerpoint/2010/main" val="11219021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B8C55-35EA-0323-C5F9-6078B4887CB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2BF4423-11FF-9F9F-514C-367A1F464C5B}"/>
              </a:ext>
            </a:extLst>
          </p:cNvPr>
          <p:cNvSpPr txBox="1"/>
          <p:nvPr/>
        </p:nvSpPr>
        <p:spPr>
          <a:xfrm>
            <a:off x="338291" y="289102"/>
            <a:ext cx="7747376" cy="400110"/>
          </a:xfrm>
          <a:prstGeom prst="rect">
            <a:avLst/>
          </a:prstGeom>
          <a:noFill/>
        </p:spPr>
        <p:txBody>
          <a:bodyPr wrap="square" rtlCol="0">
            <a:spAutoFit/>
          </a:bodyPr>
          <a:lstStyle/>
          <a:p>
            <a:r>
              <a:rPr lang="en-US" sz="2000" dirty="0">
                <a:latin typeface="Grotesque Light" panose="020B0304020202020204" pitchFamily="34" charset="0"/>
              </a:rPr>
              <a:t>Example Staged Diversification</a:t>
            </a:r>
          </a:p>
        </p:txBody>
      </p:sp>
      <p:sp>
        <p:nvSpPr>
          <p:cNvPr id="2" name="TextBox 1">
            <a:extLst>
              <a:ext uri="{FF2B5EF4-FFF2-40B4-BE49-F238E27FC236}">
                <a16:creationId xmlns:a16="http://schemas.microsoft.com/office/drawing/2014/main" id="{E8589848-5162-B1FB-B508-2D7AFA62B941}"/>
              </a:ext>
            </a:extLst>
          </p:cNvPr>
          <p:cNvSpPr txBox="1"/>
          <p:nvPr/>
        </p:nvSpPr>
        <p:spPr>
          <a:xfrm>
            <a:off x="302496" y="983038"/>
            <a:ext cx="8539009"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Evolution of Portfolio Weights in Staged Stock Sell-Down</a:t>
            </a:r>
          </a:p>
        </p:txBody>
      </p:sp>
      <p:graphicFrame>
        <p:nvGraphicFramePr>
          <p:cNvPr id="10" name="Object 9">
            <a:extLst>
              <a:ext uri="{FF2B5EF4-FFF2-40B4-BE49-F238E27FC236}">
                <a16:creationId xmlns:a16="http://schemas.microsoft.com/office/drawing/2014/main" id="{E7757516-0573-7F01-F8FA-9D56EDD6D224}"/>
              </a:ext>
            </a:extLst>
          </p:cNvPr>
          <p:cNvGraphicFramePr>
            <a:graphicFrameLocks noChangeAspect="1"/>
          </p:cNvGraphicFramePr>
          <p:nvPr>
            <p:extLst>
              <p:ext uri="{D42A27DB-BD31-4B8C-83A1-F6EECF244321}">
                <p14:modId xmlns:p14="http://schemas.microsoft.com/office/powerpoint/2010/main" val="1743330023"/>
              </p:ext>
            </p:extLst>
          </p:nvPr>
        </p:nvGraphicFramePr>
        <p:xfrm>
          <a:off x="503752" y="1333069"/>
          <a:ext cx="8136497" cy="4299913"/>
        </p:xfrm>
        <a:graphic>
          <a:graphicData uri="http://schemas.openxmlformats.org/presentationml/2006/ole">
            <mc:AlternateContent xmlns:mc="http://schemas.openxmlformats.org/markup-compatibility/2006">
              <mc:Choice xmlns:v="urn:schemas-microsoft-com:vml" Requires="v">
                <p:oleObj name="Worksheet" r:id="rId2" imgW="12661900" imgH="6692900" progId="Excel.Sheet.12">
                  <p:embed/>
                </p:oleObj>
              </mc:Choice>
              <mc:Fallback>
                <p:oleObj name="Worksheet" r:id="rId2" imgW="12661900" imgH="6692900" progId="Excel.Sheet.12">
                  <p:embed/>
                  <p:pic>
                    <p:nvPicPr>
                      <p:cNvPr id="0" name=""/>
                      <p:cNvPicPr/>
                      <p:nvPr/>
                    </p:nvPicPr>
                    <p:blipFill>
                      <a:blip r:embed="rId3"/>
                      <a:stretch>
                        <a:fillRect/>
                      </a:stretch>
                    </p:blipFill>
                    <p:spPr>
                      <a:xfrm>
                        <a:off x="503752" y="1333069"/>
                        <a:ext cx="8136497" cy="4299913"/>
                      </a:xfrm>
                      <a:prstGeom prst="rect">
                        <a:avLst/>
                      </a:prstGeom>
                    </p:spPr>
                  </p:pic>
                </p:oleObj>
              </mc:Fallback>
            </mc:AlternateContent>
          </a:graphicData>
        </a:graphic>
      </p:graphicFrame>
      <p:cxnSp>
        <p:nvCxnSpPr>
          <p:cNvPr id="12" name="Straight Arrow Connector 11">
            <a:extLst>
              <a:ext uri="{FF2B5EF4-FFF2-40B4-BE49-F238E27FC236}">
                <a16:creationId xmlns:a16="http://schemas.microsoft.com/office/drawing/2014/main" id="{7DB198AC-3540-AAD3-6295-55DD4206E2F4}"/>
              </a:ext>
            </a:extLst>
          </p:cNvPr>
          <p:cNvCxnSpPr>
            <a:cxnSpLocks/>
          </p:cNvCxnSpPr>
          <p:nvPr/>
        </p:nvCxnSpPr>
        <p:spPr>
          <a:xfrm flipV="1">
            <a:off x="4747932" y="5632982"/>
            <a:ext cx="0" cy="484283"/>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47B438E8-63EE-B424-FFE9-E0E19F0244DA}"/>
              </a:ext>
            </a:extLst>
          </p:cNvPr>
          <p:cNvCxnSpPr>
            <a:cxnSpLocks/>
          </p:cNvCxnSpPr>
          <p:nvPr/>
        </p:nvCxnSpPr>
        <p:spPr>
          <a:xfrm flipH="1" flipV="1">
            <a:off x="4027548" y="5681844"/>
            <a:ext cx="1061903" cy="435421"/>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2B02520D-FC4C-D57A-16D5-1BD679013B38}"/>
              </a:ext>
            </a:extLst>
          </p:cNvPr>
          <p:cNvCxnSpPr>
            <a:cxnSpLocks/>
          </p:cNvCxnSpPr>
          <p:nvPr/>
        </p:nvCxnSpPr>
        <p:spPr>
          <a:xfrm flipH="1" flipV="1">
            <a:off x="5807487" y="5632982"/>
            <a:ext cx="650463" cy="386914"/>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2C60583B-4823-40E1-C190-CECA46750828}"/>
              </a:ext>
            </a:extLst>
          </p:cNvPr>
          <p:cNvSpPr txBox="1"/>
          <p:nvPr/>
        </p:nvSpPr>
        <p:spPr>
          <a:xfrm>
            <a:off x="317027" y="624044"/>
            <a:ext cx="7747376" cy="261610"/>
          </a:xfrm>
          <a:prstGeom prst="rect">
            <a:avLst/>
          </a:prstGeom>
          <a:noFill/>
        </p:spPr>
        <p:txBody>
          <a:bodyPr wrap="square" rtlCol="0">
            <a:spAutoFit/>
          </a:bodyPr>
          <a:lstStyle/>
          <a:p>
            <a:r>
              <a:rPr lang="en-US" sz="1100" dirty="0">
                <a:solidFill>
                  <a:schemeClr val="tx1">
                    <a:lumMod val="85000"/>
                    <a:lumOff val="15000"/>
                  </a:schemeClr>
                </a:solidFill>
                <a:latin typeface="Grotesque Light" panose="020B0304020202020204" pitchFamily="34" charset="0"/>
              </a:rPr>
              <a:t>Stock Sell-Down in 10% Increments</a:t>
            </a:r>
          </a:p>
        </p:txBody>
      </p:sp>
      <p:sp>
        <p:nvSpPr>
          <p:cNvPr id="19" name="TextBox 18">
            <a:extLst>
              <a:ext uri="{FF2B5EF4-FFF2-40B4-BE49-F238E27FC236}">
                <a16:creationId xmlns:a16="http://schemas.microsoft.com/office/drawing/2014/main" id="{1460DB0F-031A-E940-48C6-93B6E10DA813}"/>
              </a:ext>
            </a:extLst>
          </p:cNvPr>
          <p:cNvSpPr txBox="1"/>
          <p:nvPr/>
        </p:nvSpPr>
        <p:spPr>
          <a:xfrm>
            <a:off x="5930762" y="5969437"/>
            <a:ext cx="1928929" cy="600164"/>
          </a:xfrm>
          <a:prstGeom prst="rect">
            <a:avLst/>
          </a:prstGeom>
          <a:solidFill>
            <a:schemeClr val="bg1"/>
          </a:solidFill>
          <a:ln w="6350">
            <a:solidFill>
              <a:schemeClr val="bg1">
                <a:lumMod val="75000"/>
              </a:schemeClr>
            </a:solidFill>
          </a:ln>
        </p:spPr>
        <p:txBody>
          <a:bodyPr wrap="square" rtlCol="0">
            <a:spAutoFit/>
          </a:bodyPr>
          <a:lstStyle/>
          <a:p>
            <a:pPr algn="ctr"/>
            <a:r>
              <a:rPr lang="en-US" sz="1100" dirty="0">
                <a:latin typeface="Calibri Light" panose="020F0302020204030204" pitchFamily="34" charset="0"/>
                <a:cs typeface="Calibri Light" panose="020F0302020204030204" pitchFamily="34" charset="0"/>
              </a:rPr>
              <a:t>Stages 3 onwards focuses on building a diversified public equity portfolio</a:t>
            </a:r>
          </a:p>
        </p:txBody>
      </p:sp>
      <p:sp>
        <p:nvSpPr>
          <p:cNvPr id="11" name="TextBox 10">
            <a:extLst>
              <a:ext uri="{FF2B5EF4-FFF2-40B4-BE49-F238E27FC236}">
                <a16:creationId xmlns:a16="http://schemas.microsoft.com/office/drawing/2014/main" id="{C9EC3DA7-26A2-7D2B-625A-0DE6F7B7B2D6}"/>
              </a:ext>
            </a:extLst>
          </p:cNvPr>
          <p:cNvSpPr txBox="1"/>
          <p:nvPr/>
        </p:nvSpPr>
        <p:spPr>
          <a:xfrm>
            <a:off x="3545919" y="5969437"/>
            <a:ext cx="2261568" cy="600164"/>
          </a:xfrm>
          <a:prstGeom prst="rect">
            <a:avLst/>
          </a:prstGeom>
          <a:solidFill>
            <a:schemeClr val="bg1"/>
          </a:solidFill>
          <a:ln w="6350">
            <a:solidFill>
              <a:schemeClr val="bg1">
                <a:lumMod val="75000"/>
              </a:schemeClr>
            </a:solidFill>
          </a:ln>
        </p:spPr>
        <p:txBody>
          <a:bodyPr wrap="square" rtlCol="0">
            <a:spAutoFit/>
          </a:bodyPr>
          <a:lstStyle/>
          <a:p>
            <a:pPr algn="ctr"/>
            <a:r>
              <a:rPr lang="en-US" sz="1100" dirty="0">
                <a:latin typeface="Calibri Light" panose="020F0302020204030204" pitchFamily="34" charset="0"/>
                <a:cs typeface="Calibri Light" panose="020F0302020204030204" pitchFamily="34" charset="0"/>
              </a:rPr>
              <a:t>Stages 1-2 Focuses on investing in lowly correlated diversifiers to maximize risk reduction</a:t>
            </a:r>
          </a:p>
        </p:txBody>
      </p:sp>
    </p:spTree>
    <p:extLst>
      <p:ext uri="{BB962C8B-B14F-4D97-AF65-F5344CB8AC3E}">
        <p14:creationId xmlns:p14="http://schemas.microsoft.com/office/powerpoint/2010/main" val="219688705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77B092-6532-C0B0-F50F-23BE0578970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9DD0AD1E-A5CA-1044-840D-6591ACEA6B3D}"/>
              </a:ext>
            </a:extLst>
          </p:cNvPr>
          <p:cNvSpPr txBox="1"/>
          <p:nvPr/>
        </p:nvSpPr>
        <p:spPr>
          <a:xfrm>
            <a:off x="302496" y="1067018"/>
            <a:ext cx="8539009" cy="276999"/>
          </a:xfrm>
          <a:prstGeom prst="rect">
            <a:avLst/>
          </a:prstGeom>
          <a:solidFill>
            <a:schemeClr val="tx2">
              <a:lumMod val="75000"/>
            </a:schemeClr>
          </a:solidFill>
          <a:ln w="12700">
            <a:noFill/>
          </a:ln>
        </p:spPr>
        <p:txBody>
          <a:bodyPr wrap="square" rtlCol="0">
            <a:spAutoFit/>
          </a:bodyPr>
          <a:lstStyle/>
          <a:p>
            <a:pPr algn="ctr"/>
            <a:r>
              <a:rPr lang="en-US" sz="1200" b="1" dirty="0">
                <a:solidFill>
                  <a:schemeClr val="bg1"/>
                </a:solidFill>
                <a:latin typeface="+mj-lt"/>
              </a:rPr>
              <a:t>Forward Looking Portfolio Characteristics</a:t>
            </a:r>
          </a:p>
        </p:txBody>
      </p:sp>
      <p:graphicFrame>
        <p:nvGraphicFramePr>
          <p:cNvPr id="3" name="Chart 2">
            <a:extLst>
              <a:ext uri="{FF2B5EF4-FFF2-40B4-BE49-F238E27FC236}">
                <a16:creationId xmlns:a16="http://schemas.microsoft.com/office/drawing/2014/main" id="{25A7E875-4C1D-1C71-9637-8F02D81F83F6}"/>
              </a:ext>
            </a:extLst>
          </p:cNvPr>
          <p:cNvGraphicFramePr>
            <a:graphicFrameLocks/>
          </p:cNvGraphicFramePr>
          <p:nvPr>
            <p:extLst>
              <p:ext uri="{D42A27DB-BD31-4B8C-83A1-F6EECF244321}">
                <p14:modId xmlns:p14="http://schemas.microsoft.com/office/powerpoint/2010/main" val="81202094"/>
              </p:ext>
            </p:extLst>
          </p:nvPr>
        </p:nvGraphicFramePr>
        <p:xfrm>
          <a:off x="516531" y="1426279"/>
          <a:ext cx="8145838" cy="3809296"/>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4">
            <a:extLst>
              <a:ext uri="{FF2B5EF4-FFF2-40B4-BE49-F238E27FC236}">
                <a16:creationId xmlns:a16="http://schemas.microsoft.com/office/drawing/2014/main" id="{FD891CDE-ADDF-7106-4BC0-CC9156292FF5}"/>
              </a:ext>
            </a:extLst>
          </p:cNvPr>
          <p:cNvSpPr txBox="1"/>
          <p:nvPr/>
        </p:nvSpPr>
        <p:spPr>
          <a:xfrm>
            <a:off x="338291" y="289102"/>
            <a:ext cx="7747376" cy="400110"/>
          </a:xfrm>
          <a:prstGeom prst="rect">
            <a:avLst/>
          </a:prstGeom>
          <a:noFill/>
        </p:spPr>
        <p:txBody>
          <a:bodyPr wrap="square" rtlCol="0">
            <a:spAutoFit/>
          </a:bodyPr>
          <a:lstStyle/>
          <a:p>
            <a:r>
              <a:rPr lang="en-US" sz="2000" dirty="0">
                <a:latin typeface="Grotesque Light" panose="020B0304020202020204" pitchFamily="34" charset="0"/>
              </a:rPr>
              <a:t>Example Staged Diversification</a:t>
            </a:r>
          </a:p>
        </p:txBody>
      </p:sp>
      <p:sp>
        <p:nvSpPr>
          <p:cNvPr id="6" name="TextBox 5">
            <a:extLst>
              <a:ext uri="{FF2B5EF4-FFF2-40B4-BE49-F238E27FC236}">
                <a16:creationId xmlns:a16="http://schemas.microsoft.com/office/drawing/2014/main" id="{F4B4D4D2-E51B-B71A-FE97-2C4E85E7AFE0}"/>
              </a:ext>
            </a:extLst>
          </p:cNvPr>
          <p:cNvSpPr txBox="1"/>
          <p:nvPr/>
        </p:nvSpPr>
        <p:spPr>
          <a:xfrm>
            <a:off x="828231" y="5580519"/>
            <a:ext cx="7487538" cy="430887"/>
          </a:xfrm>
          <a:prstGeom prst="rect">
            <a:avLst/>
          </a:prstGeom>
          <a:noFill/>
          <a:ln w="6350">
            <a:solidFill>
              <a:schemeClr val="bg1">
                <a:lumMod val="75000"/>
              </a:schemeClr>
            </a:solidFill>
          </a:ln>
        </p:spPr>
        <p:txBody>
          <a:bodyPr wrap="square" rtlCol="0">
            <a:spAutoFit/>
          </a:bodyPr>
          <a:lstStyle/>
          <a:p>
            <a:pPr algn="ctr"/>
            <a:r>
              <a:rPr lang="en-US" sz="1100" dirty="0">
                <a:latin typeface="Calibri Light" panose="020F0302020204030204" pitchFamily="34" charset="0"/>
                <a:cs typeface="Calibri Light" panose="020F0302020204030204" pitchFamily="34" charset="0"/>
              </a:rPr>
              <a:t>Diversifying into a long-term multi-asset portfolio leads to significantly improved risk-adjusted prospects. Even at low allocations, Intel would require a disproportionally high return to justify its portfolio risk contribution.</a:t>
            </a:r>
          </a:p>
        </p:txBody>
      </p:sp>
      <p:sp>
        <p:nvSpPr>
          <p:cNvPr id="8" name="TextBox 7">
            <a:extLst>
              <a:ext uri="{FF2B5EF4-FFF2-40B4-BE49-F238E27FC236}">
                <a16:creationId xmlns:a16="http://schemas.microsoft.com/office/drawing/2014/main" id="{648C0D4B-E380-E076-9C9D-087E582F6EEF}"/>
              </a:ext>
            </a:extLst>
          </p:cNvPr>
          <p:cNvSpPr txBox="1"/>
          <p:nvPr/>
        </p:nvSpPr>
        <p:spPr>
          <a:xfrm>
            <a:off x="338291" y="622539"/>
            <a:ext cx="7747376" cy="261610"/>
          </a:xfrm>
          <a:prstGeom prst="rect">
            <a:avLst/>
          </a:prstGeom>
          <a:noFill/>
        </p:spPr>
        <p:txBody>
          <a:bodyPr wrap="square" rtlCol="0">
            <a:spAutoFit/>
          </a:bodyPr>
          <a:lstStyle/>
          <a:p>
            <a:r>
              <a:rPr lang="en-US" sz="1100" dirty="0">
                <a:latin typeface="Grotesque Light" panose="020B0304020202020204" pitchFamily="34" charset="0"/>
              </a:rPr>
              <a:t>Impact on Risk and Return</a:t>
            </a:r>
          </a:p>
        </p:txBody>
      </p:sp>
    </p:spTree>
    <p:extLst>
      <p:ext uri="{BB962C8B-B14F-4D97-AF65-F5344CB8AC3E}">
        <p14:creationId xmlns:p14="http://schemas.microsoft.com/office/powerpoint/2010/main" val="87968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80D355-1B48-CC9B-F75E-2A2142FF6B69}"/>
            </a:ext>
          </a:extLst>
        </p:cNvPr>
        <p:cNvGrpSpPr/>
        <p:nvPr/>
      </p:nvGrpSpPr>
      <p:grpSpPr>
        <a:xfrm>
          <a:off x="0" y="0"/>
          <a:ext cx="0" cy="0"/>
          <a:chOff x="0" y="0"/>
          <a:chExt cx="0" cy="0"/>
        </a:xfrm>
      </p:grpSpPr>
      <p:cxnSp>
        <p:nvCxnSpPr>
          <p:cNvPr id="19" name="Straight Arrow Connector 18">
            <a:extLst>
              <a:ext uri="{FF2B5EF4-FFF2-40B4-BE49-F238E27FC236}">
                <a16:creationId xmlns:a16="http://schemas.microsoft.com/office/drawing/2014/main" id="{A2E576B4-659B-D23C-D3E9-B101B4C5C0E0}"/>
              </a:ext>
            </a:extLst>
          </p:cNvPr>
          <p:cNvCxnSpPr>
            <a:cxnSpLocks/>
          </p:cNvCxnSpPr>
          <p:nvPr/>
        </p:nvCxnSpPr>
        <p:spPr>
          <a:xfrm>
            <a:off x="3538937" y="2259985"/>
            <a:ext cx="2980526" cy="0"/>
          </a:xfrm>
          <a:prstGeom prst="straightConnector1">
            <a:avLst/>
          </a:prstGeom>
          <a:ln>
            <a:solidFill>
              <a:schemeClr val="bg1">
                <a:lumMod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3" name="Rectangle 12">
            <a:extLst>
              <a:ext uri="{FF2B5EF4-FFF2-40B4-BE49-F238E27FC236}">
                <a16:creationId xmlns:a16="http://schemas.microsoft.com/office/drawing/2014/main" id="{271BB5FD-A14F-9EED-E21C-FDE069BBD678}"/>
              </a:ext>
            </a:extLst>
          </p:cNvPr>
          <p:cNvSpPr/>
          <p:nvPr/>
        </p:nvSpPr>
        <p:spPr>
          <a:xfrm>
            <a:off x="1137765" y="1933502"/>
            <a:ext cx="1982363" cy="308522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6DB1F207-B37D-1E00-828B-63C4318BB6A1}"/>
              </a:ext>
            </a:extLst>
          </p:cNvPr>
          <p:cNvSpPr txBox="1"/>
          <p:nvPr/>
        </p:nvSpPr>
        <p:spPr>
          <a:xfrm>
            <a:off x="338291" y="289102"/>
            <a:ext cx="7747376" cy="400110"/>
          </a:xfrm>
          <a:prstGeom prst="rect">
            <a:avLst/>
          </a:prstGeom>
          <a:noFill/>
        </p:spPr>
        <p:txBody>
          <a:bodyPr wrap="square" rtlCol="0">
            <a:spAutoFit/>
          </a:bodyPr>
          <a:lstStyle/>
          <a:p>
            <a:r>
              <a:rPr lang="en-US" sz="2000" dirty="0">
                <a:latin typeface="Grotesque Light" panose="020B0304020202020204" pitchFamily="34" charset="0"/>
              </a:rPr>
              <a:t>Example Staged Diversification</a:t>
            </a:r>
          </a:p>
        </p:txBody>
      </p:sp>
      <p:sp>
        <p:nvSpPr>
          <p:cNvPr id="5" name="TextBox 4">
            <a:extLst>
              <a:ext uri="{FF2B5EF4-FFF2-40B4-BE49-F238E27FC236}">
                <a16:creationId xmlns:a16="http://schemas.microsoft.com/office/drawing/2014/main" id="{5E789CC8-0164-4435-288F-C77686B14DEC}"/>
              </a:ext>
            </a:extLst>
          </p:cNvPr>
          <p:cNvSpPr txBox="1"/>
          <p:nvPr/>
        </p:nvSpPr>
        <p:spPr>
          <a:xfrm>
            <a:off x="338291" y="622539"/>
            <a:ext cx="7747376" cy="261610"/>
          </a:xfrm>
          <a:prstGeom prst="rect">
            <a:avLst/>
          </a:prstGeom>
          <a:noFill/>
        </p:spPr>
        <p:txBody>
          <a:bodyPr wrap="square" rtlCol="0">
            <a:spAutoFit/>
          </a:bodyPr>
          <a:lstStyle/>
          <a:p>
            <a:r>
              <a:rPr lang="en-US" sz="1100" dirty="0">
                <a:latin typeface="Grotesque Light" panose="020B0304020202020204" pitchFamily="34" charset="0"/>
              </a:rPr>
              <a:t>Portfolio Wealth Projections</a:t>
            </a:r>
          </a:p>
        </p:txBody>
      </p:sp>
      <p:sp>
        <p:nvSpPr>
          <p:cNvPr id="6" name="TextBox 5">
            <a:extLst>
              <a:ext uri="{FF2B5EF4-FFF2-40B4-BE49-F238E27FC236}">
                <a16:creationId xmlns:a16="http://schemas.microsoft.com/office/drawing/2014/main" id="{4102DC9B-41C4-6BA9-B44E-4AAA3694A5AA}"/>
              </a:ext>
            </a:extLst>
          </p:cNvPr>
          <p:cNvSpPr txBox="1"/>
          <p:nvPr/>
        </p:nvSpPr>
        <p:spPr>
          <a:xfrm>
            <a:off x="302496" y="1038664"/>
            <a:ext cx="8539009" cy="276999"/>
          </a:xfrm>
          <a:prstGeom prst="rect">
            <a:avLst/>
          </a:prstGeom>
          <a:solidFill>
            <a:schemeClr val="tx2">
              <a:lumMod val="75000"/>
            </a:schemeClr>
          </a:solidFill>
          <a:ln w="12700">
            <a:noFill/>
          </a:ln>
        </p:spPr>
        <p:txBody>
          <a:bodyPr wrap="square" rtlCol="0">
            <a:spAutoFit/>
          </a:bodyPr>
          <a:lstStyle/>
          <a:p>
            <a:pPr algn="ctr"/>
            <a:r>
              <a:rPr lang="en-US" sz="1200" b="1" dirty="0">
                <a:solidFill>
                  <a:schemeClr val="bg1"/>
                </a:solidFill>
                <a:latin typeface="+mj-lt"/>
              </a:rPr>
              <a:t>Simulated Future Nominal Portfolio Value Paths through Staged Diversification </a:t>
            </a:r>
          </a:p>
        </p:txBody>
      </p:sp>
      <p:sp>
        <p:nvSpPr>
          <p:cNvPr id="9" name="TextBox 8">
            <a:extLst>
              <a:ext uri="{FF2B5EF4-FFF2-40B4-BE49-F238E27FC236}">
                <a16:creationId xmlns:a16="http://schemas.microsoft.com/office/drawing/2014/main" id="{ED1D62FB-6D9A-3D24-3CAC-B2DA21A791B2}"/>
              </a:ext>
            </a:extLst>
          </p:cNvPr>
          <p:cNvSpPr txBox="1"/>
          <p:nvPr/>
        </p:nvSpPr>
        <p:spPr>
          <a:xfrm>
            <a:off x="509551" y="5693256"/>
            <a:ext cx="8124897" cy="430887"/>
          </a:xfrm>
          <a:prstGeom prst="rect">
            <a:avLst/>
          </a:prstGeom>
          <a:noFill/>
          <a:ln w="6350">
            <a:solidFill>
              <a:schemeClr val="bg1">
                <a:lumMod val="75000"/>
              </a:schemeClr>
            </a:solidFill>
          </a:ln>
        </p:spPr>
        <p:txBody>
          <a:bodyPr wrap="square" rtlCol="0">
            <a:spAutoFit/>
          </a:bodyPr>
          <a:lstStyle/>
          <a:p>
            <a:pPr algn="ctr"/>
            <a:r>
              <a:rPr lang="en-US" sz="1100" dirty="0">
                <a:latin typeface="Calibri Light" panose="020F0302020204030204" pitchFamily="34" charset="0"/>
                <a:cs typeface="Calibri Light" panose="020F0302020204030204" pitchFamily="34" charset="0"/>
              </a:rPr>
              <a:t>The result of the staged diversification is a long-term wealth projection with both improved expected values along with improved downside estimates.</a:t>
            </a:r>
          </a:p>
        </p:txBody>
      </p:sp>
      <p:sp>
        <p:nvSpPr>
          <p:cNvPr id="10" name="TextBox 9">
            <a:extLst>
              <a:ext uri="{FF2B5EF4-FFF2-40B4-BE49-F238E27FC236}">
                <a16:creationId xmlns:a16="http://schemas.microsoft.com/office/drawing/2014/main" id="{FECDEF84-B8E6-842D-6FAE-A7DA8408DC32}"/>
              </a:ext>
            </a:extLst>
          </p:cNvPr>
          <p:cNvSpPr txBox="1"/>
          <p:nvPr/>
        </p:nvSpPr>
        <p:spPr>
          <a:xfrm>
            <a:off x="7181156" y="3542428"/>
            <a:ext cx="1809022" cy="784830"/>
          </a:xfrm>
          <a:prstGeom prst="rect">
            <a:avLst/>
          </a:prstGeom>
          <a:noFill/>
          <a:ln w="6350">
            <a:solidFill>
              <a:schemeClr val="bg1">
                <a:lumMod val="75000"/>
              </a:schemeClr>
            </a:solidFill>
          </a:ln>
        </p:spPr>
        <p:txBody>
          <a:bodyPr wrap="square" rtlCol="0">
            <a:spAutoFit/>
          </a:bodyPr>
          <a:lstStyle/>
          <a:p>
            <a:pPr algn="ctr"/>
            <a:r>
              <a:rPr lang="en-US" sz="900" dirty="0">
                <a:latin typeface="Calibri Light" panose="020F0302020204030204" pitchFamily="34" charset="0"/>
                <a:cs typeface="Calibri Light" panose="020F0302020204030204" pitchFamily="34" charset="0"/>
              </a:rPr>
              <a:t>In the median case, the staged diversification strategy would be expected to grow by approx. $100mm more over the next 20-year vs the current portfolio</a:t>
            </a:r>
          </a:p>
        </p:txBody>
      </p:sp>
      <p:sp>
        <p:nvSpPr>
          <p:cNvPr id="14" name="TextBox 13">
            <a:extLst>
              <a:ext uri="{FF2B5EF4-FFF2-40B4-BE49-F238E27FC236}">
                <a16:creationId xmlns:a16="http://schemas.microsoft.com/office/drawing/2014/main" id="{FC649FF1-B1BB-2CE5-B111-24E938081D9D}"/>
              </a:ext>
            </a:extLst>
          </p:cNvPr>
          <p:cNvSpPr txBox="1"/>
          <p:nvPr/>
        </p:nvSpPr>
        <p:spPr>
          <a:xfrm>
            <a:off x="1546103" y="2090708"/>
            <a:ext cx="1179646" cy="338554"/>
          </a:xfrm>
          <a:prstGeom prst="rect">
            <a:avLst/>
          </a:prstGeom>
          <a:noFill/>
          <a:ln w="6350">
            <a:solidFill>
              <a:schemeClr val="bg1">
                <a:lumMod val="50000"/>
              </a:schemeClr>
            </a:solidFill>
          </a:ln>
        </p:spPr>
        <p:txBody>
          <a:bodyPr wrap="square" rtlCol="0">
            <a:spAutoFit/>
          </a:bodyPr>
          <a:lstStyle/>
          <a:p>
            <a:pPr algn="ctr"/>
            <a:r>
              <a:rPr lang="en-US" sz="800" dirty="0">
                <a:latin typeface="Aptos" panose="020B0004020202020204" pitchFamily="34" charset="0"/>
              </a:rPr>
              <a:t>Staged Diversification with yearly sell-down</a:t>
            </a:r>
          </a:p>
        </p:txBody>
      </p:sp>
      <p:graphicFrame>
        <p:nvGraphicFramePr>
          <p:cNvPr id="8" name="Chart 7">
            <a:extLst>
              <a:ext uri="{FF2B5EF4-FFF2-40B4-BE49-F238E27FC236}">
                <a16:creationId xmlns:a16="http://schemas.microsoft.com/office/drawing/2014/main" id="{00000000-0008-0000-0300-000003000000}"/>
              </a:ext>
            </a:extLst>
          </p:cNvPr>
          <p:cNvGraphicFramePr>
            <a:graphicFrameLocks/>
          </p:cNvGraphicFramePr>
          <p:nvPr>
            <p:extLst>
              <p:ext uri="{D42A27DB-BD31-4B8C-83A1-F6EECF244321}">
                <p14:modId xmlns:p14="http://schemas.microsoft.com/office/powerpoint/2010/main" val="2972744018"/>
              </p:ext>
            </p:extLst>
          </p:nvPr>
        </p:nvGraphicFramePr>
        <p:xfrm>
          <a:off x="439750" y="1472813"/>
          <a:ext cx="6896390" cy="413923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9902341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3019D7-E96C-B374-9C93-FFAD0F30ABB3}"/>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7F9FB94-50CC-A595-4091-259FFADF6353}"/>
              </a:ext>
            </a:extLst>
          </p:cNvPr>
          <p:cNvSpPr txBox="1"/>
          <p:nvPr/>
        </p:nvSpPr>
        <p:spPr>
          <a:xfrm>
            <a:off x="1769918" y="2951947"/>
            <a:ext cx="5604165" cy="954107"/>
          </a:xfrm>
          <a:prstGeom prst="rect">
            <a:avLst/>
          </a:prstGeom>
          <a:noFill/>
        </p:spPr>
        <p:txBody>
          <a:bodyPr wrap="square" rtlCol="0">
            <a:spAutoFit/>
          </a:bodyPr>
          <a:lstStyle/>
          <a:p>
            <a:pPr algn="ctr"/>
            <a:r>
              <a:rPr lang="en-US" sz="2800" dirty="0">
                <a:latin typeface="Grotesque Light" panose="020B0304020202020204" pitchFamily="34" charset="0"/>
              </a:rPr>
              <a:t>Case Studies:</a:t>
            </a:r>
          </a:p>
          <a:p>
            <a:pPr algn="ctr"/>
            <a:r>
              <a:rPr lang="en-US" sz="2800" dirty="0">
                <a:latin typeface="Grotesque Light" panose="020B0304020202020204" pitchFamily="34" charset="0"/>
              </a:rPr>
              <a:t>Structured Notes</a:t>
            </a:r>
          </a:p>
        </p:txBody>
      </p:sp>
    </p:spTree>
    <p:extLst>
      <p:ext uri="{BB962C8B-B14F-4D97-AF65-F5344CB8AC3E}">
        <p14:creationId xmlns:p14="http://schemas.microsoft.com/office/powerpoint/2010/main" val="15446713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B5422-98E0-D915-543E-D436A9AE5224}"/>
            </a:ext>
          </a:extLst>
        </p:cNvPr>
        <p:cNvGrpSpPr/>
        <p:nvPr/>
      </p:nvGrpSpPr>
      <p:grpSpPr>
        <a:xfrm>
          <a:off x="0" y="0"/>
          <a:ext cx="0" cy="0"/>
          <a:chOff x="0" y="0"/>
          <a:chExt cx="0" cy="0"/>
        </a:xfrm>
      </p:grpSpPr>
      <p:graphicFrame>
        <p:nvGraphicFramePr>
          <p:cNvPr id="29" name="Chart 28">
            <a:extLst>
              <a:ext uri="{FF2B5EF4-FFF2-40B4-BE49-F238E27FC236}">
                <a16:creationId xmlns:a16="http://schemas.microsoft.com/office/drawing/2014/main" id="{FCD63AB9-5AE2-8BE9-BFF4-2A64539F977A}"/>
              </a:ext>
            </a:extLst>
          </p:cNvPr>
          <p:cNvGraphicFramePr>
            <a:graphicFrameLocks/>
          </p:cNvGraphicFramePr>
          <p:nvPr>
            <p:extLst>
              <p:ext uri="{D42A27DB-BD31-4B8C-83A1-F6EECF244321}">
                <p14:modId xmlns:p14="http://schemas.microsoft.com/office/powerpoint/2010/main" val="2806243777"/>
              </p:ext>
            </p:extLst>
          </p:nvPr>
        </p:nvGraphicFramePr>
        <p:xfrm>
          <a:off x="338291" y="1464288"/>
          <a:ext cx="4233710" cy="2403667"/>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Box 3">
            <a:extLst>
              <a:ext uri="{FF2B5EF4-FFF2-40B4-BE49-F238E27FC236}">
                <a16:creationId xmlns:a16="http://schemas.microsoft.com/office/drawing/2014/main" id="{87625851-F13A-ED92-665D-79EB66EBCD0C}"/>
              </a:ext>
            </a:extLst>
          </p:cNvPr>
          <p:cNvSpPr txBox="1"/>
          <p:nvPr/>
        </p:nvSpPr>
        <p:spPr>
          <a:xfrm>
            <a:off x="302497" y="249071"/>
            <a:ext cx="7747376" cy="400110"/>
          </a:xfrm>
          <a:prstGeom prst="rect">
            <a:avLst/>
          </a:prstGeom>
          <a:noFill/>
        </p:spPr>
        <p:txBody>
          <a:bodyPr wrap="square" rtlCol="0">
            <a:spAutoFit/>
          </a:bodyPr>
          <a:lstStyle/>
          <a:p>
            <a:r>
              <a:rPr lang="en-US" sz="2000" dirty="0">
                <a:latin typeface="Grotesque Light" panose="020B0304020202020204" pitchFamily="34" charset="0"/>
              </a:rPr>
              <a:t>Modelling Structured Notes</a:t>
            </a:r>
          </a:p>
        </p:txBody>
      </p:sp>
      <p:sp>
        <p:nvSpPr>
          <p:cNvPr id="2" name="TextBox 1">
            <a:extLst>
              <a:ext uri="{FF2B5EF4-FFF2-40B4-BE49-F238E27FC236}">
                <a16:creationId xmlns:a16="http://schemas.microsoft.com/office/drawing/2014/main" id="{EC167B6A-E382-AC54-8DB9-04A5431C45CA}"/>
              </a:ext>
            </a:extLst>
          </p:cNvPr>
          <p:cNvSpPr txBox="1"/>
          <p:nvPr/>
        </p:nvSpPr>
        <p:spPr>
          <a:xfrm>
            <a:off x="302497" y="1069424"/>
            <a:ext cx="4269504"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Payoff Profile and Note Terms</a:t>
            </a:r>
          </a:p>
        </p:txBody>
      </p:sp>
      <p:sp>
        <p:nvSpPr>
          <p:cNvPr id="14" name="TextBox 13">
            <a:extLst>
              <a:ext uri="{FF2B5EF4-FFF2-40B4-BE49-F238E27FC236}">
                <a16:creationId xmlns:a16="http://schemas.microsoft.com/office/drawing/2014/main" id="{23FC6C18-3349-E734-25B8-37CC6361D7D5}"/>
              </a:ext>
            </a:extLst>
          </p:cNvPr>
          <p:cNvSpPr txBox="1"/>
          <p:nvPr/>
        </p:nvSpPr>
        <p:spPr>
          <a:xfrm>
            <a:off x="4710023" y="1069424"/>
            <a:ext cx="4269504"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Simulated Terminal Payoff: Underlying &amp; Autocallable</a:t>
            </a:r>
          </a:p>
        </p:txBody>
      </p:sp>
      <p:sp>
        <p:nvSpPr>
          <p:cNvPr id="15" name="TextBox 14">
            <a:extLst>
              <a:ext uri="{FF2B5EF4-FFF2-40B4-BE49-F238E27FC236}">
                <a16:creationId xmlns:a16="http://schemas.microsoft.com/office/drawing/2014/main" id="{6C519714-FC5B-91D1-51EF-6B424C802DC7}"/>
              </a:ext>
            </a:extLst>
          </p:cNvPr>
          <p:cNvSpPr txBox="1"/>
          <p:nvPr/>
        </p:nvSpPr>
        <p:spPr>
          <a:xfrm>
            <a:off x="302851" y="588604"/>
            <a:ext cx="7747376" cy="276999"/>
          </a:xfrm>
          <a:prstGeom prst="rect">
            <a:avLst/>
          </a:prstGeom>
          <a:noFill/>
        </p:spPr>
        <p:txBody>
          <a:bodyPr wrap="square" rtlCol="0">
            <a:spAutoFit/>
          </a:bodyPr>
          <a:lstStyle/>
          <a:p>
            <a:r>
              <a:rPr lang="en-US" sz="1200" dirty="0">
                <a:solidFill>
                  <a:schemeClr val="tx1">
                    <a:lumMod val="85000"/>
                    <a:lumOff val="15000"/>
                  </a:schemeClr>
                </a:solidFill>
                <a:latin typeface="Grotesque Light" panose="020B0304020202020204" pitchFamily="34" charset="0"/>
              </a:rPr>
              <a:t>Autocallable Coupon Buffered Notes</a:t>
            </a:r>
          </a:p>
        </p:txBody>
      </p:sp>
      <p:graphicFrame>
        <p:nvGraphicFramePr>
          <p:cNvPr id="16" name="Object 15">
            <a:extLst>
              <a:ext uri="{FF2B5EF4-FFF2-40B4-BE49-F238E27FC236}">
                <a16:creationId xmlns:a16="http://schemas.microsoft.com/office/drawing/2014/main" id="{0159DDBB-6FBD-86C3-2584-F0B77B48833E}"/>
              </a:ext>
            </a:extLst>
          </p:cNvPr>
          <p:cNvGraphicFramePr>
            <a:graphicFrameLocks noChangeAspect="1"/>
          </p:cNvGraphicFramePr>
          <p:nvPr>
            <p:extLst>
              <p:ext uri="{D42A27DB-BD31-4B8C-83A1-F6EECF244321}">
                <p14:modId xmlns:p14="http://schemas.microsoft.com/office/powerpoint/2010/main" val="2486389337"/>
              </p:ext>
            </p:extLst>
          </p:nvPr>
        </p:nvGraphicFramePr>
        <p:xfrm>
          <a:off x="500063" y="4056063"/>
          <a:ext cx="3806825" cy="2098675"/>
        </p:xfrm>
        <a:graphic>
          <a:graphicData uri="http://schemas.openxmlformats.org/presentationml/2006/ole">
            <mc:AlternateContent xmlns:mc="http://schemas.openxmlformats.org/markup-compatibility/2006">
              <mc:Choice xmlns:v="urn:schemas-microsoft-com:vml" Requires="v">
                <p:oleObj name="Worksheet" r:id="rId3" imgW="6057900" imgH="3340100" progId="Excel.Sheet.12">
                  <p:embed/>
                </p:oleObj>
              </mc:Choice>
              <mc:Fallback>
                <p:oleObj name="Worksheet" r:id="rId3" imgW="6057900" imgH="3340100" progId="Excel.Sheet.12">
                  <p:embed/>
                  <p:pic>
                    <p:nvPicPr>
                      <p:cNvPr id="0" name=""/>
                      <p:cNvPicPr/>
                      <p:nvPr/>
                    </p:nvPicPr>
                    <p:blipFill>
                      <a:blip r:embed="rId4"/>
                      <a:stretch>
                        <a:fillRect/>
                      </a:stretch>
                    </p:blipFill>
                    <p:spPr>
                      <a:xfrm>
                        <a:off x="500063" y="4056063"/>
                        <a:ext cx="3806825" cy="2098675"/>
                      </a:xfrm>
                      <a:prstGeom prst="rect">
                        <a:avLst/>
                      </a:prstGeom>
                    </p:spPr>
                  </p:pic>
                </p:oleObj>
              </mc:Fallback>
            </mc:AlternateContent>
          </a:graphicData>
        </a:graphic>
      </p:graphicFrame>
      <p:cxnSp>
        <p:nvCxnSpPr>
          <p:cNvPr id="18" name="Straight Arrow Connector 17">
            <a:extLst>
              <a:ext uri="{FF2B5EF4-FFF2-40B4-BE49-F238E27FC236}">
                <a16:creationId xmlns:a16="http://schemas.microsoft.com/office/drawing/2014/main" id="{EE17F088-EAF5-B620-D83D-44250425996F}"/>
              </a:ext>
            </a:extLst>
          </p:cNvPr>
          <p:cNvCxnSpPr>
            <a:cxnSpLocks/>
          </p:cNvCxnSpPr>
          <p:nvPr/>
        </p:nvCxnSpPr>
        <p:spPr>
          <a:xfrm flipH="1">
            <a:off x="1747471" y="2390720"/>
            <a:ext cx="790166" cy="0"/>
          </a:xfrm>
          <a:prstGeom prst="straightConnector1">
            <a:avLst/>
          </a:prstGeom>
          <a:ln>
            <a:headEnd type="triangle"/>
            <a:tailEnd type="triangle"/>
          </a:ln>
        </p:spPr>
        <p:style>
          <a:lnRef idx="1">
            <a:schemeClr val="dk1"/>
          </a:lnRef>
          <a:fillRef idx="0">
            <a:schemeClr val="dk1"/>
          </a:fillRef>
          <a:effectRef idx="0">
            <a:schemeClr val="dk1"/>
          </a:effectRef>
          <a:fontRef idx="minor">
            <a:schemeClr val="tx1"/>
          </a:fontRef>
        </p:style>
      </p:cxnSp>
      <p:cxnSp>
        <p:nvCxnSpPr>
          <p:cNvPr id="22" name="Straight Connector 21">
            <a:extLst>
              <a:ext uri="{FF2B5EF4-FFF2-40B4-BE49-F238E27FC236}">
                <a16:creationId xmlns:a16="http://schemas.microsoft.com/office/drawing/2014/main" id="{A70B309C-F8A4-461E-E0D5-410692C4C31B}"/>
              </a:ext>
            </a:extLst>
          </p:cNvPr>
          <p:cNvCxnSpPr>
            <a:cxnSpLocks/>
          </p:cNvCxnSpPr>
          <p:nvPr/>
        </p:nvCxnSpPr>
        <p:spPr>
          <a:xfrm flipV="1">
            <a:off x="1689948" y="1533013"/>
            <a:ext cx="0" cy="1938517"/>
          </a:xfrm>
          <a:prstGeom prst="line">
            <a:avLst/>
          </a:prstGeom>
          <a:ln w="12700">
            <a:prstDash val="sysDash"/>
          </a:ln>
        </p:spPr>
        <p:style>
          <a:lnRef idx="1">
            <a:schemeClr val="dk1"/>
          </a:lnRef>
          <a:fillRef idx="0">
            <a:schemeClr val="dk1"/>
          </a:fillRef>
          <a:effectRef idx="0">
            <a:schemeClr val="dk1"/>
          </a:effectRef>
          <a:fontRef idx="minor">
            <a:schemeClr val="tx1"/>
          </a:fontRef>
        </p:style>
      </p:cxnSp>
      <p:sp>
        <p:nvSpPr>
          <p:cNvPr id="20" name="TextBox 19">
            <a:extLst>
              <a:ext uri="{FF2B5EF4-FFF2-40B4-BE49-F238E27FC236}">
                <a16:creationId xmlns:a16="http://schemas.microsoft.com/office/drawing/2014/main" id="{301DC984-5400-0F0C-F072-06219A8E8572}"/>
              </a:ext>
            </a:extLst>
          </p:cNvPr>
          <p:cNvSpPr txBox="1"/>
          <p:nvPr/>
        </p:nvSpPr>
        <p:spPr>
          <a:xfrm>
            <a:off x="1025188" y="1554277"/>
            <a:ext cx="671843" cy="461665"/>
          </a:xfrm>
          <a:prstGeom prst="rect">
            <a:avLst/>
          </a:prstGeom>
          <a:noFill/>
        </p:spPr>
        <p:txBody>
          <a:bodyPr wrap="square" rtlCol="0">
            <a:spAutoFit/>
          </a:bodyPr>
          <a:lstStyle/>
          <a:p>
            <a:pPr algn="r"/>
            <a:r>
              <a:rPr lang="en-US" sz="800" dirty="0">
                <a:latin typeface="Aptos" panose="020B0004020202020204" pitchFamily="34" charset="0"/>
              </a:rPr>
              <a:t>Barrier &amp; Coupon level</a:t>
            </a:r>
          </a:p>
        </p:txBody>
      </p:sp>
      <p:sp>
        <p:nvSpPr>
          <p:cNvPr id="24" name="TextBox 23">
            <a:extLst>
              <a:ext uri="{FF2B5EF4-FFF2-40B4-BE49-F238E27FC236}">
                <a16:creationId xmlns:a16="http://schemas.microsoft.com/office/drawing/2014/main" id="{1EEC9E6B-3CBB-4A2B-0495-A11A9C26F655}"/>
              </a:ext>
            </a:extLst>
          </p:cNvPr>
          <p:cNvSpPr txBox="1"/>
          <p:nvPr/>
        </p:nvSpPr>
        <p:spPr>
          <a:xfrm rot="20152289">
            <a:off x="3733591" y="1686394"/>
            <a:ext cx="671843" cy="215444"/>
          </a:xfrm>
          <a:prstGeom prst="rect">
            <a:avLst/>
          </a:prstGeom>
          <a:noFill/>
        </p:spPr>
        <p:txBody>
          <a:bodyPr wrap="square" rtlCol="0">
            <a:spAutoFit/>
          </a:bodyPr>
          <a:lstStyle/>
          <a:p>
            <a:pPr algn="r"/>
            <a:r>
              <a:rPr lang="en-US" sz="800" dirty="0">
                <a:latin typeface="Aptos" panose="020B0004020202020204" pitchFamily="34" charset="0"/>
              </a:rPr>
              <a:t>Underlying</a:t>
            </a:r>
          </a:p>
        </p:txBody>
      </p:sp>
      <p:sp>
        <p:nvSpPr>
          <p:cNvPr id="25" name="TextBox 24">
            <a:extLst>
              <a:ext uri="{FF2B5EF4-FFF2-40B4-BE49-F238E27FC236}">
                <a16:creationId xmlns:a16="http://schemas.microsoft.com/office/drawing/2014/main" id="{2205BD6E-C85D-18F5-535B-5F624DC2E7F9}"/>
              </a:ext>
            </a:extLst>
          </p:cNvPr>
          <p:cNvSpPr txBox="1"/>
          <p:nvPr/>
        </p:nvSpPr>
        <p:spPr>
          <a:xfrm>
            <a:off x="2542156" y="1871008"/>
            <a:ext cx="1436351" cy="215444"/>
          </a:xfrm>
          <a:prstGeom prst="rect">
            <a:avLst/>
          </a:prstGeom>
          <a:noFill/>
        </p:spPr>
        <p:txBody>
          <a:bodyPr wrap="square" rtlCol="0">
            <a:spAutoFit/>
          </a:bodyPr>
          <a:lstStyle/>
          <a:p>
            <a:r>
              <a:rPr lang="en-US" sz="800" dirty="0">
                <a:latin typeface="Aptos" panose="020B0004020202020204" pitchFamily="34" charset="0"/>
              </a:rPr>
              <a:t>Capped Coupon Return</a:t>
            </a:r>
          </a:p>
        </p:txBody>
      </p:sp>
      <p:sp>
        <p:nvSpPr>
          <p:cNvPr id="3" name="TextBox 2">
            <a:extLst>
              <a:ext uri="{FF2B5EF4-FFF2-40B4-BE49-F238E27FC236}">
                <a16:creationId xmlns:a16="http://schemas.microsoft.com/office/drawing/2014/main" id="{4E0DDDBE-AD3D-776E-2025-6CF79BDA64A2}"/>
              </a:ext>
            </a:extLst>
          </p:cNvPr>
          <p:cNvSpPr txBox="1"/>
          <p:nvPr/>
        </p:nvSpPr>
        <p:spPr>
          <a:xfrm>
            <a:off x="1915968" y="2264510"/>
            <a:ext cx="467091" cy="215444"/>
          </a:xfrm>
          <a:prstGeom prst="rect">
            <a:avLst/>
          </a:prstGeom>
          <a:solidFill>
            <a:schemeClr val="bg1"/>
          </a:solidFill>
        </p:spPr>
        <p:txBody>
          <a:bodyPr wrap="square" rtlCol="0">
            <a:spAutoFit/>
          </a:bodyPr>
          <a:lstStyle/>
          <a:p>
            <a:pPr algn="ctr"/>
            <a:r>
              <a:rPr lang="en-US" sz="800" dirty="0">
                <a:latin typeface="Aptos" panose="020B0004020202020204" pitchFamily="34" charset="0"/>
              </a:rPr>
              <a:t>Buffer</a:t>
            </a:r>
          </a:p>
        </p:txBody>
      </p:sp>
      <p:graphicFrame>
        <p:nvGraphicFramePr>
          <p:cNvPr id="5" name="Chart 4">
            <a:extLst>
              <a:ext uri="{FF2B5EF4-FFF2-40B4-BE49-F238E27FC236}">
                <a16:creationId xmlns:a16="http://schemas.microsoft.com/office/drawing/2014/main" id="{F7FB044B-9CE1-61D2-A579-91C3AB0620BE}"/>
              </a:ext>
            </a:extLst>
          </p:cNvPr>
          <p:cNvGraphicFramePr>
            <a:graphicFrameLocks/>
          </p:cNvGraphicFramePr>
          <p:nvPr>
            <p:extLst>
              <p:ext uri="{D42A27DB-BD31-4B8C-83A1-F6EECF244321}">
                <p14:modId xmlns:p14="http://schemas.microsoft.com/office/powerpoint/2010/main" val="964728029"/>
              </p:ext>
            </p:extLst>
          </p:nvPr>
        </p:nvGraphicFramePr>
        <p:xfrm>
          <a:off x="4784651" y="1490483"/>
          <a:ext cx="4083127" cy="4154903"/>
        </p:xfrm>
        <a:graphic>
          <a:graphicData uri="http://schemas.openxmlformats.org/drawingml/2006/chart">
            <c:chart xmlns:c="http://schemas.openxmlformats.org/drawingml/2006/chart" xmlns:r="http://schemas.openxmlformats.org/officeDocument/2006/relationships" r:id="rId5"/>
          </a:graphicData>
        </a:graphic>
      </p:graphicFrame>
      <p:sp>
        <p:nvSpPr>
          <p:cNvPr id="8" name="TextBox 13">
            <a:extLst>
              <a:ext uri="{FF2B5EF4-FFF2-40B4-BE49-F238E27FC236}">
                <a16:creationId xmlns:a16="http://schemas.microsoft.com/office/drawing/2014/main" id="{B39781E1-E3ED-A053-6685-74876D598A1E}"/>
              </a:ext>
            </a:extLst>
          </p:cNvPr>
          <p:cNvSpPr txBox="1"/>
          <p:nvPr/>
        </p:nvSpPr>
        <p:spPr>
          <a:xfrm>
            <a:off x="6898658" y="1980611"/>
            <a:ext cx="1260058" cy="584775"/>
          </a:xfrm>
          <a:prstGeom prst="rect">
            <a:avLst/>
          </a:prstGeom>
          <a:solidFill>
            <a:schemeClr val="bg1"/>
          </a:solidFill>
          <a:ln w="6350">
            <a:solidFill>
              <a:schemeClr val="bg1">
                <a:lumMod val="50000"/>
              </a:schemeClr>
            </a:solidFill>
          </a:ln>
        </p:spPr>
        <p:txBody>
          <a:bodyPr wrap="square" rtlCol="0">
            <a:spAutoFit/>
          </a:bodyPr>
          <a:lstStyle>
            <a:defPPr>
              <a:defRPr lang="en-US"/>
            </a:defPPr>
            <a:lvl1pPr marL="0" indent="0" algn="l" defTabSz="457200" rtl="0" eaLnBrk="1" latinLnBrk="0" hangingPunct="1">
              <a:defRPr sz="1800" kern="1200">
                <a:solidFill>
                  <a:schemeClr val="tx1"/>
                </a:solidFill>
                <a:latin typeface="+mn-lt"/>
                <a:ea typeface="+mn-ea"/>
                <a:cs typeface="+mn-cs"/>
              </a:defRPr>
            </a:lvl1pPr>
            <a:lvl2pPr marL="457200" indent="0" algn="l" defTabSz="457200" rtl="0" eaLnBrk="1" latinLnBrk="0" hangingPunct="1">
              <a:defRPr sz="1800" kern="1200">
                <a:solidFill>
                  <a:schemeClr val="tx1"/>
                </a:solidFill>
                <a:latin typeface="+mn-lt"/>
                <a:ea typeface="+mn-ea"/>
                <a:cs typeface="+mn-cs"/>
              </a:defRPr>
            </a:lvl2pPr>
            <a:lvl3pPr marL="914400" indent="0" algn="l" defTabSz="457200" rtl="0" eaLnBrk="1" latinLnBrk="0" hangingPunct="1">
              <a:defRPr sz="1800" kern="1200">
                <a:solidFill>
                  <a:schemeClr val="tx1"/>
                </a:solidFill>
                <a:latin typeface="+mn-lt"/>
                <a:ea typeface="+mn-ea"/>
                <a:cs typeface="+mn-cs"/>
              </a:defRPr>
            </a:lvl3pPr>
            <a:lvl4pPr marL="1371600" indent="0" algn="l" defTabSz="457200" rtl="0" eaLnBrk="1" latinLnBrk="0" hangingPunct="1">
              <a:defRPr sz="1800" kern="1200">
                <a:solidFill>
                  <a:schemeClr val="tx1"/>
                </a:solidFill>
                <a:latin typeface="+mn-lt"/>
                <a:ea typeface="+mn-ea"/>
                <a:cs typeface="+mn-cs"/>
              </a:defRPr>
            </a:lvl4pPr>
            <a:lvl5pPr marL="1828800" indent="0" algn="l" defTabSz="457200" rtl="0" eaLnBrk="1" latinLnBrk="0" hangingPunct="1">
              <a:defRPr sz="1800" kern="1200">
                <a:solidFill>
                  <a:schemeClr val="tx1"/>
                </a:solidFill>
                <a:latin typeface="+mn-lt"/>
                <a:ea typeface="+mn-ea"/>
                <a:cs typeface="+mn-cs"/>
              </a:defRPr>
            </a:lvl5pPr>
            <a:lvl6pPr marL="2286000" indent="0" algn="l" defTabSz="457200" rtl="0" eaLnBrk="1" latinLnBrk="0" hangingPunct="1">
              <a:defRPr sz="1800" kern="1200">
                <a:solidFill>
                  <a:schemeClr val="tx1"/>
                </a:solidFill>
                <a:latin typeface="+mn-lt"/>
                <a:ea typeface="+mn-ea"/>
                <a:cs typeface="+mn-cs"/>
              </a:defRPr>
            </a:lvl6pPr>
            <a:lvl7pPr marL="2743200" indent="0" algn="l" defTabSz="457200" rtl="0" eaLnBrk="1" latinLnBrk="0" hangingPunct="1">
              <a:defRPr sz="1800" kern="1200">
                <a:solidFill>
                  <a:schemeClr val="tx1"/>
                </a:solidFill>
                <a:latin typeface="+mn-lt"/>
                <a:ea typeface="+mn-ea"/>
                <a:cs typeface="+mn-cs"/>
              </a:defRPr>
            </a:lvl7pPr>
            <a:lvl8pPr marL="3200400" indent="0" algn="l" defTabSz="457200" rtl="0" eaLnBrk="1" latinLnBrk="0" hangingPunct="1">
              <a:defRPr sz="1800" kern="1200">
                <a:solidFill>
                  <a:schemeClr val="tx1"/>
                </a:solidFill>
                <a:latin typeface="+mn-lt"/>
                <a:ea typeface="+mn-ea"/>
                <a:cs typeface="+mn-cs"/>
              </a:defRPr>
            </a:lvl8pPr>
            <a:lvl9pPr marL="3657600" indent="0" algn="l" defTabSz="457200" rtl="0" eaLnBrk="1" latinLnBrk="0" hangingPunct="1">
              <a:defRPr sz="1800" kern="1200">
                <a:solidFill>
                  <a:schemeClr val="tx1"/>
                </a:solidFill>
                <a:latin typeface="+mn-lt"/>
                <a:ea typeface="+mn-ea"/>
                <a:cs typeface="+mn-cs"/>
              </a:defRPr>
            </a:lvl9pPr>
          </a:lstStyle>
          <a:p>
            <a:r>
              <a:rPr lang="en-US" sz="800" u="sng" dirty="0">
                <a:latin typeface="Aptos" panose="020B0004020202020204" pitchFamily="34" charset="0"/>
              </a:rPr>
              <a:t>Probability of Loss</a:t>
            </a:r>
          </a:p>
          <a:p>
            <a:pPr marL="171450" indent="-171450">
              <a:buFont typeface="Arial" panose="020B0604020202020204" pitchFamily="34" charset="0"/>
              <a:buChar char="•"/>
            </a:pPr>
            <a:endParaRPr lang="en-US" sz="800" dirty="0">
              <a:latin typeface="Aptos" panose="020B0004020202020204" pitchFamily="34" charset="0"/>
            </a:endParaRPr>
          </a:p>
          <a:p>
            <a:pPr marL="171450" indent="-171450">
              <a:buFont typeface="Arial" panose="020B0604020202020204" pitchFamily="34" charset="0"/>
              <a:buChar char="•"/>
            </a:pPr>
            <a:r>
              <a:rPr lang="en-US" sz="800" dirty="0">
                <a:latin typeface="Aptos" panose="020B0004020202020204" pitchFamily="34" charset="0"/>
              </a:rPr>
              <a:t>S&amp;P 500: 23%</a:t>
            </a:r>
          </a:p>
          <a:p>
            <a:pPr marL="171450" indent="-171450">
              <a:buFont typeface="Arial" panose="020B0604020202020204" pitchFamily="34" charset="0"/>
              <a:buChar char="•"/>
            </a:pPr>
            <a:r>
              <a:rPr lang="en-US" sz="800" dirty="0">
                <a:latin typeface="Aptos" panose="020B0004020202020204" pitchFamily="34" charset="0"/>
              </a:rPr>
              <a:t>AutoCallable: 4%</a:t>
            </a:r>
          </a:p>
        </p:txBody>
      </p:sp>
      <p:sp>
        <p:nvSpPr>
          <p:cNvPr id="10" name="TextBox 13">
            <a:extLst>
              <a:ext uri="{FF2B5EF4-FFF2-40B4-BE49-F238E27FC236}">
                <a16:creationId xmlns:a16="http://schemas.microsoft.com/office/drawing/2014/main" id="{BDE6A1C0-7611-B687-F8EB-221E3932C8C4}"/>
              </a:ext>
            </a:extLst>
          </p:cNvPr>
          <p:cNvSpPr txBox="1"/>
          <p:nvPr/>
        </p:nvSpPr>
        <p:spPr>
          <a:xfrm>
            <a:off x="6898658" y="2628481"/>
            <a:ext cx="1260058" cy="584775"/>
          </a:xfrm>
          <a:prstGeom prst="rect">
            <a:avLst/>
          </a:prstGeom>
          <a:solidFill>
            <a:schemeClr val="bg1"/>
          </a:solidFill>
          <a:ln w="6350">
            <a:solidFill>
              <a:schemeClr val="bg1">
                <a:lumMod val="50000"/>
              </a:schemeClr>
            </a:solidFill>
          </a:ln>
        </p:spPr>
        <p:txBody>
          <a:bodyPr wrap="square" rtlCol="0">
            <a:spAutoFit/>
          </a:bodyPr>
          <a:lstStyle>
            <a:defPPr>
              <a:defRPr lang="en-US"/>
            </a:defPPr>
            <a:lvl1pPr marL="0" indent="0" algn="l" defTabSz="457200" rtl="0" eaLnBrk="1" latinLnBrk="0" hangingPunct="1">
              <a:defRPr sz="1800" kern="1200">
                <a:solidFill>
                  <a:schemeClr val="tx1"/>
                </a:solidFill>
                <a:latin typeface="+mn-lt"/>
                <a:ea typeface="+mn-ea"/>
                <a:cs typeface="+mn-cs"/>
              </a:defRPr>
            </a:lvl1pPr>
            <a:lvl2pPr marL="457200" indent="0" algn="l" defTabSz="457200" rtl="0" eaLnBrk="1" latinLnBrk="0" hangingPunct="1">
              <a:defRPr sz="1800" kern="1200">
                <a:solidFill>
                  <a:schemeClr val="tx1"/>
                </a:solidFill>
                <a:latin typeface="+mn-lt"/>
                <a:ea typeface="+mn-ea"/>
                <a:cs typeface="+mn-cs"/>
              </a:defRPr>
            </a:lvl2pPr>
            <a:lvl3pPr marL="914400" indent="0" algn="l" defTabSz="457200" rtl="0" eaLnBrk="1" latinLnBrk="0" hangingPunct="1">
              <a:defRPr sz="1800" kern="1200">
                <a:solidFill>
                  <a:schemeClr val="tx1"/>
                </a:solidFill>
                <a:latin typeface="+mn-lt"/>
                <a:ea typeface="+mn-ea"/>
                <a:cs typeface="+mn-cs"/>
              </a:defRPr>
            </a:lvl3pPr>
            <a:lvl4pPr marL="1371600" indent="0" algn="l" defTabSz="457200" rtl="0" eaLnBrk="1" latinLnBrk="0" hangingPunct="1">
              <a:defRPr sz="1800" kern="1200">
                <a:solidFill>
                  <a:schemeClr val="tx1"/>
                </a:solidFill>
                <a:latin typeface="+mn-lt"/>
                <a:ea typeface="+mn-ea"/>
                <a:cs typeface="+mn-cs"/>
              </a:defRPr>
            </a:lvl4pPr>
            <a:lvl5pPr marL="1828800" indent="0" algn="l" defTabSz="457200" rtl="0" eaLnBrk="1" latinLnBrk="0" hangingPunct="1">
              <a:defRPr sz="1800" kern="1200">
                <a:solidFill>
                  <a:schemeClr val="tx1"/>
                </a:solidFill>
                <a:latin typeface="+mn-lt"/>
                <a:ea typeface="+mn-ea"/>
                <a:cs typeface="+mn-cs"/>
              </a:defRPr>
            </a:lvl5pPr>
            <a:lvl6pPr marL="2286000" indent="0" algn="l" defTabSz="457200" rtl="0" eaLnBrk="1" latinLnBrk="0" hangingPunct="1">
              <a:defRPr sz="1800" kern="1200">
                <a:solidFill>
                  <a:schemeClr val="tx1"/>
                </a:solidFill>
                <a:latin typeface="+mn-lt"/>
                <a:ea typeface="+mn-ea"/>
                <a:cs typeface="+mn-cs"/>
              </a:defRPr>
            </a:lvl6pPr>
            <a:lvl7pPr marL="2743200" indent="0" algn="l" defTabSz="457200" rtl="0" eaLnBrk="1" latinLnBrk="0" hangingPunct="1">
              <a:defRPr sz="1800" kern="1200">
                <a:solidFill>
                  <a:schemeClr val="tx1"/>
                </a:solidFill>
                <a:latin typeface="+mn-lt"/>
                <a:ea typeface="+mn-ea"/>
                <a:cs typeface="+mn-cs"/>
              </a:defRPr>
            </a:lvl7pPr>
            <a:lvl8pPr marL="3200400" indent="0" algn="l" defTabSz="457200" rtl="0" eaLnBrk="1" latinLnBrk="0" hangingPunct="1">
              <a:defRPr sz="1800" kern="1200">
                <a:solidFill>
                  <a:schemeClr val="tx1"/>
                </a:solidFill>
                <a:latin typeface="+mn-lt"/>
                <a:ea typeface="+mn-ea"/>
                <a:cs typeface="+mn-cs"/>
              </a:defRPr>
            </a:lvl8pPr>
            <a:lvl9pPr marL="3657600" indent="0" algn="l" defTabSz="457200" rtl="0" eaLnBrk="1" latinLnBrk="0" hangingPunct="1">
              <a:defRPr sz="1800" kern="1200">
                <a:solidFill>
                  <a:schemeClr val="tx1"/>
                </a:solidFill>
                <a:latin typeface="+mn-lt"/>
                <a:ea typeface="+mn-ea"/>
                <a:cs typeface="+mn-cs"/>
              </a:defRPr>
            </a:lvl9pPr>
          </a:lstStyle>
          <a:p>
            <a:r>
              <a:rPr lang="en-US" sz="800" u="sng" dirty="0">
                <a:latin typeface="Aptos" panose="020B0004020202020204" pitchFamily="34" charset="0"/>
              </a:rPr>
              <a:t>Simulated Volatility</a:t>
            </a:r>
          </a:p>
          <a:p>
            <a:pPr marL="171450" indent="-171450">
              <a:buFont typeface="Arial" panose="020B0604020202020204" pitchFamily="34" charset="0"/>
              <a:buChar char="•"/>
            </a:pPr>
            <a:endParaRPr lang="en-US" sz="800" dirty="0">
              <a:latin typeface="Aptos" panose="020B0004020202020204" pitchFamily="34" charset="0"/>
            </a:endParaRPr>
          </a:p>
          <a:p>
            <a:pPr marL="171450" indent="-171450">
              <a:buFont typeface="Arial" panose="020B0604020202020204" pitchFamily="34" charset="0"/>
              <a:buChar char="•"/>
            </a:pPr>
            <a:r>
              <a:rPr lang="en-US" sz="800" dirty="0">
                <a:latin typeface="Aptos" panose="020B0004020202020204" pitchFamily="34" charset="0"/>
              </a:rPr>
              <a:t>S&amp;P 500: 12.1%</a:t>
            </a:r>
          </a:p>
          <a:p>
            <a:pPr marL="171450" indent="-171450">
              <a:buFont typeface="Arial" panose="020B0604020202020204" pitchFamily="34" charset="0"/>
              <a:buChar char="•"/>
            </a:pPr>
            <a:r>
              <a:rPr lang="en-US" sz="800" dirty="0">
                <a:latin typeface="Aptos" panose="020B0004020202020204" pitchFamily="34" charset="0"/>
              </a:rPr>
              <a:t>AutoCallable: 2.4%</a:t>
            </a:r>
          </a:p>
        </p:txBody>
      </p:sp>
      <p:sp>
        <p:nvSpPr>
          <p:cNvPr id="11" name="Oval 10">
            <a:extLst>
              <a:ext uri="{FF2B5EF4-FFF2-40B4-BE49-F238E27FC236}">
                <a16:creationId xmlns:a16="http://schemas.microsoft.com/office/drawing/2014/main" id="{78139359-DA26-0E21-ABA8-BD3D6E397F77}"/>
              </a:ext>
            </a:extLst>
          </p:cNvPr>
          <p:cNvSpPr/>
          <p:nvPr/>
        </p:nvSpPr>
        <p:spPr>
          <a:xfrm>
            <a:off x="6032205" y="4848447"/>
            <a:ext cx="375683" cy="297711"/>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2CC421D3-EB33-5C95-20CA-BF9CAF6CF77C}"/>
              </a:ext>
            </a:extLst>
          </p:cNvPr>
          <p:cNvSpPr/>
          <p:nvPr/>
        </p:nvSpPr>
        <p:spPr>
          <a:xfrm>
            <a:off x="7674190" y="4391247"/>
            <a:ext cx="375683" cy="297711"/>
          </a:xfrm>
          <a:prstGeom prst="ellipse">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A8BE46CB-C7DA-182E-6078-29503B0DCC26}"/>
              </a:ext>
            </a:extLst>
          </p:cNvPr>
          <p:cNvSpPr txBox="1"/>
          <p:nvPr/>
        </p:nvSpPr>
        <p:spPr>
          <a:xfrm>
            <a:off x="6844776" y="4913635"/>
            <a:ext cx="1129644" cy="215444"/>
          </a:xfrm>
          <a:prstGeom prst="rect">
            <a:avLst/>
          </a:prstGeom>
          <a:noFill/>
          <a:ln w="6350">
            <a:solidFill>
              <a:schemeClr val="tx1">
                <a:lumMod val="75000"/>
                <a:lumOff val="25000"/>
              </a:schemeClr>
            </a:solidFill>
          </a:ln>
        </p:spPr>
        <p:txBody>
          <a:bodyPr wrap="square" rtlCol="0">
            <a:spAutoFit/>
          </a:bodyPr>
          <a:lstStyle/>
          <a:p>
            <a:pPr algn="ctr"/>
            <a:r>
              <a:rPr lang="en-US" sz="800" dirty="0">
                <a:latin typeface="Aptos" panose="020B0004020202020204" pitchFamily="34" charset="0"/>
                <a:cs typeface="Calibri Light" panose="020F0302020204030204" pitchFamily="34" charset="0"/>
              </a:rPr>
              <a:t>1</a:t>
            </a:r>
            <a:r>
              <a:rPr lang="en-US" sz="800" baseline="30000" dirty="0">
                <a:latin typeface="Aptos" panose="020B0004020202020204" pitchFamily="34" charset="0"/>
                <a:cs typeface="Calibri Light" panose="020F0302020204030204" pitchFamily="34" charset="0"/>
              </a:rPr>
              <a:t>st</a:t>
            </a:r>
            <a:r>
              <a:rPr lang="en-US" sz="800" dirty="0">
                <a:latin typeface="Aptos" panose="020B0004020202020204" pitchFamily="34" charset="0"/>
                <a:cs typeface="Calibri Light" panose="020F0302020204030204" pitchFamily="34" charset="0"/>
              </a:rPr>
              <a:t> Percentile Loss</a:t>
            </a:r>
          </a:p>
        </p:txBody>
      </p:sp>
      <p:cxnSp>
        <p:nvCxnSpPr>
          <p:cNvPr id="21" name="Straight Arrow Connector 20">
            <a:extLst>
              <a:ext uri="{FF2B5EF4-FFF2-40B4-BE49-F238E27FC236}">
                <a16:creationId xmlns:a16="http://schemas.microsoft.com/office/drawing/2014/main" id="{C4823A61-625C-2571-1F58-E498AE3B378F}"/>
              </a:ext>
            </a:extLst>
          </p:cNvPr>
          <p:cNvCxnSpPr/>
          <p:nvPr/>
        </p:nvCxnSpPr>
        <p:spPr>
          <a:xfrm flipV="1">
            <a:off x="7733414" y="4688958"/>
            <a:ext cx="77972" cy="224677"/>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A407CA83-8C84-84EF-50F9-EA77325356C0}"/>
              </a:ext>
            </a:extLst>
          </p:cNvPr>
          <p:cNvCxnSpPr>
            <a:stCxn id="17" idx="1"/>
          </p:cNvCxnSpPr>
          <p:nvPr/>
        </p:nvCxnSpPr>
        <p:spPr>
          <a:xfrm flipH="1" flipV="1">
            <a:off x="6407888" y="4976037"/>
            <a:ext cx="436888" cy="45320"/>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C723DBF4-040C-CB1B-8669-EE583E2BE76A}"/>
              </a:ext>
            </a:extLst>
          </p:cNvPr>
          <p:cNvSpPr txBox="1"/>
          <p:nvPr/>
        </p:nvSpPr>
        <p:spPr>
          <a:xfrm>
            <a:off x="5124894" y="5754902"/>
            <a:ext cx="3607980" cy="507831"/>
          </a:xfrm>
          <a:prstGeom prst="rect">
            <a:avLst/>
          </a:prstGeom>
          <a:noFill/>
          <a:ln w="6350">
            <a:solidFill>
              <a:schemeClr val="bg1">
                <a:lumMod val="75000"/>
              </a:schemeClr>
            </a:solidFill>
          </a:ln>
        </p:spPr>
        <p:txBody>
          <a:bodyPr wrap="square" rtlCol="0">
            <a:spAutoFit/>
          </a:bodyPr>
          <a:lstStyle/>
          <a:p>
            <a:pPr algn="ctr"/>
            <a:r>
              <a:rPr lang="en-GB" sz="900" dirty="0">
                <a:latin typeface="Aptos Light" panose="020B0004020202020204" pitchFamily="34" charset="0"/>
              </a:rPr>
              <a:t>Buffered Autocallable Notes help mitigate tail risk through downside protection; however, this protection comes at the expense of full upside participation relative to holding the underlying asset directly</a:t>
            </a:r>
            <a:endParaRPr lang="en-US" sz="900" dirty="0">
              <a:latin typeface="Aptos Light" panose="020B0004020202020204" pitchFamily="34" charset="0"/>
              <a:cs typeface="Calibri Light" panose="020F0302020204030204" pitchFamily="34" charset="0"/>
            </a:endParaRPr>
          </a:p>
        </p:txBody>
      </p:sp>
      <p:cxnSp>
        <p:nvCxnSpPr>
          <p:cNvPr id="33" name="Straight Connector 32">
            <a:extLst>
              <a:ext uri="{FF2B5EF4-FFF2-40B4-BE49-F238E27FC236}">
                <a16:creationId xmlns:a16="http://schemas.microsoft.com/office/drawing/2014/main" id="{88549491-DC85-F25E-3988-2D7B908A9352}"/>
              </a:ext>
            </a:extLst>
          </p:cNvPr>
          <p:cNvCxnSpPr/>
          <p:nvPr/>
        </p:nvCxnSpPr>
        <p:spPr>
          <a:xfrm flipV="1">
            <a:off x="2587256" y="2079364"/>
            <a:ext cx="0" cy="410400"/>
          </a:xfrm>
          <a:prstGeom prst="line">
            <a:avLst/>
          </a:prstGeom>
          <a:ln w="22225">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72018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0DAE96-D654-780A-E1C1-800F7E03F67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795B64-4FA7-34DE-D01D-1DDB328C2AB8}"/>
              </a:ext>
            </a:extLst>
          </p:cNvPr>
          <p:cNvSpPr txBox="1"/>
          <p:nvPr/>
        </p:nvSpPr>
        <p:spPr>
          <a:xfrm>
            <a:off x="302497" y="249071"/>
            <a:ext cx="7747376" cy="400110"/>
          </a:xfrm>
          <a:prstGeom prst="rect">
            <a:avLst/>
          </a:prstGeom>
          <a:noFill/>
        </p:spPr>
        <p:txBody>
          <a:bodyPr wrap="square" rtlCol="0">
            <a:spAutoFit/>
          </a:bodyPr>
          <a:lstStyle/>
          <a:p>
            <a:r>
              <a:rPr lang="en-US" sz="2000" dirty="0">
                <a:latin typeface="Grotesque Light" panose="020B0304020202020204" pitchFamily="34" charset="0"/>
              </a:rPr>
              <a:t>Modelling Structured Notes</a:t>
            </a:r>
          </a:p>
        </p:txBody>
      </p:sp>
      <p:sp>
        <p:nvSpPr>
          <p:cNvPr id="2" name="TextBox 1">
            <a:extLst>
              <a:ext uri="{FF2B5EF4-FFF2-40B4-BE49-F238E27FC236}">
                <a16:creationId xmlns:a16="http://schemas.microsoft.com/office/drawing/2014/main" id="{18974445-149A-8DF9-8D11-ED8593C0741A}"/>
              </a:ext>
            </a:extLst>
          </p:cNvPr>
          <p:cNvSpPr txBox="1"/>
          <p:nvPr/>
        </p:nvSpPr>
        <p:spPr>
          <a:xfrm>
            <a:off x="346384" y="1336605"/>
            <a:ext cx="4176000"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Performance Under Varying Market Scenarios</a:t>
            </a:r>
          </a:p>
        </p:txBody>
      </p:sp>
      <p:sp>
        <p:nvSpPr>
          <p:cNvPr id="14" name="TextBox 13">
            <a:extLst>
              <a:ext uri="{FF2B5EF4-FFF2-40B4-BE49-F238E27FC236}">
                <a16:creationId xmlns:a16="http://schemas.microsoft.com/office/drawing/2014/main" id="{D16F88C3-07F8-3AF5-3448-598080677A42}"/>
              </a:ext>
            </a:extLst>
          </p:cNvPr>
          <p:cNvSpPr txBox="1"/>
          <p:nvPr/>
        </p:nvSpPr>
        <p:spPr>
          <a:xfrm>
            <a:off x="4660407" y="1336605"/>
            <a:ext cx="4176000"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Outperformance Probability Under Varying </a:t>
            </a:r>
            <a:r>
              <a:rPr lang="en-US"/>
              <a:t>Market Scenarios</a:t>
            </a:r>
            <a:endParaRPr lang="en-US" dirty="0"/>
          </a:p>
        </p:txBody>
      </p:sp>
      <p:sp>
        <p:nvSpPr>
          <p:cNvPr id="15" name="TextBox 14">
            <a:extLst>
              <a:ext uri="{FF2B5EF4-FFF2-40B4-BE49-F238E27FC236}">
                <a16:creationId xmlns:a16="http://schemas.microsoft.com/office/drawing/2014/main" id="{756A86DC-2E5D-8444-A689-4B9702055933}"/>
              </a:ext>
            </a:extLst>
          </p:cNvPr>
          <p:cNvSpPr txBox="1"/>
          <p:nvPr/>
        </p:nvSpPr>
        <p:spPr>
          <a:xfrm>
            <a:off x="302496" y="589651"/>
            <a:ext cx="7747376" cy="276999"/>
          </a:xfrm>
          <a:prstGeom prst="rect">
            <a:avLst/>
          </a:prstGeom>
          <a:noFill/>
        </p:spPr>
        <p:txBody>
          <a:bodyPr wrap="square" rtlCol="0">
            <a:spAutoFit/>
          </a:bodyPr>
          <a:lstStyle/>
          <a:p>
            <a:r>
              <a:rPr lang="en-US" sz="1200" dirty="0">
                <a:solidFill>
                  <a:schemeClr val="tx1">
                    <a:lumMod val="85000"/>
                    <a:lumOff val="15000"/>
                  </a:schemeClr>
                </a:solidFill>
                <a:latin typeface="Grotesque Light" panose="020B0304020202020204" pitchFamily="34" charset="0"/>
              </a:rPr>
              <a:t>Autocallable Coupon Buffered Notes</a:t>
            </a:r>
          </a:p>
        </p:txBody>
      </p:sp>
      <p:sp>
        <p:nvSpPr>
          <p:cNvPr id="19" name="TextBox 18">
            <a:extLst>
              <a:ext uri="{FF2B5EF4-FFF2-40B4-BE49-F238E27FC236}">
                <a16:creationId xmlns:a16="http://schemas.microsoft.com/office/drawing/2014/main" id="{D2BDE65B-C1D6-2809-9AF5-ED426595925C}"/>
              </a:ext>
            </a:extLst>
          </p:cNvPr>
          <p:cNvSpPr txBox="1"/>
          <p:nvPr/>
        </p:nvSpPr>
        <p:spPr>
          <a:xfrm>
            <a:off x="643011" y="5365615"/>
            <a:ext cx="3444949" cy="707886"/>
          </a:xfrm>
          <a:prstGeom prst="rect">
            <a:avLst/>
          </a:prstGeom>
          <a:noFill/>
          <a:ln w="6350">
            <a:solidFill>
              <a:schemeClr val="bg1">
                <a:lumMod val="75000"/>
              </a:schemeClr>
            </a:solidFill>
          </a:ln>
        </p:spPr>
        <p:txBody>
          <a:bodyPr wrap="square" rtlCol="0">
            <a:spAutoFit/>
          </a:bodyPr>
          <a:lstStyle/>
          <a:p>
            <a:pPr algn="ctr"/>
            <a:r>
              <a:rPr lang="en-GB" sz="1000" dirty="0">
                <a:latin typeface="Aptos Light" panose="020B0004020202020204" pitchFamily="34" charset="0"/>
              </a:rPr>
              <a:t>Buffered Autocallables reduce losses in down markets and outperform in flat to moderately up environments due to coupon and early call features. Upside is limited in strong bull markets.</a:t>
            </a:r>
            <a:endParaRPr lang="en-US" sz="1000" dirty="0">
              <a:latin typeface="Aptos Light" panose="020B0004020202020204" pitchFamily="34" charset="0"/>
              <a:cs typeface="Calibri Light" panose="020F0302020204030204" pitchFamily="34" charset="0"/>
            </a:endParaRPr>
          </a:p>
        </p:txBody>
      </p:sp>
      <p:sp>
        <p:nvSpPr>
          <p:cNvPr id="28" name="TextBox 27">
            <a:extLst>
              <a:ext uri="{FF2B5EF4-FFF2-40B4-BE49-F238E27FC236}">
                <a16:creationId xmlns:a16="http://schemas.microsoft.com/office/drawing/2014/main" id="{88F6C892-2D6E-7A83-1427-2A43FF448192}"/>
              </a:ext>
            </a:extLst>
          </p:cNvPr>
          <p:cNvSpPr txBox="1"/>
          <p:nvPr/>
        </p:nvSpPr>
        <p:spPr>
          <a:xfrm>
            <a:off x="5112316" y="5355106"/>
            <a:ext cx="3522921" cy="737999"/>
          </a:xfrm>
          <a:prstGeom prst="rect">
            <a:avLst/>
          </a:prstGeom>
          <a:noFill/>
          <a:ln w="6350">
            <a:solidFill>
              <a:schemeClr val="bg1">
                <a:lumMod val="75000"/>
              </a:schemeClr>
            </a:solidFill>
          </a:ln>
        </p:spPr>
        <p:txBody>
          <a:bodyPr wrap="square" rtlCol="0">
            <a:spAutoFit/>
          </a:bodyPr>
          <a:lstStyle/>
          <a:p>
            <a:pPr algn="ctr"/>
            <a:r>
              <a:rPr lang="en-GB" sz="1050" dirty="0">
                <a:latin typeface="Aptos Light" panose="020B0004020202020204" pitchFamily="34" charset="0"/>
              </a:rPr>
              <a:t>Outperformance is highly likely in down and sideways markets. In moderate rallies, the note underperforms most of the time. In strong up markets, the underlying leads due to capped upside.</a:t>
            </a:r>
            <a:endParaRPr lang="en-US" sz="1050" dirty="0">
              <a:latin typeface="Aptos Light" panose="020B0004020202020204" pitchFamily="34" charset="0"/>
              <a:cs typeface="Calibri Light" panose="020F0302020204030204" pitchFamily="34" charset="0"/>
            </a:endParaRPr>
          </a:p>
        </p:txBody>
      </p:sp>
      <p:grpSp>
        <p:nvGrpSpPr>
          <p:cNvPr id="31" name="Group 30">
            <a:extLst>
              <a:ext uri="{FF2B5EF4-FFF2-40B4-BE49-F238E27FC236}">
                <a16:creationId xmlns:a16="http://schemas.microsoft.com/office/drawing/2014/main" id="{DE5140A7-20EE-410E-2B62-B286A0C3804B}"/>
              </a:ext>
            </a:extLst>
          </p:cNvPr>
          <p:cNvGrpSpPr/>
          <p:nvPr/>
        </p:nvGrpSpPr>
        <p:grpSpPr>
          <a:xfrm>
            <a:off x="346383" y="1737785"/>
            <a:ext cx="8549524" cy="3082307"/>
            <a:chOff x="346383" y="1737785"/>
            <a:chExt cx="8549524" cy="3082307"/>
          </a:xfrm>
        </p:grpSpPr>
        <p:graphicFrame>
          <p:nvGraphicFramePr>
            <p:cNvPr id="13" name="Chart 12">
              <a:extLst>
                <a:ext uri="{FF2B5EF4-FFF2-40B4-BE49-F238E27FC236}">
                  <a16:creationId xmlns:a16="http://schemas.microsoft.com/office/drawing/2014/main" id="{D608DF9C-E163-295C-E769-BC45ABA664B9}"/>
                </a:ext>
              </a:extLst>
            </p:cNvPr>
            <p:cNvGraphicFramePr>
              <a:graphicFrameLocks/>
            </p:cNvGraphicFramePr>
            <p:nvPr>
              <p:extLst>
                <p:ext uri="{D42A27DB-BD31-4B8C-83A1-F6EECF244321}">
                  <p14:modId xmlns:p14="http://schemas.microsoft.com/office/powerpoint/2010/main" val="2452362891"/>
                </p:ext>
              </p:extLst>
            </p:nvPr>
          </p:nvGraphicFramePr>
          <p:xfrm>
            <a:off x="4990215" y="1919997"/>
            <a:ext cx="3785190" cy="284336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30" name="Chart 29">
              <a:extLst>
                <a:ext uri="{FF2B5EF4-FFF2-40B4-BE49-F238E27FC236}">
                  <a16:creationId xmlns:a16="http://schemas.microsoft.com/office/drawing/2014/main" id="{2A3562E2-4D9A-33BB-8FCD-262CA82D0991}"/>
                </a:ext>
              </a:extLst>
            </p:cNvPr>
            <p:cNvGraphicFramePr>
              <a:graphicFrameLocks/>
            </p:cNvGraphicFramePr>
            <p:nvPr>
              <p:extLst>
                <p:ext uri="{D42A27DB-BD31-4B8C-83A1-F6EECF244321}">
                  <p14:modId xmlns:p14="http://schemas.microsoft.com/office/powerpoint/2010/main" val="2741111205"/>
                </p:ext>
              </p:extLst>
            </p:nvPr>
          </p:nvGraphicFramePr>
          <p:xfrm>
            <a:off x="346383" y="1737785"/>
            <a:ext cx="8549524" cy="3082307"/>
          </p:xfrm>
          <a:graphic>
            <a:graphicData uri="http://schemas.openxmlformats.org/drawingml/2006/chart">
              <c:chart xmlns:c="http://schemas.openxmlformats.org/drawingml/2006/chart" xmlns:r="http://schemas.openxmlformats.org/officeDocument/2006/relationships" r:id="rId3"/>
            </a:graphicData>
          </a:graphic>
        </p:graphicFrame>
      </p:grpSp>
      <p:sp>
        <p:nvSpPr>
          <p:cNvPr id="5" name="TextBox 4">
            <a:extLst>
              <a:ext uri="{FF2B5EF4-FFF2-40B4-BE49-F238E27FC236}">
                <a16:creationId xmlns:a16="http://schemas.microsoft.com/office/drawing/2014/main" id="{3A6E20C0-44E2-498E-1B35-F2321452B30B}"/>
              </a:ext>
            </a:extLst>
          </p:cNvPr>
          <p:cNvSpPr txBox="1"/>
          <p:nvPr/>
        </p:nvSpPr>
        <p:spPr>
          <a:xfrm>
            <a:off x="6971313" y="4713385"/>
            <a:ext cx="801776" cy="230832"/>
          </a:xfrm>
          <a:prstGeom prst="rect">
            <a:avLst/>
          </a:prstGeom>
          <a:noFill/>
        </p:spPr>
        <p:txBody>
          <a:bodyPr wrap="square" rtlCol="0">
            <a:spAutoFit/>
          </a:bodyPr>
          <a:lstStyle/>
          <a:p>
            <a:r>
              <a:rPr lang="en-US" sz="900" dirty="0">
                <a:latin typeface="Aptos Light" panose="020B0004020202020204" pitchFamily="34" charset="0"/>
              </a:rPr>
              <a:t>38% of Obs</a:t>
            </a:r>
          </a:p>
        </p:txBody>
      </p:sp>
      <p:sp>
        <p:nvSpPr>
          <p:cNvPr id="6" name="TextBox 5">
            <a:extLst>
              <a:ext uri="{FF2B5EF4-FFF2-40B4-BE49-F238E27FC236}">
                <a16:creationId xmlns:a16="http://schemas.microsoft.com/office/drawing/2014/main" id="{698EED7C-5B25-FF2A-DD05-202F6E8642D4}"/>
              </a:ext>
            </a:extLst>
          </p:cNvPr>
          <p:cNvSpPr txBox="1"/>
          <p:nvPr/>
        </p:nvSpPr>
        <p:spPr>
          <a:xfrm>
            <a:off x="7833461" y="4713385"/>
            <a:ext cx="801776" cy="230832"/>
          </a:xfrm>
          <a:prstGeom prst="rect">
            <a:avLst/>
          </a:prstGeom>
          <a:noFill/>
        </p:spPr>
        <p:txBody>
          <a:bodyPr wrap="square" rtlCol="0">
            <a:spAutoFit/>
          </a:bodyPr>
          <a:lstStyle/>
          <a:p>
            <a:r>
              <a:rPr lang="en-US" sz="900" dirty="0">
                <a:latin typeface="Aptos Light" panose="020B0004020202020204" pitchFamily="34" charset="0"/>
              </a:rPr>
              <a:t>40% of Obs</a:t>
            </a:r>
          </a:p>
        </p:txBody>
      </p:sp>
      <p:sp>
        <p:nvSpPr>
          <p:cNvPr id="7" name="TextBox 6">
            <a:extLst>
              <a:ext uri="{FF2B5EF4-FFF2-40B4-BE49-F238E27FC236}">
                <a16:creationId xmlns:a16="http://schemas.microsoft.com/office/drawing/2014/main" id="{69F551D0-7B99-73CE-02A4-21ADE2A20455}"/>
              </a:ext>
            </a:extLst>
          </p:cNvPr>
          <p:cNvSpPr txBox="1"/>
          <p:nvPr/>
        </p:nvSpPr>
        <p:spPr>
          <a:xfrm>
            <a:off x="6072000" y="4713385"/>
            <a:ext cx="801776" cy="230832"/>
          </a:xfrm>
          <a:prstGeom prst="rect">
            <a:avLst/>
          </a:prstGeom>
          <a:noFill/>
        </p:spPr>
        <p:txBody>
          <a:bodyPr wrap="square" rtlCol="0">
            <a:spAutoFit/>
          </a:bodyPr>
          <a:lstStyle/>
          <a:p>
            <a:r>
              <a:rPr lang="en-US" sz="900" dirty="0">
                <a:latin typeface="Aptos Light" panose="020B0004020202020204" pitchFamily="34" charset="0"/>
              </a:rPr>
              <a:t>16% of Obs</a:t>
            </a:r>
          </a:p>
        </p:txBody>
      </p:sp>
      <p:sp>
        <p:nvSpPr>
          <p:cNvPr id="8" name="TextBox 7">
            <a:extLst>
              <a:ext uri="{FF2B5EF4-FFF2-40B4-BE49-F238E27FC236}">
                <a16:creationId xmlns:a16="http://schemas.microsoft.com/office/drawing/2014/main" id="{A9215B3B-5717-22EE-8B5B-B1C32D626803}"/>
              </a:ext>
            </a:extLst>
          </p:cNvPr>
          <p:cNvSpPr txBox="1"/>
          <p:nvPr/>
        </p:nvSpPr>
        <p:spPr>
          <a:xfrm>
            <a:off x="5270224" y="4713385"/>
            <a:ext cx="801776" cy="230832"/>
          </a:xfrm>
          <a:prstGeom prst="rect">
            <a:avLst/>
          </a:prstGeom>
          <a:noFill/>
        </p:spPr>
        <p:txBody>
          <a:bodyPr wrap="square" rtlCol="0">
            <a:spAutoFit/>
          </a:bodyPr>
          <a:lstStyle/>
          <a:p>
            <a:r>
              <a:rPr lang="en-US" sz="900" dirty="0">
                <a:latin typeface="Aptos Light" panose="020B0004020202020204" pitchFamily="34" charset="0"/>
              </a:rPr>
              <a:t>6% of Obs</a:t>
            </a:r>
          </a:p>
        </p:txBody>
      </p:sp>
      <p:sp>
        <p:nvSpPr>
          <p:cNvPr id="9" name="TextBox 8">
            <a:extLst>
              <a:ext uri="{FF2B5EF4-FFF2-40B4-BE49-F238E27FC236}">
                <a16:creationId xmlns:a16="http://schemas.microsoft.com/office/drawing/2014/main" id="{38668ED6-2FCB-6B89-D8D8-82534173536C}"/>
              </a:ext>
            </a:extLst>
          </p:cNvPr>
          <p:cNvSpPr txBox="1"/>
          <p:nvPr/>
        </p:nvSpPr>
        <p:spPr>
          <a:xfrm>
            <a:off x="5326067" y="4944217"/>
            <a:ext cx="1422340" cy="261610"/>
          </a:xfrm>
          <a:prstGeom prst="rect">
            <a:avLst/>
          </a:prstGeom>
          <a:solidFill>
            <a:srgbClr val="FFFFFF">
              <a:alpha val="64706"/>
            </a:srgbClr>
          </a:solidFill>
        </p:spPr>
        <p:txBody>
          <a:bodyPr wrap="square" rtlCol="0">
            <a:spAutoFit/>
          </a:bodyPr>
          <a:lstStyle/>
          <a:p>
            <a:pPr algn="ctr"/>
            <a:r>
              <a:rPr lang="en-US" sz="1050" dirty="0">
                <a:latin typeface="Aptos Light" panose="020B0004020202020204" pitchFamily="34" charset="0"/>
              </a:rPr>
              <a:t>Unconditional: 32%</a:t>
            </a:r>
          </a:p>
        </p:txBody>
      </p:sp>
    </p:spTree>
    <p:extLst>
      <p:ext uri="{BB962C8B-B14F-4D97-AF65-F5344CB8AC3E}">
        <p14:creationId xmlns:p14="http://schemas.microsoft.com/office/powerpoint/2010/main" val="8934512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018725-5695-F855-3F27-BB35F2004FE2}"/>
            </a:ext>
          </a:extLst>
        </p:cNvPr>
        <p:cNvGrpSpPr/>
        <p:nvPr/>
      </p:nvGrpSpPr>
      <p:grpSpPr>
        <a:xfrm>
          <a:off x="0" y="0"/>
          <a:ext cx="0" cy="0"/>
          <a:chOff x="0" y="0"/>
          <a:chExt cx="0" cy="0"/>
        </a:xfrm>
      </p:grpSpPr>
      <p:graphicFrame>
        <p:nvGraphicFramePr>
          <p:cNvPr id="29" name="Object 28">
            <a:extLst>
              <a:ext uri="{FF2B5EF4-FFF2-40B4-BE49-F238E27FC236}">
                <a16:creationId xmlns:a16="http://schemas.microsoft.com/office/drawing/2014/main" id="{21E52EF7-AB68-3660-F989-DDCC176DF076}"/>
              </a:ext>
            </a:extLst>
          </p:cNvPr>
          <p:cNvGraphicFramePr>
            <a:graphicFrameLocks noChangeAspect="1"/>
          </p:cNvGraphicFramePr>
          <p:nvPr>
            <p:extLst>
              <p:ext uri="{D42A27DB-BD31-4B8C-83A1-F6EECF244321}">
                <p14:modId xmlns:p14="http://schemas.microsoft.com/office/powerpoint/2010/main" val="3562242027"/>
              </p:ext>
            </p:extLst>
          </p:nvPr>
        </p:nvGraphicFramePr>
        <p:xfrm>
          <a:off x="500243" y="1637549"/>
          <a:ext cx="3883048" cy="4057960"/>
        </p:xfrm>
        <a:graphic>
          <a:graphicData uri="http://schemas.openxmlformats.org/presentationml/2006/ole">
            <mc:AlternateContent xmlns:mc="http://schemas.openxmlformats.org/markup-compatibility/2006">
              <mc:Choice xmlns:v="urn:schemas-microsoft-com:vml" Requires="v">
                <p:oleObj name="Worksheet" r:id="rId2" imgW="5638800" imgH="5892800" progId="Excel.Sheet.12">
                  <p:embed/>
                </p:oleObj>
              </mc:Choice>
              <mc:Fallback>
                <p:oleObj name="Worksheet" r:id="rId2" imgW="5638800" imgH="5892800" progId="Excel.Sheet.12">
                  <p:embed/>
                  <p:pic>
                    <p:nvPicPr>
                      <p:cNvPr id="0" name=""/>
                      <p:cNvPicPr/>
                      <p:nvPr/>
                    </p:nvPicPr>
                    <p:blipFill>
                      <a:blip r:embed="rId3"/>
                      <a:stretch>
                        <a:fillRect/>
                      </a:stretch>
                    </p:blipFill>
                    <p:spPr>
                      <a:xfrm>
                        <a:off x="500243" y="1637549"/>
                        <a:ext cx="3883048" cy="4057960"/>
                      </a:xfrm>
                      <a:prstGeom prst="rect">
                        <a:avLst/>
                      </a:prstGeom>
                    </p:spPr>
                  </p:pic>
                </p:oleObj>
              </mc:Fallback>
            </mc:AlternateContent>
          </a:graphicData>
        </a:graphic>
      </p:graphicFrame>
      <p:sp>
        <p:nvSpPr>
          <p:cNvPr id="4" name="TextBox 3">
            <a:extLst>
              <a:ext uri="{FF2B5EF4-FFF2-40B4-BE49-F238E27FC236}">
                <a16:creationId xmlns:a16="http://schemas.microsoft.com/office/drawing/2014/main" id="{90D5D6C2-B8BF-A079-E63C-0A352280221C}"/>
              </a:ext>
            </a:extLst>
          </p:cNvPr>
          <p:cNvSpPr txBox="1"/>
          <p:nvPr/>
        </p:nvSpPr>
        <p:spPr>
          <a:xfrm>
            <a:off x="302497" y="249071"/>
            <a:ext cx="7747376" cy="400110"/>
          </a:xfrm>
          <a:prstGeom prst="rect">
            <a:avLst/>
          </a:prstGeom>
          <a:noFill/>
        </p:spPr>
        <p:txBody>
          <a:bodyPr wrap="square" rtlCol="0">
            <a:spAutoFit/>
          </a:bodyPr>
          <a:lstStyle/>
          <a:p>
            <a:r>
              <a:rPr lang="en-US" sz="2000" dirty="0">
                <a:latin typeface="Grotesque Light" panose="020B0304020202020204" pitchFamily="34" charset="0"/>
              </a:rPr>
              <a:t>Modelling Structured Notes</a:t>
            </a:r>
          </a:p>
        </p:txBody>
      </p:sp>
      <p:sp>
        <p:nvSpPr>
          <p:cNvPr id="2" name="TextBox 1">
            <a:extLst>
              <a:ext uri="{FF2B5EF4-FFF2-40B4-BE49-F238E27FC236}">
                <a16:creationId xmlns:a16="http://schemas.microsoft.com/office/drawing/2014/main" id="{ED00C5D2-5EE0-6319-04C1-4CEEE3D63579}"/>
              </a:ext>
            </a:extLst>
          </p:cNvPr>
          <p:cNvSpPr txBox="1"/>
          <p:nvPr/>
        </p:nvSpPr>
        <p:spPr>
          <a:xfrm>
            <a:off x="302497" y="1065891"/>
            <a:ext cx="4269504"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Sample Portfolios with Autocallable Buffered Note</a:t>
            </a:r>
          </a:p>
        </p:txBody>
      </p:sp>
      <p:sp>
        <p:nvSpPr>
          <p:cNvPr id="14" name="TextBox 13">
            <a:extLst>
              <a:ext uri="{FF2B5EF4-FFF2-40B4-BE49-F238E27FC236}">
                <a16:creationId xmlns:a16="http://schemas.microsoft.com/office/drawing/2014/main" id="{ECBAD8CA-4533-41E6-5177-6BC955C0F52A}"/>
              </a:ext>
            </a:extLst>
          </p:cNvPr>
          <p:cNvSpPr txBox="1"/>
          <p:nvPr/>
        </p:nvSpPr>
        <p:spPr>
          <a:xfrm>
            <a:off x="4710023" y="1062521"/>
            <a:ext cx="4131480"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Simulated Terminal Payoff: Underlying &amp; Autocallable</a:t>
            </a:r>
          </a:p>
        </p:txBody>
      </p:sp>
      <p:sp>
        <p:nvSpPr>
          <p:cNvPr id="15" name="TextBox 14">
            <a:extLst>
              <a:ext uri="{FF2B5EF4-FFF2-40B4-BE49-F238E27FC236}">
                <a16:creationId xmlns:a16="http://schemas.microsoft.com/office/drawing/2014/main" id="{C3B7E965-24DC-0AC9-7B75-0373C7DAF930}"/>
              </a:ext>
            </a:extLst>
          </p:cNvPr>
          <p:cNvSpPr txBox="1"/>
          <p:nvPr/>
        </p:nvSpPr>
        <p:spPr>
          <a:xfrm>
            <a:off x="302851" y="588604"/>
            <a:ext cx="7747376" cy="276999"/>
          </a:xfrm>
          <a:prstGeom prst="rect">
            <a:avLst/>
          </a:prstGeom>
          <a:noFill/>
        </p:spPr>
        <p:txBody>
          <a:bodyPr wrap="square" rtlCol="0">
            <a:spAutoFit/>
          </a:bodyPr>
          <a:lstStyle/>
          <a:p>
            <a:r>
              <a:rPr lang="en-US" sz="1200" dirty="0">
                <a:solidFill>
                  <a:schemeClr val="tx1">
                    <a:lumMod val="85000"/>
                    <a:lumOff val="15000"/>
                  </a:schemeClr>
                </a:solidFill>
                <a:latin typeface="Grotesque Light" panose="020B0304020202020204" pitchFamily="34" charset="0"/>
              </a:rPr>
              <a:t>Autocallable Coupon Buffered Notes</a:t>
            </a:r>
          </a:p>
        </p:txBody>
      </p:sp>
      <p:sp>
        <p:nvSpPr>
          <p:cNvPr id="9" name="Rectangle 8">
            <a:extLst>
              <a:ext uri="{FF2B5EF4-FFF2-40B4-BE49-F238E27FC236}">
                <a16:creationId xmlns:a16="http://schemas.microsoft.com/office/drawing/2014/main" id="{066D497E-BD04-5715-DE3D-7D3CDB6134B9}"/>
              </a:ext>
            </a:extLst>
          </p:cNvPr>
          <p:cNvSpPr/>
          <p:nvPr/>
        </p:nvSpPr>
        <p:spPr>
          <a:xfrm>
            <a:off x="486147" y="2502223"/>
            <a:ext cx="3924644" cy="151600"/>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26" name="Chart 25">
            <a:extLst>
              <a:ext uri="{FF2B5EF4-FFF2-40B4-BE49-F238E27FC236}">
                <a16:creationId xmlns:a16="http://schemas.microsoft.com/office/drawing/2014/main" id="{EDDB9496-846D-D6D2-4118-6DBCE0669ED5}"/>
              </a:ext>
            </a:extLst>
          </p:cNvPr>
          <p:cNvGraphicFramePr>
            <a:graphicFrameLocks/>
          </p:cNvGraphicFramePr>
          <p:nvPr>
            <p:extLst>
              <p:ext uri="{D42A27DB-BD31-4B8C-83A1-F6EECF244321}">
                <p14:modId xmlns:p14="http://schemas.microsoft.com/office/powerpoint/2010/main" val="1741574930"/>
              </p:ext>
            </p:extLst>
          </p:nvPr>
        </p:nvGraphicFramePr>
        <p:xfrm>
          <a:off x="4878425" y="1536437"/>
          <a:ext cx="3924644" cy="4159071"/>
        </p:xfrm>
        <a:graphic>
          <a:graphicData uri="http://schemas.openxmlformats.org/drawingml/2006/chart">
            <c:chart xmlns:c="http://schemas.openxmlformats.org/drawingml/2006/chart" xmlns:r="http://schemas.openxmlformats.org/officeDocument/2006/relationships" r:id="rId4"/>
          </a:graphicData>
        </a:graphic>
      </p:graphicFrame>
      <p:sp>
        <p:nvSpPr>
          <p:cNvPr id="31" name="TextBox 30">
            <a:extLst>
              <a:ext uri="{FF2B5EF4-FFF2-40B4-BE49-F238E27FC236}">
                <a16:creationId xmlns:a16="http://schemas.microsoft.com/office/drawing/2014/main" id="{79944B16-46C4-8201-8B76-9432211B1076}"/>
              </a:ext>
            </a:extLst>
          </p:cNvPr>
          <p:cNvSpPr txBox="1"/>
          <p:nvPr/>
        </p:nvSpPr>
        <p:spPr>
          <a:xfrm>
            <a:off x="377480" y="5990167"/>
            <a:ext cx="8389040" cy="400110"/>
          </a:xfrm>
          <a:prstGeom prst="rect">
            <a:avLst/>
          </a:prstGeom>
          <a:noFill/>
          <a:ln w="6350">
            <a:solidFill>
              <a:schemeClr val="bg1">
                <a:lumMod val="75000"/>
              </a:schemeClr>
            </a:solidFill>
          </a:ln>
        </p:spPr>
        <p:txBody>
          <a:bodyPr wrap="square" rtlCol="0">
            <a:spAutoFit/>
          </a:bodyPr>
          <a:lstStyle/>
          <a:p>
            <a:pPr algn="ctr"/>
            <a:r>
              <a:rPr lang="en-US" sz="1000" dirty="0">
                <a:latin typeface="Aptos Light" panose="020B0004020202020204" pitchFamily="34" charset="0"/>
                <a:cs typeface="Calibri Light" panose="020F0302020204030204" pitchFamily="34" charset="0"/>
              </a:rPr>
              <a:t>Buffered Autocallable notes give the benefit of reduced tail risk, reduced portfolio volatility and increased income yields. However, this comes at the expense of lower upside participation and growth relative to owning the underling equity exposure.</a:t>
            </a:r>
          </a:p>
        </p:txBody>
      </p:sp>
    </p:spTree>
    <p:extLst>
      <p:ext uri="{BB962C8B-B14F-4D97-AF65-F5344CB8AC3E}">
        <p14:creationId xmlns:p14="http://schemas.microsoft.com/office/powerpoint/2010/main" val="238010451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788F9-4CC8-ADF1-5A57-F9135AE95565}"/>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A3A6AF52-0D72-B39B-BEA1-E152FF99C684}"/>
              </a:ext>
            </a:extLst>
          </p:cNvPr>
          <p:cNvSpPr txBox="1"/>
          <p:nvPr/>
        </p:nvSpPr>
        <p:spPr>
          <a:xfrm>
            <a:off x="1769918" y="2951947"/>
            <a:ext cx="5604165" cy="954107"/>
          </a:xfrm>
          <a:prstGeom prst="rect">
            <a:avLst/>
          </a:prstGeom>
          <a:noFill/>
        </p:spPr>
        <p:txBody>
          <a:bodyPr wrap="square" rtlCol="0">
            <a:spAutoFit/>
          </a:bodyPr>
          <a:lstStyle/>
          <a:p>
            <a:pPr algn="ctr"/>
            <a:r>
              <a:rPr lang="en-US" sz="2800" dirty="0">
                <a:latin typeface="Grotesque Light" panose="020B0304020202020204" pitchFamily="34" charset="0"/>
              </a:rPr>
              <a:t>Case Studies:</a:t>
            </a:r>
          </a:p>
          <a:p>
            <a:pPr algn="ctr"/>
            <a:r>
              <a:rPr lang="en-US" sz="2800" dirty="0">
                <a:latin typeface="Grotesque Light" panose="020B0304020202020204" pitchFamily="34" charset="0"/>
              </a:rPr>
              <a:t>Private Markets Modelling</a:t>
            </a:r>
          </a:p>
        </p:txBody>
      </p:sp>
    </p:spTree>
    <p:extLst>
      <p:ext uri="{BB962C8B-B14F-4D97-AF65-F5344CB8AC3E}">
        <p14:creationId xmlns:p14="http://schemas.microsoft.com/office/powerpoint/2010/main" val="10836069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17F44-B395-D4EE-768D-36FDA1494E97}"/>
            </a:ext>
          </a:extLst>
        </p:cNvPr>
        <p:cNvGrpSpPr/>
        <p:nvPr/>
      </p:nvGrpSpPr>
      <p:grpSpPr>
        <a:xfrm>
          <a:off x="0" y="0"/>
          <a:ext cx="0" cy="0"/>
          <a:chOff x="0" y="0"/>
          <a:chExt cx="0" cy="0"/>
        </a:xfrm>
      </p:grpSpPr>
      <p:graphicFrame>
        <p:nvGraphicFramePr>
          <p:cNvPr id="3" name="Chart 2">
            <a:extLst>
              <a:ext uri="{FF2B5EF4-FFF2-40B4-BE49-F238E27FC236}">
                <a16:creationId xmlns:a16="http://schemas.microsoft.com/office/drawing/2014/main" id="{99283BCA-84CB-7B43-AF58-7E37DB1081F0}"/>
              </a:ext>
            </a:extLst>
          </p:cNvPr>
          <p:cNvGraphicFramePr>
            <a:graphicFrameLocks/>
          </p:cNvGraphicFramePr>
          <p:nvPr>
            <p:extLst>
              <p:ext uri="{D42A27DB-BD31-4B8C-83A1-F6EECF244321}">
                <p14:modId xmlns:p14="http://schemas.microsoft.com/office/powerpoint/2010/main" val="4090352354"/>
              </p:ext>
            </p:extLst>
          </p:nvPr>
        </p:nvGraphicFramePr>
        <p:xfrm>
          <a:off x="302495" y="1553496"/>
          <a:ext cx="8221396" cy="2127606"/>
        </p:xfrm>
        <a:graphic>
          <a:graphicData uri="http://schemas.openxmlformats.org/drawingml/2006/chart">
            <c:chart xmlns:c="http://schemas.openxmlformats.org/drawingml/2006/chart" xmlns:r="http://schemas.openxmlformats.org/officeDocument/2006/relationships" r:id="rId2"/>
          </a:graphicData>
        </a:graphic>
      </p:graphicFrame>
      <p:sp>
        <p:nvSpPr>
          <p:cNvPr id="2" name="TextBox 1">
            <a:extLst>
              <a:ext uri="{FF2B5EF4-FFF2-40B4-BE49-F238E27FC236}">
                <a16:creationId xmlns:a16="http://schemas.microsoft.com/office/drawing/2014/main" id="{471C96F4-BE6E-9371-8FAD-B570424C7FD0}"/>
              </a:ext>
            </a:extLst>
          </p:cNvPr>
          <p:cNvSpPr txBox="1"/>
          <p:nvPr/>
        </p:nvSpPr>
        <p:spPr>
          <a:xfrm>
            <a:off x="340434" y="1006261"/>
            <a:ext cx="8463133"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NAV Exposure for Single Vintage Buyout Fund</a:t>
            </a:r>
          </a:p>
        </p:txBody>
      </p:sp>
      <p:graphicFrame>
        <p:nvGraphicFramePr>
          <p:cNvPr id="6" name="Chart 5">
            <a:extLst>
              <a:ext uri="{FF2B5EF4-FFF2-40B4-BE49-F238E27FC236}">
                <a16:creationId xmlns:a16="http://schemas.microsoft.com/office/drawing/2014/main" id="{0AA11C38-4160-19DC-F65E-77798B394754}"/>
              </a:ext>
            </a:extLst>
          </p:cNvPr>
          <p:cNvGraphicFramePr>
            <a:graphicFrameLocks/>
          </p:cNvGraphicFramePr>
          <p:nvPr>
            <p:extLst>
              <p:ext uri="{D42A27DB-BD31-4B8C-83A1-F6EECF244321}">
                <p14:modId xmlns:p14="http://schemas.microsoft.com/office/powerpoint/2010/main" val="2196378087"/>
              </p:ext>
            </p:extLst>
          </p:nvPr>
        </p:nvGraphicFramePr>
        <p:xfrm>
          <a:off x="544280" y="4159045"/>
          <a:ext cx="8297223" cy="2241748"/>
        </p:xfrm>
        <a:graphic>
          <a:graphicData uri="http://schemas.openxmlformats.org/drawingml/2006/chart">
            <c:chart xmlns:c="http://schemas.openxmlformats.org/drawingml/2006/chart" xmlns:r="http://schemas.openxmlformats.org/officeDocument/2006/relationships" r:id="rId3"/>
          </a:graphicData>
        </a:graphic>
      </p:graphicFrame>
      <p:cxnSp>
        <p:nvCxnSpPr>
          <p:cNvPr id="7" name="Straight Connector 6">
            <a:extLst>
              <a:ext uri="{FF2B5EF4-FFF2-40B4-BE49-F238E27FC236}">
                <a16:creationId xmlns:a16="http://schemas.microsoft.com/office/drawing/2014/main" id="{BCE9AAD7-191C-FDA9-61C6-3CFE76EF2C7E}"/>
              </a:ext>
            </a:extLst>
          </p:cNvPr>
          <p:cNvCxnSpPr/>
          <p:nvPr/>
        </p:nvCxnSpPr>
        <p:spPr>
          <a:xfrm>
            <a:off x="302495" y="6500036"/>
            <a:ext cx="8539009" cy="0"/>
          </a:xfrm>
          <a:prstGeom prst="line">
            <a:avLst/>
          </a:prstGeom>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56131320-D4C1-4ECA-66FC-6B5A0E35A7EA}"/>
              </a:ext>
            </a:extLst>
          </p:cNvPr>
          <p:cNvSpPr txBox="1"/>
          <p:nvPr/>
        </p:nvSpPr>
        <p:spPr>
          <a:xfrm>
            <a:off x="6358759" y="2000657"/>
            <a:ext cx="2175642" cy="707886"/>
          </a:xfrm>
          <a:prstGeom prst="rect">
            <a:avLst/>
          </a:prstGeom>
          <a:noFill/>
          <a:ln w="6350">
            <a:solidFill>
              <a:schemeClr val="bg1">
                <a:lumMod val="75000"/>
              </a:schemeClr>
            </a:solidFill>
          </a:ln>
        </p:spPr>
        <p:txBody>
          <a:bodyPr wrap="square" rtlCol="0">
            <a:spAutoFit/>
          </a:bodyPr>
          <a:lstStyle/>
          <a:p>
            <a:pPr algn="ctr"/>
            <a:r>
              <a:rPr lang="en-US" sz="1000" b="1" dirty="0">
                <a:latin typeface="Aptos Light" panose="020B0004020202020204" pitchFamily="34" charset="0"/>
                <a:cs typeface="Calibri Light" panose="020F0302020204030204" pitchFamily="34" charset="0"/>
              </a:rPr>
              <a:t>LATER YEARS</a:t>
            </a:r>
            <a:r>
              <a:rPr lang="en-US" sz="1000" dirty="0">
                <a:latin typeface="Aptos Light" panose="020B0004020202020204" pitchFamily="34" charset="0"/>
                <a:cs typeface="Calibri Light" panose="020F0302020204030204" pitchFamily="34" charset="0"/>
              </a:rPr>
              <a:t>: Portfolio size declines as investments continue to be harvested and cash is returned to investors; fund life ends.</a:t>
            </a:r>
            <a:endParaRPr lang="en-GB" sz="1000" dirty="0">
              <a:latin typeface="Aptos Light" panose="020B0004020202020204" pitchFamily="34" charset="0"/>
            </a:endParaRPr>
          </a:p>
        </p:txBody>
      </p:sp>
      <p:sp>
        <p:nvSpPr>
          <p:cNvPr id="10" name="TextBox 9">
            <a:extLst>
              <a:ext uri="{FF2B5EF4-FFF2-40B4-BE49-F238E27FC236}">
                <a16:creationId xmlns:a16="http://schemas.microsoft.com/office/drawing/2014/main" id="{C53827A4-5970-CB6D-6741-56F9B9984277}"/>
              </a:ext>
            </a:extLst>
          </p:cNvPr>
          <p:cNvSpPr txBox="1"/>
          <p:nvPr/>
        </p:nvSpPr>
        <p:spPr>
          <a:xfrm>
            <a:off x="336329" y="564324"/>
            <a:ext cx="7747376" cy="276999"/>
          </a:xfrm>
          <a:prstGeom prst="rect">
            <a:avLst/>
          </a:prstGeom>
          <a:noFill/>
        </p:spPr>
        <p:txBody>
          <a:bodyPr wrap="square" rtlCol="0">
            <a:spAutoFit/>
          </a:bodyPr>
          <a:lstStyle/>
          <a:p>
            <a:r>
              <a:rPr lang="en-US" sz="1200" dirty="0">
                <a:solidFill>
                  <a:schemeClr val="tx1">
                    <a:lumMod val="85000"/>
                    <a:lumOff val="15000"/>
                  </a:schemeClr>
                </a:solidFill>
                <a:latin typeface="Grotesque Light" panose="020B0304020202020204" pitchFamily="34" charset="0"/>
              </a:rPr>
              <a:t>The Shape and Life-Cycle of Private Market Funds</a:t>
            </a:r>
          </a:p>
        </p:txBody>
      </p:sp>
      <p:sp>
        <p:nvSpPr>
          <p:cNvPr id="12" name="TextBox 11">
            <a:extLst>
              <a:ext uri="{FF2B5EF4-FFF2-40B4-BE49-F238E27FC236}">
                <a16:creationId xmlns:a16="http://schemas.microsoft.com/office/drawing/2014/main" id="{829B9B2E-664F-9420-37FA-FB320E1E59CE}"/>
              </a:ext>
            </a:extLst>
          </p:cNvPr>
          <p:cNvSpPr txBox="1"/>
          <p:nvPr/>
        </p:nvSpPr>
        <p:spPr>
          <a:xfrm>
            <a:off x="911250" y="1549238"/>
            <a:ext cx="1343322" cy="707886"/>
          </a:xfrm>
          <a:prstGeom prst="rect">
            <a:avLst/>
          </a:prstGeom>
          <a:noFill/>
          <a:ln w="6350">
            <a:solidFill>
              <a:schemeClr val="bg1">
                <a:lumMod val="75000"/>
              </a:schemeClr>
            </a:solidFill>
          </a:ln>
        </p:spPr>
        <p:txBody>
          <a:bodyPr wrap="square" rtlCol="0">
            <a:spAutoFit/>
          </a:bodyPr>
          <a:lstStyle/>
          <a:p>
            <a:pPr algn="ctr"/>
            <a:r>
              <a:rPr lang="en-GB" sz="1000" b="1" dirty="0">
                <a:latin typeface="Aptos Light" panose="020B0004020202020204" pitchFamily="34" charset="0"/>
              </a:rPr>
              <a:t>EARLY YEARS</a:t>
            </a:r>
            <a:r>
              <a:rPr lang="en-GB" sz="1000" dirty="0">
                <a:latin typeface="Aptos Light" panose="020B0004020202020204" pitchFamily="34" charset="0"/>
              </a:rPr>
              <a:t>: Committed capital is called as GPs make investment.</a:t>
            </a:r>
          </a:p>
        </p:txBody>
      </p:sp>
      <p:sp>
        <p:nvSpPr>
          <p:cNvPr id="13" name="TextBox 12">
            <a:extLst>
              <a:ext uri="{FF2B5EF4-FFF2-40B4-BE49-F238E27FC236}">
                <a16:creationId xmlns:a16="http://schemas.microsoft.com/office/drawing/2014/main" id="{0EF0A1DA-C2D5-047F-2D25-192FE02A415F}"/>
              </a:ext>
            </a:extLst>
          </p:cNvPr>
          <p:cNvSpPr txBox="1"/>
          <p:nvPr/>
        </p:nvSpPr>
        <p:spPr>
          <a:xfrm>
            <a:off x="2863327" y="1431063"/>
            <a:ext cx="3484922" cy="400110"/>
          </a:xfrm>
          <a:prstGeom prst="rect">
            <a:avLst/>
          </a:prstGeom>
          <a:noFill/>
          <a:ln w="6350">
            <a:solidFill>
              <a:schemeClr val="bg1">
                <a:lumMod val="75000"/>
              </a:schemeClr>
            </a:solidFill>
          </a:ln>
        </p:spPr>
        <p:txBody>
          <a:bodyPr wrap="square" rtlCol="0">
            <a:spAutoFit/>
          </a:bodyPr>
          <a:lstStyle/>
          <a:p>
            <a:pPr algn="ctr"/>
            <a:r>
              <a:rPr lang="en-GB" sz="1000" b="1" dirty="0">
                <a:latin typeface="Aptos Light" panose="020B0004020202020204" pitchFamily="34" charset="0"/>
              </a:rPr>
              <a:t>MIDDLE YEARS</a:t>
            </a:r>
            <a:r>
              <a:rPr lang="en-GB" sz="1000" dirty="0">
                <a:latin typeface="Aptos Light" panose="020B0004020202020204" pitchFamily="34" charset="0"/>
              </a:rPr>
              <a:t>: Investment period ends with NAVs typically peaking. Committed capital has mostly been returned</a:t>
            </a:r>
          </a:p>
        </p:txBody>
      </p:sp>
      <p:sp>
        <p:nvSpPr>
          <p:cNvPr id="14" name="TextBox 13">
            <a:extLst>
              <a:ext uri="{FF2B5EF4-FFF2-40B4-BE49-F238E27FC236}">
                <a16:creationId xmlns:a16="http://schemas.microsoft.com/office/drawing/2014/main" id="{B1BA6A6A-B954-FEF3-C8CC-B119C949D92F}"/>
              </a:ext>
            </a:extLst>
          </p:cNvPr>
          <p:cNvSpPr txBox="1"/>
          <p:nvPr/>
        </p:nvSpPr>
        <p:spPr>
          <a:xfrm>
            <a:off x="336329" y="3727413"/>
            <a:ext cx="8463133"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Cash-Flow Profile for Single Vintage Buyout Fund</a:t>
            </a:r>
          </a:p>
        </p:txBody>
      </p:sp>
      <p:sp>
        <p:nvSpPr>
          <p:cNvPr id="15" name="TextBox 14">
            <a:extLst>
              <a:ext uri="{FF2B5EF4-FFF2-40B4-BE49-F238E27FC236}">
                <a16:creationId xmlns:a16="http://schemas.microsoft.com/office/drawing/2014/main" id="{76B881FA-B777-5BF7-3B7D-DFFAFC113984}"/>
              </a:ext>
            </a:extLst>
          </p:cNvPr>
          <p:cNvSpPr txBox="1"/>
          <p:nvPr/>
        </p:nvSpPr>
        <p:spPr>
          <a:xfrm>
            <a:off x="336329" y="239654"/>
            <a:ext cx="7747376" cy="400110"/>
          </a:xfrm>
          <a:prstGeom prst="rect">
            <a:avLst/>
          </a:prstGeom>
          <a:noFill/>
        </p:spPr>
        <p:txBody>
          <a:bodyPr wrap="square" rtlCol="0">
            <a:spAutoFit/>
          </a:bodyPr>
          <a:lstStyle/>
          <a:p>
            <a:r>
              <a:rPr lang="en-US" sz="2000" dirty="0">
                <a:latin typeface="Grotesque Light" panose="020B0304020202020204" pitchFamily="34" charset="0"/>
              </a:rPr>
              <a:t>Private Markets Modelling</a:t>
            </a:r>
          </a:p>
        </p:txBody>
      </p:sp>
      <p:sp>
        <p:nvSpPr>
          <p:cNvPr id="4" name="TextBox 3">
            <a:extLst>
              <a:ext uri="{FF2B5EF4-FFF2-40B4-BE49-F238E27FC236}">
                <a16:creationId xmlns:a16="http://schemas.microsoft.com/office/drawing/2014/main" id="{53D3AB58-64A7-F98A-9878-530DEC2441B8}"/>
              </a:ext>
            </a:extLst>
          </p:cNvPr>
          <p:cNvSpPr txBox="1"/>
          <p:nvPr/>
        </p:nvSpPr>
        <p:spPr>
          <a:xfrm>
            <a:off x="236860" y="6549437"/>
            <a:ext cx="8596470" cy="230832"/>
          </a:xfrm>
          <a:prstGeom prst="rect">
            <a:avLst/>
          </a:prstGeom>
          <a:noFill/>
        </p:spPr>
        <p:txBody>
          <a:bodyPr wrap="square" rtlCol="0">
            <a:spAutoFit/>
          </a:bodyPr>
          <a:lstStyle/>
          <a:p>
            <a:r>
              <a:rPr lang="en-US" sz="900" dirty="0">
                <a:latin typeface="Grotesque" panose="020B0504020202020204" pitchFamily="34" charset="0"/>
              </a:rPr>
              <a:t>Cash-flow assumptions taken from </a:t>
            </a:r>
            <a:r>
              <a:rPr lang="en-GB" sz="900" dirty="0">
                <a:latin typeface="Grotesque" panose="020B0504020202020204" pitchFamily="34" charset="0"/>
              </a:rPr>
              <a:t>Takahashi and Alexander, 2001</a:t>
            </a:r>
            <a:endParaRPr lang="en-US" sz="900" dirty="0">
              <a:latin typeface="Grotesque" panose="020B0504020202020204" pitchFamily="34" charset="0"/>
            </a:endParaRPr>
          </a:p>
        </p:txBody>
      </p:sp>
    </p:spTree>
    <p:extLst>
      <p:ext uri="{BB962C8B-B14F-4D97-AF65-F5344CB8AC3E}">
        <p14:creationId xmlns:p14="http://schemas.microsoft.com/office/powerpoint/2010/main" val="8045896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860BE-C745-890C-3721-75F56A5BDE82}"/>
            </a:ext>
          </a:extLst>
        </p:cNvPr>
        <p:cNvGrpSpPr/>
        <p:nvPr/>
      </p:nvGrpSpPr>
      <p:grpSpPr>
        <a:xfrm>
          <a:off x="0" y="0"/>
          <a:ext cx="0" cy="0"/>
          <a:chOff x="0" y="0"/>
          <a:chExt cx="0" cy="0"/>
        </a:xfrm>
      </p:grpSpPr>
      <p:graphicFrame>
        <p:nvGraphicFramePr>
          <p:cNvPr id="3" name="Chart 2">
            <a:extLst>
              <a:ext uri="{FF2B5EF4-FFF2-40B4-BE49-F238E27FC236}">
                <a16:creationId xmlns:a16="http://schemas.microsoft.com/office/drawing/2014/main" id="{AAA702E8-F294-A8A2-6F03-B4839EAD35AD}"/>
              </a:ext>
            </a:extLst>
          </p:cNvPr>
          <p:cNvGraphicFramePr>
            <a:graphicFrameLocks/>
          </p:cNvGraphicFramePr>
          <p:nvPr>
            <p:extLst>
              <p:ext uri="{D42A27DB-BD31-4B8C-83A1-F6EECF244321}">
                <p14:modId xmlns:p14="http://schemas.microsoft.com/office/powerpoint/2010/main" val="2295593368"/>
              </p:ext>
            </p:extLst>
          </p:nvPr>
        </p:nvGraphicFramePr>
        <p:xfrm>
          <a:off x="4803935" y="1617107"/>
          <a:ext cx="3890335" cy="3528634"/>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6" name="Object 15">
            <a:extLst>
              <a:ext uri="{FF2B5EF4-FFF2-40B4-BE49-F238E27FC236}">
                <a16:creationId xmlns:a16="http://schemas.microsoft.com/office/drawing/2014/main" id="{EE371205-47AA-FF96-DF41-FBEE44EFDC27}"/>
              </a:ext>
            </a:extLst>
          </p:cNvPr>
          <p:cNvGraphicFramePr>
            <a:graphicFrameLocks noChangeAspect="1"/>
          </p:cNvGraphicFramePr>
          <p:nvPr>
            <p:extLst>
              <p:ext uri="{D42A27DB-BD31-4B8C-83A1-F6EECF244321}">
                <p14:modId xmlns:p14="http://schemas.microsoft.com/office/powerpoint/2010/main" val="3692882966"/>
              </p:ext>
            </p:extLst>
          </p:nvPr>
        </p:nvGraphicFramePr>
        <p:xfrm>
          <a:off x="483252" y="1657836"/>
          <a:ext cx="3577560" cy="3202666"/>
        </p:xfrm>
        <a:graphic>
          <a:graphicData uri="http://schemas.openxmlformats.org/presentationml/2006/ole">
            <mc:AlternateContent xmlns:mc="http://schemas.openxmlformats.org/markup-compatibility/2006">
              <mc:Choice xmlns:v="urn:schemas-microsoft-com:vml" Requires="v">
                <p:oleObj name="Worksheet" r:id="rId3" imgW="4241800" imgH="3797300" progId="Excel.Sheet.12">
                  <p:embed/>
                </p:oleObj>
              </mc:Choice>
              <mc:Fallback>
                <p:oleObj name="Worksheet" r:id="rId3" imgW="4241800" imgH="3797300" progId="Excel.Sheet.12">
                  <p:embed/>
                  <p:pic>
                    <p:nvPicPr>
                      <p:cNvPr id="0" name=""/>
                      <p:cNvPicPr/>
                      <p:nvPr/>
                    </p:nvPicPr>
                    <p:blipFill>
                      <a:blip r:embed="rId4"/>
                      <a:stretch>
                        <a:fillRect/>
                      </a:stretch>
                    </p:blipFill>
                    <p:spPr>
                      <a:xfrm>
                        <a:off x="483252" y="1657836"/>
                        <a:ext cx="3577560" cy="3202666"/>
                      </a:xfrm>
                      <a:prstGeom prst="rect">
                        <a:avLst/>
                      </a:prstGeom>
                    </p:spPr>
                  </p:pic>
                </p:oleObj>
              </mc:Fallback>
            </mc:AlternateContent>
          </a:graphicData>
        </a:graphic>
      </p:graphicFrame>
      <p:sp>
        <p:nvSpPr>
          <p:cNvPr id="4" name="TextBox 3">
            <a:extLst>
              <a:ext uri="{FF2B5EF4-FFF2-40B4-BE49-F238E27FC236}">
                <a16:creationId xmlns:a16="http://schemas.microsoft.com/office/drawing/2014/main" id="{3ACF984A-18F6-23C0-49B4-4327DF5AA38D}"/>
              </a:ext>
            </a:extLst>
          </p:cNvPr>
          <p:cNvSpPr txBox="1"/>
          <p:nvPr/>
        </p:nvSpPr>
        <p:spPr>
          <a:xfrm>
            <a:off x="366292" y="305777"/>
            <a:ext cx="7747376" cy="400110"/>
          </a:xfrm>
          <a:prstGeom prst="rect">
            <a:avLst/>
          </a:prstGeom>
          <a:noFill/>
        </p:spPr>
        <p:txBody>
          <a:bodyPr wrap="square" rtlCol="0">
            <a:spAutoFit/>
          </a:bodyPr>
          <a:lstStyle/>
          <a:p>
            <a:r>
              <a:rPr lang="en-US" sz="2000" dirty="0">
                <a:latin typeface="Grotesque Light" panose="020B0304020202020204" pitchFamily="34" charset="0"/>
              </a:rPr>
              <a:t>Private Markets Modelling</a:t>
            </a:r>
          </a:p>
        </p:txBody>
      </p:sp>
      <p:cxnSp>
        <p:nvCxnSpPr>
          <p:cNvPr id="7" name="Straight Connector 6">
            <a:extLst>
              <a:ext uri="{FF2B5EF4-FFF2-40B4-BE49-F238E27FC236}">
                <a16:creationId xmlns:a16="http://schemas.microsoft.com/office/drawing/2014/main" id="{15FF5BA0-3D34-56E2-04E6-7A25B0466311}"/>
              </a:ext>
            </a:extLst>
          </p:cNvPr>
          <p:cNvCxnSpPr/>
          <p:nvPr/>
        </p:nvCxnSpPr>
        <p:spPr>
          <a:xfrm>
            <a:off x="302495" y="6500036"/>
            <a:ext cx="8539009" cy="0"/>
          </a:xfrm>
          <a:prstGeom prst="line">
            <a:avLst/>
          </a:prstGeom>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42AFE11F-E08B-37D8-DD0A-037EB0399A69}"/>
              </a:ext>
            </a:extLst>
          </p:cNvPr>
          <p:cNvSpPr txBox="1"/>
          <p:nvPr/>
        </p:nvSpPr>
        <p:spPr>
          <a:xfrm>
            <a:off x="313128" y="1246646"/>
            <a:ext cx="4110018"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Sample Portfolios with One-Time Private Commitment</a:t>
            </a:r>
          </a:p>
        </p:txBody>
      </p:sp>
      <p:sp>
        <p:nvSpPr>
          <p:cNvPr id="12" name="Rectangle 11">
            <a:extLst>
              <a:ext uri="{FF2B5EF4-FFF2-40B4-BE49-F238E27FC236}">
                <a16:creationId xmlns:a16="http://schemas.microsoft.com/office/drawing/2014/main" id="{5A2E033A-44E6-A557-C8E4-25765DFC1A93}"/>
              </a:ext>
            </a:extLst>
          </p:cNvPr>
          <p:cNvSpPr/>
          <p:nvPr/>
        </p:nvSpPr>
        <p:spPr>
          <a:xfrm>
            <a:off x="3264497" y="3912788"/>
            <a:ext cx="785984" cy="968980"/>
          </a:xfrm>
          <a:prstGeom prst="rect">
            <a:avLst/>
          </a:prstGeom>
          <a:noFill/>
          <a:ln w="190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DA8AE49-E9C9-CAD9-9F4E-F26F2E682521}"/>
              </a:ext>
            </a:extLst>
          </p:cNvPr>
          <p:cNvSpPr txBox="1"/>
          <p:nvPr/>
        </p:nvSpPr>
        <p:spPr>
          <a:xfrm>
            <a:off x="366292" y="631139"/>
            <a:ext cx="7747376" cy="276999"/>
          </a:xfrm>
          <a:prstGeom prst="rect">
            <a:avLst/>
          </a:prstGeom>
          <a:noFill/>
        </p:spPr>
        <p:txBody>
          <a:bodyPr wrap="square" rtlCol="0">
            <a:spAutoFit/>
          </a:bodyPr>
          <a:lstStyle/>
          <a:p>
            <a:r>
              <a:rPr lang="en-US" sz="1200" dirty="0">
                <a:solidFill>
                  <a:schemeClr val="tx1">
                    <a:lumMod val="85000"/>
                    <a:lumOff val="15000"/>
                  </a:schemeClr>
                </a:solidFill>
                <a:latin typeface="Grotesque Light" panose="020B0304020202020204" pitchFamily="34" charset="0"/>
              </a:rPr>
              <a:t>Example of One-time Commitments</a:t>
            </a:r>
          </a:p>
        </p:txBody>
      </p:sp>
      <p:sp>
        <p:nvSpPr>
          <p:cNvPr id="17" name="TextBox 16">
            <a:extLst>
              <a:ext uri="{FF2B5EF4-FFF2-40B4-BE49-F238E27FC236}">
                <a16:creationId xmlns:a16="http://schemas.microsoft.com/office/drawing/2014/main" id="{5B547A61-4909-3A28-ABD1-015EAC6B03C5}"/>
              </a:ext>
            </a:extLst>
          </p:cNvPr>
          <p:cNvSpPr txBox="1"/>
          <p:nvPr/>
        </p:nvSpPr>
        <p:spPr>
          <a:xfrm>
            <a:off x="4731488" y="1246646"/>
            <a:ext cx="4110015"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Projected Cash-Flow Profile for Buyout &amp; Credit Commitment</a:t>
            </a:r>
          </a:p>
        </p:txBody>
      </p:sp>
      <p:sp>
        <p:nvSpPr>
          <p:cNvPr id="26" name="TextBox 25">
            <a:extLst>
              <a:ext uri="{FF2B5EF4-FFF2-40B4-BE49-F238E27FC236}">
                <a16:creationId xmlns:a16="http://schemas.microsoft.com/office/drawing/2014/main" id="{279C995D-9081-AC8E-B2B3-A1298871D77D}"/>
              </a:ext>
            </a:extLst>
          </p:cNvPr>
          <p:cNvSpPr txBox="1"/>
          <p:nvPr/>
        </p:nvSpPr>
        <p:spPr>
          <a:xfrm>
            <a:off x="397933" y="5604292"/>
            <a:ext cx="8314267" cy="600164"/>
          </a:xfrm>
          <a:prstGeom prst="rect">
            <a:avLst/>
          </a:prstGeom>
          <a:solidFill>
            <a:schemeClr val="bg1"/>
          </a:solidFill>
          <a:ln w="6350">
            <a:solidFill>
              <a:schemeClr val="bg1">
                <a:lumMod val="75000"/>
              </a:schemeClr>
            </a:solidFill>
          </a:ln>
        </p:spPr>
        <p:txBody>
          <a:bodyPr wrap="square" rtlCol="0">
            <a:spAutoFit/>
          </a:bodyPr>
          <a:lstStyle>
            <a:defPPr>
              <a:defRPr lang="en-US"/>
            </a:defPPr>
            <a:lvl1pPr algn="ctr">
              <a:defRPr sz="1200">
                <a:latin typeface="Aptos Light" panose="020B0004020202020204" pitchFamily="34" charset="0"/>
              </a:defRPr>
            </a:lvl1pPr>
          </a:lstStyle>
          <a:p>
            <a:r>
              <a:rPr lang="en-GB" sz="1100" dirty="0"/>
              <a:t>Private markets investors should be mindful of the timing and impact of future cash flows, particularly in the early years when capital is being called. It is essential to maintain a sufficient buffer of stable, liquid assets to meet capital calls without disrupting the broader portfolio.</a:t>
            </a:r>
            <a:endParaRPr lang="en-US" sz="1100" dirty="0"/>
          </a:p>
        </p:txBody>
      </p:sp>
      <p:sp>
        <p:nvSpPr>
          <p:cNvPr id="27" name="Rectangle 26">
            <a:extLst>
              <a:ext uri="{FF2B5EF4-FFF2-40B4-BE49-F238E27FC236}">
                <a16:creationId xmlns:a16="http://schemas.microsoft.com/office/drawing/2014/main" id="{7F69A10A-A847-A340-38CD-107753BEE94C}"/>
              </a:ext>
            </a:extLst>
          </p:cNvPr>
          <p:cNvSpPr/>
          <p:nvPr/>
        </p:nvSpPr>
        <p:spPr>
          <a:xfrm>
            <a:off x="5156790" y="3429000"/>
            <a:ext cx="659218" cy="1355651"/>
          </a:xfrm>
          <a:prstGeom prst="rect">
            <a:avLst/>
          </a:prstGeom>
          <a:noFill/>
          <a:ln w="190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50FF0BA2-EEC4-ECF1-A952-79959FEF11BD}"/>
              </a:ext>
            </a:extLst>
          </p:cNvPr>
          <p:cNvSpPr txBox="1"/>
          <p:nvPr/>
        </p:nvSpPr>
        <p:spPr>
          <a:xfrm>
            <a:off x="5837274" y="3889876"/>
            <a:ext cx="1286540" cy="784830"/>
          </a:xfrm>
          <a:prstGeom prst="rect">
            <a:avLst/>
          </a:prstGeom>
          <a:solidFill>
            <a:schemeClr val="bg1"/>
          </a:solidFill>
        </p:spPr>
        <p:txBody>
          <a:bodyPr wrap="square" rtlCol="0">
            <a:spAutoFit/>
          </a:bodyPr>
          <a:lstStyle/>
          <a:p>
            <a:r>
              <a:rPr lang="en-US" sz="900" dirty="0">
                <a:solidFill>
                  <a:srgbClr val="C00000"/>
                </a:solidFill>
                <a:latin typeface="Aptos" panose="020B0004020202020204" pitchFamily="34" charset="0"/>
              </a:rPr>
              <a:t>Negative cash-flow in early years require funding, preferrable with stable, highly liquid assets</a:t>
            </a:r>
          </a:p>
        </p:txBody>
      </p:sp>
      <p:sp>
        <p:nvSpPr>
          <p:cNvPr id="2" name="TextBox 1">
            <a:extLst>
              <a:ext uri="{FF2B5EF4-FFF2-40B4-BE49-F238E27FC236}">
                <a16:creationId xmlns:a16="http://schemas.microsoft.com/office/drawing/2014/main" id="{697B8A23-C277-2380-BD90-EC3D1C19B2D7}"/>
              </a:ext>
            </a:extLst>
          </p:cNvPr>
          <p:cNvSpPr txBox="1"/>
          <p:nvPr/>
        </p:nvSpPr>
        <p:spPr>
          <a:xfrm>
            <a:off x="2323607" y="4897410"/>
            <a:ext cx="2155259" cy="369332"/>
          </a:xfrm>
          <a:prstGeom prst="rect">
            <a:avLst/>
          </a:prstGeom>
          <a:solidFill>
            <a:schemeClr val="bg1"/>
          </a:solidFill>
        </p:spPr>
        <p:txBody>
          <a:bodyPr wrap="square" rtlCol="0">
            <a:spAutoFit/>
          </a:bodyPr>
          <a:lstStyle/>
          <a:p>
            <a:r>
              <a:rPr lang="en-US" sz="900" dirty="0">
                <a:solidFill>
                  <a:srgbClr val="C00000"/>
                </a:solidFill>
                <a:latin typeface="Aptos" panose="020B0004020202020204" pitchFamily="34" charset="0"/>
              </a:rPr>
              <a:t>2x 50 single commitments to buyout and private credit funds</a:t>
            </a:r>
          </a:p>
        </p:txBody>
      </p:sp>
    </p:spTree>
    <p:extLst>
      <p:ext uri="{BB962C8B-B14F-4D97-AF65-F5344CB8AC3E}">
        <p14:creationId xmlns:p14="http://schemas.microsoft.com/office/powerpoint/2010/main" val="359186857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29EADB-44F0-B265-2290-8D376777C841}"/>
            </a:ext>
          </a:extLst>
        </p:cNvPr>
        <p:cNvGrpSpPr/>
        <p:nvPr/>
      </p:nvGrpSpPr>
      <p:grpSpPr>
        <a:xfrm>
          <a:off x="0" y="0"/>
          <a:ext cx="0" cy="0"/>
          <a:chOff x="0" y="0"/>
          <a:chExt cx="0" cy="0"/>
        </a:xfrm>
      </p:grpSpPr>
      <p:graphicFrame>
        <p:nvGraphicFramePr>
          <p:cNvPr id="3" name="Object 2">
            <a:extLst>
              <a:ext uri="{FF2B5EF4-FFF2-40B4-BE49-F238E27FC236}">
                <a16:creationId xmlns:a16="http://schemas.microsoft.com/office/drawing/2014/main" id="{278A07B9-DDED-43EC-72D6-08C1BA97B61D}"/>
              </a:ext>
            </a:extLst>
          </p:cNvPr>
          <p:cNvGraphicFramePr>
            <a:graphicFrameLocks noChangeAspect="1"/>
          </p:cNvGraphicFramePr>
          <p:nvPr>
            <p:extLst>
              <p:ext uri="{D42A27DB-BD31-4B8C-83A1-F6EECF244321}">
                <p14:modId xmlns:p14="http://schemas.microsoft.com/office/powerpoint/2010/main" val="1963138314"/>
              </p:ext>
            </p:extLst>
          </p:nvPr>
        </p:nvGraphicFramePr>
        <p:xfrm>
          <a:off x="447489" y="5094186"/>
          <a:ext cx="8249022" cy="1220168"/>
        </p:xfrm>
        <a:graphic>
          <a:graphicData uri="http://schemas.openxmlformats.org/presentationml/2006/ole">
            <mc:AlternateContent xmlns:mc="http://schemas.openxmlformats.org/markup-compatibility/2006">
              <mc:Choice xmlns:v="urn:schemas-microsoft-com:vml" Requires="v">
                <p:oleObj name="Worksheet" r:id="rId2" imgW="10642600" imgH="1574800" progId="Excel.Sheet.12">
                  <p:embed/>
                </p:oleObj>
              </mc:Choice>
              <mc:Fallback>
                <p:oleObj name="Worksheet" r:id="rId2" imgW="10642600" imgH="1574800" progId="Excel.Sheet.12">
                  <p:embed/>
                  <p:pic>
                    <p:nvPicPr>
                      <p:cNvPr id="0" name=""/>
                      <p:cNvPicPr/>
                      <p:nvPr/>
                    </p:nvPicPr>
                    <p:blipFill>
                      <a:blip r:embed="rId3"/>
                      <a:stretch>
                        <a:fillRect/>
                      </a:stretch>
                    </p:blipFill>
                    <p:spPr>
                      <a:xfrm>
                        <a:off x="447489" y="5094186"/>
                        <a:ext cx="8249022" cy="1220168"/>
                      </a:xfrm>
                      <a:prstGeom prst="rect">
                        <a:avLst/>
                      </a:prstGeom>
                    </p:spPr>
                  </p:pic>
                </p:oleObj>
              </mc:Fallback>
            </mc:AlternateContent>
          </a:graphicData>
        </a:graphic>
      </p:graphicFrame>
      <p:graphicFrame>
        <p:nvGraphicFramePr>
          <p:cNvPr id="5" name="Chart 4">
            <a:extLst>
              <a:ext uri="{FF2B5EF4-FFF2-40B4-BE49-F238E27FC236}">
                <a16:creationId xmlns:a16="http://schemas.microsoft.com/office/drawing/2014/main" id="{983E5404-DD8B-3986-AB7C-0E9B96B4244E}"/>
              </a:ext>
            </a:extLst>
          </p:cNvPr>
          <p:cNvGraphicFramePr>
            <a:graphicFrameLocks/>
          </p:cNvGraphicFramePr>
          <p:nvPr>
            <p:extLst>
              <p:ext uri="{D42A27DB-BD31-4B8C-83A1-F6EECF244321}">
                <p14:modId xmlns:p14="http://schemas.microsoft.com/office/powerpoint/2010/main" val="3896160981"/>
              </p:ext>
            </p:extLst>
          </p:nvPr>
        </p:nvGraphicFramePr>
        <p:xfrm>
          <a:off x="366293" y="1158964"/>
          <a:ext cx="8363038" cy="3902128"/>
        </p:xfrm>
        <a:graphic>
          <a:graphicData uri="http://schemas.openxmlformats.org/drawingml/2006/chart">
            <c:chart xmlns:c="http://schemas.openxmlformats.org/drawingml/2006/chart" xmlns:r="http://schemas.openxmlformats.org/officeDocument/2006/relationships" r:id="rId4"/>
          </a:graphicData>
        </a:graphic>
      </p:graphicFrame>
      <p:sp>
        <p:nvSpPr>
          <p:cNvPr id="4" name="TextBox 3">
            <a:extLst>
              <a:ext uri="{FF2B5EF4-FFF2-40B4-BE49-F238E27FC236}">
                <a16:creationId xmlns:a16="http://schemas.microsoft.com/office/drawing/2014/main" id="{C9D8548A-6881-71ED-C564-52392AE7A946}"/>
              </a:ext>
            </a:extLst>
          </p:cNvPr>
          <p:cNvSpPr txBox="1"/>
          <p:nvPr/>
        </p:nvSpPr>
        <p:spPr>
          <a:xfrm>
            <a:off x="366292" y="305777"/>
            <a:ext cx="7747376" cy="400110"/>
          </a:xfrm>
          <a:prstGeom prst="rect">
            <a:avLst/>
          </a:prstGeom>
          <a:noFill/>
        </p:spPr>
        <p:txBody>
          <a:bodyPr wrap="square" rtlCol="0">
            <a:spAutoFit/>
          </a:bodyPr>
          <a:lstStyle/>
          <a:p>
            <a:r>
              <a:rPr lang="en-US" sz="2000" dirty="0">
                <a:latin typeface="Grotesque Light" panose="020B0304020202020204" pitchFamily="34" charset="0"/>
              </a:rPr>
              <a:t>Private Markets Modelling</a:t>
            </a:r>
          </a:p>
        </p:txBody>
      </p:sp>
      <p:cxnSp>
        <p:nvCxnSpPr>
          <p:cNvPr id="7" name="Straight Connector 6">
            <a:extLst>
              <a:ext uri="{FF2B5EF4-FFF2-40B4-BE49-F238E27FC236}">
                <a16:creationId xmlns:a16="http://schemas.microsoft.com/office/drawing/2014/main" id="{3163712C-A7CF-36DD-2B3B-E7B66EFC7F66}"/>
              </a:ext>
            </a:extLst>
          </p:cNvPr>
          <p:cNvCxnSpPr/>
          <p:nvPr/>
        </p:nvCxnSpPr>
        <p:spPr>
          <a:xfrm>
            <a:off x="302495" y="6500036"/>
            <a:ext cx="8539009" cy="0"/>
          </a:xfrm>
          <a:prstGeom prst="line">
            <a:avLst/>
          </a:prstGeom>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2495BEE6-6A5C-0390-839C-A11161242C65}"/>
              </a:ext>
            </a:extLst>
          </p:cNvPr>
          <p:cNvSpPr txBox="1"/>
          <p:nvPr/>
        </p:nvSpPr>
        <p:spPr>
          <a:xfrm>
            <a:off x="313128" y="1033988"/>
            <a:ext cx="8528376"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Evolution of Market Values, Single Commitment Strategy</a:t>
            </a:r>
          </a:p>
        </p:txBody>
      </p:sp>
      <p:sp>
        <p:nvSpPr>
          <p:cNvPr id="15" name="TextBox 14">
            <a:extLst>
              <a:ext uri="{FF2B5EF4-FFF2-40B4-BE49-F238E27FC236}">
                <a16:creationId xmlns:a16="http://schemas.microsoft.com/office/drawing/2014/main" id="{289180B3-673C-1C8F-710B-6782BB59E643}"/>
              </a:ext>
            </a:extLst>
          </p:cNvPr>
          <p:cNvSpPr txBox="1"/>
          <p:nvPr/>
        </p:nvSpPr>
        <p:spPr>
          <a:xfrm>
            <a:off x="366292" y="631139"/>
            <a:ext cx="7747376" cy="307777"/>
          </a:xfrm>
          <a:prstGeom prst="rect">
            <a:avLst/>
          </a:prstGeom>
          <a:noFill/>
        </p:spPr>
        <p:txBody>
          <a:bodyPr wrap="square" rtlCol="0">
            <a:spAutoFit/>
          </a:bodyPr>
          <a:lstStyle/>
          <a:p>
            <a:r>
              <a:rPr lang="en-US" sz="1400" dirty="0">
                <a:solidFill>
                  <a:schemeClr val="tx1">
                    <a:lumMod val="85000"/>
                    <a:lumOff val="15000"/>
                  </a:schemeClr>
                </a:solidFill>
                <a:latin typeface="Grotesque Light" panose="020B0304020202020204" pitchFamily="34" charset="0"/>
              </a:rPr>
              <a:t>Example of One-time Commitments</a:t>
            </a:r>
          </a:p>
        </p:txBody>
      </p:sp>
      <p:sp>
        <p:nvSpPr>
          <p:cNvPr id="6" name="TextBox 5">
            <a:extLst>
              <a:ext uri="{FF2B5EF4-FFF2-40B4-BE49-F238E27FC236}">
                <a16:creationId xmlns:a16="http://schemas.microsoft.com/office/drawing/2014/main" id="{7A866E57-8AA2-9618-F690-24595E0740B9}"/>
              </a:ext>
            </a:extLst>
          </p:cNvPr>
          <p:cNvSpPr txBox="1"/>
          <p:nvPr/>
        </p:nvSpPr>
        <p:spPr>
          <a:xfrm>
            <a:off x="1105787" y="2197386"/>
            <a:ext cx="1637414" cy="1061829"/>
          </a:xfrm>
          <a:prstGeom prst="rect">
            <a:avLst/>
          </a:prstGeom>
          <a:solidFill>
            <a:schemeClr val="bg1"/>
          </a:solidFill>
        </p:spPr>
        <p:txBody>
          <a:bodyPr wrap="square" rtlCol="0">
            <a:spAutoFit/>
          </a:bodyPr>
          <a:lstStyle/>
          <a:p>
            <a:r>
              <a:rPr lang="en-GB" sz="1050" dirty="0">
                <a:solidFill>
                  <a:srgbClr val="C00000"/>
                </a:solidFill>
                <a:latin typeface="Aptos" panose="020B0004020202020204" pitchFamily="34" charset="0"/>
              </a:rPr>
              <a:t>In the early years, as capital is called and invested, exposure to private markets increases relative to liquid assets.</a:t>
            </a:r>
            <a:endParaRPr lang="en-US" sz="1050" dirty="0">
              <a:solidFill>
                <a:srgbClr val="C00000"/>
              </a:solidFill>
              <a:latin typeface="Aptos" panose="020B0004020202020204" pitchFamily="34" charset="0"/>
            </a:endParaRPr>
          </a:p>
        </p:txBody>
      </p:sp>
      <p:sp>
        <p:nvSpPr>
          <p:cNvPr id="8" name="Rectangle 7">
            <a:extLst>
              <a:ext uri="{FF2B5EF4-FFF2-40B4-BE49-F238E27FC236}">
                <a16:creationId xmlns:a16="http://schemas.microsoft.com/office/drawing/2014/main" id="{94CA036A-486E-E18E-9A09-CBF23460D28B}"/>
              </a:ext>
            </a:extLst>
          </p:cNvPr>
          <p:cNvSpPr/>
          <p:nvPr/>
        </p:nvSpPr>
        <p:spPr>
          <a:xfrm>
            <a:off x="1127051" y="3296095"/>
            <a:ext cx="1541721" cy="1552354"/>
          </a:xfrm>
          <a:prstGeom prst="rect">
            <a:avLst/>
          </a:prstGeom>
          <a:noFill/>
          <a:ln w="19050">
            <a:solidFill>
              <a:srgbClr val="C0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TextBox 18">
            <a:extLst>
              <a:ext uri="{FF2B5EF4-FFF2-40B4-BE49-F238E27FC236}">
                <a16:creationId xmlns:a16="http://schemas.microsoft.com/office/drawing/2014/main" id="{2E80625A-6E88-40CC-49E2-6A5B80A62323}"/>
              </a:ext>
            </a:extLst>
          </p:cNvPr>
          <p:cNvSpPr txBox="1"/>
          <p:nvPr/>
        </p:nvSpPr>
        <p:spPr>
          <a:xfrm>
            <a:off x="3506332" y="1856295"/>
            <a:ext cx="2894467" cy="577081"/>
          </a:xfrm>
          <a:prstGeom prst="rect">
            <a:avLst/>
          </a:prstGeom>
          <a:solidFill>
            <a:schemeClr val="bg1"/>
          </a:solidFill>
        </p:spPr>
        <p:txBody>
          <a:bodyPr wrap="square" rtlCol="0">
            <a:spAutoFit/>
          </a:bodyPr>
          <a:lstStyle/>
          <a:p>
            <a:r>
              <a:rPr lang="en-GB" sz="1050" dirty="0">
                <a:solidFill>
                  <a:srgbClr val="C00000"/>
                </a:solidFill>
                <a:latin typeface="Aptos" panose="020B0004020202020204" pitchFamily="34" charset="0"/>
              </a:rPr>
              <a:t>As the years progress, funds begin to distribute capital and reach maturity, leading to a reduction in exposure to private markets.</a:t>
            </a:r>
            <a:endParaRPr lang="en-US" sz="1050" dirty="0">
              <a:solidFill>
                <a:srgbClr val="C00000"/>
              </a:solidFill>
              <a:latin typeface="Aptos" panose="020B0004020202020204" pitchFamily="34" charset="0"/>
            </a:endParaRPr>
          </a:p>
        </p:txBody>
      </p:sp>
      <p:cxnSp>
        <p:nvCxnSpPr>
          <p:cNvPr id="21" name="Straight Arrow Connector 20">
            <a:extLst>
              <a:ext uri="{FF2B5EF4-FFF2-40B4-BE49-F238E27FC236}">
                <a16:creationId xmlns:a16="http://schemas.microsoft.com/office/drawing/2014/main" id="{4D6DD292-DAA9-698B-6EB5-3D960E66F2FE}"/>
              </a:ext>
            </a:extLst>
          </p:cNvPr>
          <p:cNvCxnSpPr>
            <a:cxnSpLocks/>
          </p:cNvCxnSpPr>
          <p:nvPr/>
        </p:nvCxnSpPr>
        <p:spPr>
          <a:xfrm flipH="1">
            <a:off x="3434316" y="2433376"/>
            <a:ext cx="1137683" cy="671333"/>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F1EAC27C-C65F-1FC9-D4E3-9619AB20EE4F}"/>
              </a:ext>
            </a:extLst>
          </p:cNvPr>
          <p:cNvCxnSpPr>
            <a:cxnSpLocks/>
          </p:cNvCxnSpPr>
          <p:nvPr/>
        </p:nvCxnSpPr>
        <p:spPr>
          <a:xfrm>
            <a:off x="4571999" y="2433376"/>
            <a:ext cx="478466" cy="335666"/>
          </a:xfrm>
          <a:prstGeom prst="straightConnector1">
            <a:avLst/>
          </a:prstGeom>
          <a:ln w="1270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31" name="Rectangle 30">
            <a:extLst>
              <a:ext uri="{FF2B5EF4-FFF2-40B4-BE49-F238E27FC236}">
                <a16:creationId xmlns:a16="http://schemas.microsoft.com/office/drawing/2014/main" id="{BD83348A-BC5B-DD1A-BBE0-FA660ABD8658}"/>
              </a:ext>
            </a:extLst>
          </p:cNvPr>
          <p:cNvSpPr/>
          <p:nvPr/>
        </p:nvSpPr>
        <p:spPr>
          <a:xfrm>
            <a:off x="3434315" y="5101987"/>
            <a:ext cx="1431967" cy="1225705"/>
          </a:xfrm>
          <a:prstGeom prst="rect">
            <a:avLst/>
          </a:prstGeom>
          <a:noFill/>
          <a:ln w="19050">
            <a:solidFill>
              <a:srgbClr val="C0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294064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E5325B-4BE7-7325-58C4-7C6DCC57617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608B927-2138-BC1A-B828-0E192AF598A8}"/>
              </a:ext>
            </a:extLst>
          </p:cNvPr>
          <p:cNvSpPr txBox="1"/>
          <p:nvPr/>
        </p:nvSpPr>
        <p:spPr>
          <a:xfrm>
            <a:off x="366292" y="305777"/>
            <a:ext cx="7747376" cy="400110"/>
          </a:xfrm>
          <a:prstGeom prst="rect">
            <a:avLst/>
          </a:prstGeom>
          <a:noFill/>
        </p:spPr>
        <p:txBody>
          <a:bodyPr wrap="square" rtlCol="0">
            <a:spAutoFit/>
          </a:bodyPr>
          <a:lstStyle/>
          <a:p>
            <a:r>
              <a:rPr lang="en-US" sz="2000" dirty="0">
                <a:latin typeface="Grotesque Light" panose="020B0304020202020204" pitchFamily="34" charset="0"/>
              </a:rPr>
              <a:t>Private Markets Modelling</a:t>
            </a:r>
          </a:p>
        </p:txBody>
      </p:sp>
      <p:cxnSp>
        <p:nvCxnSpPr>
          <p:cNvPr id="7" name="Straight Connector 6">
            <a:extLst>
              <a:ext uri="{FF2B5EF4-FFF2-40B4-BE49-F238E27FC236}">
                <a16:creationId xmlns:a16="http://schemas.microsoft.com/office/drawing/2014/main" id="{1C4CFF02-34B2-5C4A-174A-17B2BEC4A218}"/>
              </a:ext>
            </a:extLst>
          </p:cNvPr>
          <p:cNvCxnSpPr/>
          <p:nvPr/>
        </p:nvCxnSpPr>
        <p:spPr>
          <a:xfrm>
            <a:off x="302495" y="6531566"/>
            <a:ext cx="8539009" cy="0"/>
          </a:xfrm>
          <a:prstGeom prst="line">
            <a:avLst/>
          </a:prstGeom>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05F40E03-4342-0146-AAF5-74D6F57EF03D}"/>
              </a:ext>
            </a:extLst>
          </p:cNvPr>
          <p:cNvSpPr txBox="1"/>
          <p:nvPr/>
        </p:nvSpPr>
        <p:spPr>
          <a:xfrm>
            <a:off x="238697" y="2072315"/>
            <a:ext cx="4258872"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Current and Target Portfolio</a:t>
            </a:r>
          </a:p>
        </p:txBody>
      </p:sp>
      <p:sp>
        <p:nvSpPr>
          <p:cNvPr id="15" name="TextBox 14">
            <a:extLst>
              <a:ext uri="{FF2B5EF4-FFF2-40B4-BE49-F238E27FC236}">
                <a16:creationId xmlns:a16="http://schemas.microsoft.com/office/drawing/2014/main" id="{3C1D516E-C6B9-91AD-D240-FEA07BCC425A}"/>
              </a:ext>
            </a:extLst>
          </p:cNvPr>
          <p:cNvSpPr txBox="1"/>
          <p:nvPr/>
        </p:nvSpPr>
        <p:spPr>
          <a:xfrm>
            <a:off x="366292" y="631139"/>
            <a:ext cx="7747376" cy="307777"/>
          </a:xfrm>
          <a:prstGeom prst="rect">
            <a:avLst/>
          </a:prstGeom>
          <a:noFill/>
        </p:spPr>
        <p:txBody>
          <a:bodyPr wrap="square" rtlCol="0">
            <a:spAutoFit/>
          </a:bodyPr>
          <a:lstStyle/>
          <a:p>
            <a:r>
              <a:rPr lang="en-US" sz="1400" dirty="0">
                <a:solidFill>
                  <a:schemeClr val="tx1">
                    <a:lumMod val="85000"/>
                    <a:lumOff val="15000"/>
                  </a:schemeClr>
                </a:solidFill>
                <a:latin typeface="Grotesque Light" panose="020B0304020202020204" pitchFamily="34" charset="0"/>
              </a:rPr>
              <a:t>Target Allocation and Commitment Pacing</a:t>
            </a:r>
          </a:p>
        </p:txBody>
      </p:sp>
      <p:sp>
        <p:nvSpPr>
          <p:cNvPr id="2" name="TextBox 1">
            <a:extLst>
              <a:ext uri="{FF2B5EF4-FFF2-40B4-BE49-F238E27FC236}">
                <a16:creationId xmlns:a16="http://schemas.microsoft.com/office/drawing/2014/main" id="{67EA1255-701E-7AF5-B460-C1D8AC6C9D72}"/>
              </a:ext>
            </a:extLst>
          </p:cNvPr>
          <p:cNvSpPr txBox="1"/>
          <p:nvPr/>
        </p:nvSpPr>
        <p:spPr>
          <a:xfrm>
            <a:off x="4657063" y="2072315"/>
            <a:ext cx="4258872"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Required Annual Commitment Size</a:t>
            </a:r>
          </a:p>
        </p:txBody>
      </p:sp>
      <p:sp>
        <p:nvSpPr>
          <p:cNvPr id="3" name="TextBox 2">
            <a:extLst>
              <a:ext uri="{FF2B5EF4-FFF2-40B4-BE49-F238E27FC236}">
                <a16:creationId xmlns:a16="http://schemas.microsoft.com/office/drawing/2014/main" id="{E6290CC1-ECF3-FB58-433E-4D163CA2D72E}"/>
              </a:ext>
            </a:extLst>
          </p:cNvPr>
          <p:cNvSpPr txBox="1"/>
          <p:nvPr/>
        </p:nvSpPr>
        <p:spPr>
          <a:xfrm>
            <a:off x="238697" y="1348964"/>
            <a:ext cx="8677238" cy="461665"/>
          </a:xfrm>
          <a:prstGeom prst="rect">
            <a:avLst/>
          </a:prstGeom>
          <a:solidFill>
            <a:schemeClr val="bg1"/>
          </a:solidFill>
          <a:ln w="6350">
            <a:solidFill>
              <a:schemeClr val="bg1">
                <a:lumMod val="75000"/>
              </a:schemeClr>
            </a:solidFill>
          </a:ln>
        </p:spPr>
        <p:txBody>
          <a:bodyPr wrap="square" rtlCol="0">
            <a:spAutoFit/>
          </a:bodyPr>
          <a:lstStyle>
            <a:defPPr>
              <a:defRPr lang="en-US"/>
            </a:defPPr>
            <a:lvl1pPr algn="ctr">
              <a:defRPr sz="1050">
                <a:latin typeface="Aptos Light" panose="020B0004020202020204" pitchFamily="34" charset="0"/>
              </a:defRPr>
            </a:lvl1pPr>
          </a:lstStyle>
          <a:p>
            <a:r>
              <a:rPr lang="en-GB" sz="1200" dirty="0"/>
              <a:t>Investors targeting a fixed allocation to private markets require a disciplined and ongoing commitment strategy to both new and existing opportunities.</a:t>
            </a:r>
            <a:endParaRPr lang="en-US" sz="1200" dirty="0"/>
          </a:p>
        </p:txBody>
      </p:sp>
      <p:graphicFrame>
        <p:nvGraphicFramePr>
          <p:cNvPr id="5" name="Object 4">
            <a:extLst>
              <a:ext uri="{FF2B5EF4-FFF2-40B4-BE49-F238E27FC236}">
                <a16:creationId xmlns:a16="http://schemas.microsoft.com/office/drawing/2014/main" id="{348DB255-4771-7A9E-FCF9-A1C02A95B237}"/>
              </a:ext>
            </a:extLst>
          </p:cNvPr>
          <p:cNvGraphicFramePr>
            <a:graphicFrameLocks noChangeAspect="1"/>
          </p:cNvGraphicFramePr>
          <p:nvPr>
            <p:extLst>
              <p:ext uri="{D42A27DB-BD31-4B8C-83A1-F6EECF244321}">
                <p14:modId xmlns:p14="http://schemas.microsoft.com/office/powerpoint/2010/main" val="2413740299"/>
              </p:ext>
            </p:extLst>
          </p:nvPr>
        </p:nvGraphicFramePr>
        <p:xfrm>
          <a:off x="561501" y="2586682"/>
          <a:ext cx="3509387" cy="2991289"/>
        </p:xfrm>
        <a:graphic>
          <a:graphicData uri="http://schemas.openxmlformats.org/presentationml/2006/ole">
            <mc:AlternateContent xmlns:mc="http://schemas.openxmlformats.org/markup-compatibility/2006">
              <mc:Choice xmlns:v="urn:schemas-microsoft-com:vml" Requires="v">
                <p:oleObj name="Worksheet" r:id="rId2" imgW="4559300" imgH="3886200" progId="Excel.Sheet.12">
                  <p:embed/>
                </p:oleObj>
              </mc:Choice>
              <mc:Fallback>
                <p:oleObj name="Worksheet" r:id="rId2" imgW="4559300" imgH="3886200" progId="Excel.Sheet.12">
                  <p:embed/>
                  <p:pic>
                    <p:nvPicPr>
                      <p:cNvPr id="0" name=""/>
                      <p:cNvPicPr/>
                      <p:nvPr/>
                    </p:nvPicPr>
                    <p:blipFill>
                      <a:blip r:embed="rId3"/>
                      <a:stretch>
                        <a:fillRect/>
                      </a:stretch>
                    </p:blipFill>
                    <p:spPr>
                      <a:xfrm>
                        <a:off x="561501" y="2586682"/>
                        <a:ext cx="3509387" cy="2991289"/>
                      </a:xfrm>
                      <a:prstGeom prst="rect">
                        <a:avLst/>
                      </a:prstGeom>
                    </p:spPr>
                  </p:pic>
                </p:oleObj>
              </mc:Fallback>
            </mc:AlternateContent>
          </a:graphicData>
        </a:graphic>
      </p:graphicFrame>
      <p:graphicFrame>
        <p:nvGraphicFramePr>
          <p:cNvPr id="6" name="Chart 5">
            <a:extLst>
              <a:ext uri="{FF2B5EF4-FFF2-40B4-BE49-F238E27FC236}">
                <a16:creationId xmlns:a16="http://schemas.microsoft.com/office/drawing/2014/main" id="{4C9B6407-F542-9DE3-244A-0B6934EEA251}"/>
              </a:ext>
            </a:extLst>
          </p:cNvPr>
          <p:cNvGraphicFramePr>
            <a:graphicFrameLocks/>
          </p:cNvGraphicFramePr>
          <p:nvPr>
            <p:extLst>
              <p:ext uri="{D42A27DB-BD31-4B8C-83A1-F6EECF244321}">
                <p14:modId xmlns:p14="http://schemas.microsoft.com/office/powerpoint/2010/main" val="3177475685"/>
              </p:ext>
            </p:extLst>
          </p:nvPr>
        </p:nvGraphicFramePr>
        <p:xfrm>
          <a:off x="5397432" y="3058780"/>
          <a:ext cx="2832167" cy="3277062"/>
        </p:xfrm>
        <a:graphic>
          <a:graphicData uri="http://schemas.openxmlformats.org/drawingml/2006/chart">
            <c:chart xmlns:c="http://schemas.openxmlformats.org/drawingml/2006/chart" xmlns:r="http://schemas.openxmlformats.org/officeDocument/2006/relationships" r:id="rId4"/>
          </a:graphicData>
        </a:graphic>
      </p:graphicFrame>
      <p:sp>
        <p:nvSpPr>
          <p:cNvPr id="9" name="Oval 8">
            <a:extLst>
              <a:ext uri="{FF2B5EF4-FFF2-40B4-BE49-F238E27FC236}">
                <a16:creationId xmlns:a16="http://schemas.microsoft.com/office/drawing/2014/main" id="{85CDBD0B-B5E1-68BB-3942-B00BCFD33986}"/>
              </a:ext>
            </a:extLst>
          </p:cNvPr>
          <p:cNvSpPr/>
          <p:nvPr/>
        </p:nvSpPr>
        <p:spPr>
          <a:xfrm>
            <a:off x="6600494" y="3237182"/>
            <a:ext cx="399394" cy="294290"/>
          </a:xfrm>
          <a:prstGeom prst="ellipse">
            <a:avLst/>
          </a:prstGeom>
          <a:noFill/>
          <a:ln w="190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1D85D8D-68D3-6037-0970-9D80E7D46790}"/>
              </a:ext>
            </a:extLst>
          </p:cNvPr>
          <p:cNvSpPr txBox="1"/>
          <p:nvPr/>
        </p:nvSpPr>
        <p:spPr>
          <a:xfrm>
            <a:off x="4730636" y="2541510"/>
            <a:ext cx="2601060" cy="738664"/>
          </a:xfrm>
          <a:prstGeom prst="rect">
            <a:avLst/>
          </a:prstGeom>
          <a:noFill/>
        </p:spPr>
        <p:txBody>
          <a:bodyPr wrap="square">
            <a:spAutoFit/>
          </a:bodyPr>
          <a:lstStyle/>
          <a:p>
            <a:r>
              <a:rPr lang="en-GB" sz="1050" dirty="0">
                <a:solidFill>
                  <a:srgbClr val="C00000"/>
                </a:solidFill>
                <a:latin typeface="Aptos" panose="020B0004020202020204" pitchFamily="34" charset="0"/>
              </a:rPr>
              <a:t>To reach and maintain the 20% target allocation, an investor would need to make yearly commitments of 5.2% of the liquid portfolio value</a:t>
            </a:r>
            <a:endParaRPr lang="en-US" sz="1050" dirty="0">
              <a:solidFill>
                <a:srgbClr val="C00000"/>
              </a:solidFill>
              <a:latin typeface="Aptos" panose="020B0004020202020204" pitchFamily="34" charset="0"/>
            </a:endParaRPr>
          </a:p>
        </p:txBody>
      </p:sp>
    </p:spTree>
    <p:extLst>
      <p:ext uri="{BB962C8B-B14F-4D97-AF65-F5344CB8AC3E}">
        <p14:creationId xmlns:p14="http://schemas.microsoft.com/office/powerpoint/2010/main" val="31612446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5D2737-C086-1D40-C6B1-8F4A500ED674}"/>
            </a:ext>
          </a:extLst>
        </p:cNvPr>
        <p:cNvGrpSpPr/>
        <p:nvPr/>
      </p:nvGrpSpPr>
      <p:grpSpPr>
        <a:xfrm>
          <a:off x="0" y="0"/>
          <a:ext cx="0" cy="0"/>
          <a:chOff x="0" y="0"/>
          <a:chExt cx="0" cy="0"/>
        </a:xfrm>
      </p:grpSpPr>
      <p:graphicFrame>
        <p:nvGraphicFramePr>
          <p:cNvPr id="2" name="Chart 1">
            <a:extLst>
              <a:ext uri="{FF2B5EF4-FFF2-40B4-BE49-F238E27FC236}">
                <a16:creationId xmlns:a16="http://schemas.microsoft.com/office/drawing/2014/main" id="{D38E6E7E-28FD-414E-9F9A-5C021932B8FD}"/>
              </a:ext>
            </a:extLst>
          </p:cNvPr>
          <p:cNvGraphicFramePr>
            <a:graphicFrameLocks/>
          </p:cNvGraphicFramePr>
          <p:nvPr>
            <p:extLst>
              <p:ext uri="{D42A27DB-BD31-4B8C-83A1-F6EECF244321}">
                <p14:modId xmlns:p14="http://schemas.microsoft.com/office/powerpoint/2010/main" val="688392999"/>
              </p:ext>
            </p:extLst>
          </p:nvPr>
        </p:nvGraphicFramePr>
        <p:xfrm>
          <a:off x="302495" y="1744873"/>
          <a:ext cx="8424410" cy="3605114"/>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Box 3">
            <a:extLst>
              <a:ext uri="{FF2B5EF4-FFF2-40B4-BE49-F238E27FC236}">
                <a16:creationId xmlns:a16="http://schemas.microsoft.com/office/drawing/2014/main" id="{52CD1D80-01DD-02FF-C145-2BB4FA6A1EC2}"/>
              </a:ext>
            </a:extLst>
          </p:cNvPr>
          <p:cNvSpPr txBox="1"/>
          <p:nvPr/>
        </p:nvSpPr>
        <p:spPr>
          <a:xfrm>
            <a:off x="366292" y="305777"/>
            <a:ext cx="7747376" cy="400110"/>
          </a:xfrm>
          <a:prstGeom prst="rect">
            <a:avLst/>
          </a:prstGeom>
          <a:noFill/>
        </p:spPr>
        <p:txBody>
          <a:bodyPr wrap="square" rtlCol="0">
            <a:spAutoFit/>
          </a:bodyPr>
          <a:lstStyle/>
          <a:p>
            <a:r>
              <a:rPr lang="en-US" sz="2000" dirty="0">
                <a:latin typeface="Grotesque Light" panose="020B0304020202020204" pitchFamily="34" charset="0"/>
              </a:rPr>
              <a:t>Private Markets Modelling</a:t>
            </a:r>
          </a:p>
        </p:txBody>
      </p:sp>
      <p:cxnSp>
        <p:nvCxnSpPr>
          <p:cNvPr id="7" name="Straight Connector 6">
            <a:extLst>
              <a:ext uri="{FF2B5EF4-FFF2-40B4-BE49-F238E27FC236}">
                <a16:creationId xmlns:a16="http://schemas.microsoft.com/office/drawing/2014/main" id="{CC7D6325-7A01-AF62-BC53-F5681673FEFF}"/>
              </a:ext>
            </a:extLst>
          </p:cNvPr>
          <p:cNvCxnSpPr/>
          <p:nvPr/>
        </p:nvCxnSpPr>
        <p:spPr>
          <a:xfrm>
            <a:off x="302495" y="6531566"/>
            <a:ext cx="8539009" cy="0"/>
          </a:xfrm>
          <a:prstGeom prst="line">
            <a:avLst/>
          </a:prstGeom>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95B1EAD8-4ECA-125E-8C2A-4933285B0DAC}"/>
              </a:ext>
            </a:extLst>
          </p:cNvPr>
          <p:cNvSpPr txBox="1"/>
          <p:nvPr/>
        </p:nvSpPr>
        <p:spPr>
          <a:xfrm>
            <a:off x="267939" y="1286050"/>
            <a:ext cx="8608123"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Yearly Commitment Size Required to Sustain Target Allocation</a:t>
            </a:r>
          </a:p>
        </p:txBody>
      </p:sp>
      <p:sp>
        <p:nvSpPr>
          <p:cNvPr id="15" name="TextBox 14">
            <a:extLst>
              <a:ext uri="{FF2B5EF4-FFF2-40B4-BE49-F238E27FC236}">
                <a16:creationId xmlns:a16="http://schemas.microsoft.com/office/drawing/2014/main" id="{AF7D0DA7-B864-A5A8-0A52-1FA6BEFC6DEA}"/>
              </a:ext>
            </a:extLst>
          </p:cNvPr>
          <p:cNvSpPr txBox="1"/>
          <p:nvPr/>
        </p:nvSpPr>
        <p:spPr>
          <a:xfrm>
            <a:off x="366292" y="631139"/>
            <a:ext cx="7747376" cy="307777"/>
          </a:xfrm>
          <a:prstGeom prst="rect">
            <a:avLst/>
          </a:prstGeom>
          <a:noFill/>
        </p:spPr>
        <p:txBody>
          <a:bodyPr wrap="square" rtlCol="0">
            <a:spAutoFit/>
          </a:bodyPr>
          <a:lstStyle/>
          <a:p>
            <a:r>
              <a:rPr lang="en-US" sz="1400" dirty="0">
                <a:solidFill>
                  <a:schemeClr val="tx1">
                    <a:lumMod val="85000"/>
                    <a:lumOff val="15000"/>
                  </a:schemeClr>
                </a:solidFill>
                <a:latin typeface="Grotesque Light" panose="020B0304020202020204" pitchFamily="34" charset="0"/>
              </a:rPr>
              <a:t>Target Allocation and Commitment Pacing</a:t>
            </a:r>
          </a:p>
        </p:txBody>
      </p:sp>
      <p:sp>
        <p:nvSpPr>
          <p:cNvPr id="13" name="Oval 12">
            <a:extLst>
              <a:ext uri="{FF2B5EF4-FFF2-40B4-BE49-F238E27FC236}">
                <a16:creationId xmlns:a16="http://schemas.microsoft.com/office/drawing/2014/main" id="{4C6FE5D9-16B4-1AC1-FD97-F33683DA2C72}"/>
              </a:ext>
            </a:extLst>
          </p:cNvPr>
          <p:cNvSpPr/>
          <p:nvPr/>
        </p:nvSpPr>
        <p:spPr>
          <a:xfrm>
            <a:off x="6627979" y="2846034"/>
            <a:ext cx="315310" cy="241738"/>
          </a:xfrm>
          <a:prstGeom prst="ellipse">
            <a:avLst/>
          </a:prstGeom>
          <a:noFill/>
          <a:ln w="190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AA095D5B-D972-099F-0818-2AF071D42888}"/>
              </a:ext>
            </a:extLst>
          </p:cNvPr>
          <p:cNvCxnSpPr>
            <a:cxnSpLocks/>
          </p:cNvCxnSpPr>
          <p:nvPr/>
        </p:nvCxnSpPr>
        <p:spPr>
          <a:xfrm>
            <a:off x="6216868" y="2704574"/>
            <a:ext cx="346842" cy="173089"/>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8F26A268-8AFC-2888-6574-393AC984F384}"/>
              </a:ext>
            </a:extLst>
          </p:cNvPr>
          <p:cNvSpPr txBox="1"/>
          <p:nvPr/>
        </p:nvSpPr>
        <p:spPr>
          <a:xfrm>
            <a:off x="980089" y="2454564"/>
            <a:ext cx="2096814" cy="1061829"/>
          </a:xfrm>
          <a:prstGeom prst="rect">
            <a:avLst/>
          </a:prstGeom>
          <a:noFill/>
        </p:spPr>
        <p:txBody>
          <a:bodyPr wrap="square">
            <a:spAutoFit/>
          </a:bodyPr>
          <a:lstStyle/>
          <a:p>
            <a:r>
              <a:rPr lang="en-GB" sz="1050" dirty="0">
                <a:solidFill>
                  <a:srgbClr val="C00000"/>
                </a:solidFill>
                <a:latin typeface="Aptos" panose="020B0004020202020204" pitchFamily="34" charset="0"/>
              </a:rPr>
              <a:t>Investors will need to make progressively larger commitments to maintain their target percentage allocation, as the overall portfolio grows over time.</a:t>
            </a:r>
            <a:endParaRPr lang="en-US" sz="1050" dirty="0">
              <a:solidFill>
                <a:srgbClr val="C00000"/>
              </a:solidFill>
              <a:latin typeface="Aptos" panose="020B0004020202020204" pitchFamily="34" charset="0"/>
            </a:endParaRPr>
          </a:p>
        </p:txBody>
      </p:sp>
      <p:sp>
        <p:nvSpPr>
          <p:cNvPr id="29" name="TextBox 28">
            <a:extLst>
              <a:ext uri="{FF2B5EF4-FFF2-40B4-BE49-F238E27FC236}">
                <a16:creationId xmlns:a16="http://schemas.microsoft.com/office/drawing/2014/main" id="{B8D46925-5B94-FDF5-6DE0-4EB4D9FEB7DD}"/>
              </a:ext>
            </a:extLst>
          </p:cNvPr>
          <p:cNvSpPr txBox="1"/>
          <p:nvPr/>
        </p:nvSpPr>
        <p:spPr>
          <a:xfrm>
            <a:off x="4571999" y="2214038"/>
            <a:ext cx="1644869" cy="577081"/>
          </a:xfrm>
          <a:prstGeom prst="rect">
            <a:avLst/>
          </a:prstGeom>
          <a:noFill/>
        </p:spPr>
        <p:txBody>
          <a:bodyPr wrap="square">
            <a:spAutoFit/>
          </a:bodyPr>
          <a:lstStyle/>
          <a:p>
            <a:pPr algn="r"/>
            <a:r>
              <a:rPr lang="en-GB" sz="1050" dirty="0">
                <a:solidFill>
                  <a:srgbClr val="C00000"/>
                </a:solidFill>
                <a:latin typeface="Aptos" panose="020B0004020202020204" pitchFamily="34" charset="0"/>
              </a:rPr>
              <a:t>Commitment size is expected to double by year 16 relative to year 1</a:t>
            </a:r>
            <a:endParaRPr lang="en-US" sz="1050" dirty="0">
              <a:solidFill>
                <a:srgbClr val="C00000"/>
              </a:solidFill>
              <a:latin typeface="Aptos" panose="020B0004020202020204" pitchFamily="34" charset="0"/>
            </a:endParaRPr>
          </a:p>
        </p:txBody>
      </p:sp>
      <p:sp>
        <p:nvSpPr>
          <p:cNvPr id="30" name="TextBox 29">
            <a:extLst>
              <a:ext uri="{FF2B5EF4-FFF2-40B4-BE49-F238E27FC236}">
                <a16:creationId xmlns:a16="http://schemas.microsoft.com/office/drawing/2014/main" id="{734BCF64-E0D2-5836-886E-9FDDA20DA3CD}"/>
              </a:ext>
            </a:extLst>
          </p:cNvPr>
          <p:cNvSpPr txBox="1"/>
          <p:nvPr/>
        </p:nvSpPr>
        <p:spPr>
          <a:xfrm>
            <a:off x="582748" y="5592970"/>
            <a:ext cx="7978504" cy="461665"/>
          </a:xfrm>
          <a:prstGeom prst="rect">
            <a:avLst/>
          </a:prstGeom>
          <a:solidFill>
            <a:schemeClr val="bg1"/>
          </a:solidFill>
          <a:ln w="6350">
            <a:solidFill>
              <a:schemeClr val="bg1">
                <a:lumMod val="75000"/>
              </a:schemeClr>
            </a:solidFill>
          </a:ln>
        </p:spPr>
        <p:txBody>
          <a:bodyPr wrap="square" rtlCol="0">
            <a:spAutoFit/>
          </a:bodyPr>
          <a:lstStyle>
            <a:defPPr>
              <a:defRPr lang="en-US"/>
            </a:defPPr>
            <a:lvl1pPr algn="ctr">
              <a:defRPr sz="1050">
                <a:latin typeface="Aptos Light" panose="020B0004020202020204" pitchFamily="34" charset="0"/>
              </a:defRPr>
            </a:lvl1pPr>
          </a:lstStyle>
          <a:p>
            <a:r>
              <a:rPr lang="en-GB" sz="1200" dirty="0"/>
              <a:t>Investors targeting a fixed allocation to private markets require a disciplined and ongoing commitment strategy to both new and existing opportunities.</a:t>
            </a:r>
            <a:endParaRPr lang="en-US" sz="1200" dirty="0"/>
          </a:p>
        </p:txBody>
      </p:sp>
    </p:spTree>
    <p:extLst>
      <p:ext uri="{BB962C8B-B14F-4D97-AF65-F5344CB8AC3E}">
        <p14:creationId xmlns:p14="http://schemas.microsoft.com/office/powerpoint/2010/main" val="149608511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FD710-DFCB-23D3-D6E0-218E64F735D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8FCAB53-36EE-02D6-7936-2454E66CD050}"/>
              </a:ext>
            </a:extLst>
          </p:cNvPr>
          <p:cNvSpPr txBox="1"/>
          <p:nvPr/>
        </p:nvSpPr>
        <p:spPr>
          <a:xfrm>
            <a:off x="366292" y="305777"/>
            <a:ext cx="7747376" cy="400110"/>
          </a:xfrm>
          <a:prstGeom prst="rect">
            <a:avLst/>
          </a:prstGeom>
          <a:noFill/>
        </p:spPr>
        <p:txBody>
          <a:bodyPr wrap="square" rtlCol="0">
            <a:spAutoFit/>
          </a:bodyPr>
          <a:lstStyle/>
          <a:p>
            <a:r>
              <a:rPr lang="en-US" sz="2000" dirty="0">
                <a:latin typeface="Grotesque Light" panose="020B0304020202020204" pitchFamily="34" charset="0"/>
              </a:rPr>
              <a:t>Private Markets Modelling</a:t>
            </a:r>
          </a:p>
        </p:txBody>
      </p:sp>
      <p:cxnSp>
        <p:nvCxnSpPr>
          <p:cNvPr id="7" name="Straight Connector 6">
            <a:extLst>
              <a:ext uri="{FF2B5EF4-FFF2-40B4-BE49-F238E27FC236}">
                <a16:creationId xmlns:a16="http://schemas.microsoft.com/office/drawing/2014/main" id="{1BE4F08D-4CC9-ACC2-DA51-2378F8EFCE6B}"/>
              </a:ext>
            </a:extLst>
          </p:cNvPr>
          <p:cNvCxnSpPr/>
          <p:nvPr/>
        </p:nvCxnSpPr>
        <p:spPr>
          <a:xfrm>
            <a:off x="302495" y="6531566"/>
            <a:ext cx="8539009" cy="0"/>
          </a:xfrm>
          <a:prstGeom prst="line">
            <a:avLst/>
          </a:prstGeom>
        </p:spPr>
        <p:style>
          <a:lnRef idx="1">
            <a:schemeClr val="dk1"/>
          </a:lnRef>
          <a:fillRef idx="0">
            <a:schemeClr val="dk1"/>
          </a:fillRef>
          <a:effectRef idx="0">
            <a:schemeClr val="dk1"/>
          </a:effectRef>
          <a:fontRef idx="minor">
            <a:schemeClr val="tx1"/>
          </a:fontRef>
        </p:style>
      </p:cxnSp>
      <p:sp>
        <p:nvSpPr>
          <p:cNvPr id="10" name="TextBox 9">
            <a:extLst>
              <a:ext uri="{FF2B5EF4-FFF2-40B4-BE49-F238E27FC236}">
                <a16:creationId xmlns:a16="http://schemas.microsoft.com/office/drawing/2014/main" id="{511A6269-9A86-493E-2A66-1B148EC23B4C}"/>
              </a:ext>
            </a:extLst>
          </p:cNvPr>
          <p:cNvSpPr txBox="1"/>
          <p:nvPr/>
        </p:nvSpPr>
        <p:spPr>
          <a:xfrm>
            <a:off x="233380" y="1349111"/>
            <a:ext cx="8677238" cy="276999"/>
          </a:xfrm>
          <a:prstGeom prst="rect">
            <a:avLst/>
          </a:prstGeom>
          <a:solidFill>
            <a:schemeClr val="tx2">
              <a:lumMod val="75000"/>
            </a:schemeClr>
          </a:solidFill>
          <a:ln w="12700">
            <a:noFill/>
          </a:ln>
        </p:spPr>
        <p:txBody>
          <a:bodyPr wrap="square" rtlCol="0">
            <a:spAutoFit/>
          </a:bodyPr>
          <a:lstStyle>
            <a:defPPr>
              <a:defRPr lang="en-US"/>
            </a:defPPr>
            <a:lvl1pPr algn="ctr">
              <a:defRPr sz="1200" b="1">
                <a:solidFill>
                  <a:schemeClr val="bg1"/>
                </a:solidFill>
                <a:latin typeface="+mj-lt"/>
              </a:defRPr>
            </a:lvl1pPr>
          </a:lstStyle>
          <a:p>
            <a:r>
              <a:rPr lang="en-US" dirty="0"/>
              <a:t>Evolution of Private Markets Portfolio Weights</a:t>
            </a:r>
          </a:p>
        </p:txBody>
      </p:sp>
      <p:sp>
        <p:nvSpPr>
          <p:cNvPr id="15" name="TextBox 14">
            <a:extLst>
              <a:ext uri="{FF2B5EF4-FFF2-40B4-BE49-F238E27FC236}">
                <a16:creationId xmlns:a16="http://schemas.microsoft.com/office/drawing/2014/main" id="{BEADF8DD-70DC-94B7-400D-6CE23B0555F0}"/>
              </a:ext>
            </a:extLst>
          </p:cNvPr>
          <p:cNvSpPr txBox="1"/>
          <p:nvPr/>
        </p:nvSpPr>
        <p:spPr>
          <a:xfrm>
            <a:off x="366292" y="631139"/>
            <a:ext cx="7747376" cy="307777"/>
          </a:xfrm>
          <a:prstGeom prst="rect">
            <a:avLst/>
          </a:prstGeom>
          <a:noFill/>
        </p:spPr>
        <p:txBody>
          <a:bodyPr wrap="square" rtlCol="0">
            <a:spAutoFit/>
          </a:bodyPr>
          <a:lstStyle/>
          <a:p>
            <a:r>
              <a:rPr lang="en-US" sz="1400" dirty="0">
                <a:solidFill>
                  <a:schemeClr val="tx1">
                    <a:lumMod val="85000"/>
                    <a:lumOff val="15000"/>
                  </a:schemeClr>
                </a:solidFill>
                <a:latin typeface="Grotesque Light" panose="020B0304020202020204" pitchFamily="34" charset="0"/>
              </a:rPr>
              <a:t>Target Allocation and Commitment Pacing</a:t>
            </a:r>
          </a:p>
        </p:txBody>
      </p:sp>
      <p:sp>
        <p:nvSpPr>
          <p:cNvPr id="3" name="TextBox 2">
            <a:extLst>
              <a:ext uri="{FF2B5EF4-FFF2-40B4-BE49-F238E27FC236}">
                <a16:creationId xmlns:a16="http://schemas.microsoft.com/office/drawing/2014/main" id="{A1312E0A-9D94-8104-DB3B-9D0EFD070A7B}"/>
              </a:ext>
            </a:extLst>
          </p:cNvPr>
          <p:cNvSpPr txBox="1"/>
          <p:nvPr/>
        </p:nvSpPr>
        <p:spPr>
          <a:xfrm>
            <a:off x="302495" y="5622575"/>
            <a:ext cx="8539009" cy="461665"/>
          </a:xfrm>
          <a:prstGeom prst="rect">
            <a:avLst/>
          </a:prstGeom>
          <a:solidFill>
            <a:schemeClr val="bg1"/>
          </a:solidFill>
          <a:ln w="6350">
            <a:solidFill>
              <a:schemeClr val="bg1">
                <a:lumMod val="75000"/>
              </a:schemeClr>
            </a:solidFill>
          </a:ln>
        </p:spPr>
        <p:txBody>
          <a:bodyPr wrap="square" rtlCol="0">
            <a:spAutoFit/>
          </a:bodyPr>
          <a:lstStyle>
            <a:defPPr>
              <a:defRPr lang="en-US"/>
            </a:defPPr>
            <a:lvl1pPr algn="ctr">
              <a:defRPr sz="1200">
                <a:latin typeface="Aptos Light" panose="020B0004020202020204" pitchFamily="34" charset="0"/>
              </a:defRPr>
            </a:lvl1pPr>
          </a:lstStyle>
          <a:p>
            <a:r>
              <a:rPr lang="en-GB" dirty="0"/>
              <a:t>Investors should be mindful that it may take several years for a private markets portfolio to reach its target allocation. If not properly managed, this can create a short- to medium-term drag on overall portfolio performance</a:t>
            </a:r>
            <a:endParaRPr lang="en-US" dirty="0"/>
          </a:p>
        </p:txBody>
      </p:sp>
      <p:graphicFrame>
        <p:nvGraphicFramePr>
          <p:cNvPr id="2" name="Chart 1">
            <a:extLst>
              <a:ext uri="{FF2B5EF4-FFF2-40B4-BE49-F238E27FC236}">
                <a16:creationId xmlns:a16="http://schemas.microsoft.com/office/drawing/2014/main" id="{BF18B562-7E76-5555-90A3-7E9F2EB597BE}"/>
              </a:ext>
            </a:extLst>
          </p:cNvPr>
          <p:cNvGraphicFramePr>
            <a:graphicFrameLocks/>
          </p:cNvGraphicFramePr>
          <p:nvPr>
            <p:extLst>
              <p:ext uri="{D42A27DB-BD31-4B8C-83A1-F6EECF244321}">
                <p14:modId xmlns:p14="http://schemas.microsoft.com/office/powerpoint/2010/main" val="57213974"/>
              </p:ext>
            </p:extLst>
          </p:nvPr>
        </p:nvGraphicFramePr>
        <p:xfrm>
          <a:off x="384489" y="1839317"/>
          <a:ext cx="8375023" cy="3669571"/>
        </p:xfrm>
        <a:graphic>
          <a:graphicData uri="http://schemas.openxmlformats.org/drawingml/2006/chart">
            <c:chart xmlns:c="http://schemas.openxmlformats.org/drawingml/2006/chart" xmlns:r="http://schemas.openxmlformats.org/officeDocument/2006/relationships" r:id="rId2"/>
          </a:graphicData>
        </a:graphic>
      </p:graphicFrame>
      <p:sp>
        <p:nvSpPr>
          <p:cNvPr id="5" name="TextBox 5">
            <a:extLst>
              <a:ext uri="{FF2B5EF4-FFF2-40B4-BE49-F238E27FC236}">
                <a16:creationId xmlns:a16="http://schemas.microsoft.com/office/drawing/2014/main" id="{5DFFC880-FA40-EBBB-4D36-5132BCCFC30E}"/>
              </a:ext>
            </a:extLst>
          </p:cNvPr>
          <p:cNvSpPr txBox="1"/>
          <p:nvPr/>
        </p:nvSpPr>
        <p:spPr>
          <a:xfrm>
            <a:off x="6720804" y="2556274"/>
            <a:ext cx="1203995" cy="253916"/>
          </a:xfrm>
          <a:prstGeom prst="rect">
            <a:avLst/>
          </a:prstGeom>
          <a:noFill/>
        </p:spPr>
        <p:txBody>
          <a:bodyPr wrap="square" rtlCol="0">
            <a:spAutoFit/>
          </a:bodyPr>
          <a:lstStyle>
            <a:defPPr>
              <a:defRPr lang="en-US"/>
            </a:defPPr>
            <a:lvl1pPr marL="0" indent="0" algn="l" defTabSz="457200" rtl="0" eaLnBrk="1" latinLnBrk="0" hangingPunct="1">
              <a:defRPr sz="1800" kern="1200">
                <a:solidFill>
                  <a:schemeClr val="tx1"/>
                </a:solidFill>
                <a:latin typeface="+mn-lt"/>
                <a:ea typeface="+mn-ea"/>
                <a:cs typeface="+mn-cs"/>
              </a:defRPr>
            </a:lvl1pPr>
            <a:lvl2pPr marL="457200" indent="0" algn="l" defTabSz="457200" rtl="0" eaLnBrk="1" latinLnBrk="0" hangingPunct="1">
              <a:defRPr sz="1800" kern="1200">
                <a:solidFill>
                  <a:schemeClr val="tx1"/>
                </a:solidFill>
                <a:latin typeface="+mn-lt"/>
                <a:ea typeface="+mn-ea"/>
                <a:cs typeface="+mn-cs"/>
              </a:defRPr>
            </a:lvl2pPr>
            <a:lvl3pPr marL="914400" indent="0" algn="l" defTabSz="457200" rtl="0" eaLnBrk="1" latinLnBrk="0" hangingPunct="1">
              <a:defRPr sz="1800" kern="1200">
                <a:solidFill>
                  <a:schemeClr val="tx1"/>
                </a:solidFill>
                <a:latin typeface="+mn-lt"/>
                <a:ea typeface="+mn-ea"/>
                <a:cs typeface="+mn-cs"/>
              </a:defRPr>
            </a:lvl3pPr>
            <a:lvl4pPr marL="1371600" indent="0" algn="l" defTabSz="457200" rtl="0" eaLnBrk="1" latinLnBrk="0" hangingPunct="1">
              <a:defRPr sz="1800" kern="1200">
                <a:solidFill>
                  <a:schemeClr val="tx1"/>
                </a:solidFill>
                <a:latin typeface="+mn-lt"/>
                <a:ea typeface="+mn-ea"/>
                <a:cs typeface="+mn-cs"/>
              </a:defRPr>
            </a:lvl4pPr>
            <a:lvl5pPr marL="1828800" indent="0" algn="l" defTabSz="457200" rtl="0" eaLnBrk="1" latinLnBrk="0" hangingPunct="1">
              <a:defRPr sz="1800" kern="1200">
                <a:solidFill>
                  <a:schemeClr val="tx1"/>
                </a:solidFill>
                <a:latin typeface="+mn-lt"/>
                <a:ea typeface="+mn-ea"/>
                <a:cs typeface="+mn-cs"/>
              </a:defRPr>
            </a:lvl5pPr>
            <a:lvl6pPr marL="2286000" indent="0" algn="l" defTabSz="457200" rtl="0" eaLnBrk="1" latinLnBrk="0" hangingPunct="1">
              <a:defRPr sz="1800" kern="1200">
                <a:solidFill>
                  <a:schemeClr val="tx1"/>
                </a:solidFill>
                <a:latin typeface="+mn-lt"/>
                <a:ea typeface="+mn-ea"/>
                <a:cs typeface="+mn-cs"/>
              </a:defRPr>
            </a:lvl6pPr>
            <a:lvl7pPr marL="2743200" indent="0" algn="l" defTabSz="457200" rtl="0" eaLnBrk="1" latinLnBrk="0" hangingPunct="1">
              <a:defRPr sz="1800" kern="1200">
                <a:solidFill>
                  <a:schemeClr val="tx1"/>
                </a:solidFill>
                <a:latin typeface="+mn-lt"/>
                <a:ea typeface="+mn-ea"/>
                <a:cs typeface="+mn-cs"/>
              </a:defRPr>
            </a:lvl7pPr>
            <a:lvl8pPr marL="3200400" indent="0" algn="l" defTabSz="457200" rtl="0" eaLnBrk="1" latinLnBrk="0" hangingPunct="1">
              <a:defRPr sz="1800" kern="1200">
                <a:solidFill>
                  <a:schemeClr val="tx1"/>
                </a:solidFill>
                <a:latin typeface="+mn-lt"/>
                <a:ea typeface="+mn-ea"/>
                <a:cs typeface="+mn-cs"/>
              </a:defRPr>
            </a:lvl8pPr>
            <a:lvl9pPr marL="3657600" indent="0" algn="l" defTabSz="457200" rtl="0" eaLnBrk="1" latinLnBrk="0" hangingPunct="1">
              <a:defRPr sz="1800" kern="1200">
                <a:solidFill>
                  <a:schemeClr val="tx1"/>
                </a:solidFill>
                <a:latin typeface="+mn-lt"/>
                <a:ea typeface="+mn-ea"/>
                <a:cs typeface="+mn-cs"/>
              </a:defRPr>
            </a:lvl9pPr>
          </a:lstStyle>
          <a:p>
            <a:r>
              <a:rPr lang="en-US" sz="1050" dirty="0">
                <a:solidFill>
                  <a:srgbClr val="C00000"/>
                </a:solidFill>
                <a:latin typeface="Aptos" panose="020B0004020202020204" pitchFamily="34" charset="0"/>
              </a:rPr>
              <a:t>Target Allocation</a:t>
            </a:r>
          </a:p>
        </p:txBody>
      </p:sp>
    </p:spTree>
    <p:extLst>
      <p:ext uri="{BB962C8B-B14F-4D97-AF65-F5344CB8AC3E}">
        <p14:creationId xmlns:p14="http://schemas.microsoft.com/office/powerpoint/2010/main" val="116758154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5ABB28-D9DC-112A-E36C-4E9E132C92E2}"/>
            </a:ext>
          </a:extLst>
        </p:cNvPr>
        <p:cNvGrpSpPr/>
        <p:nvPr/>
      </p:nvGrpSpPr>
      <p:grpSpPr>
        <a:xfrm>
          <a:off x="0" y="0"/>
          <a:ext cx="0" cy="0"/>
          <a:chOff x="0" y="0"/>
          <a:chExt cx="0" cy="0"/>
        </a:xfrm>
      </p:grpSpPr>
      <p:sp>
        <p:nvSpPr>
          <p:cNvPr id="13" name="Rectangle 12">
            <a:extLst>
              <a:ext uri="{FF2B5EF4-FFF2-40B4-BE49-F238E27FC236}">
                <a16:creationId xmlns:a16="http://schemas.microsoft.com/office/drawing/2014/main" id="{FED9AA35-7DC7-2401-70B5-26B9E5A0F351}"/>
              </a:ext>
            </a:extLst>
          </p:cNvPr>
          <p:cNvSpPr/>
          <p:nvPr/>
        </p:nvSpPr>
        <p:spPr>
          <a:xfrm>
            <a:off x="1129744" y="2647371"/>
            <a:ext cx="2784530" cy="3085227"/>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18" name="Chart 17">
            <a:extLst>
              <a:ext uri="{FF2B5EF4-FFF2-40B4-BE49-F238E27FC236}">
                <a16:creationId xmlns:a16="http://schemas.microsoft.com/office/drawing/2014/main" id="{00000000-0008-0000-0300-000003000000}"/>
              </a:ext>
            </a:extLst>
          </p:cNvPr>
          <p:cNvGraphicFramePr>
            <a:graphicFrameLocks/>
          </p:cNvGraphicFramePr>
          <p:nvPr>
            <p:extLst>
              <p:ext uri="{D42A27DB-BD31-4B8C-83A1-F6EECF244321}">
                <p14:modId xmlns:p14="http://schemas.microsoft.com/office/powerpoint/2010/main" val="3465109870"/>
              </p:ext>
            </p:extLst>
          </p:nvPr>
        </p:nvGraphicFramePr>
        <p:xfrm>
          <a:off x="501530" y="2224152"/>
          <a:ext cx="6388100" cy="4087763"/>
        </p:xfrm>
        <a:graphic>
          <a:graphicData uri="http://schemas.openxmlformats.org/drawingml/2006/chart">
            <c:chart xmlns:c="http://schemas.openxmlformats.org/drawingml/2006/chart" xmlns:r="http://schemas.openxmlformats.org/officeDocument/2006/relationships" r:id="rId2"/>
          </a:graphicData>
        </a:graphic>
      </p:graphicFrame>
      <p:cxnSp>
        <p:nvCxnSpPr>
          <p:cNvPr id="19" name="Straight Arrow Connector 18">
            <a:extLst>
              <a:ext uri="{FF2B5EF4-FFF2-40B4-BE49-F238E27FC236}">
                <a16:creationId xmlns:a16="http://schemas.microsoft.com/office/drawing/2014/main" id="{75C7136E-7FFF-D801-74B8-ACB524E8B7E4}"/>
              </a:ext>
            </a:extLst>
          </p:cNvPr>
          <p:cNvCxnSpPr>
            <a:cxnSpLocks/>
          </p:cNvCxnSpPr>
          <p:nvPr/>
        </p:nvCxnSpPr>
        <p:spPr>
          <a:xfrm>
            <a:off x="1231453" y="2907464"/>
            <a:ext cx="2522400" cy="0"/>
          </a:xfrm>
          <a:prstGeom prst="straightConnector1">
            <a:avLst/>
          </a:prstGeom>
          <a:ln>
            <a:solidFill>
              <a:schemeClr val="bg1">
                <a:lumMod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EB3A7A08-284A-36F0-0651-BC0BD315E690}"/>
              </a:ext>
            </a:extLst>
          </p:cNvPr>
          <p:cNvSpPr txBox="1"/>
          <p:nvPr/>
        </p:nvSpPr>
        <p:spPr>
          <a:xfrm>
            <a:off x="338291" y="289102"/>
            <a:ext cx="7747376" cy="400110"/>
          </a:xfrm>
          <a:prstGeom prst="rect">
            <a:avLst/>
          </a:prstGeom>
          <a:noFill/>
        </p:spPr>
        <p:txBody>
          <a:bodyPr wrap="square" rtlCol="0">
            <a:spAutoFit/>
          </a:bodyPr>
          <a:lstStyle/>
          <a:p>
            <a:r>
              <a:rPr lang="en-US" sz="2000" dirty="0">
                <a:latin typeface="Grotesque Light" panose="020B0304020202020204" pitchFamily="34" charset="0"/>
              </a:rPr>
              <a:t>Portfolio Wealth Projections</a:t>
            </a:r>
          </a:p>
        </p:txBody>
      </p:sp>
      <p:sp>
        <p:nvSpPr>
          <p:cNvPr id="5" name="TextBox 4">
            <a:extLst>
              <a:ext uri="{FF2B5EF4-FFF2-40B4-BE49-F238E27FC236}">
                <a16:creationId xmlns:a16="http://schemas.microsoft.com/office/drawing/2014/main" id="{64D24399-1A80-31E0-76F5-5EB5128BB9CB}"/>
              </a:ext>
            </a:extLst>
          </p:cNvPr>
          <p:cNvSpPr txBox="1"/>
          <p:nvPr/>
        </p:nvSpPr>
        <p:spPr>
          <a:xfrm>
            <a:off x="338291" y="622539"/>
            <a:ext cx="7747376" cy="307777"/>
          </a:xfrm>
          <a:prstGeom prst="rect">
            <a:avLst/>
          </a:prstGeom>
          <a:noFill/>
        </p:spPr>
        <p:txBody>
          <a:bodyPr wrap="square" rtlCol="0">
            <a:spAutoFit/>
          </a:bodyPr>
          <a:lstStyle/>
          <a:p>
            <a:r>
              <a:rPr lang="en-US" sz="1200" dirty="0">
                <a:latin typeface="Grotesque Light" panose="020B0304020202020204" pitchFamily="34" charset="0"/>
              </a:rPr>
              <a:t>Transitioning from Current to </a:t>
            </a:r>
            <a:r>
              <a:rPr lang="en-US" sz="1400" dirty="0">
                <a:latin typeface="Grotesque Light" panose="020B0304020202020204" pitchFamily="34" charset="0"/>
              </a:rPr>
              <a:t>Target</a:t>
            </a:r>
            <a:r>
              <a:rPr lang="en-US" sz="1200" dirty="0">
                <a:latin typeface="Grotesque Light" panose="020B0304020202020204" pitchFamily="34" charset="0"/>
              </a:rPr>
              <a:t> Portfolio</a:t>
            </a:r>
          </a:p>
        </p:txBody>
      </p:sp>
      <p:sp>
        <p:nvSpPr>
          <p:cNvPr id="6" name="TextBox 5">
            <a:extLst>
              <a:ext uri="{FF2B5EF4-FFF2-40B4-BE49-F238E27FC236}">
                <a16:creationId xmlns:a16="http://schemas.microsoft.com/office/drawing/2014/main" id="{42322223-31E1-E2F3-71C1-EBFF954D4714}"/>
              </a:ext>
            </a:extLst>
          </p:cNvPr>
          <p:cNvSpPr txBox="1"/>
          <p:nvPr/>
        </p:nvSpPr>
        <p:spPr>
          <a:xfrm>
            <a:off x="302496" y="1760554"/>
            <a:ext cx="8539009" cy="276999"/>
          </a:xfrm>
          <a:prstGeom prst="rect">
            <a:avLst/>
          </a:prstGeom>
          <a:solidFill>
            <a:schemeClr val="tx2">
              <a:lumMod val="75000"/>
            </a:schemeClr>
          </a:solidFill>
          <a:ln w="12700">
            <a:noFill/>
          </a:ln>
        </p:spPr>
        <p:txBody>
          <a:bodyPr wrap="square" rtlCol="0">
            <a:spAutoFit/>
          </a:bodyPr>
          <a:lstStyle/>
          <a:p>
            <a:pPr algn="ctr"/>
            <a:r>
              <a:rPr lang="en-US" sz="1200" b="1" dirty="0">
                <a:solidFill>
                  <a:schemeClr val="bg1"/>
                </a:solidFill>
                <a:latin typeface="+mj-lt"/>
              </a:rPr>
              <a:t>Simulated Future Nominal Portfolio Value Paths</a:t>
            </a:r>
          </a:p>
        </p:txBody>
      </p:sp>
      <p:sp>
        <p:nvSpPr>
          <p:cNvPr id="9" name="TextBox 8">
            <a:extLst>
              <a:ext uri="{FF2B5EF4-FFF2-40B4-BE49-F238E27FC236}">
                <a16:creationId xmlns:a16="http://schemas.microsoft.com/office/drawing/2014/main" id="{08DA3C8F-BC9F-D264-160F-D1C948A5777E}"/>
              </a:ext>
            </a:extLst>
          </p:cNvPr>
          <p:cNvSpPr txBox="1"/>
          <p:nvPr/>
        </p:nvSpPr>
        <p:spPr>
          <a:xfrm>
            <a:off x="302496" y="1193266"/>
            <a:ext cx="8539009" cy="276999"/>
          </a:xfrm>
          <a:prstGeom prst="rect">
            <a:avLst/>
          </a:prstGeom>
          <a:solidFill>
            <a:schemeClr val="bg1"/>
          </a:solidFill>
          <a:ln w="6350">
            <a:solidFill>
              <a:schemeClr val="bg1">
                <a:lumMod val="75000"/>
              </a:schemeClr>
            </a:solidFill>
          </a:ln>
        </p:spPr>
        <p:txBody>
          <a:bodyPr wrap="square" rtlCol="0">
            <a:spAutoFit/>
          </a:bodyPr>
          <a:lstStyle>
            <a:defPPr>
              <a:defRPr lang="en-US"/>
            </a:defPPr>
            <a:lvl1pPr algn="ctr">
              <a:defRPr sz="1200">
                <a:latin typeface="Aptos Light" panose="020B0004020202020204" pitchFamily="34" charset="0"/>
              </a:defRPr>
            </a:lvl1pPr>
          </a:lstStyle>
          <a:p>
            <a:r>
              <a:rPr lang="en-US" dirty="0"/>
              <a:t>We show here the project distribution of portfolio paths as through the evolution of the current portfolio to the target portfolio.</a:t>
            </a:r>
          </a:p>
        </p:txBody>
      </p:sp>
      <p:sp>
        <p:nvSpPr>
          <p:cNvPr id="14" name="TextBox 13">
            <a:extLst>
              <a:ext uri="{FF2B5EF4-FFF2-40B4-BE49-F238E27FC236}">
                <a16:creationId xmlns:a16="http://schemas.microsoft.com/office/drawing/2014/main" id="{B0F54A36-C63F-878F-66C1-FEC9B2AB815E}"/>
              </a:ext>
            </a:extLst>
          </p:cNvPr>
          <p:cNvSpPr txBox="1"/>
          <p:nvPr/>
        </p:nvSpPr>
        <p:spPr>
          <a:xfrm>
            <a:off x="1932186" y="2738187"/>
            <a:ext cx="1179646" cy="369332"/>
          </a:xfrm>
          <a:prstGeom prst="rect">
            <a:avLst/>
          </a:prstGeom>
          <a:solidFill>
            <a:schemeClr val="bg1">
              <a:lumMod val="95000"/>
            </a:schemeClr>
          </a:solidFill>
          <a:ln w="6350">
            <a:solidFill>
              <a:schemeClr val="bg1">
                <a:lumMod val="50000"/>
              </a:schemeClr>
            </a:solidFill>
          </a:ln>
        </p:spPr>
        <p:txBody>
          <a:bodyPr wrap="square" rtlCol="0">
            <a:spAutoFit/>
          </a:bodyPr>
          <a:lstStyle/>
          <a:p>
            <a:pPr algn="ctr"/>
            <a:r>
              <a:rPr lang="en-US" sz="900" dirty="0">
                <a:latin typeface="Aptos" panose="020B0004020202020204" pitchFamily="34" charset="0"/>
              </a:rPr>
              <a:t>Building Private Asset Portfolio</a:t>
            </a:r>
          </a:p>
        </p:txBody>
      </p:sp>
      <p:cxnSp>
        <p:nvCxnSpPr>
          <p:cNvPr id="21" name="Straight Arrow Connector 20">
            <a:extLst>
              <a:ext uri="{FF2B5EF4-FFF2-40B4-BE49-F238E27FC236}">
                <a16:creationId xmlns:a16="http://schemas.microsoft.com/office/drawing/2014/main" id="{A49BAE27-1E82-E998-DAC9-4BC71161A37E}"/>
              </a:ext>
            </a:extLst>
          </p:cNvPr>
          <p:cNvCxnSpPr>
            <a:cxnSpLocks/>
          </p:cNvCxnSpPr>
          <p:nvPr/>
        </p:nvCxnSpPr>
        <p:spPr>
          <a:xfrm>
            <a:off x="4015983" y="2907464"/>
            <a:ext cx="2522400" cy="0"/>
          </a:xfrm>
          <a:prstGeom prst="straightConnector1">
            <a:avLst/>
          </a:prstGeom>
          <a:ln>
            <a:solidFill>
              <a:schemeClr val="bg1">
                <a:lumMod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15A269D3-6FD7-4CBC-9437-E39CAB611702}"/>
              </a:ext>
            </a:extLst>
          </p:cNvPr>
          <p:cNvSpPr txBox="1"/>
          <p:nvPr/>
        </p:nvSpPr>
        <p:spPr>
          <a:xfrm>
            <a:off x="4716716" y="2738187"/>
            <a:ext cx="1179646" cy="369332"/>
          </a:xfrm>
          <a:prstGeom prst="rect">
            <a:avLst/>
          </a:prstGeom>
          <a:solidFill>
            <a:schemeClr val="bg1"/>
          </a:solidFill>
          <a:ln w="6350">
            <a:solidFill>
              <a:schemeClr val="bg1">
                <a:lumMod val="50000"/>
              </a:schemeClr>
            </a:solidFill>
          </a:ln>
        </p:spPr>
        <p:txBody>
          <a:bodyPr wrap="square" rtlCol="0">
            <a:spAutoFit/>
          </a:bodyPr>
          <a:lstStyle/>
          <a:p>
            <a:pPr algn="ctr"/>
            <a:r>
              <a:rPr lang="en-US" sz="900" dirty="0">
                <a:latin typeface="Aptos" panose="020B0004020202020204" pitchFamily="34" charset="0"/>
              </a:rPr>
              <a:t>Fully Invested Portfolio</a:t>
            </a:r>
          </a:p>
        </p:txBody>
      </p:sp>
      <p:cxnSp>
        <p:nvCxnSpPr>
          <p:cNvPr id="23" name="Straight Arrow Connector 22">
            <a:extLst>
              <a:ext uri="{FF2B5EF4-FFF2-40B4-BE49-F238E27FC236}">
                <a16:creationId xmlns:a16="http://schemas.microsoft.com/office/drawing/2014/main" id="{F3B039E1-CFD3-05A6-9D6D-B4635625AB4F}"/>
              </a:ext>
            </a:extLst>
          </p:cNvPr>
          <p:cNvCxnSpPr>
            <a:cxnSpLocks/>
          </p:cNvCxnSpPr>
          <p:nvPr/>
        </p:nvCxnSpPr>
        <p:spPr>
          <a:xfrm flipV="1">
            <a:off x="6992984" y="3248517"/>
            <a:ext cx="1529564" cy="6587"/>
          </a:xfrm>
          <a:prstGeom prst="straightConnector1">
            <a:avLst/>
          </a:prstGeom>
          <a:ln>
            <a:solidFill>
              <a:schemeClr val="bg1">
                <a:lumMod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TextBox 13">
            <a:extLst>
              <a:ext uri="{FF2B5EF4-FFF2-40B4-BE49-F238E27FC236}">
                <a16:creationId xmlns:a16="http://schemas.microsoft.com/office/drawing/2014/main" id="{A1A11A9C-4375-F544-1C38-AF274DBCBE3D}"/>
              </a:ext>
            </a:extLst>
          </p:cNvPr>
          <p:cNvSpPr txBox="1"/>
          <p:nvPr/>
        </p:nvSpPr>
        <p:spPr>
          <a:xfrm>
            <a:off x="7424442" y="3076741"/>
            <a:ext cx="1179628" cy="507831"/>
          </a:xfrm>
          <a:prstGeom prst="rect">
            <a:avLst/>
          </a:prstGeom>
          <a:solidFill>
            <a:schemeClr val="bg1"/>
          </a:solidFill>
          <a:ln w="6350">
            <a:solidFill>
              <a:schemeClr val="bg1">
                <a:lumMod val="50000"/>
              </a:schemeClr>
            </a:solidFill>
          </a:ln>
        </p:spPr>
        <p:txBody>
          <a:bodyPr wrap="square" rtlCol="0">
            <a:spAutoFit/>
          </a:bodyPr>
          <a:lstStyle>
            <a:defPPr>
              <a:defRPr lang="en-US"/>
            </a:defPPr>
            <a:lvl1pPr marL="0" indent="0" algn="l" defTabSz="457200" rtl="0" eaLnBrk="1" latinLnBrk="0" hangingPunct="1">
              <a:defRPr sz="1800" kern="1200">
                <a:solidFill>
                  <a:schemeClr val="tx1"/>
                </a:solidFill>
                <a:latin typeface="+mn-lt"/>
                <a:ea typeface="+mn-ea"/>
                <a:cs typeface="+mn-cs"/>
              </a:defRPr>
            </a:lvl1pPr>
            <a:lvl2pPr marL="457200" indent="0" algn="l" defTabSz="457200" rtl="0" eaLnBrk="1" latinLnBrk="0" hangingPunct="1">
              <a:defRPr sz="1800" kern="1200">
                <a:solidFill>
                  <a:schemeClr val="tx1"/>
                </a:solidFill>
                <a:latin typeface="+mn-lt"/>
                <a:ea typeface="+mn-ea"/>
                <a:cs typeface="+mn-cs"/>
              </a:defRPr>
            </a:lvl2pPr>
            <a:lvl3pPr marL="914400" indent="0" algn="l" defTabSz="457200" rtl="0" eaLnBrk="1" latinLnBrk="0" hangingPunct="1">
              <a:defRPr sz="1800" kern="1200">
                <a:solidFill>
                  <a:schemeClr val="tx1"/>
                </a:solidFill>
                <a:latin typeface="+mn-lt"/>
                <a:ea typeface="+mn-ea"/>
                <a:cs typeface="+mn-cs"/>
              </a:defRPr>
            </a:lvl3pPr>
            <a:lvl4pPr marL="1371600" indent="0" algn="l" defTabSz="457200" rtl="0" eaLnBrk="1" latinLnBrk="0" hangingPunct="1">
              <a:defRPr sz="1800" kern="1200">
                <a:solidFill>
                  <a:schemeClr val="tx1"/>
                </a:solidFill>
                <a:latin typeface="+mn-lt"/>
                <a:ea typeface="+mn-ea"/>
                <a:cs typeface="+mn-cs"/>
              </a:defRPr>
            </a:lvl4pPr>
            <a:lvl5pPr marL="1828800" indent="0" algn="l" defTabSz="457200" rtl="0" eaLnBrk="1" latinLnBrk="0" hangingPunct="1">
              <a:defRPr sz="1800" kern="1200">
                <a:solidFill>
                  <a:schemeClr val="tx1"/>
                </a:solidFill>
                <a:latin typeface="+mn-lt"/>
                <a:ea typeface="+mn-ea"/>
                <a:cs typeface="+mn-cs"/>
              </a:defRPr>
            </a:lvl5pPr>
            <a:lvl6pPr marL="2286000" indent="0" algn="l" defTabSz="457200" rtl="0" eaLnBrk="1" latinLnBrk="0" hangingPunct="1">
              <a:defRPr sz="1800" kern="1200">
                <a:solidFill>
                  <a:schemeClr val="tx1"/>
                </a:solidFill>
                <a:latin typeface="+mn-lt"/>
                <a:ea typeface="+mn-ea"/>
                <a:cs typeface="+mn-cs"/>
              </a:defRPr>
            </a:lvl6pPr>
            <a:lvl7pPr marL="2743200" indent="0" algn="l" defTabSz="457200" rtl="0" eaLnBrk="1" latinLnBrk="0" hangingPunct="1">
              <a:defRPr sz="1800" kern="1200">
                <a:solidFill>
                  <a:schemeClr val="tx1"/>
                </a:solidFill>
                <a:latin typeface="+mn-lt"/>
                <a:ea typeface="+mn-ea"/>
                <a:cs typeface="+mn-cs"/>
              </a:defRPr>
            </a:lvl7pPr>
            <a:lvl8pPr marL="3200400" indent="0" algn="l" defTabSz="457200" rtl="0" eaLnBrk="1" latinLnBrk="0" hangingPunct="1">
              <a:defRPr sz="1800" kern="1200">
                <a:solidFill>
                  <a:schemeClr val="tx1"/>
                </a:solidFill>
                <a:latin typeface="+mn-lt"/>
                <a:ea typeface="+mn-ea"/>
                <a:cs typeface="+mn-cs"/>
              </a:defRPr>
            </a:lvl8pPr>
            <a:lvl9pPr marL="3657600" indent="0" algn="l" defTabSz="457200" rtl="0" eaLnBrk="1" latinLnBrk="0" hangingPunct="1">
              <a:defRPr sz="1800" kern="1200">
                <a:solidFill>
                  <a:schemeClr val="tx1"/>
                </a:solidFill>
                <a:latin typeface="+mn-lt"/>
                <a:ea typeface="+mn-ea"/>
                <a:cs typeface="+mn-cs"/>
              </a:defRPr>
            </a:lvl9pPr>
          </a:lstStyle>
          <a:p>
            <a:pPr algn="ctr"/>
            <a:r>
              <a:rPr lang="en-US" sz="900" dirty="0">
                <a:latin typeface="Aptos" panose="020B0004020202020204" pitchFamily="34" charset="0"/>
              </a:rPr>
              <a:t>90% of outcomes will be less than this value</a:t>
            </a:r>
          </a:p>
        </p:txBody>
      </p:sp>
      <p:cxnSp>
        <p:nvCxnSpPr>
          <p:cNvPr id="25" name="Straight Arrow Connector 24">
            <a:extLst>
              <a:ext uri="{FF2B5EF4-FFF2-40B4-BE49-F238E27FC236}">
                <a16:creationId xmlns:a16="http://schemas.microsoft.com/office/drawing/2014/main" id="{A53C3649-D8D9-A2E4-F229-CE9EAC164A76}"/>
              </a:ext>
            </a:extLst>
          </p:cNvPr>
          <p:cNvCxnSpPr>
            <a:cxnSpLocks/>
          </p:cNvCxnSpPr>
          <p:nvPr/>
        </p:nvCxnSpPr>
        <p:spPr>
          <a:xfrm flipV="1">
            <a:off x="6992984" y="4287705"/>
            <a:ext cx="1529564" cy="6587"/>
          </a:xfrm>
          <a:prstGeom prst="straightConnector1">
            <a:avLst/>
          </a:prstGeom>
          <a:ln>
            <a:solidFill>
              <a:schemeClr val="bg1">
                <a:lumMod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6" name="TextBox 13">
            <a:extLst>
              <a:ext uri="{FF2B5EF4-FFF2-40B4-BE49-F238E27FC236}">
                <a16:creationId xmlns:a16="http://schemas.microsoft.com/office/drawing/2014/main" id="{C80F1305-B410-E0FA-357E-9847F9388294}"/>
              </a:ext>
            </a:extLst>
          </p:cNvPr>
          <p:cNvSpPr txBox="1"/>
          <p:nvPr/>
        </p:nvSpPr>
        <p:spPr>
          <a:xfrm>
            <a:off x="7415109" y="3982360"/>
            <a:ext cx="1179628" cy="507831"/>
          </a:xfrm>
          <a:prstGeom prst="rect">
            <a:avLst/>
          </a:prstGeom>
          <a:solidFill>
            <a:schemeClr val="bg1"/>
          </a:solidFill>
          <a:ln w="6350">
            <a:solidFill>
              <a:schemeClr val="bg1">
                <a:lumMod val="50000"/>
              </a:schemeClr>
            </a:solidFill>
          </a:ln>
        </p:spPr>
        <p:txBody>
          <a:bodyPr wrap="square" rtlCol="0">
            <a:spAutoFit/>
          </a:bodyPr>
          <a:lstStyle>
            <a:defPPr>
              <a:defRPr lang="en-US"/>
            </a:defPPr>
            <a:lvl1pPr marL="0" indent="0" algn="l" defTabSz="457200" rtl="0" eaLnBrk="1" latinLnBrk="0" hangingPunct="1">
              <a:defRPr sz="1800" kern="1200">
                <a:solidFill>
                  <a:schemeClr val="tx1"/>
                </a:solidFill>
                <a:latin typeface="+mn-lt"/>
                <a:ea typeface="+mn-ea"/>
                <a:cs typeface="+mn-cs"/>
              </a:defRPr>
            </a:lvl1pPr>
            <a:lvl2pPr marL="457200" indent="0" algn="l" defTabSz="457200" rtl="0" eaLnBrk="1" latinLnBrk="0" hangingPunct="1">
              <a:defRPr sz="1800" kern="1200">
                <a:solidFill>
                  <a:schemeClr val="tx1"/>
                </a:solidFill>
                <a:latin typeface="+mn-lt"/>
                <a:ea typeface="+mn-ea"/>
                <a:cs typeface="+mn-cs"/>
              </a:defRPr>
            </a:lvl2pPr>
            <a:lvl3pPr marL="914400" indent="0" algn="l" defTabSz="457200" rtl="0" eaLnBrk="1" latinLnBrk="0" hangingPunct="1">
              <a:defRPr sz="1800" kern="1200">
                <a:solidFill>
                  <a:schemeClr val="tx1"/>
                </a:solidFill>
                <a:latin typeface="+mn-lt"/>
                <a:ea typeface="+mn-ea"/>
                <a:cs typeface="+mn-cs"/>
              </a:defRPr>
            </a:lvl3pPr>
            <a:lvl4pPr marL="1371600" indent="0" algn="l" defTabSz="457200" rtl="0" eaLnBrk="1" latinLnBrk="0" hangingPunct="1">
              <a:defRPr sz="1800" kern="1200">
                <a:solidFill>
                  <a:schemeClr val="tx1"/>
                </a:solidFill>
                <a:latin typeface="+mn-lt"/>
                <a:ea typeface="+mn-ea"/>
                <a:cs typeface="+mn-cs"/>
              </a:defRPr>
            </a:lvl4pPr>
            <a:lvl5pPr marL="1828800" indent="0" algn="l" defTabSz="457200" rtl="0" eaLnBrk="1" latinLnBrk="0" hangingPunct="1">
              <a:defRPr sz="1800" kern="1200">
                <a:solidFill>
                  <a:schemeClr val="tx1"/>
                </a:solidFill>
                <a:latin typeface="+mn-lt"/>
                <a:ea typeface="+mn-ea"/>
                <a:cs typeface="+mn-cs"/>
              </a:defRPr>
            </a:lvl5pPr>
            <a:lvl6pPr marL="2286000" indent="0" algn="l" defTabSz="457200" rtl="0" eaLnBrk="1" latinLnBrk="0" hangingPunct="1">
              <a:defRPr sz="1800" kern="1200">
                <a:solidFill>
                  <a:schemeClr val="tx1"/>
                </a:solidFill>
                <a:latin typeface="+mn-lt"/>
                <a:ea typeface="+mn-ea"/>
                <a:cs typeface="+mn-cs"/>
              </a:defRPr>
            </a:lvl6pPr>
            <a:lvl7pPr marL="2743200" indent="0" algn="l" defTabSz="457200" rtl="0" eaLnBrk="1" latinLnBrk="0" hangingPunct="1">
              <a:defRPr sz="1800" kern="1200">
                <a:solidFill>
                  <a:schemeClr val="tx1"/>
                </a:solidFill>
                <a:latin typeface="+mn-lt"/>
                <a:ea typeface="+mn-ea"/>
                <a:cs typeface="+mn-cs"/>
              </a:defRPr>
            </a:lvl7pPr>
            <a:lvl8pPr marL="3200400" indent="0" algn="l" defTabSz="457200" rtl="0" eaLnBrk="1" latinLnBrk="0" hangingPunct="1">
              <a:defRPr sz="1800" kern="1200">
                <a:solidFill>
                  <a:schemeClr val="tx1"/>
                </a:solidFill>
                <a:latin typeface="+mn-lt"/>
                <a:ea typeface="+mn-ea"/>
                <a:cs typeface="+mn-cs"/>
              </a:defRPr>
            </a:lvl8pPr>
            <a:lvl9pPr marL="3657600" indent="0" algn="l" defTabSz="457200" rtl="0" eaLnBrk="1" latinLnBrk="0" hangingPunct="1">
              <a:defRPr sz="1800" kern="1200">
                <a:solidFill>
                  <a:schemeClr val="tx1"/>
                </a:solidFill>
                <a:latin typeface="+mn-lt"/>
                <a:ea typeface="+mn-ea"/>
                <a:cs typeface="+mn-cs"/>
              </a:defRPr>
            </a:lvl9pPr>
          </a:lstStyle>
          <a:p>
            <a:pPr algn="ctr"/>
            <a:r>
              <a:rPr lang="en-US" sz="900" dirty="0">
                <a:latin typeface="Aptos" panose="020B0004020202020204" pitchFamily="34" charset="0"/>
              </a:rPr>
              <a:t>50% of outcomes will be less than this value</a:t>
            </a:r>
          </a:p>
        </p:txBody>
      </p:sp>
      <p:cxnSp>
        <p:nvCxnSpPr>
          <p:cNvPr id="27" name="Straight Arrow Connector 26">
            <a:extLst>
              <a:ext uri="{FF2B5EF4-FFF2-40B4-BE49-F238E27FC236}">
                <a16:creationId xmlns:a16="http://schemas.microsoft.com/office/drawing/2014/main" id="{97EB3724-F001-A0A9-E05A-2505BEB73D4F}"/>
              </a:ext>
            </a:extLst>
          </p:cNvPr>
          <p:cNvCxnSpPr>
            <a:cxnSpLocks/>
          </p:cNvCxnSpPr>
          <p:nvPr/>
        </p:nvCxnSpPr>
        <p:spPr>
          <a:xfrm flipV="1">
            <a:off x="6983651" y="4911951"/>
            <a:ext cx="1529564" cy="6587"/>
          </a:xfrm>
          <a:prstGeom prst="straightConnector1">
            <a:avLst/>
          </a:prstGeom>
          <a:ln>
            <a:solidFill>
              <a:schemeClr val="bg1">
                <a:lumMod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8" name="TextBox 13">
            <a:extLst>
              <a:ext uri="{FF2B5EF4-FFF2-40B4-BE49-F238E27FC236}">
                <a16:creationId xmlns:a16="http://schemas.microsoft.com/office/drawing/2014/main" id="{474EC182-AFED-C2F7-E21D-E06257F139E9}"/>
              </a:ext>
            </a:extLst>
          </p:cNvPr>
          <p:cNvSpPr txBox="1"/>
          <p:nvPr/>
        </p:nvSpPr>
        <p:spPr>
          <a:xfrm>
            <a:off x="7415109" y="4565445"/>
            <a:ext cx="1179628" cy="507831"/>
          </a:xfrm>
          <a:prstGeom prst="rect">
            <a:avLst/>
          </a:prstGeom>
          <a:solidFill>
            <a:schemeClr val="bg1"/>
          </a:solidFill>
          <a:ln w="6350">
            <a:solidFill>
              <a:schemeClr val="bg1">
                <a:lumMod val="50000"/>
              </a:schemeClr>
            </a:solidFill>
          </a:ln>
        </p:spPr>
        <p:txBody>
          <a:bodyPr wrap="square" rtlCol="0">
            <a:spAutoFit/>
          </a:bodyPr>
          <a:lstStyle>
            <a:defPPr>
              <a:defRPr lang="en-US"/>
            </a:defPPr>
            <a:lvl1pPr marL="0" indent="0" algn="l" defTabSz="457200" rtl="0" eaLnBrk="1" latinLnBrk="0" hangingPunct="1">
              <a:defRPr sz="1800" kern="1200">
                <a:solidFill>
                  <a:schemeClr val="tx1"/>
                </a:solidFill>
                <a:latin typeface="+mn-lt"/>
                <a:ea typeface="+mn-ea"/>
                <a:cs typeface="+mn-cs"/>
              </a:defRPr>
            </a:lvl1pPr>
            <a:lvl2pPr marL="457200" indent="0" algn="l" defTabSz="457200" rtl="0" eaLnBrk="1" latinLnBrk="0" hangingPunct="1">
              <a:defRPr sz="1800" kern="1200">
                <a:solidFill>
                  <a:schemeClr val="tx1"/>
                </a:solidFill>
                <a:latin typeface="+mn-lt"/>
                <a:ea typeface="+mn-ea"/>
                <a:cs typeface="+mn-cs"/>
              </a:defRPr>
            </a:lvl2pPr>
            <a:lvl3pPr marL="914400" indent="0" algn="l" defTabSz="457200" rtl="0" eaLnBrk="1" latinLnBrk="0" hangingPunct="1">
              <a:defRPr sz="1800" kern="1200">
                <a:solidFill>
                  <a:schemeClr val="tx1"/>
                </a:solidFill>
                <a:latin typeface="+mn-lt"/>
                <a:ea typeface="+mn-ea"/>
                <a:cs typeface="+mn-cs"/>
              </a:defRPr>
            </a:lvl3pPr>
            <a:lvl4pPr marL="1371600" indent="0" algn="l" defTabSz="457200" rtl="0" eaLnBrk="1" latinLnBrk="0" hangingPunct="1">
              <a:defRPr sz="1800" kern="1200">
                <a:solidFill>
                  <a:schemeClr val="tx1"/>
                </a:solidFill>
                <a:latin typeface="+mn-lt"/>
                <a:ea typeface="+mn-ea"/>
                <a:cs typeface="+mn-cs"/>
              </a:defRPr>
            </a:lvl4pPr>
            <a:lvl5pPr marL="1828800" indent="0" algn="l" defTabSz="457200" rtl="0" eaLnBrk="1" latinLnBrk="0" hangingPunct="1">
              <a:defRPr sz="1800" kern="1200">
                <a:solidFill>
                  <a:schemeClr val="tx1"/>
                </a:solidFill>
                <a:latin typeface="+mn-lt"/>
                <a:ea typeface="+mn-ea"/>
                <a:cs typeface="+mn-cs"/>
              </a:defRPr>
            </a:lvl5pPr>
            <a:lvl6pPr marL="2286000" indent="0" algn="l" defTabSz="457200" rtl="0" eaLnBrk="1" latinLnBrk="0" hangingPunct="1">
              <a:defRPr sz="1800" kern="1200">
                <a:solidFill>
                  <a:schemeClr val="tx1"/>
                </a:solidFill>
                <a:latin typeface="+mn-lt"/>
                <a:ea typeface="+mn-ea"/>
                <a:cs typeface="+mn-cs"/>
              </a:defRPr>
            </a:lvl6pPr>
            <a:lvl7pPr marL="2743200" indent="0" algn="l" defTabSz="457200" rtl="0" eaLnBrk="1" latinLnBrk="0" hangingPunct="1">
              <a:defRPr sz="1800" kern="1200">
                <a:solidFill>
                  <a:schemeClr val="tx1"/>
                </a:solidFill>
                <a:latin typeface="+mn-lt"/>
                <a:ea typeface="+mn-ea"/>
                <a:cs typeface="+mn-cs"/>
              </a:defRPr>
            </a:lvl7pPr>
            <a:lvl8pPr marL="3200400" indent="0" algn="l" defTabSz="457200" rtl="0" eaLnBrk="1" latinLnBrk="0" hangingPunct="1">
              <a:defRPr sz="1800" kern="1200">
                <a:solidFill>
                  <a:schemeClr val="tx1"/>
                </a:solidFill>
                <a:latin typeface="+mn-lt"/>
                <a:ea typeface="+mn-ea"/>
                <a:cs typeface="+mn-cs"/>
              </a:defRPr>
            </a:lvl8pPr>
            <a:lvl9pPr marL="3657600" indent="0" algn="l" defTabSz="457200" rtl="0" eaLnBrk="1" latinLnBrk="0" hangingPunct="1">
              <a:defRPr sz="1800" kern="1200">
                <a:solidFill>
                  <a:schemeClr val="tx1"/>
                </a:solidFill>
                <a:latin typeface="+mn-lt"/>
                <a:ea typeface="+mn-ea"/>
                <a:cs typeface="+mn-cs"/>
              </a:defRPr>
            </a:lvl9pPr>
          </a:lstStyle>
          <a:p>
            <a:pPr algn="ctr"/>
            <a:r>
              <a:rPr lang="en-US" sz="900" dirty="0">
                <a:latin typeface="Aptos" panose="020B0004020202020204" pitchFamily="34" charset="0"/>
              </a:rPr>
              <a:t>10% of outcomes will be less than this value</a:t>
            </a:r>
          </a:p>
        </p:txBody>
      </p:sp>
      <p:cxnSp>
        <p:nvCxnSpPr>
          <p:cNvPr id="29" name="Straight Arrow Connector 28">
            <a:extLst>
              <a:ext uri="{FF2B5EF4-FFF2-40B4-BE49-F238E27FC236}">
                <a16:creationId xmlns:a16="http://schemas.microsoft.com/office/drawing/2014/main" id="{FED877E9-BBF7-7C62-83A4-56109CBF14AA}"/>
              </a:ext>
            </a:extLst>
          </p:cNvPr>
          <p:cNvCxnSpPr>
            <a:cxnSpLocks/>
          </p:cNvCxnSpPr>
          <p:nvPr/>
        </p:nvCxnSpPr>
        <p:spPr>
          <a:xfrm flipV="1">
            <a:off x="6983651" y="5228014"/>
            <a:ext cx="1529564" cy="6587"/>
          </a:xfrm>
          <a:prstGeom prst="straightConnector1">
            <a:avLst/>
          </a:prstGeom>
          <a:ln>
            <a:solidFill>
              <a:schemeClr val="bg1">
                <a:lumMod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0" name="TextBox 13">
            <a:extLst>
              <a:ext uri="{FF2B5EF4-FFF2-40B4-BE49-F238E27FC236}">
                <a16:creationId xmlns:a16="http://schemas.microsoft.com/office/drawing/2014/main" id="{C838940C-3202-B16A-A6AA-6ED29A029AE8}"/>
              </a:ext>
            </a:extLst>
          </p:cNvPr>
          <p:cNvSpPr txBox="1"/>
          <p:nvPr/>
        </p:nvSpPr>
        <p:spPr>
          <a:xfrm>
            <a:off x="7415109" y="5148530"/>
            <a:ext cx="1179628" cy="507831"/>
          </a:xfrm>
          <a:prstGeom prst="rect">
            <a:avLst/>
          </a:prstGeom>
          <a:solidFill>
            <a:schemeClr val="bg1"/>
          </a:solidFill>
          <a:ln w="6350">
            <a:solidFill>
              <a:schemeClr val="bg1">
                <a:lumMod val="50000"/>
              </a:schemeClr>
            </a:solidFill>
          </a:ln>
        </p:spPr>
        <p:txBody>
          <a:bodyPr wrap="square" rtlCol="0">
            <a:spAutoFit/>
          </a:bodyPr>
          <a:lstStyle>
            <a:defPPr>
              <a:defRPr lang="en-US"/>
            </a:defPPr>
            <a:lvl1pPr marL="0" indent="0" algn="l" defTabSz="457200" rtl="0" eaLnBrk="1" latinLnBrk="0" hangingPunct="1">
              <a:defRPr sz="1800" kern="1200">
                <a:solidFill>
                  <a:schemeClr val="tx1"/>
                </a:solidFill>
                <a:latin typeface="+mn-lt"/>
                <a:ea typeface="+mn-ea"/>
                <a:cs typeface="+mn-cs"/>
              </a:defRPr>
            </a:lvl1pPr>
            <a:lvl2pPr marL="457200" indent="0" algn="l" defTabSz="457200" rtl="0" eaLnBrk="1" latinLnBrk="0" hangingPunct="1">
              <a:defRPr sz="1800" kern="1200">
                <a:solidFill>
                  <a:schemeClr val="tx1"/>
                </a:solidFill>
                <a:latin typeface="+mn-lt"/>
                <a:ea typeface="+mn-ea"/>
                <a:cs typeface="+mn-cs"/>
              </a:defRPr>
            </a:lvl2pPr>
            <a:lvl3pPr marL="914400" indent="0" algn="l" defTabSz="457200" rtl="0" eaLnBrk="1" latinLnBrk="0" hangingPunct="1">
              <a:defRPr sz="1800" kern="1200">
                <a:solidFill>
                  <a:schemeClr val="tx1"/>
                </a:solidFill>
                <a:latin typeface="+mn-lt"/>
                <a:ea typeface="+mn-ea"/>
                <a:cs typeface="+mn-cs"/>
              </a:defRPr>
            </a:lvl3pPr>
            <a:lvl4pPr marL="1371600" indent="0" algn="l" defTabSz="457200" rtl="0" eaLnBrk="1" latinLnBrk="0" hangingPunct="1">
              <a:defRPr sz="1800" kern="1200">
                <a:solidFill>
                  <a:schemeClr val="tx1"/>
                </a:solidFill>
                <a:latin typeface="+mn-lt"/>
                <a:ea typeface="+mn-ea"/>
                <a:cs typeface="+mn-cs"/>
              </a:defRPr>
            </a:lvl4pPr>
            <a:lvl5pPr marL="1828800" indent="0" algn="l" defTabSz="457200" rtl="0" eaLnBrk="1" latinLnBrk="0" hangingPunct="1">
              <a:defRPr sz="1800" kern="1200">
                <a:solidFill>
                  <a:schemeClr val="tx1"/>
                </a:solidFill>
                <a:latin typeface="+mn-lt"/>
                <a:ea typeface="+mn-ea"/>
                <a:cs typeface="+mn-cs"/>
              </a:defRPr>
            </a:lvl5pPr>
            <a:lvl6pPr marL="2286000" indent="0" algn="l" defTabSz="457200" rtl="0" eaLnBrk="1" latinLnBrk="0" hangingPunct="1">
              <a:defRPr sz="1800" kern="1200">
                <a:solidFill>
                  <a:schemeClr val="tx1"/>
                </a:solidFill>
                <a:latin typeface="+mn-lt"/>
                <a:ea typeface="+mn-ea"/>
                <a:cs typeface="+mn-cs"/>
              </a:defRPr>
            </a:lvl6pPr>
            <a:lvl7pPr marL="2743200" indent="0" algn="l" defTabSz="457200" rtl="0" eaLnBrk="1" latinLnBrk="0" hangingPunct="1">
              <a:defRPr sz="1800" kern="1200">
                <a:solidFill>
                  <a:schemeClr val="tx1"/>
                </a:solidFill>
                <a:latin typeface="+mn-lt"/>
                <a:ea typeface="+mn-ea"/>
                <a:cs typeface="+mn-cs"/>
              </a:defRPr>
            </a:lvl7pPr>
            <a:lvl8pPr marL="3200400" indent="0" algn="l" defTabSz="457200" rtl="0" eaLnBrk="1" latinLnBrk="0" hangingPunct="1">
              <a:defRPr sz="1800" kern="1200">
                <a:solidFill>
                  <a:schemeClr val="tx1"/>
                </a:solidFill>
                <a:latin typeface="+mn-lt"/>
                <a:ea typeface="+mn-ea"/>
                <a:cs typeface="+mn-cs"/>
              </a:defRPr>
            </a:lvl8pPr>
            <a:lvl9pPr marL="3657600" indent="0" algn="l" defTabSz="457200" rtl="0" eaLnBrk="1" latinLnBrk="0" hangingPunct="1">
              <a:defRPr sz="1800" kern="1200">
                <a:solidFill>
                  <a:schemeClr val="tx1"/>
                </a:solidFill>
                <a:latin typeface="+mn-lt"/>
                <a:ea typeface="+mn-ea"/>
                <a:cs typeface="+mn-cs"/>
              </a:defRPr>
            </a:lvl9pPr>
          </a:lstStyle>
          <a:p>
            <a:pPr algn="ctr"/>
            <a:r>
              <a:rPr lang="en-US" sz="900" dirty="0">
                <a:latin typeface="Aptos" panose="020B0004020202020204" pitchFamily="34" charset="0"/>
              </a:rPr>
              <a:t>1% of outcomes will be less than this value</a:t>
            </a:r>
          </a:p>
        </p:txBody>
      </p:sp>
    </p:spTree>
    <p:extLst>
      <p:ext uri="{BB962C8B-B14F-4D97-AF65-F5344CB8AC3E}">
        <p14:creationId xmlns:p14="http://schemas.microsoft.com/office/powerpoint/2010/main" val="1854736442"/>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20557</TotalTime>
  <Words>2361</Words>
  <Application>Microsoft Macintosh PowerPoint</Application>
  <PresentationFormat>On-screen Show (4:3)</PresentationFormat>
  <Paragraphs>335</Paragraphs>
  <Slides>43</Slides>
  <Notes>3</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2</vt:i4>
      </vt:variant>
      <vt:variant>
        <vt:lpstr>Slide Titles</vt:lpstr>
      </vt:variant>
      <vt:variant>
        <vt:i4>43</vt:i4>
      </vt:variant>
    </vt:vector>
  </HeadingPairs>
  <TitlesOfParts>
    <vt:vector size="53" baseType="lpstr">
      <vt:lpstr>Aptos</vt:lpstr>
      <vt:lpstr>Aptos Light</vt:lpstr>
      <vt:lpstr>Arial</vt:lpstr>
      <vt:lpstr>Calibri</vt:lpstr>
      <vt:lpstr>Calibri Light</vt:lpstr>
      <vt:lpstr>Grotesque</vt:lpstr>
      <vt:lpstr>Grotesque Light</vt:lpstr>
      <vt:lpstr>Office 2013 - 2022 Theme</vt:lpstr>
      <vt:lpstr>Worksheet</vt:lpstr>
      <vt:lpstr>Microsoft Excel Worksheet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Francis Barker</dc:creator>
  <cp:lastModifiedBy>Francis Barker</cp:lastModifiedBy>
  <cp:revision>96</cp:revision>
  <dcterms:created xsi:type="dcterms:W3CDTF">2024-02-09T09:35:44Z</dcterms:created>
  <dcterms:modified xsi:type="dcterms:W3CDTF">2025-07-13T12:54:49Z</dcterms:modified>
</cp:coreProperties>
</file>