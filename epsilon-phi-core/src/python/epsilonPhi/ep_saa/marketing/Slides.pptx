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notesSlides/notesSlide1.xml" ContentType="application/vnd.openxmlformats-officedocument.presentationml.notesSlid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5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2.xml" ContentType="application/vnd.openxmlformats-officedocument.presentationml.notesSlide+xml"/>
  <Override PartName="/ppt/charts/chart6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7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8.xml" ContentType="application/vnd.openxmlformats-officedocument.drawingml.chart+xml"/>
  <Override PartName="/ppt/notesSlides/notesSlide3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12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13.xml" ContentType="application/vnd.openxmlformats-officedocument.drawingml.char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4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5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6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7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8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9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20.xml" ContentType="application/vnd.openxmlformats-officedocument.drawingml.chart+xml"/>
  <Override PartName="/ppt/drawings/drawing1.xml" ContentType="application/vnd.openxmlformats-officedocument.drawingml.chartshapes+xml"/>
  <Override PartName="/ppt/charts/chart21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22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23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24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25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6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7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8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9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charts/chart30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charts/chart31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32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drawings/drawing2.xml" ContentType="application/vnd.openxmlformats-officedocument.drawingml.chartshapes+xml"/>
  <Override PartName="/ppt/charts/chart3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4"/>
  </p:notesMasterIdLst>
  <p:sldIdLst>
    <p:sldId id="272" r:id="rId2"/>
    <p:sldId id="317" r:id="rId3"/>
    <p:sldId id="318" r:id="rId4"/>
    <p:sldId id="312" r:id="rId5"/>
    <p:sldId id="314" r:id="rId6"/>
    <p:sldId id="316" r:id="rId7"/>
    <p:sldId id="319" r:id="rId8"/>
    <p:sldId id="285" r:id="rId9"/>
    <p:sldId id="286" r:id="rId10"/>
    <p:sldId id="288" r:id="rId11"/>
    <p:sldId id="290" r:id="rId12"/>
    <p:sldId id="287" r:id="rId13"/>
    <p:sldId id="291" r:id="rId14"/>
    <p:sldId id="333" r:id="rId15"/>
    <p:sldId id="322" r:id="rId16"/>
    <p:sldId id="325" r:id="rId17"/>
    <p:sldId id="326" r:id="rId18"/>
    <p:sldId id="327" r:id="rId19"/>
    <p:sldId id="328" r:id="rId20"/>
    <p:sldId id="329" r:id="rId21"/>
    <p:sldId id="331" r:id="rId22"/>
    <p:sldId id="334" r:id="rId23"/>
    <p:sldId id="330" r:id="rId24"/>
    <p:sldId id="320" r:id="rId25"/>
    <p:sldId id="299" r:id="rId26"/>
    <p:sldId id="293" r:id="rId27"/>
    <p:sldId id="295" r:id="rId28"/>
    <p:sldId id="302" r:id="rId29"/>
    <p:sldId id="300" r:id="rId30"/>
    <p:sldId id="296" r:id="rId31"/>
    <p:sldId id="321" r:id="rId32"/>
    <p:sldId id="297" r:id="rId33"/>
    <p:sldId id="304" r:id="rId34"/>
    <p:sldId id="303" r:id="rId35"/>
    <p:sldId id="323" r:id="rId36"/>
    <p:sldId id="305" r:id="rId37"/>
    <p:sldId id="306" r:id="rId38"/>
    <p:sldId id="307" r:id="rId39"/>
    <p:sldId id="308" r:id="rId40"/>
    <p:sldId id="309" r:id="rId41"/>
    <p:sldId id="310" r:id="rId42"/>
    <p:sldId id="324" r:id="rId4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B4C7E7"/>
    <a:srgbClr val="0B0D37"/>
    <a:srgbClr val="7CC04D"/>
    <a:srgbClr val="151824"/>
    <a:srgbClr val="7F94BA"/>
    <a:srgbClr val="721624"/>
    <a:srgbClr val="70AD47"/>
    <a:srgbClr val="DAE3F3"/>
    <a:srgbClr val="000D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34"/>
    <p:restoredTop sz="94608"/>
  </p:normalViewPr>
  <p:slideViewPr>
    <p:cSldViewPr snapToGrid="0">
      <p:cViewPr varScale="1">
        <p:scale>
          <a:sx n="189" d="100"/>
          <a:sy n="189" d="100"/>
        </p:scale>
        <p:origin x="744" y="1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francisbarker/repo/epsilon-psi/epsilon-phi-core/src/python/epsilonPhi/ep_saa/marketing/Marketing%20Chart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francisbarker/repo/epsilon-psi/epsilon-phi-core/src/python/epsilonPhi/ep_saa/marketing/Marketing%20Charts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francisbarker/Repositories/Python/epsilon-phi/epsilon-phi-core/src/Scripts/Case%20Studies/1.%20Portfolio%20Analysis/Simple%20Portfolio%20Report_new_p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francisbarker/Repositories/Python/epsilon-phi/epsilon-phi-core/src/Scripts/Case%20Studies/1.%20Portfolio%20Analysis/Simple%20Portfolio%20Report_new_pe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francisbarker/repo/epsilon-psi/epsilon-phi-core/src/Scripts/Case%20Studies/1.%20Portfolio%20Analysis/Simple%20Portfolio%20Report_new_pe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francisbarker/Repositories/Python/epsilon-phi/epsilon-phi-core/src/Scripts/Case%20Studies/1.%20Portfolio%20Analysis/Simple%20Portfolio%20Report_new_pe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francisbarker/Repositories/Python/epsilon-phi/epsilon-phi-core/src/Scripts/Case%20Studies/1.%20Portfolio%20Analysis/Simple%20Portfolio%20Report_new_pe.xlsx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francisbarker/Repositories/Python/epsilon-phi/epsilon-phi-core/src/Scripts/Case%20Studies/1.%20Portfolio%20Analysis/Simple%20Portfolio%20Report%20Spending.xlsx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francisbarker/Repositories/Python/epsilon-phi/epsilon-phi-core/src/Scripts/Case%20Studies/1.%20Portfolio%20Analysis/Simple%20Portfolio%20Report%20Spending.xlsx" TargetMode="Externa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francisbarker/Repositories/Python/epsilon-phi/epsilon-phi-core/src/Scripts/Case%20Studies/1.%20Portfolio%20Analysis/Simple%20Portfolio%20Report_new_pe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francisbarker/Repositories/Python/epsilon-phi/epsilon-phi-core/src/Scripts/Case%20Studies/2.%20Optimizations/Real%20Return%20with%20Spending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francisbarker/Repositories/Python/epsilon-phi/epsilon-phi-core/src/Scripts/Case%20Studies/2.%20Optimizations/Real%20Return%20with%20Spending.xlsx" TargetMode="Externa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francisbarker/Repositories/Python/epsilon-phi/epsilon-phi-core/src/Scripts/Case%20Studies/3.%20Single%20Stock%20Analysis/Single%20Stock%20Analysis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francisbarker/Repositories/Python/epsilon-phi/epsilon-phi-core/src/Scripts/Case%20Studies/3.%20Single%20Stock%20Analysis/Single%20Stock%20Analysis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francisbarker/Repositories/Python/epsilon-phi/epsilon-phi-core/src/Scripts/Case%20Studies/3.%20Single%20Stock%20Analysis/Single%20Stock%20Analysis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francisbarker/Repositories/Python/epsilon-phi/epsilon-phi-core/src/Scripts/Case%20Studies/3.%20Single%20Stock%20Analysis/Single%20Stock%20Analysis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francisbarker/Repositories/Python/epsilon-phi/epsilon-phi-core/src/Scripts/Case%20Studies/3.%20Single%20Stock%20Analysis/Single%20Stock%20Analysis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francisbarker/Repositories/Python/epsilon-phi/epsilon-phi-core/src/Scripts/Case%20Studies/3.%20Single%20Stock%20Analysis/Staged%20Sell%20Down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20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file:////Users/francisbarker/Repositories/Python/epsilon-phi/epsilon-phi-core/src/Scripts/Case%20Studies/3.%20Single%20Stock%20Analysis/Single%20Stock%20Analysis.xlsx" TargetMode="Externa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francisbarker/Repositories/Python/epsilon-phi/epsilon-phi-core/src/Scripts/Case%20Studies/4.%20Structured%20Notes/Autocallable/Strucutred%20Notes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francisbarker/Repositories/Python/epsilon-phi/epsilon-phi-core/src/Scripts/Case%20Studies/4.%20Structured%20Notes/Autocallable/Strucutred%20Notes%20Report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francisbarker/Repositories/Python/epsilon-phi/epsilon-phi-core/src/Scripts/Case%20Studies/4.%20Structured%20Notes/Autocallable/Strucutred%20Notes%20Report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francisbarker/Repositories/Python/epsilon-phi/epsilon-phi-core/src/Scripts/Case%20Studies/4.%20Structured%20Notes/Autocallable/Strucutred%20Notes%20Report.xlsx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francisbarker/Repositories/Python/epsilon-phi/epsilon-phi-core/src/Scripts/Case%20Studies/4.%20Structured%20Notes/Autocallable/Strucutred%20Notes%20Report.xlsx" TargetMode="Externa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francisbarker/repo/epsilon-psi/epsilon-phi-core/src/Scripts/Case%20Studies/Private%20Assets/Private%20Assets%20Investing.xlsx" TargetMode="External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francisbarker/repo/epsilon-psi/epsilon-phi-core/src/Scripts/Case%20Studies/Private%20Assets/Private%20Assets%20Investing.xlsx" TargetMode="External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francisbarker/Repositories/Python/epsilon-phi/epsilon-phi-core/src/Scripts/Case%20Studies/Private%20Assets/Private%20Assets%20Investing.xlsx" TargetMode="External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francisbarker/repo/epsilon-psi/epsilon-phi-core/src/Scripts/Case%20Studies/Private%20Assets/Private%20Assets%20Investing.xlsx" TargetMode="External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francisbarker/repo/epsilon-psi/epsilon-phi-core/src/Scripts/Case%20Studies/Private%20Assets/Commitment%20Pacing%20Analysis.xlsx" TargetMode="External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francisbarker/Repositories/Python/epsilon-phi/epsilon-phi-core/src/Scripts/Case%20Studies/Private%20Assets/Commitment%20Pacing%20Analysis.xlsx" TargetMode="External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francisbarker/repo/epsilon-psi/epsilon-phi-core/src/Scripts/Case%20Studies/Private%20Assets/Commitment%20Pacing%20Analysis.xlsx" TargetMode="External"/><Relationship Id="rId2" Type="http://schemas.microsoft.com/office/2011/relationships/chartColorStyle" Target="colors26.xml"/><Relationship Id="rId1" Type="http://schemas.microsoft.com/office/2011/relationships/chartStyle" Target="style26.xml"/><Relationship Id="rId4" Type="http://schemas.openxmlformats.org/officeDocument/2006/relationships/chartUserShapes" Target="../drawings/drawing2.xml"/></Relationships>
</file>

<file path=ppt/charts/_rels/chart33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francisbarker/Repositories/Python/epsilon-phi/epsilon-phi-core/src/Scripts/Case%20Studies/Private%20Assets/Comittment%20Pacing%20Portfolio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 w="3175">
              <a:solidFill>
                <a:schemeClr val="bg1">
                  <a:lumMod val="95000"/>
                </a:schemeClr>
              </a:solidFill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0B3040"/>
              </a:solidFill>
              <a:ln w="3175">
                <a:solidFill>
                  <a:schemeClr val="bg1">
                    <a:lumMod val="9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E69-FB4D-AAB8-C476AD83A2A6}"/>
              </c:ext>
            </c:extLst>
          </c:dPt>
          <c:dPt>
            <c:idx val="2"/>
            <c:invertIfNegative val="0"/>
            <c:bubble3D val="0"/>
            <c:spPr>
              <a:solidFill>
                <a:srgbClr val="215C98"/>
              </a:solidFill>
              <a:ln w="3175">
                <a:solidFill>
                  <a:schemeClr val="bg1">
                    <a:lumMod val="9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E69-FB4D-AAB8-C476AD83A2A6}"/>
              </c:ext>
            </c:extLst>
          </c:dPt>
          <c:dPt>
            <c:idx val="3"/>
            <c:invertIfNegative val="0"/>
            <c:bubble3D val="0"/>
            <c:spPr>
              <a:solidFill>
                <a:srgbClr val="4D93D9"/>
              </a:solidFill>
              <a:ln w="3175">
                <a:solidFill>
                  <a:schemeClr val="bg1">
                    <a:lumMod val="9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E69-FB4D-AAB8-C476AD83A2A6}"/>
              </c:ext>
            </c:extLst>
          </c:dPt>
          <c:dPt>
            <c:idx val="4"/>
            <c:invertIfNegative val="0"/>
            <c:bubble3D val="0"/>
            <c:spPr>
              <a:solidFill>
                <a:srgbClr val="A6C9EC"/>
              </a:solidFill>
              <a:ln w="3175">
                <a:solidFill>
                  <a:schemeClr val="bg1">
                    <a:lumMod val="9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E69-FB4D-AAB8-C476AD83A2A6}"/>
              </c:ext>
            </c:extLst>
          </c:dPt>
          <c:dPt>
            <c:idx val="5"/>
            <c:invertIfNegative val="0"/>
            <c:bubble3D val="0"/>
            <c:spPr>
              <a:solidFill>
                <a:srgbClr val="DAE9F8"/>
              </a:solidFill>
              <a:ln w="3175">
                <a:solidFill>
                  <a:schemeClr val="bg1">
                    <a:lumMod val="9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9E69-FB4D-AAB8-C476AD83A2A6}"/>
              </c:ext>
            </c:extLst>
          </c:dPt>
          <c:dPt>
            <c:idx val="6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 w="3175">
                <a:solidFill>
                  <a:schemeClr val="bg1">
                    <a:lumMod val="9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9E69-FB4D-AAB8-C476AD83A2A6}"/>
              </c:ext>
            </c:extLst>
          </c:dPt>
          <c:val>
            <c:numRef>
              <c:f>Sheet2!$D$3:$D$10</c:f>
              <c:numCache>
                <c:formatCode>0.0%</c:formatCode>
                <c:ptCount val="8"/>
                <c:pt idx="0" formatCode="General">
                  <c:v>#N/A</c:v>
                </c:pt>
                <c:pt idx="1">
                  <c:v>1.47229339532977E-2</c:v>
                </c:pt>
                <c:pt idx="2">
                  <c:v>-2.2850820509186802E-3</c:v>
                </c:pt>
                <c:pt idx="3">
                  <c:v>4.4626087906761997E-3</c:v>
                </c:pt>
                <c:pt idx="4">
                  <c:v>2.562196973119E-3</c:v>
                </c:pt>
                <c:pt idx="5">
                  <c:v>-4.29657055318064E-4</c:v>
                </c:pt>
                <c:pt idx="6">
                  <c:v>1.6512662048122099E-3</c:v>
                </c:pt>
                <c:pt idx="7" formatCode="General">
                  <c:v>#N/A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E69-FB4D-AAB8-C476AD83A2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-47"/>
        <c:axId val="17650656"/>
        <c:axId val="17652368"/>
      </c:barChart>
      <c:catAx>
        <c:axId val="17650656"/>
        <c:scaling>
          <c:orientation val="minMax"/>
        </c:scaling>
        <c:delete val="0"/>
        <c:axPos val="l"/>
        <c:majorTickMark val="none"/>
        <c:minorTickMark val="none"/>
        <c:tickLblPos val="none"/>
        <c:spPr>
          <a:noFill/>
          <a:ln w="12700" cap="flat" cmpd="sng" algn="ctr">
            <a:solidFill>
              <a:schemeClr val="dk1"/>
            </a:solidFill>
            <a:prstDash val="solid"/>
            <a:miter lim="800000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17652368"/>
        <c:crosses val="autoZero"/>
        <c:auto val="1"/>
        <c:lblAlgn val="ctr"/>
        <c:lblOffset val="100"/>
        <c:noMultiLvlLbl val="0"/>
      </c:catAx>
      <c:valAx>
        <c:axId val="176523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12700" cap="flat" cmpd="sng" algn="ctr">
            <a:solidFill>
              <a:schemeClr val="dk1"/>
            </a:solidFill>
            <a:prstDash val="solid"/>
            <a:miter lim="800000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176506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b="0" i="0">
          <a:solidFill>
            <a:schemeClr val="tx1"/>
          </a:solidFill>
          <a:latin typeface="Aptos" panose="020B0004020202020204" pitchFamily="34" charset="0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 w="3175">
              <a:solidFill>
                <a:schemeClr val="bg1">
                  <a:lumMod val="85000"/>
                </a:schemeClr>
              </a:solidFill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0B3040"/>
              </a:solidFill>
              <a:ln w="3175">
                <a:solidFill>
                  <a:schemeClr val="bg1">
                    <a:lumMod val="8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000-DA46-93B4-5D3A1E494154}"/>
              </c:ext>
            </c:extLst>
          </c:dPt>
          <c:dPt>
            <c:idx val="2"/>
            <c:invertIfNegative val="0"/>
            <c:bubble3D val="0"/>
            <c:spPr>
              <a:solidFill>
                <a:srgbClr val="215C98"/>
              </a:solidFill>
              <a:ln w="3175">
                <a:solidFill>
                  <a:schemeClr val="bg1">
                    <a:lumMod val="8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000-DA46-93B4-5D3A1E494154}"/>
              </c:ext>
            </c:extLst>
          </c:dPt>
          <c:dPt>
            <c:idx val="3"/>
            <c:invertIfNegative val="0"/>
            <c:bubble3D val="0"/>
            <c:spPr>
              <a:solidFill>
                <a:srgbClr val="4D93D9"/>
              </a:solidFill>
              <a:ln w="3175">
                <a:solidFill>
                  <a:schemeClr val="bg1">
                    <a:lumMod val="8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000-DA46-93B4-5D3A1E494154}"/>
              </c:ext>
            </c:extLst>
          </c:dPt>
          <c:dPt>
            <c:idx val="4"/>
            <c:invertIfNegative val="0"/>
            <c:bubble3D val="0"/>
            <c:spPr>
              <a:solidFill>
                <a:srgbClr val="A6C9EC"/>
              </a:solidFill>
              <a:ln w="3175">
                <a:solidFill>
                  <a:schemeClr val="bg1">
                    <a:lumMod val="8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000-DA46-93B4-5D3A1E494154}"/>
              </c:ext>
            </c:extLst>
          </c:dPt>
          <c:dPt>
            <c:idx val="5"/>
            <c:invertIfNegative val="0"/>
            <c:bubble3D val="0"/>
            <c:spPr>
              <a:solidFill>
                <a:srgbClr val="DAE9F8"/>
              </a:solidFill>
              <a:ln w="3175">
                <a:solidFill>
                  <a:schemeClr val="bg1">
                    <a:lumMod val="8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A000-DA46-93B4-5D3A1E494154}"/>
              </c:ext>
            </c:extLst>
          </c:dPt>
          <c:dPt>
            <c:idx val="6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 w="3175">
                <a:solidFill>
                  <a:schemeClr val="bg1">
                    <a:lumMod val="8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A000-DA46-93B4-5D3A1E494154}"/>
              </c:ext>
            </c:extLst>
          </c:dPt>
          <c:val>
            <c:numRef>
              <c:f>Sheet2!$E$3:$E$10</c:f>
              <c:numCache>
                <c:formatCode>0.0%</c:formatCode>
                <c:ptCount val="8"/>
                <c:pt idx="0" formatCode="General">
                  <c:v>#N/A</c:v>
                </c:pt>
                <c:pt idx="1">
                  <c:v>2.3749941759744E-2</c:v>
                </c:pt>
                <c:pt idx="2">
                  <c:v>1.67532432398701E-2</c:v>
                </c:pt>
                <c:pt idx="3">
                  <c:v>6.7089062690208899E-4</c:v>
                </c:pt>
                <c:pt idx="4">
                  <c:v>1.78828545086307E-4</c:v>
                </c:pt>
                <c:pt idx="5">
                  <c:v>9.3892461246148696E-4</c:v>
                </c:pt>
                <c:pt idx="6">
                  <c:v>6.4800589036583898E-3</c:v>
                </c:pt>
                <c:pt idx="7" formatCode="General">
                  <c:v>#N/A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A000-DA46-93B4-5D3A1E4941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-47"/>
        <c:axId val="17650656"/>
        <c:axId val="17652368"/>
      </c:barChart>
      <c:catAx>
        <c:axId val="17650656"/>
        <c:scaling>
          <c:orientation val="minMax"/>
        </c:scaling>
        <c:delete val="0"/>
        <c:axPos val="l"/>
        <c:majorTickMark val="none"/>
        <c:minorTickMark val="none"/>
        <c:tickLblPos val="none"/>
        <c:spPr>
          <a:noFill/>
          <a:ln w="12700" cap="flat" cmpd="sng" algn="ctr">
            <a:solidFill>
              <a:schemeClr val="dk1"/>
            </a:solidFill>
            <a:prstDash val="solid"/>
            <a:miter lim="800000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17652368"/>
        <c:crosses val="autoZero"/>
        <c:auto val="1"/>
        <c:lblAlgn val="ctr"/>
        <c:lblOffset val="100"/>
        <c:noMultiLvlLbl val="0"/>
      </c:catAx>
      <c:valAx>
        <c:axId val="17652368"/>
        <c:scaling>
          <c:orientation val="minMax"/>
          <c:max val="0.03"/>
          <c:min val="-5.0000000000000001E-3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12700" cap="flat" cmpd="sng" algn="ctr">
            <a:solidFill>
              <a:schemeClr val="dk1"/>
            </a:solidFill>
            <a:prstDash val="solid"/>
            <a:miter lim="800000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17650656"/>
        <c:crosses val="autoZero"/>
        <c:crossBetween val="between"/>
      </c:valAx>
    </c:plotArea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 b="0" i="0">
          <a:solidFill>
            <a:schemeClr val="tx1"/>
          </a:solidFill>
          <a:latin typeface="Aptos" panose="020B0004020202020204" pitchFamily="34" charset="0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7501228346456691"/>
          <c:y val="4.1509433962264149E-2"/>
          <c:w val="0.66847433070866147"/>
          <c:h val="0.87094993314514935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chemeClr val="tx2">
                <a:lumMod val="50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'Risk Decomposition'!$A$2:$A$23</c:f>
              <c:strCache>
                <c:ptCount val="19"/>
                <c:pt idx="0">
                  <c:v>US Dollar Debt</c:v>
                </c:pt>
                <c:pt idx="1">
                  <c:v>US High Yield</c:v>
                </c:pt>
                <c:pt idx="2">
                  <c:v>US Equity</c:v>
                </c:pt>
                <c:pt idx="3">
                  <c:v>Europe ex-UK Equity</c:v>
                </c:pt>
                <c:pt idx="4">
                  <c:v>UK Equity</c:v>
                </c:pt>
                <c:pt idx="5">
                  <c:v>Japanese Equity</c:v>
                </c:pt>
                <c:pt idx="6">
                  <c:v>Asia-Pacific Equity</c:v>
                </c:pt>
                <c:pt idx="7">
                  <c:v>Emerging Market Equity</c:v>
                </c:pt>
                <c:pt idx="8">
                  <c:v>Global REITs</c:v>
                </c:pt>
                <c:pt idx="9">
                  <c:v>Infrastructure Equity</c:v>
                </c:pt>
                <c:pt idx="10">
                  <c:v>Event Driven</c:v>
                </c:pt>
                <c:pt idx="11">
                  <c:v>Equity Long/Short</c:v>
                </c:pt>
                <c:pt idx="12">
                  <c:v>Tactical Trading</c:v>
                </c:pt>
                <c:pt idx="13">
                  <c:v>Buyout</c:v>
                </c:pt>
                <c:pt idx="14">
                  <c:v>Growth</c:v>
                </c:pt>
                <c:pt idx="15">
                  <c:v>Venture</c:v>
                </c:pt>
                <c:pt idx="16">
                  <c:v>Private Credit</c:v>
                </c:pt>
                <c:pt idx="17">
                  <c:v>Core Real Estate</c:v>
                </c:pt>
                <c:pt idx="18">
                  <c:v>Infrastructure</c:v>
                </c:pt>
              </c:strCache>
            </c:strRef>
          </c:cat>
          <c:val>
            <c:numRef>
              <c:f>'Risk Decomposition'!$B$2:$B$23</c:f>
              <c:numCache>
                <c:formatCode>0%</c:formatCode>
                <c:ptCount val="19"/>
                <c:pt idx="0">
                  <c:v>8.6024742893045791E-3</c:v>
                </c:pt>
                <c:pt idx="1">
                  <c:v>3.2801500345226997E-2</c:v>
                </c:pt>
                <c:pt idx="2">
                  <c:v>0.4582721463401897</c:v>
                </c:pt>
                <c:pt idx="3">
                  <c:v>7.3157780722153398E-2</c:v>
                </c:pt>
                <c:pt idx="4">
                  <c:v>1.87236840825202E-2</c:v>
                </c:pt>
                <c:pt idx="5">
                  <c:v>2.97933991652987E-2</c:v>
                </c:pt>
                <c:pt idx="6">
                  <c:v>1.54976214370223E-2</c:v>
                </c:pt>
                <c:pt idx="7">
                  <c:v>1.97275781635846E-2</c:v>
                </c:pt>
                <c:pt idx="8">
                  <c:v>1.01151456589024E-2</c:v>
                </c:pt>
                <c:pt idx="9">
                  <c:v>1.17981976649371E-2</c:v>
                </c:pt>
                <c:pt idx="10">
                  <c:v>5.1275847854916597E-3</c:v>
                </c:pt>
                <c:pt idx="11">
                  <c:v>1.5793800933559501E-2</c:v>
                </c:pt>
                <c:pt idx="12">
                  <c:v>3.4977493858902998E-3</c:v>
                </c:pt>
                <c:pt idx="13">
                  <c:v>0.15256482789336701</c:v>
                </c:pt>
                <c:pt idx="14">
                  <c:v>5.3093620137906E-2</c:v>
                </c:pt>
                <c:pt idx="15">
                  <c:v>1.5460685206523699E-2</c:v>
                </c:pt>
                <c:pt idx="16">
                  <c:v>3.23569923114434E-2</c:v>
                </c:pt>
                <c:pt idx="17">
                  <c:v>2.0805473063830501E-2</c:v>
                </c:pt>
                <c:pt idx="18">
                  <c:v>2.28097384128455E-2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83-B54D-ABC2-41ED282D4E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7"/>
        <c:axId val="241575423"/>
        <c:axId val="241577183"/>
      </c:barChart>
      <c:catAx>
        <c:axId val="241575423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bg1">
                  <a:lumMod val="75000"/>
                </a:schemeClr>
              </a:solidFill>
              <a:round/>
            </a:ln>
            <a:effectLst/>
          </c:spPr>
        </c:majorGridlines>
        <c:numFmt formatCode="General" sourceLinked="1"/>
        <c:majorTickMark val="cross"/>
        <c:minorTickMark val="none"/>
        <c:tickLblPos val="nextTo"/>
        <c:spPr>
          <a:noFill/>
          <a:ln w="9525" cap="flat" cmpd="sng" algn="ctr">
            <a:solidFill>
              <a:schemeClr val="dk1"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41577183"/>
        <c:crosses val="autoZero"/>
        <c:auto val="1"/>
        <c:lblAlgn val="ctr"/>
        <c:lblOffset val="100"/>
        <c:noMultiLvlLbl val="0"/>
      </c:catAx>
      <c:valAx>
        <c:axId val="241577183"/>
        <c:scaling>
          <c:orientation val="minMax"/>
        </c:scaling>
        <c:delete val="0"/>
        <c:axPos val="b"/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shade val="95000"/>
                <a:satMod val="105000"/>
              </a:schemeClr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2415754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0" i="0">
          <a:latin typeface="Aptos" panose="020B00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8344231841796694E-2"/>
          <c:y val="5.011389521640091E-2"/>
          <c:w val="0.92331153631640661"/>
          <c:h val="0.69963830333842636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6">
                <a:lumMod val="75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'Currency Hedging'!$B$3:$B$6</c:f>
              <c:numCache>
                <c:formatCode>0%</c:formatCode>
                <c:ptCount val="4"/>
                <c:pt idx="0">
                  <c:v>0</c:v>
                </c:pt>
                <c:pt idx="1">
                  <c:v>0.5</c:v>
                </c:pt>
                <c:pt idx="2">
                  <c:v>0.7</c:v>
                </c:pt>
                <c:pt idx="3">
                  <c:v>1</c:v>
                </c:pt>
              </c:numCache>
            </c:numRef>
          </c:cat>
          <c:val>
            <c:numRef>
              <c:f>'Currency Hedging'!$C$3:$C$6</c:f>
              <c:numCache>
                <c:formatCode>0.0%</c:formatCode>
                <c:ptCount val="4"/>
                <c:pt idx="0">
                  <c:v>7.61400749455894E-2</c:v>
                </c:pt>
                <c:pt idx="1">
                  <c:v>7.5265245665851105E-2</c:v>
                </c:pt>
                <c:pt idx="2">
                  <c:v>7.4936639097747296E-2</c:v>
                </c:pt>
                <c:pt idx="3">
                  <c:v>7.4466879106657904E-2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CA-7A4E-96FE-893893E150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73"/>
        <c:overlap val="-27"/>
        <c:axId val="1996417584"/>
        <c:axId val="1997040144"/>
      </c:barChart>
      <c:catAx>
        <c:axId val="199641758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GB" dirty="0"/>
                  <a:t>Portfolio Currency Hedging Level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ptos" panose="020B00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GB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997040144"/>
        <c:crosses val="autoZero"/>
        <c:auto val="1"/>
        <c:lblAlgn val="ctr"/>
        <c:lblOffset val="100"/>
        <c:noMultiLvlLbl val="0"/>
      </c:catAx>
      <c:valAx>
        <c:axId val="1997040144"/>
        <c:scaling>
          <c:orientation val="minMax"/>
        </c:scaling>
        <c:delete val="1"/>
        <c:axPos val="l"/>
        <c:numFmt formatCode="0.0%" sourceLinked="1"/>
        <c:majorTickMark val="none"/>
        <c:minorTickMark val="none"/>
        <c:tickLblPos val="nextTo"/>
        <c:crossAx val="19964175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0" i="0">
          <a:latin typeface="Aptos" panose="020B00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'Risk Decomposition'!$A$41:$A$46</c:f>
              <c:strCache>
                <c:ptCount val="6"/>
                <c:pt idx="0">
                  <c:v>EUR</c:v>
                </c:pt>
                <c:pt idx="1">
                  <c:v>GBP</c:v>
                </c:pt>
                <c:pt idx="2">
                  <c:v>JPY</c:v>
                </c:pt>
                <c:pt idx="3">
                  <c:v>AUD</c:v>
                </c:pt>
                <c:pt idx="4">
                  <c:v>EM</c:v>
                </c:pt>
                <c:pt idx="5">
                  <c:v>Other</c:v>
                </c:pt>
              </c:strCache>
            </c:strRef>
          </c:cat>
          <c:val>
            <c:numRef>
              <c:f>'Risk Decomposition'!$B$41:$B$46</c:f>
              <c:numCache>
                <c:formatCode>0.0%</c:formatCode>
                <c:ptCount val="6"/>
                <c:pt idx="0">
                  <c:v>1.9086594707416901E-2</c:v>
                </c:pt>
                <c:pt idx="1">
                  <c:v>6.6725975927464697E-3</c:v>
                </c:pt>
                <c:pt idx="2">
                  <c:v>3.5395217114644602E-3</c:v>
                </c:pt>
                <c:pt idx="3">
                  <c:v>5.0000000000000001E-3</c:v>
                </c:pt>
                <c:pt idx="4">
                  <c:v>5.8650377463103599E-3</c:v>
                </c:pt>
                <c:pt idx="5">
                  <c:v>3.3038021272114027E-3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35-7F40-A7C7-FD452A4EDA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7"/>
        <c:axId val="362838607"/>
        <c:axId val="463133311"/>
      </c:barChart>
      <c:catAx>
        <c:axId val="3628386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cross"/>
        <c:minorTickMark val="none"/>
        <c:tickLblPos val="nextTo"/>
        <c:spPr>
          <a:noFill/>
          <a:ln w="9525" cap="flat" cmpd="sng" algn="ctr">
            <a:solidFill>
              <a:schemeClr val="dk1"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463133311"/>
        <c:crosses val="autoZero"/>
        <c:auto val="1"/>
        <c:lblAlgn val="ctr"/>
        <c:lblOffset val="100"/>
        <c:noMultiLvlLbl val="0"/>
      </c:catAx>
      <c:valAx>
        <c:axId val="463133311"/>
        <c:scaling>
          <c:orientation val="minMax"/>
        </c:scaling>
        <c:delete val="0"/>
        <c:axPos val="b"/>
        <c:numFmt formatCode="0.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shade val="95000"/>
                <a:satMod val="105000"/>
              </a:schemeClr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3628386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0" i="0">
          <a:latin typeface="Aptos" panose="020B0004020202020204" pitchFamily="34" charset="0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tx2">
                <a:lumMod val="7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EE1-8C4F-B93F-E546FDDBB52F}"/>
              </c:ext>
            </c:extLst>
          </c:dPt>
          <c:dPt>
            <c:idx val="1"/>
            <c:invertIfNegative val="0"/>
            <c:bubble3D val="0"/>
            <c:spPr>
              <a:solidFill>
                <a:schemeClr val="tx2">
                  <a:lumMod val="75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EE1-8C4F-B93F-E546FDDBB52F}"/>
              </c:ext>
            </c:extLst>
          </c:dPt>
          <c:dPt>
            <c:idx val="3"/>
            <c:invertIfNegative val="0"/>
            <c:bubble3D val="0"/>
            <c:spPr>
              <a:solidFill>
                <a:schemeClr val="tx2">
                  <a:lumMod val="75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EE1-8C4F-B93F-E546FDDBB52F}"/>
              </c:ext>
            </c:extLst>
          </c:dPt>
          <c:dPt>
            <c:idx val="4"/>
            <c:invertIfNegative val="0"/>
            <c:bubble3D val="0"/>
            <c:spPr>
              <a:solidFill>
                <a:schemeClr val="tx2">
                  <a:lumMod val="75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EE1-8C4F-B93F-E546FDDBB52F}"/>
              </c:ext>
            </c:extLst>
          </c:dPt>
          <c:dPt>
            <c:idx val="5"/>
            <c:invertIfNegative val="0"/>
            <c:bubble3D val="0"/>
            <c:spPr>
              <a:solidFill>
                <a:schemeClr val="tx2">
                  <a:lumMod val="75000"/>
                </a:schemeClr>
              </a:solidFill>
              <a:ln w="3175">
                <a:solidFill>
                  <a:schemeClr val="bg1">
                    <a:lumMod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2EE1-8C4F-B93F-E546FDDBB52F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ptos" panose="020B00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'Risk Premias'!$B$2:$B$8</c:f>
              <c:strCache>
                <c:ptCount val="7"/>
                <c:pt idx="0">
                  <c:v>Total</c:v>
                </c:pt>
                <c:pt idx="1">
                  <c:v>Emerging Market</c:v>
                </c:pt>
                <c:pt idx="2">
                  <c:v>Carry</c:v>
                </c:pt>
                <c:pt idx="3">
                  <c:v>Liquidity</c:v>
                </c:pt>
                <c:pt idx="4">
                  <c:v>Leverage</c:v>
                </c:pt>
                <c:pt idx="5">
                  <c:v>Term</c:v>
                </c:pt>
                <c:pt idx="6">
                  <c:v>Equity</c:v>
                </c:pt>
              </c:strCache>
            </c:strRef>
          </c:cat>
          <c:val>
            <c:numRef>
              <c:f>'Risk Premias'!$C$2:$C$8</c:f>
              <c:numCache>
                <c:formatCode>0.0%</c:formatCode>
                <c:ptCount val="7"/>
                <c:pt idx="0">
                  <c:v>3.9323104932666136E-2</c:v>
                </c:pt>
                <c:pt idx="1">
                  <c:v>7.0898094817600603E-4</c:v>
                </c:pt>
                <c:pt idx="2">
                  <c:v>-7.31425731588811E-5</c:v>
                </c:pt>
                <c:pt idx="3">
                  <c:v>5.2595580514326603E-3</c:v>
                </c:pt>
                <c:pt idx="4">
                  <c:v>3.2283957050202399E-3</c:v>
                </c:pt>
                <c:pt idx="5">
                  <c:v>5.9454343476038098E-3</c:v>
                </c:pt>
                <c:pt idx="6">
                  <c:v>2.4253878453592299E-2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EE1-8C4F-B93F-E546FDDBB5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8"/>
        <c:overlap val="-2"/>
        <c:axId val="1996777520"/>
        <c:axId val="1997081584"/>
      </c:barChart>
      <c:catAx>
        <c:axId val="1996777520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bg1">
                  <a:lumMod val="7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low"/>
        <c:spPr>
          <a:noFill/>
          <a:ln w="9525" cap="flat" cmpd="sng" algn="ctr">
            <a:solidFill>
              <a:schemeClr val="dk1"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997081584"/>
        <c:crosses val="autoZero"/>
        <c:auto val="1"/>
        <c:lblAlgn val="ctr"/>
        <c:lblOffset val="100"/>
        <c:noMultiLvlLbl val="0"/>
      </c:catAx>
      <c:valAx>
        <c:axId val="1997081584"/>
        <c:scaling>
          <c:orientation val="minMax"/>
          <c:min val="0"/>
        </c:scaling>
        <c:delete val="1"/>
        <c:axPos val="b"/>
        <c:numFmt formatCode="0.0%" sourceLinked="1"/>
        <c:majorTickMark val="none"/>
        <c:minorTickMark val="none"/>
        <c:tickLblPos val="nextTo"/>
        <c:crossAx val="19967775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0" i="0">
          <a:solidFill>
            <a:schemeClr val="tx1">
              <a:lumMod val="95000"/>
              <a:lumOff val="5000"/>
            </a:schemeClr>
          </a:solidFill>
          <a:latin typeface="Aptos" panose="020B00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1"/>
          <c:order val="0"/>
          <c:tx>
            <c:strRef>
              <c:f>Sheet1!$D$3</c:f>
              <c:strCache>
                <c:ptCount val="1"/>
                <c:pt idx="0">
                  <c:v>Over 1 Month</c:v>
                </c:pt>
              </c:strCache>
            </c:strRef>
          </c:tx>
          <c:spPr>
            <a:solidFill>
              <a:srgbClr val="721624"/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Sheet1!$B$4:$B$9</c:f>
              <c:strCache>
                <c:ptCount val="6"/>
                <c:pt idx="0">
                  <c:v>Emerging Equity</c:v>
                </c:pt>
                <c:pt idx="1">
                  <c:v>Carry</c:v>
                </c:pt>
                <c:pt idx="2">
                  <c:v>Liquidity</c:v>
                </c:pt>
                <c:pt idx="3">
                  <c:v>Funding</c:v>
                </c:pt>
                <c:pt idx="4">
                  <c:v>Term</c:v>
                </c:pt>
                <c:pt idx="5">
                  <c:v>Equity</c:v>
                </c:pt>
              </c:strCache>
            </c:strRef>
          </c:cat>
          <c:val>
            <c:numRef>
              <c:f>Sheet1!$D$4:$D$9</c:f>
              <c:numCache>
                <c:formatCode>0.0%</c:formatCode>
                <c:ptCount val="6"/>
                <c:pt idx="0">
                  <c:v>2.0070188103500802E-3</c:v>
                </c:pt>
                <c:pt idx="1">
                  <c:v>1.1533191337533199E-2</c:v>
                </c:pt>
                <c:pt idx="2">
                  <c:v>1.9097868310067299E-2</c:v>
                </c:pt>
                <c:pt idx="3">
                  <c:v>2.9984788424161701E-2</c:v>
                </c:pt>
                <c:pt idx="4">
                  <c:v>2.1696266369707E-2</c:v>
                </c:pt>
                <c:pt idx="5">
                  <c:v>4.9845832259403103E-2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31-8D4B-A331-C96214022655}"/>
            </c:ext>
          </c:extLst>
        </c:ser>
        <c:ser>
          <c:idx val="0"/>
          <c:order val="1"/>
          <c:tx>
            <c:strRef>
              <c:f>Sheet1!$E$3</c:f>
              <c:strCache>
                <c:ptCount val="1"/>
                <c:pt idx="0">
                  <c:v>Over 3 Months</c:v>
                </c:pt>
              </c:strCache>
            </c:strRef>
          </c:tx>
          <c:spPr>
            <a:solidFill>
              <a:srgbClr val="C00000"/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Sheet1!$B$4:$B$9</c:f>
              <c:strCache>
                <c:ptCount val="6"/>
                <c:pt idx="0">
                  <c:v>Emerging Equity</c:v>
                </c:pt>
                <c:pt idx="1">
                  <c:v>Carry</c:v>
                </c:pt>
                <c:pt idx="2">
                  <c:v>Liquidity</c:v>
                </c:pt>
                <c:pt idx="3">
                  <c:v>Funding</c:v>
                </c:pt>
                <c:pt idx="4">
                  <c:v>Term</c:v>
                </c:pt>
                <c:pt idx="5">
                  <c:v>Equity</c:v>
                </c:pt>
              </c:strCache>
            </c:strRef>
          </c:cat>
          <c:val>
            <c:numRef>
              <c:f>Sheet1!$E$4:$E$9</c:f>
              <c:numCache>
                <c:formatCode>0.0%</c:formatCode>
                <c:ptCount val="6"/>
                <c:pt idx="0">
                  <c:v>2.4066967964924298E-2</c:v>
                </c:pt>
                <c:pt idx="1">
                  <c:v>2.0670152890742199E-2</c:v>
                </c:pt>
                <c:pt idx="2">
                  <c:v>2.64217996817603E-2</c:v>
                </c:pt>
                <c:pt idx="3">
                  <c:v>3.5749966067414297E-2</c:v>
                </c:pt>
                <c:pt idx="4">
                  <c:v>2.6817476466793801E-2</c:v>
                </c:pt>
                <c:pt idx="5">
                  <c:v>8.39509614821317E-2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131-8D4B-A331-C962140226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405985375"/>
        <c:axId val="337447343"/>
      </c:barChart>
      <c:catAx>
        <c:axId val="405985375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bg1">
                  <a:lumMod val="7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dk1"/>
            </a:solidFill>
            <a:prstDash val="solid"/>
            <a:miter lim="800000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337447343"/>
        <c:crosses val="autoZero"/>
        <c:auto val="1"/>
        <c:lblAlgn val="ctr"/>
        <c:lblOffset val="100"/>
        <c:noMultiLvlLbl val="0"/>
      </c:catAx>
      <c:valAx>
        <c:axId val="337447343"/>
        <c:scaling>
          <c:orientation val="minMax"/>
        </c:scaling>
        <c:delete val="1"/>
        <c:axPos val="b"/>
        <c:numFmt formatCode="0.0%" sourceLinked="1"/>
        <c:majorTickMark val="none"/>
        <c:minorTickMark val="none"/>
        <c:tickLblPos val="nextTo"/>
        <c:crossAx val="4059853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95000"/>
                  <a:lumOff val="5000"/>
                </a:schemeClr>
              </a:solidFill>
              <a:latin typeface="Aptos" panose="020B0004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000" b="0" i="0">
          <a:solidFill>
            <a:schemeClr val="tx1">
              <a:lumMod val="95000"/>
              <a:lumOff val="5000"/>
            </a:schemeClr>
          </a:solidFill>
          <a:latin typeface="Aptos" panose="020B0004020202020204" pitchFamily="34" charset="0"/>
        </a:defRPr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71394423791327"/>
          <c:y val="9.4532373527128344E-2"/>
          <c:w val="0.8625745071676858"/>
          <c:h val="0.76907794223024384"/>
        </c:manualLayout>
      </c:layout>
      <c:lineChart>
        <c:grouping val="standard"/>
        <c:varyColors val="0"/>
        <c:ser>
          <c:idx val="0"/>
          <c:order val="0"/>
          <c:tx>
            <c:strRef>
              <c:f>ws_Strategic_Asset_Allocation!$B$2</c:f>
              <c:strCache>
                <c:ptCount val="1"/>
                <c:pt idx="0">
                  <c:v>1st %ile</c:v>
                </c:pt>
              </c:strCache>
            </c:strRef>
          </c:tx>
          <c:spPr>
            <a:ln w="12700">
              <a:solidFill>
                <a:srgbClr val="C00000"/>
              </a:solidFill>
              <a:prstDash val="solid"/>
            </a:ln>
          </c:spPr>
          <c:marker>
            <c:symbol val="none"/>
          </c:marker>
          <c:dLbls>
            <c:dLbl>
              <c:idx val="2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F0C-AB44-91AB-F35FD994F663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ws_Strategic_Asset_Allocation!$A$3:$A$23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ws_Strategic_Asset_Allocation!$B$3:$B$23</c:f>
              <c:numCache>
                <c:formatCode>General</c:formatCode>
                <c:ptCount val="21"/>
                <c:pt idx="0">
                  <c:v>100</c:v>
                </c:pt>
                <c:pt idx="1">
                  <c:v>89.11357616559873</c:v>
                </c:pt>
                <c:pt idx="2">
                  <c:v>91.60162953348572</c:v>
                </c:pt>
                <c:pt idx="3">
                  <c:v>93.815829158247922</c:v>
                </c:pt>
                <c:pt idx="4">
                  <c:v>94.79355662644069</c:v>
                </c:pt>
                <c:pt idx="5">
                  <c:v>96.786940383185495</c:v>
                </c:pt>
                <c:pt idx="6">
                  <c:v>99.596967260218321</c:v>
                </c:pt>
                <c:pt idx="7">
                  <c:v>100.39224283924069</c:v>
                </c:pt>
                <c:pt idx="8">
                  <c:v>102.0470254834844</c:v>
                </c:pt>
                <c:pt idx="9">
                  <c:v>102.1158985111246</c:v>
                </c:pt>
                <c:pt idx="10">
                  <c:v>104.08395598869581</c:v>
                </c:pt>
                <c:pt idx="11">
                  <c:v>107.0044382754448</c:v>
                </c:pt>
                <c:pt idx="12">
                  <c:v>108.8131712443323</c:v>
                </c:pt>
                <c:pt idx="13">
                  <c:v>111.6787628594856</c:v>
                </c:pt>
                <c:pt idx="14">
                  <c:v>114.1648306006793</c:v>
                </c:pt>
                <c:pt idx="15">
                  <c:v>116.94846470249441</c:v>
                </c:pt>
                <c:pt idx="16">
                  <c:v>120.6895388076103</c:v>
                </c:pt>
                <c:pt idx="17">
                  <c:v>124.5827568264387</c:v>
                </c:pt>
                <c:pt idx="18">
                  <c:v>130.08039162075499</c:v>
                </c:pt>
                <c:pt idx="19">
                  <c:v>135.07466130722719</c:v>
                </c:pt>
                <c:pt idx="20">
                  <c:v>138.38754880809691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F0C-AB44-91AB-F35FD994F663}"/>
            </c:ext>
          </c:extLst>
        </c:ser>
        <c:ser>
          <c:idx val="1"/>
          <c:order val="1"/>
          <c:tx>
            <c:strRef>
              <c:f>ws_Strategic_Asset_Allocation!$C$2</c:f>
              <c:strCache>
                <c:ptCount val="1"/>
                <c:pt idx="0">
                  <c:v>10th %ile</c:v>
                </c:pt>
              </c:strCache>
            </c:strRef>
          </c:tx>
          <c:spPr>
            <a:ln w="12700">
              <a:solidFill>
                <a:srgbClr val="8064A2"/>
              </a:solidFill>
              <a:prstDash val="solid"/>
            </a:ln>
          </c:spPr>
          <c:marker>
            <c:symbol val="none"/>
          </c:marker>
          <c:cat>
            <c:numRef>
              <c:f>ws_Strategic_Asset_Allocation!$A$3:$A$23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ws_Strategic_Asset_Allocation!$C$3:$C$23</c:f>
              <c:numCache>
                <c:formatCode>General</c:formatCode>
                <c:ptCount val="21"/>
                <c:pt idx="0">
                  <c:v>100</c:v>
                </c:pt>
                <c:pt idx="1">
                  <c:v>98.377106810551254</c:v>
                </c:pt>
                <c:pt idx="2">
                  <c:v>101.8607356065238</c:v>
                </c:pt>
                <c:pt idx="3">
                  <c:v>107.4832677914452</c:v>
                </c:pt>
                <c:pt idx="4">
                  <c:v>112.2630908977339</c:v>
                </c:pt>
                <c:pt idx="5">
                  <c:v>117.8643420081454</c:v>
                </c:pt>
                <c:pt idx="6">
                  <c:v>124.1799184920722</c:v>
                </c:pt>
                <c:pt idx="7">
                  <c:v>128.6287755349901</c:v>
                </c:pt>
                <c:pt idx="8">
                  <c:v>134.10051095898541</c:v>
                </c:pt>
                <c:pt idx="9">
                  <c:v>138.9213988405281</c:v>
                </c:pt>
                <c:pt idx="10">
                  <c:v>144.71403399354139</c:v>
                </c:pt>
                <c:pt idx="11">
                  <c:v>150.14126855313401</c:v>
                </c:pt>
                <c:pt idx="12">
                  <c:v>156.35042246148811</c:v>
                </c:pt>
                <c:pt idx="13">
                  <c:v>162.3720167266743</c:v>
                </c:pt>
                <c:pt idx="14">
                  <c:v>169.87041053254299</c:v>
                </c:pt>
                <c:pt idx="15">
                  <c:v>176.44797315684929</c:v>
                </c:pt>
                <c:pt idx="16">
                  <c:v>184.5582878586122</c:v>
                </c:pt>
                <c:pt idx="17">
                  <c:v>192.04470625572819</c:v>
                </c:pt>
                <c:pt idx="18">
                  <c:v>200.11230718843879</c:v>
                </c:pt>
                <c:pt idx="19">
                  <c:v>209.18238170025961</c:v>
                </c:pt>
                <c:pt idx="20">
                  <c:v>219.44408933557989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F0C-AB44-91AB-F35FD994F663}"/>
            </c:ext>
          </c:extLst>
        </c:ser>
        <c:ser>
          <c:idx val="2"/>
          <c:order val="2"/>
          <c:tx>
            <c:strRef>
              <c:f>ws_Strategic_Asset_Allocation!$D$2</c:f>
              <c:strCache>
                <c:ptCount val="1"/>
                <c:pt idx="0">
                  <c:v>50th %ile</c:v>
                </c:pt>
              </c:strCache>
            </c:strRef>
          </c:tx>
          <c:spPr>
            <a:ln w="12700">
              <a:solidFill>
                <a:srgbClr val="376092"/>
              </a:solidFill>
              <a:prstDash val="solid"/>
            </a:ln>
          </c:spPr>
          <c:marker>
            <c:symbol val="none"/>
          </c:marker>
          <c:dLbls>
            <c:dLbl>
              <c:idx val="2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3F0C-AB44-91AB-F35FD994F663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ws_Strategic_Asset_Allocation!$A$3:$A$23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ws_Strategic_Asset_Allocation!$D$3:$D$23</c:f>
              <c:numCache>
                <c:formatCode>General</c:formatCode>
                <c:ptCount val="21"/>
                <c:pt idx="0">
                  <c:v>100</c:v>
                </c:pt>
                <c:pt idx="1">
                  <c:v>108.59586455235851</c:v>
                </c:pt>
                <c:pt idx="2">
                  <c:v>117.14981335783359</c:v>
                </c:pt>
                <c:pt idx="3">
                  <c:v>125.36579844410799</c:v>
                </c:pt>
                <c:pt idx="4">
                  <c:v>134.91119833162739</c:v>
                </c:pt>
                <c:pt idx="5">
                  <c:v>145.53600021109381</c:v>
                </c:pt>
                <c:pt idx="6">
                  <c:v>156.4400157783241</c:v>
                </c:pt>
                <c:pt idx="7">
                  <c:v>167.6614924555582</c:v>
                </c:pt>
                <c:pt idx="8">
                  <c:v>179.25308156343809</c:v>
                </c:pt>
                <c:pt idx="9">
                  <c:v>190.96096500480641</c:v>
                </c:pt>
                <c:pt idx="10">
                  <c:v>203.34764359664979</c:v>
                </c:pt>
                <c:pt idx="11">
                  <c:v>216.0159713047079</c:v>
                </c:pt>
                <c:pt idx="12">
                  <c:v>229.3666317573612</c:v>
                </c:pt>
                <c:pt idx="13">
                  <c:v>243.8584651128759</c:v>
                </c:pt>
                <c:pt idx="14">
                  <c:v>259.51652380798532</c:v>
                </c:pt>
                <c:pt idx="15">
                  <c:v>275.57435981139378</c:v>
                </c:pt>
                <c:pt idx="16">
                  <c:v>292.86879908284271</c:v>
                </c:pt>
                <c:pt idx="17">
                  <c:v>310.44299751964542</c:v>
                </c:pt>
                <c:pt idx="18">
                  <c:v>330.63599007274888</c:v>
                </c:pt>
                <c:pt idx="19">
                  <c:v>351.34384128399489</c:v>
                </c:pt>
                <c:pt idx="20">
                  <c:v>373.17103675181261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F0C-AB44-91AB-F35FD994F663}"/>
            </c:ext>
          </c:extLst>
        </c:ser>
        <c:ser>
          <c:idx val="3"/>
          <c:order val="3"/>
          <c:tx>
            <c:strRef>
              <c:f>ws_Strategic_Asset_Allocation!$E$2</c:f>
              <c:strCache>
                <c:ptCount val="1"/>
                <c:pt idx="0">
                  <c:v>90th %ile</c:v>
                </c:pt>
              </c:strCache>
            </c:strRef>
          </c:tx>
          <c:spPr>
            <a:ln w="12700">
              <a:solidFill>
                <a:srgbClr val="77933C"/>
              </a:solidFill>
              <a:prstDash val="solid"/>
            </a:ln>
          </c:spPr>
          <c:marker>
            <c:symbol val="none"/>
          </c:marker>
          <c:dLbls>
            <c:dLbl>
              <c:idx val="2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F0C-AB44-91AB-F35FD994F663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ws_Strategic_Asset_Allocation!$A$3:$A$23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ws_Strategic_Asset_Allocation!$E$3:$E$23</c:f>
              <c:numCache>
                <c:formatCode>General</c:formatCode>
                <c:ptCount val="21"/>
                <c:pt idx="0">
                  <c:v>100</c:v>
                </c:pt>
                <c:pt idx="1">
                  <c:v>118.3350197366818</c:v>
                </c:pt>
                <c:pt idx="2">
                  <c:v>131.0753382616993</c:v>
                </c:pt>
                <c:pt idx="3">
                  <c:v>144.254048051712</c:v>
                </c:pt>
                <c:pt idx="4">
                  <c:v>159.54073836732519</c:v>
                </c:pt>
                <c:pt idx="5">
                  <c:v>176.23558047964991</c:v>
                </c:pt>
                <c:pt idx="6">
                  <c:v>193.44167042286151</c:v>
                </c:pt>
                <c:pt idx="7">
                  <c:v>212.1082464211369</c:v>
                </c:pt>
                <c:pt idx="8">
                  <c:v>232.20702757592409</c:v>
                </c:pt>
                <c:pt idx="9">
                  <c:v>253.28245819085791</c:v>
                </c:pt>
                <c:pt idx="10">
                  <c:v>276.25314088452672</c:v>
                </c:pt>
                <c:pt idx="11">
                  <c:v>299.92736851466429</c:v>
                </c:pt>
                <c:pt idx="12">
                  <c:v>326.72795378761089</c:v>
                </c:pt>
                <c:pt idx="13">
                  <c:v>353.93469583325208</c:v>
                </c:pt>
                <c:pt idx="14">
                  <c:v>385.32973347398939</c:v>
                </c:pt>
                <c:pt idx="15">
                  <c:v>415.47706928552731</c:v>
                </c:pt>
                <c:pt idx="16">
                  <c:v>449.87075797114511</c:v>
                </c:pt>
                <c:pt idx="17">
                  <c:v>487.7088127375024</c:v>
                </c:pt>
                <c:pt idx="18">
                  <c:v>527.08095101682204</c:v>
                </c:pt>
                <c:pt idx="19">
                  <c:v>567.21766387124046</c:v>
                </c:pt>
                <c:pt idx="20">
                  <c:v>615.12421059398446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F0C-AB44-91AB-F35FD994F663}"/>
            </c:ext>
          </c:extLst>
        </c:ser>
        <c:ser>
          <c:idx val="4"/>
          <c:order val="4"/>
          <c:tx>
            <c:strRef>
              <c:f>ws_Strategic_Asset_Allocation!$F$2</c:f>
              <c:strCache>
                <c:ptCount val="1"/>
              </c:strCache>
            </c:strRef>
          </c:tx>
          <c:spPr>
            <a:ln w="12700">
              <a:solidFill>
                <a:schemeClr val="dk1">
                  <a:shade val="95000"/>
                  <a:satMod val="105000"/>
                </a:schemeClr>
              </a:solidFill>
              <a:prstDash val="sysDash"/>
            </a:ln>
          </c:spPr>
          <c:marker>
            <c:symbol val="none"/>
          </c:marker>
          <c:dLbls>
            <c:dLbl>
              <c:idx val="2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F0C-AB44-91AB-F35FD994F663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ws_Strategic_Asset_Allocation!$A$3:$A$23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ws_Strategic_Asset_Allocation!$F$3:$F$23</c:f>
              <c:numCache>
                <c:formatCode>General</c:formatCode>
                <c:ptCount val="21"/>
                <c:pt idx="0">
                  <c:v>100</c:v>
                </c:pt>
                <c:pt idx="1">
                  <c:v>107.2964246392673</c:v>
                </c:pt>
                <c:pt idx="2">
                  <c:v>113.7138018902814</c:v>
                </c:pt>
                <c:pt idx="3">
                  <c:v>120.26903593377649</c:v>
                </c:pt>
                <c:pt idx="4">
                  <c:v>127.9854010950353</c:v>
                </c:pt>
                <c:pt idx="5">
                  <c:v>136.3763430569168</c:v>
                </c:pt>
                <c:pt idx="6">
                  <c:v>144.99552644687711</c:v>
                </c:pt>
                <c:pt idx="7">
                  <c:v>153.97465830705951</c:v>
                </c:pt>
                <c:pt idx="8">
                  <c:v>162.42977116175831</c:v>
                </c:pt>
                <c:pt idx="9">
                  <c:v>171.63207254495529</c:v>
                </c:pt>
                <c:pt idx="10">
                  <c:v>180.52228230756191</c:v>
                </c:pt>
                <c:pt idx="11">
                  <c:v>190.33769459995139</c:v>
                </c:pt>
                <c:pt idx="12">
                  <c:v>200.03641835794909</c:v>
                </c:pt>
                <c:pt idx="13">
                  <c:v>210.30699708041709</c:v>
                </c:pt>
                <c:pt idx="14">
                  <c:v>221.33505062412209</c:v>
                </c:pt>
                <c:pt idx="15">
                  <c:v>232.53450843709851</c:v>
                </c:pt>
                <c:pt idx="16">
                  <c:v>244.89506125768489</c:v>
                </c:pt>
                <c:pt idx="17">
                  <c:v>257.31929415272668</c:v>
                </c:pt>
                <c:pt idx="18">
                  <c:v>270.40073261624838</c:v>
                </c:pt>
                <c:pt idx="19">
                  <c:v>284.41271952023618</c:v>
                </c:pt>
                <c:pt idx="20">
                  <c:v>298.96127257995357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3F0C-AB44-91AB-F35FD994F6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GB" sz="900" b="0">
                    <a:latin typeface="Aptos"/>
                  </a:rPr>
                  <a:t>Year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900" b="0">
                <a:latin typeface="Aptos"/>
              </a:defRPr>
            </a:pPr>
            <a:endParaRPr lang="en-US"/>
          </a:p>
        </c:txPr>
        <c:crossAx val="100"/>
        <c:crosses val="autoZero"/>
        <c:auto val="0"/>
        <c:lblAlgn val="ctr"/>
        <c:lblOffset val="100"/>
        <c:tickLblSkip val="5"/>
        <c:tickMarkSkip val="5"/>
        <c:noMultiLvlLbl val="0"/>
      </c:catAx>
      <c:valAx>
        <c:axId val="100"/>
        <c:scaling>
          <c:orientation val="minMax"/>
        </c:scaling>
        <c:delete val="0"/>
        <c:axPos val="l"/>
        <c:majorGridlines>
          <c:spPr>
            <a:ln w="6350">
              <a:solidFill>
                <a:schemeClr val="bg1">
                  <a:lumMod val="85000"/>
                </a:schemeClr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en-GB" sz="900" b="0">
                    <a:latin typeface="Aptos"/>
                  </a:rPr>
                  <a:t>Nominal Portfolio Values ($)</a:t>
                </a:r>
              </a:p>
            </c:rich>
          </c:tx>
          <c:overlay val="0"/>
        </c:title>
        <c:numFmt formatCode="General" sourceLinked="1"/>
        <c:majorTickMark val="cross"/>
        <c:minorTickMark val="none"/>
        <c:tickLblPos val="nextTo"/>
        <c:txPr>
          <a:bodyPr/>
          <a:lstStyle/>
          <a:p>
            <a:pPr>
              <a:defRPr sz="900" b="0">
                <a:latin typeface="Aptos"/>
              </a:defRPr>
            </a:pPr>
            <a:endParaRPr lang="en-US"/>
          </a:p>
        </c:txPr>
        <c:crossAx val="10"/>
        <c:crosses val="autoZero"/>
        <c:crossBetween val="between"/>
      </c:valAx>
    </c:plotArea>
    <c:legend>
      <c:legendPos val="t"/>
      <c:legendEntry>
        <c:idx val="4"/>
        <c:delete val="1"/>
      </c:legendEntry>
      <c:layout>
        <c:manualLayout>
          <c:xMode val="edge"/>
          <c:yMode val="edge"/>
          <c:x val="2.1069717871500603E-2"/>
          <c:y val="1.4066060120915477E-2"/>
          <c:w val="0.97893028212849942"/>
          <c:h val="7.4882625745152268E-2"/>
        </c:manualLayout>
      </c:layout>
      <c:overlay val="0"/>
      <c:txPr>
        <a:bodyPr/>
        <a:lstStyle/>
        <a:p>
          <a:pPr>
            <a:defRPr sz="900" b="0">
              <a:latin typeface="Apto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3210720354083242E-2"/>
          <c:y val="0.11529161370580265"/>
          <c:w val="0.37649122983709232"/>
          <c:h val="0.66313379850458087"/>
        </c:manualLayout>
      </c:layout>
      <c:lineChart>
        <c:grouping val="standard"/>
        <c:varyColors val="0"/>
        <c:ser>
          <c:idx val="0"/>
          <c:order val="0"/>
          <c:tx>
            <c:strRef>
              <c:f>'ws_SAA_6.0%'!$F$2</c:f>
              <c:strCache>
                <c:ptCount val="1"/>
                <c:pt idx="0">
                  <c:v>1st %ile</c:v>
                </c:pt>
              </c:strCache>
            </c:strRef>
          </c:tx>
          <c:spPr>
            <a:ln w="12700">
              <a:solidFill>
                <a:srgbClr val="C00000"/>
              </a:solidFill>
              <a:prstDash val="solid"/>
            </a:ln>
          </c:spPr>
          <c:marker>
            <c:symbol val="none"/>
          </c:marker>
          <c:cat>
            <c:numRef>
              <c:f>'ws_SAA_6.0%'!$A$3:$A$23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'ws_SAA_6.0%'!$F$3:$F$23</c:f>
              <c:numCache>
                <c:formatCode>General</c:formatCode>
                <c:ptCount val="21"/>
                <c:pt idx="0">
                  <c:v>100</c:v>
                </c:pt>
                <c:pt idx="1">
                  <c:v>80.881108386509325</c:v>
                </c:pt>
                <c:pt idx="2">
                  <c:v>75.875063562083866</c:v>
                </c:pt>
                <c:pt idx="3">
                  <c:v>71.049605028464256</c:v>
                </c:pt>
                <c:pt idx="4">
                  <c:v>65.614858238206864</c:v>
                </c:pt>
                <c:pt idx="5">
                  <c:v>61.293350654655526</c:v>
                </c:pt>
                <c:pt idx="6">
                  <c:v>57.055472873577393</c:v>
                </c:pt>
                <c:pt idx="7">
                  <c:v>51.668811690304139</c:v>
                </c:pt>
                <c:pt idx="8">
                  <c:v>46.54192958163452</c:v>
                </c:pt>
                <c:pt idx="9">
                  <c:v>41.594811858807518</c:v>
                </c:pt>
                <c:pt idx="10">
                  <c:v>36.385280680028103</c:v>
                </c:pt>
                <c:pt idx="11">
                  <c:v>31.551381586112981</c:v>
                </c:pt>
                <c:pt idx="12">
                  <c:v>26.549189548788959</c:v>
                </c:pt>
                <c:pt idx="13">
                  <c:v>21.7875474894687</c:v>
                </c:pt>
                <c:pt idx="14">
                  <c:v>16.671261012842528</c:v>
                </c:pt>
                <c:pt idx="15">
                  <c:v>11.60172975157665</c:v>
                </c:pt>
                <c:pt idx="16">
                  <c:v>6.673333797598981</c:v>
                </c:pt>
                <c:pt idx="17">
                  <c:v>1.383046262470867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5FE-FF4C-80C6-EF50D8326743}"/>
            </c:ext>
          </c:extLst>
        </c:ser>
        <c:ser>
          <c:idx val="1"/>
          <c:order val="1"/>
          <c:tx>
            <c:strRef>
              <c:f>'ws_SAA_6.0%'!$G$2</c:f>
              <c:strCache>
                <c:ptCount val="1"/>
                <c:pt idx="0">
                  <c:v>10th %ile</c:v>
                </c:pt>
              </c:strCache>
            </c:strRef>
          </c:tx>
          <c:spPr>
            <a:ln w="12700">
              <a:solidFill>
                <a:srgbClr val="8064A2"/>
              </a:solidFill>
              <a:prstDash val="solid"/>
            </a:ln>
          </c:spPr>
          <c:marker>
            <c:symbol val="none"/>
          </c:marker>
          <c:cat>
            <c:numRef>
              <c:f>'ws_SAA_6.0%'!$A$3:$A$23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'ws_SAA_6.0%'!$G$3:$G$23</c:f>
              <c:numCache>
                <c:formatCode>General</c:formatCode>
                <c:ptCount val="21"/>
                <c:pt idx="0">
                  <c:v>100</c:v>
                </c:pt>
                <c:pt idx="1">
                  <c:v>90.656623826287927</c:v>
                </c:pt>
                <c:pt idx="2">
                  <c:v>86.135404009133723</c:v>
                </c:pt>
                <c:pt idx="3">
                  <c:v>83.690249585605883</c:v>
                </c:pt>
                <c:pt idx="4">
                  <c:v>80.33979480091817</c:v>
                </c:pt>
                <c:pt idx="5">
                  <c:v>77.2697154812858</c:v>
                </c:pt>
                <c:pt idx="6">
                  <c:v>74.574054487448109</c:v>
                </c:pt>
                <c:pt idx="7">
                  <c:v>70.855689172568802</c:v>
                </c:pt>
                <c:pt idx="8">
                  <c:v>67.201499381749485</c:v>
                </c:pt>
                <c:pt idx="9">
                  <c:v>63.182661304099248</c:v>
                </c:pt>
                <c:pt idx="10">
                  <c:v>59.805368260078552</c:v>
                </c:pt>
                <c:pt idx="11">
                  <c:v>55.856579377394873</c:v>
                </c:pt>
                <c:pt idx="12">
                  <c:v>51.532612499001402</c:v>
                </c:pt>
                <c:pt idx="13">
                  <c:v>47.665604519093073</c:v>
                </c:pt>
                <c:pt idx="14">
                  <c:v>43.640675236164753</c:v>
                </c:pt>
                <c:pt idx="15">
                  <c:v>39.795895809931572</c:v>
                </c:pt>
                <c:pt idx="16">
                  <c:v>35.468983410151239</c:v>
                </c:pt>
                <c:pt idx="17">
                  <c:v>31.373125965412491</c:v>
                </c:pt>
                <c:pt idx="18">
                  <c:v>26.71427019483346</c:v>
                </c:pt>
                <c:pt idx="19">
                  <c:v>22.03041235473183</c:v>
                </c:pt>
                <c:pt idx="20">
                  <c:v>17.31424260592479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5FE-FF4C-80C6-EF50D8326743}"/>
            </c:ext>
          </c:extLst>
        </c:ser>
        <c:ser>
          <c:idx val="2"/>
          <c:order val="2"/>
          <c:tx>
            <c:strRef>
              <c:f>'ws_SAA_6.0%'!$H$2</c:f>
              <c:strCache>
                <c:ptCount val="1"/>
                <c:pt idx="0">
                  <c:v>50th %ile</c:v>
                </c:pt>
              </c:strCache>
            </c:strRef>
          </c:tx>
          <c:spPr>
            <a:ln w="12700">
              <a:solidFill>
                <a:srgbClr val="376092"/>
              </a:solidFill>
              <a:prstDash val="solid"/>
            </a:ln>
          </c:spPr>
          <c:marker>
            <c:symbol val="none"/>
          </c:marker>
          <c:dLbls>
            <c:dLbl>
              <c:idx val="2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5FE-FF4C-80C6-EF50D8326743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'ws_SAA_6.0%'!$A$3:$A$23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'ws_SAA_6.0%'!$H$3:$H$23</c:f>
              <c:numCache>
                <c:formatCode>General</c:formatCode>
                <c:ptCount val="21"/>
                <c:pt idx="0">
                  <c:v>100</c:v>
                </c:pt>
                <c:pt idx="1">
                  <c:v>100.6701908618946</c:v>
                </c:pt>
                <c:pt idx="2">
                  <c:v>100.8847004991072</c:v>
                </c:pt>
                <c:pt idx="3">
                  <c:v>100.31721298800529</c:v>
                </c:pt>
                <c:pt idx="4">
                  <c:v>100.0966204184468</c:v>
                </c:pt>
                <c:pt idx="5">
                  <c:v>100.24301586024841</c:v>
                </c:pt>
                <c:pt idx="6">
                  <c:v>100.0959770230684</c:v>
                </c:pt>
                <c:pt idx="7">
                  <c:v>99.728073953715509</c:v>
                </c:pt>
                <c:pt idx="8">
                  <c:v>98.830059175420757</c:v>
                </c:pt>
                <c:pt idx="9">
                  <c:v>97.800158034979205</c:v>
                </c:pt>
                <c:pt idx="10">
                  <c:v>96.55471120124173</c:v>
                </c:pt>
                <c:pt idx="11">
                  <c:v>94.849486471141446</c:v>
                </c:pt>
                <c:pt idx="12">
                  <c:v>93.154436362870683</c:v>
                </c:pt>
                <c:pt idx="13">
                  <c:v>91.755879186972479</c:v>
                </c:pt>
                <c:pt idx="14">
                  <c:v>90.334040104371837</c:v>
                </c:pt>
                <c:pt idx="15">
                  <c:v>88.462010634309479</c:v>
                </c:pt>
                <c:pt idx="16">
                  <c:v>86.832615976326849</c:v>
                </c:pt>
                <c:pt idx="17">
                  <c:v>84.723926304902449</c:v>
                </c:pt>
                <c:pt idx="18">
                  <c:v>82.734930155012847</c:v>
                </c:pt>
                <c:pt idx="19">
                  <c:v>80.862223630725651</c:v>
                </c:pt>
                <c:pt idx="20">
                  <c:v>78.71416052227292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5FE-FF4C-80C6-EF50D8326743}"/>
            </c:ext>
          </c:extLst>
        </c:ser>
        <c:ser>
          <c:idx val="3"/>
          <c:order val="3"/>
          <c:tx>
            <c:strRef>
              <c:f>'ws_SAA_6.0%'!$I$2</c:f>
              <c:strCache>
                <c:ptCount val="1"/>
                <c:pt idx="0">
                  <c:v>90th %ile</c:v>
                </c:pt>
              </c:strCache>
            </c:strRef>
          </c:tx>
          <c:spPr>
            <a:ln w="12700">
              <a:solidFill>
                <a:srgbClr val="77933C"/>
              </a:solidFill>
              <a:prstDash val="solid"/>
            </a:ln>
          </c:spPr>
          <c:marker>
            <c:symbol val="none"/>
          </c:marker>
          <c:cat>
            <c:numRef>
              <c:f>'ws_SAA_6.0%'!$A$3:$A$23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'ws_SAA_6.0%'!$I$3:$I$23</c:f>
              <c:numCache>
                <c:formatCode>General</c:formatCode>
                <c:ptCount val="21"/>
                <c:pt idx="0">
                  <c:v>100</c:v>
                </c:pt>
                <c:pt idx="1">
                  <c:v>110.65351065355431</c:v>
                </c:pt>
                <c:pt idx="2">
                  <c:v>114.48726505919019</c:v>
                </c:pt>
                <c:pt idx="3">
                  <c:v>117.551049996096</c:v>
                </c:pt>
                <c:pt idx="4">
                  <c:v>121.86166248005659</c:v>
                </c:pt>
                <c:pt idx="5">
                  <c:v>125.9233775547105</c:v>
                </c:pt>
                <c:pt idx="6">
                  <c:v>129.66578687040919</c:v>
                </c:pt>
                <c:pt idx="7">
                  <c:v>133.4535924157779</c:v>
                </c:pt>
                <c:pt idx="8">
                  <c:v>137.22099082389701</c:v>
                </c:pt>
                <c:pt idx="9">
                  <c:v>140.95441957263051</c:v>
                </c:pt>
                <c:pt idx="10">
                  <c:v>145.10348725988109</c:v>
                </c:pt>
                <c:pt idx="11">
                  <c:v>147.92520681617219</c:v>
                </c:pt>
                <c:pt idx="12">
                  <c:v>151.85764617678581</c:v>
                </c:pt>
                <c:pt idx="13">
                  <c:v>155.07760419177981</c:v>
                </c:pt>
                <c:pt idx="14">
                  <c:v>159.01075820592251</c:v>
                </c:pt>
                <c:pt idx="15">
                  <c:v>161.8148330899273</c:v>
                </c:pt>
                <c:pt idx="16">
                  <c:v>165.87862694105431</c:v>
                </c:pt>
                <c:pt idx="17">
                  <c:v>170.36133204410339</c:v>
                </c:pt>
                <c:pt idx="18">
                  <c:v>173.55744963176031</c:v>
                </c:pt>
                <c:pt idx="19">
                  <c:v>176.72698547965101</c:v>
                </c:pt>
                <c:pt idx="20">
                  <c:v>180.3882978136858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5FE-FF4C-80C6-EF50D83267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GB" sz="900" b="0">
                    <a:latin typeface="Aptos"/>
                  </a:rPr>
                  <a:t>Year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900" b="0">
                <a:latin typeface="Aptos"/>
              </a:defRPr>
            </a:pPr>
            <a:endParaRPr lang="en-US"/>
          </a:p>
        </c:txPr>
        <c:crossAx val="100"/>
        <c:crosses val="autoZero"/>
        <c:auto val="0"/>
        <c:lblAlgn val="ctr"/>
        <c:lblOffset val="100"/>
        <c:tickLblSkip val="5"/>
        <c:tickMarkSkip val="5"/>
        <c:noMultiLvlLbl val="0"/>
      </c:catAx>
      <c:valAx>
        <c:axId val="100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/>
                </a:pPr>
                <a:r>
                  <a:rPr lang="en-GB" sz="900" b="0" dirty="0">
                    <a:latin typeface="Aptos"/>
                  </a:rPr>
                  <a:t>Real Portfolio Values ($mm)</a:t>
                </a:r>
              </a:p>
            </c:rich>
          </c:tx>
          <c:overlay val="0"/>
        </c:title>
        <c:numFmt formatCode="General" sourceLinked="1"/>
        <c:majorTickMark val="cross"/>
        <c:minorTickMark val="none"/>
        <c:tickLblPos val="nextTo"/>
        <c:txPr>
          <a:bodyPr/>
          <a:lstStyle/>
          <a:p>
            <a:pPr>
              <a:defRPr sz="900" b="0">
                <a:latin typeface="Aptos"/>
              </a:defRPr>
            </a:pPr>
            <a:endParaRPr lang="en-US"/>
          </a:p>
        </c:txPr>
        <c:crossAx val="10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21565734384399876"/>
          <c:y val="0.93253998561983575"/>
          <c:w val="0.59396927676267819"/>
          <c:h val="6.5965720754146626E-2"/>
        </c:manualLayout>
      </c:layout>
      <c:overlay val="0"/>
      <c:spPr>
        <a:ln w="6350">
          <a:solidFill>
            <a:schemeClr val="bg1">
              <a:lumMod val="50000"/>
            </a:schemeClr>
          </a:solidFill>
        </a:ln>
      </c:spPr>
      <c:txPr>
        <a:bodyPr/>
        <a:lstStyle/>
        <a:p>
          <a:pPr>
            <a:defRPr sz="900" b="0">
              <a:latin typeface="Aptos"/>
            </a:defRPr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4376128301937174"/>
          <c:y val="9.9348008885148095E-2"/>
          <c:w val="0.7956811486673997"/>
          <c:h val="0.67015351346589802"/>
        </c:manualLayout>
      </c:layout>
      <c:lineChart>
        <c:grouping val="standard"/>
        <c:varyColors val="0"/>
        <c:ser>
          <c:idx val="0"/>
          <c:order val="0"/>
          <c:tx>
            <c:strRef>
              <c:f>'ws_SAA_6.0%'!$J$2</c:f>
              <c:strCache>
                <c:ptCount val="1"/>
                <c:pt idx="0">
                  <c:v>1st %ile</c:v>
                </c:pt>
              </c:strCache>
            </c:strRef>
          </c:tx>
          <c:spPr>
            <a:ln w="12700">
              <a:solidFill>
                <a:srgbClr val="C00000"/>
              </a:solidFill>
              <a:prstDash val="solid"/>
            </a:ln>
          </c:spPr>
          <c:marker>
            <c:symbol val="none"/>
          </c:marker>
          <c:dLbls>
            <c:dLbl>
              <c:idx val="20"/>
              <c:numFmt formatCode="#,##0.0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D4C-8249-8F67-96F0357FC96B}"/>
                </c:ext>
              </c:extLst>
            </c:dLbl>
            <c:numFmt formatCode="#,##0.00" sourceLinked="0"/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'ws_SAA_6.0%'!$A$3:$A$23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'ws_SAA_6.0%'!$J$3:$J$23</c:f>
              <c:numCache>
                <c:formatCode>General</c:formatCode>
                <c:ptCount val="21"/>
                <c:pt idx="0">
                  <c:v>#N/A</c:v>
                </c:pt>
                <c:pt idx="1">
                  <c:v>5.4999999999999991</c:v>
                </c:pt>
                <c:pt idx="2">
                  <c:v>5.721517128537589</c:v>
                </c:pt>
                <c:pt idx="3">
                  <c:v>5.8904300441037298</c:v>
                </c:pt>
                <c:pt idx="4">
                  <c:v>6.0453427380911782</c:v>
                </c:pt>
                <c:pt idx="5">
                  <c:v>6.2688480472024137</c:v>
                </c:pt>
                <c:pt idx="6">
                  <c:v>6.523438439591752</c:v>
                </c:pt>
                <c:pt idx="7">
                  <c:v>6.7491090862543066</c:v>
                </c:pt>
                <c:pt idx="8">
                  <c:v>6.9343052205253306</c:v>
                </c:pt>
                <c:pt idx="9">
                  <c:v>7.1634684064317478</c:v>
                </c:pt>
                <c:pt idx="10">
                  <c:v>7.3684346180972113</c:v>
                </c:pt>
                <c:pt idx="11">
                  <c:v>7.5771341906883816</c:v>
                </c:pt>
                <c:pt idx="12">
                  <c:v>7.7978115441727729</c:v>
                </c:pt>
                <c:pt idx="13">
                  <c:v>8.0253156198406241</c:v>
                </c:pt>
                <c:pt idx="14">
                  <c:v>8.2274191155727276</c:v>
                </c:pt>
                <c:pt idx="15">
                  <c:v>8.4512669524336221</c:v>
                </c:pt>
                <c:pt idx="16">
                  <c:v>8.6535543496732839</c:v>
                </c:pt>
                <c:pt idx="17">
                  <c:v>8.8794052513698549</c:v>
                </c:pt>
                <c:pt idx="18">
                  <c:v>9.1050428328520976</c:v>
                </c:pt>
                <c:pt idx="19">
                  <c:v>9.3700215807687233</c:v>
                </c:pt>
                <c:pt idx="20">
                  <c:v>9.5915964634707205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D4C-8249-8F67-96F0357FC96B}"/>
            </c:ext>
          </c:extLst>
        </c:ser>
        <c:ser>
          <c:idx val="1"/>
          <c:order val="1"/>
          <c:tx>
            <c:strRef>
              <c:f>'ws_SAA_6.0%'!$K$2</c:f>
              <c:strCache>
                <c:ptCount val="1"/>
                <c:pt idx="0">
                  <c:v>10th %ile</c:v>
                </c:pt>
              </c:strCache>
            </c:strRef>
          </c:tx>
          <c:spPr>
            <a:ln w="12700">
              <a:solidFill>
                <a:srgbClr val="8064A2"/>
              </a:solidFill>
              <a:prstDash val="solid"/>
            </a:ln>
          </c:spPr>
          <c:marker>
            <c:symbol val="none"/>
          </c:marker>
          <c:dLbls>
            <c:dLbl>
              <c:idx val="2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D4C-8249-8F67-96F0357FC96B}"/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'ws_SAA_6.0%'!$A$3:$A$23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'ws_SAA_6.0%'!$K$3:$K$23</c:f>
              <c:numCache>
                <c:formatCode>General</c:formatCode>
                <c:ptCount val="21"/>
                <c:pt idx="0">
                  <c:v>#N/A</c:v>
                </c:pt>
                <c:pt idx="1">
                  <c:v>5.4999999999999991</c:v>
                </c:pt>
                <c:pt idx="2">
                  <c:v>5.6725907460240412</c:v>
                </c:pt>
                <c:pt idx="3">
                  <c:v>5.8251220585055803</c:v>
                </c:pt>
                <c:pt idx="4">
                  <c:v>5.9653124986822261</c:v>
                </c:pt>
                <c:pt idx="5">
                  <c:v>6.1311286428921079</c:v>
                </c:pt>
                <c:pt idx="6">
                  <c:v>6.3002141273595571</c:v>
                </c:pt>
                <c:pt idx="7">
                  <c:v>6.464812325254524</c:v>
                </c:pt>
                <c:pt idx="8">
                  <c:v>6.6402079924613453</c:v>
                </c:pt>
                <c:pt idx="9">
                  <c:v>6.8212590709781962</c:v>
                </c:pt>
                <c:pt idx="10">
                  <c:v>7.0032279090854326</c:v>
                </c:pt>
                <c:pt idx="11">
                  <c:v>7.1863249698691547</c:v>
                </c:pt>
                <c:pt idx="12">
                  <c:v>7.3625664133636377</c:v>
                </c:pt>
                <c:pt idx="13">
                  <c:v>7.5401835131755712</c:v>
                </c:pt>
                <c:pt idx="14">
                  <c:v>7.7249776889592443</c:v>
                </c:pt>
                <c:pt idx="15">
                  <c:v>7.9134729394014434</c:v>
                </c:pt>
                <c:pt idx="16">
                  <c:v>8.0988105212672732</c:v>
                </c:pt>
                <c:pt idx="17">
                  <c:v>8.284824749298128</c:v>
                </c:pt>
                <c:pt idx="18">
                  <c:v>8.4775595339985674</c:v>
                </c:pt>
                <c:pt idx="19">
                  <c:v>8.6717125236727526</c:v>
                </c:pt>
                <c:pt idx="20">
                  <c:v>8.8773034842119891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D4C-8249-8F67-96F0357FC96B}"/>
            </c:ext>
          </c:extLst>
        </c:ser>
        <c:ser>
          <c:idx val="2"/>
          <c:order val="2"/>
          <c:tx>
            <c:strRef>
              <c:f>'ws_SAA_6.0%'!$L$2</c:f>
              <c:strCache>
                <c:ptCount val="1"/>
                <c:pt idx="0">
                  <c:v>50th %ile</c:v>
                </c:pt>
              </c:strCache>
            </c:strRef>
          </c:tx>
          <c:spPr>
            <a:ln w="12700">
              <a:solidFill>
                <a:srgbClr val="376092"/>
              </a:solidFill>
              <a:prstDash val="solid"/>
            </a:ln>
          </c:spPr>
          <c:marker>
            <c:symbol val="none"/>
          </c:marker>
          <c:dLbls>
            <c:dLbl>
              <c:idx val="2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D4C-8249-8F67-96F0357FC96B}"/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'ws_SAA_6.0%'!$A$3:$A$23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'ws_SAA_6.0%'!$L$3:$L$23</c:f>
              <c:numCache>
                <c:formatCode>General</c:formatCode>
                <c:ptCount val="21"/>
                <c:pt idx="0">
                  <c:v>#N/A</c:v>
                </c:pt>
                <c:pt idx="1">
                  <c:v>5.4999999999999991</c:v>
                </c:pt>
                <c:pt idx="2">
                  <c:v>5.624666962335735</c:v>
                </c:pt>
                <c:pt idx="3">
                  <c:v>5.7589219730703176</c:v>
                </c:pt>
                <c:pt idx="4">
                  <c:v>5.8832320398655931</c:v>
                </c:pt>
                <c:pt idx="5">
                  <c:v>6.0095405264334758</c:v>
                </c:pt>
                <c:pt idx="6">
                  <c:v>6.13509046183888</c:v>
                </c:pt>
                <c:pt idx="7">
                  <c:v>6.2594720699713973</c:v>
                </c:pt>
                <c:pt idx="8">
                  <c:v>6.3900136494039854</c:v>
                </c:pt>
                <c:pt idx="9">
                  <c:v>6.517811082654644</c:v>
                </c:pt>
                <c:pt idx="10">
                  <c:v>6.6442208328249794</c:v>
                </c:pt>
                <c:pt idx="11">
                  <c:v>6.7773320780336679</c:v>
                </c:pt>
                <c:pt idx="12">
                  <c:v>6.913039040200978</c:v>
                </c:pt>
                <c:pt idx="13">
                  <c:v>7.0479473344761718</c:v>
                </c:pt>
                <c:pt idx="14">
                  <c:v>7.1912476031979757</c:v>
                </c:pt>
                <c:pt idx="15">
                  <c:v>7.3349368283746532</c:v>
                </c:pt>
                <c:pt idx="16">
                  <c:v>7.4805137733576892</c:v>
                </c:pt>
                <c:pt idx="17">
                  <c:v>7.6308743331755489</c:v>
                </c:pt>
                <c:pt idx="18">
                  <c:v>7.7826942161794914</c:v>
                </c:pt>
                <c:pt idx="19">
                  <c:v>7.9372343249275543</c:v>
                </c:pt>
                <c:pt idx="20">
                  <c:v>8.0977893310743934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D4C-8249-8F67-96F0357FC96B}"/>
            </c:ext>
          </c:extLst>
        </c:ser>
        <c:ser>
          <c:idx val="3"/>
          <c:order val="3"/>
          <c:tx>
            <c:strRef>
              <c:f>'ws_SAA_6.0%'!$M$2</c:f>
              <c:strCache>
                <c:ptCount val="1"/>
                <c:pt idx="0">
                  <c:v>90th %ile</c:v>
                </c:pt>
              </c:strCache>
            </c:strRef>
          </c:tx>
          <c:spPr>
            <a:ln w="12700">
              <a:solidFill>
                <a:srgbClr val="77933C"/>
              </a:solidFill>
              <a:prstDash val="solid"/>
            </a:ln>
          </c:spPr>
          <c:marker>
            <c:symbol val="none"/>
          </c:marker>
          <c:dLbls>
            <c:dLbl>
              <c:idx val="2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D4C-8249-8F67-96F0357FC96B}"/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'ws_SAA_6.0%'!$A$3:$A$23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'ws_SAA_6.0%'!$M$3:$M$23</c:f>
              <c:numCache>
                <c:formatCode>General</c:formatCode>
                <c:ptCount val="21"/>
                <c:pt idx="0">
                  <c:v>#N/A</c:v>
                </c:pt>
                <c:pt idx="1">
                  <c:v>5.4999999999999991</c:v>
                </c:pt>
                <c:pt idx="2">
                  <c:v>5.5846164124535926</c:v>
                </c:pt>
                <c:pt idx="3">
                  <c:v>5.6947159928254338</c:v>
                </c:pt>
                <c:pt idx="4">
                  <c:v>5.8073685327793614</c:v>
                </c:pt>
                <c:pt idx="5">
                  <c:v>5.8994414001413276</c:v>
                </c:pt>
                <c:pt idx="6">
                  <c:v>5.9988270672511659</c:v>
                </c:pt>
                <c:pt idx="7">
                  <c:v>6.0976447509514662</c:v>
                </c:pt>
                <c:pt idx="8">
                  <c:v>6.1832978707848714</c:v>
                </c:pt>
                <c:pt idx="9">
                  <c:v>6.272245223941721</c:v>
                </c:pt>
                <c:pt idx="10">
                  <c:v>6.3637105803935743</c:v>
                </c:pt>
                <c:pt idx="11">
                  <c:v>6.4586305848701304</c:v>
                </c:pt>
                <c:pt idx="12">
                  <c:v>6.5551185946427051</c:v>
                </c:pt>
                <c:pt idx="13">
                  <c:v>6.6579993484041813</c:v>
                </c:pt>
                <c:pt idx="14">
                  <c:v>6.7590723984197441</c:v>
                </c:pt>
                <c:pt idx="15">
                  <c:v>6.8693876065385604</c:v>
                </c:pt>
                <c:pt idx="16">
                  <c:v>6.9817053491498928</c:v>
                </c:pt>
                <c:pt idx="17">
                  <c:v>7.0925513038358314</c:v>
                </c:pt>
                <c:pt idx="18">
                  <c:v>7.2072909247299348</c:v>
                </c:pt>
                <c:pt idx="19">
                  <c:v>7.3289497481818584</c:v>
                </c:pt>
                <c:pt idx="20">
                  <c:v>7.4524684019050067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D4C-8249-8F67-96F0357FC9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GB" sz="900" b="0">
                    <a:latin typeface="Aptos"/>
                  </a:rPr>
                  <a:t>Year</a:t>
                </a:r>
              </a:p>
            </c:rich>
          </c:tx>
          <c:layout>
            <c:manualLayout>
              <c:xMode val="edge"/>
              <c:yMode val="edge"/>
              <c:x val="0.5046843901662138"/>
              <c:y val="0.82588799782571154"/>
            </c:manualLayout>
          </c:layout>
          <c:overlay val="0"/>
        </c:title>
        <c:numFmt formatCode="General" sourceLinked="1"/>
        <c:majorTickMark val="none"/>
        <c:minorTickMark val="none"/>
        <c:tickLblPos val="low"/>
        <c:txPr>
          <a:bodyPr/>
          <a:lstStyle/>
          <a:p>
            <a:pPr>
              <a:defRPr sz="900" b="0">
                <a:latin typeface="Aptos"/>
              </a:defRPr>
            </a:pPr>
            <a:endParaRPr lang="en-US"/>
          </a:p>
        </c:txPr>
        <c:crossAx val="100"/>
        <c:crosses val="autoZero"/>
        <c:auto val="0"/>
        <c:lblAlgn val="ctr"/>
        <c:lblOffset val="100"/>
        <c:tickLblSkip val="5"/>
        <c:tickMarkSkip val="5"/>
        <c:noMultiLvlLbl val="0"/>
      </c:catAx>
      <c:valAx>
        <c:axId val="100"/>
        <c:scaling>
          <c:orientation val="minMax"/>
          <c:max val="10"/>
        </c:scaling>
        <c:delete val="0"/>
        <c:axPos val="l"/>
        <c:title>
          <c:tx>
            <c:rich>
              <a:bodyPr/>
              <a:lstStyle/>
              <a:p>
                <a:pPr>
                  <a:defRPr/>
                </a:pPr>
                <a:r>
                  <a:rPr lang="en-GB" sz="900" b="0" dirty="0">
                    <a:latin typeface="Aptos"/>
                  </a:rPr>
                  <a:t>Net Flows ($mm)</a:t>
                </a:r>
              </a:p>
            </c:rich>
          </c:tx>
          <c:overlay val="0"/>
        </c:title>
        <c:numFmt formatCode="General" sourceLinked="1"/>
        <c:majorTickMark val="cross"/>
        <c:minorTickMark val="none"/>
        <c:tickLblPos val="nextTo"/>
        <c:txPr>
          <a:bodyPr/>
          <a:lstStyle/>
          <a:p>
            <a:pPr>
              <a:defRPr sz="900" b="0">
                <a:latin typeface="Aptos"/>
              </a:defRPr>
            </a:pPr>
            <a:endParaRPr lang="en-US"/>
          </a:p>
        </c:txPr>
        <c:crossAx val="10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8624481311769292E-2"/>
          <c:y val="8.1866191560268878E-2"/>
          <c:w val="0.9097857247726272"/>
          <c:h val="0.77005916513030692"/>
        </c:manualLayout>
      </c:layout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Sheet2!$B$1:$L$1</c:f>
              <c:numCache>
                <c:formatCode>0.0%</c:formatCode>
                <c:ptCount val="11"/>
                <c:pt idx="0">
                  <c:v>0.01</c:v>
                </c:pt>
                <c:pt idx="1">
                  <c:v>1.4999999999999999E-2</c:v>
                </c:pt>
                <c:pt idx="2">
                  <c:v>0.02</c:v>
                </c:pt>
                <c:pt idx="3">
                  <c:v>2.5000000000000001E-2</c:v>
                </c:pt>
                <c:pt idx="4">
                  <c:v>3.0000000000000002E-2</c:v>
                </c:pt>
                <c:pt idx="5">
                  <c:v>3.5000000000000003E-2</c:v>
                </c:pt>
                <c:pt idx="6">
                  <c:v>0.04</c:v>
                </c:pt>
                <c:pt idx="7">
                  <c:v>4.4999999999999998E-2</c:v>
                </c:pt>
                <c:pt idx="8">
                  <c:v>4.9999999999999996E-2</c:v>
                </c:pt>
                <c:pt idx="9">
                  <c:v>5.4999999999999993E-2</c:v>
                </c:pt>
                <c:pt idx="10">
                  <c:v>5.9999999999999991E-2</c:v>
                </c:pt>
              </c:numCache>
            </c:numRef>
          </c:cat>
          <c:val>
            <c:numRef>
              <c:f>Sheet2!$B$4:$L$4</c:f>
            </c:numRef>
          </c:val>
          <c:smooth val="0"/>
          <c:extLst>
            <c:ext xmlns:c16="http://schemas.microsoft.com/office/drawing/2014/chart" uri="{C3380CC4-5D6E-409C-BE32-E72D297353CC}">
              <c16:uniqueId val="{00000000-37DA-F349-AECD-4B25D58A8893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Sheet2!$B$1:$L$1</c:f>
              <c:numCache>
                <c:formatCode>0.0%</c:formatCode>
                <c:ptCount val="11"/>
                <c:pt idx="0">
                  <c:v>0.01</c:v>
                </c:pt>
                <c:pt idx="1">
                  <c:v>1.4999999999999999E-2</c:v>
                </c:pt>
                <c:pt idx="2">
                  <c:v>0.02</c:v>
                </c:pt>
                <c:pt idx="3">
                  <c:v>2.5000000000000001E-2</c:v>
                </c:pt>
                <c:pt idx="4">
                  <c:v>3.0000000000000002E-2</c:v>
                </c:pt>
                <c:pt idx="5">
                  <c:v>3.5000000000000003E-2</c:v>
                </c:pt>
                <c:pt idx="6">
                  <c:v>0.04</c:v>
                </c:pt>
                <c:pt idx="7">
                  <c:v>4.4999999999999998E-2</c:v>
                </c:pt>
                <c:pt idx="8">
                  <c:v>4.9999999999999996E-2</c:v>
                </c:pt>
                <c:pt idx="9">
                  <c:v>5.4999999999999993E-2</c:v>
                </c:pt>
                <c:pt idx="10">
                  <c:v>5.9999999999999991E-2</c:v>
                </c:pt>
              </c:numCache>
            </c:numRef>
          </c:cat>
          <c:val>
            <c:numRef>
              <c:f>Sheet2!$B$5:$L$5</c:f>
            </c:numRef>
          </c:val>
          <c:smooth val="0"/>
          <c:extLst>
            <c:ext xmlns:c16="http://schemas.microsoft.com/office/drawing/2014/chart" uri="{C3380CC4-5D6E-409C-BE32-E72D297353CC}">
              <c16:uniqueId val="{00000001-37DA-F349-AECD-4B25D58A8893}"/>
            </c:ext>
          </c:extLst>
        </c:ser>
        <c:ser>
          <c:idx val="2"/>
          <c:order val="2"/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Sheet2!$B$1:$L$1</c:f>
              <c:numCache>
                <c:formatCode>0.0%</c:formatCode>
                <c:ptCount val="11"/>
                <c:pt idx="0">
                  <c:v>0.01</c:v>
                </c:pt>
                <c:pt idx="1">
                  <c:v>1.4999999999999999E-2</c:v>
                </c:pt>
                <c:pt idx="2">
                  <c:v>0.02</c:v>
                </c:pt>
                <c:pt idx="3">
                  <c:v>2.5000000000000001E-2</c:v>
                </c:pt>
                <c:pt idx="4">
                  <c:v>3.0000000000000002E-2</c:v>
                </c:pt>
                <c:pt idx="5">
                  <c:v>3.5000000000000003E-2</c:v>
                </c:pt>
                <c:pt idx="6">
                  <c:v>0.04</c:v>
                </c:pt>
                <c:pt idx="7">
                  <c:v>4.4999999999999998E-2</c:v>
                </c:pt>
                <c:pt idx="8">
                  <c:v>4.9999999999999996E-2</c:v>
                </c:pt>
                <c:pt idx="9">
                  <c:v>5.4999999999999993E-2</c:v>
                </c:pt>
                <c:pt idx="10">
                  <c:v>5.9999999999999991E-2</c:v>
                </c:pt>
              </c:numCache>
            </c:numRef>
          </c:cat>
          <c:val>
            <c:numRef>
              <c:f>Sheet2!$B$6:$L$6</c:f>
            </c:numRef>
          </c:val>
          <c:smooth val="0"/>
          <c:extLst>
            <c:ext xmlns:c16="http://schemas.microsoft.com/office/drawing/2014/chart" uri="{C3380CC4-5D6E-409C-BE32-E72D297353CC}">
              <c16:uniqueId val="{00000002-37DA-F349-AECD-4B25D58A8893}"/>
            </c:ext>
          </c:extLst>
        </c:ser>
        <c:ser>
          <c:idx val="3"/>
          <c:order val="3"/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Sheet2!$B$1:$L$1</c:f>
              <c:numCache>
                <c:formatCode>0.0%</c:formatCode>
                <c:ptCount val="11"/>
                <c:pt idx="0">
                  <c:v>0.01</c:v>
                </c:pt>
                <c:pt idx="1">
                  <c:v>1.4999999999999999E-2</c:v>
                </c:pt>
                <c:pt idx="2">
                  <c:v>0.02</c:v>
                </c:pt>
                <c:pt idx="3">
                  <c:v>2.5000000000000001E-2</c:v>
                </c:pt>
                <c:pt idx="4">
                  <c:v>3.0000000000000002E-2</c:v>
                </c:pt>
                <c:pt idx="5">
                  <c:v>3.5000000000000003E-2</c:v>
                </c:pt>
                <c:pt idx="6">
                  <c:v>0.04</c:v>
                </c:pt>
                <c:pt idx="7">
                  <c:v>4.4999999999999998E-2</c:v>
                </c:pt>
                <c:pt idx="8">
                  <c:v>4.9999999999999996E-2</c:v>
                </c:pt>
                <c:pt idx="9">
                  <c:v>5.4999999999999993E-2</c:v>
                </c:pt>
                <c:pt idx="10">
                  <c:v>5.9999999999999991E-2</c:v>
                </c:pt>
              </c:numCache>
            </c:numRef>
          </c:cat>
          <c:val>
            <c:numRef>
              <c:f>Sheet2!$B$7:$L$7</c:f>
            </c:numRef>
          </c:val>
          <c:smooth val="0"/>
          <c:extLst>
            <c:ext xmlns:c16="http://schemas.microsoft.com/office/drawing/2014/chart" uri="{C3380CC4-5D6E-409C-BE32-E72D297353CC}">
              <c16:uniqueId val="{00000003-37DA-F349-AECD-4B25D58A8893}"/>
            </c:ext>
          </c:extLst>
        </c:ser>
        <c:ser>
          <c:idx val="4"/>
          <c:order val="4"/>
          <c:tx>
            <c:v>Over 5 Years</c:v>
          </c:tx>
          <c:spPr>
            <a:ln w="28575" cap="rnd">
              <a:solidFill>
                <a:schemeClr val="tx2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Sheet2!$B$1:$L$1</c:f>
              <c:numCache>
                <c:formatCode>0.0%</c:formatCode>
                <c:ptCount val="11"/>
                <c:pt idx="0">
                  <c:v>0.01</c:v>
                </c:pt>
                <c:pt idx="1">
                  <c:v>1.4999999999999999E-2</c:v>
                </c:pt>
                <c:pt idx="2">
                  <c:v>0.02</c:v>
                </c:pt>
                <c:pt idx="3">
                  <c:v>2.5000000000000001E-2</c:v>
                </c:pt>
                <c:pt idx="4">
                  <c:v>3.0000000000000002E-2</c:v>
                </c:pt>
                <c:pt idx="5">
                  <c:v>3.5000000000000003E-2</c:v>
                </c:pt>
                <c:pt idx="6">
                  <c:v>0.04</c:v>
                </c:pt>
                <c:pt idx="7">
                  <c:v>4.4999999999999998E-2</c:v>
                </c:pt>
                <c:pt idx="8">
                  <c:v>4.9999999999999996E-2</c:v>
                </c:pt>
                <c:pt idx="9">
                  <c:v>5.4999999999999993E-2</c:v>
                </c:pt>
                <c:pt idx="10">
                  <c:v>5.9999999999999991E-2</c:v>
                </c:pt>
              </c:numCache>
            </c:numRef>
          </c:cat>
          <c:val>
            <c:numRef>
              <c:f>Sheet2!$B$8:$L$8</c:f>
              <c:numCache>
                <c:formatCode>0%</c:formatCode>
                <c:ptCount val="11"/>
                <c:pt idx="0">
                  <c:v>0.89715</c:v>
                </c:pt>
                <c:pt idx="1">
                  <c:v>0.87119999999999997</c:v>
                </c:pt>
                <c:pt idx="2">
                  <c:v>0.84065000000000001</c:v>
                </c:pt>
                <c:pt idx="3">
                  <c:v>0.80395000000000005</c:v>
                </c:pt>
                <c:pt idx="4">
                  <c:v>0.76329999999999998</c:v>
                </c:pt>
                <c:pt idx="5">
                  <c:v>0.72004999999999997</c:v>
                </c:pt>
                <c:pt idx="6">
                  <c:v>0.67290000000000005</c:v>
                </c:pt>
                <c:pt idx="7">
                  <c:v>0.61814999999999998</c:v>
                </c:pt>
                <c:pt idx="8">
                  <c:v>0.56084999999999996</c:v>
                </c:pt>
                <c:pt idx="9">
                  <c:v>0.50544999999999995</c:v>
                </c:pt>
                <c:pt idx="10">
                  <c:v>0.4451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37DA-F349-AECD-4B25D58A8893}"/>
            </c:ext>
          </c:extLst>
        </c:ser>
        <c:ser>
          <c:idx val="5"/>
          <c:order val="5"/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Sheet2!$B$1:$L$1</c:f>
              <c:numCache>
                <c:formatCode>0.0%</c:formatCode>
                <c:ptCount val="11"/>
                <c:pt idx="0">
                  <c:v>0.01</c:v>
                </c:pt>
                <c:pt idx="1">
                  <c:v>1.4999999999999999E-2</c:v>
                </c:pt>
                <c:pt idx="2">
                  <c:v>0.02</c:v>
                </c:pt>
                <c:pt idx="3">
                  <c:v>2.5000000000000001E-2</c:v>
                </c:pt>
                <c:pt idx="4">
                  <c:v>3.0000000000000002E-2</c:v>
                </c:pt>
                <c:pt idx="5">
                  <c:v>3.5000000000000003E-2</c:v>
                </c:pt>
                <c:pt idx="6">
                  <c:v>0.04</c:v>
                </c:pt>
                <c:pt idx="7">
                  <c:v>4.4999999999999998E-2</c:v>
                </c:pt>
                <c:pt idx="8">
                  <c:v>4.9999999999999996E-2</c:v>
                </c:pt>
                <c:pt idx="9">
                  <c:v>5.4999999999999993E-2</c:v>
                </c:pt>
                <c:pt idx="10">
                  <c:v>5.9999999999999991E-2</c:v>
                </c:pt>
              </c:numCache>
            </c:numRef>
          </c:cat>
          <c:val>
            <c:numRef>
              <c:f>Sheet2!$B$9:$L$9</c:f>
            </c:numRef>
          </c:val>
          <c:smooth val="0"/>
          <c:extLst>
            <c:ext xmlns:c16="http://schemas.microsoft.com/office/drawing/2014/chart" uri="{C3380CC4-5D6E-409C-BE32-E72D297353CC}">
              <c16:uniqueId val="{00000005-37DA-F349-AECD-4B25D58A8893}"/>
            </c:ext>
          </c:extLst>
        </c:ser>
        <c:ser>
          <c:idx val="6"/>
          <c:order val="6"/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Sheet2!$B$1:$L$1</c:f>
              <c:numCache>
                <c:formatCode>0.0%</c:formatCode>
                <c:ptCount val="11"/>
                <c:pt idx="0">
                  <c:v>0.01</c:v>
                </c:pt>
                <c:pt idx="1">
                  <c:v>1.4999999999999999E-2</c:v>
                </c:pt>
                <c:pt idx="2">
                  <c:v>0.02</c:v>
                </c:pt>
                <c:pt idx="3">
                  <c:v>2.5000000000000001E-2</c:v>
                </c:pt>
                <c:pt idx="4">
                  <c:v>3.0000000000000002E-2</c:v>
                </c:pt>
                <c:pt idx="5">
                  <c:v>3.5000000000000003E-2</c:v>
                </c:pt>
                <c:pt idx="6">
                  <c:v>0.04</c:v>
                </c:pt>
                <c:pt idx="7">
                  <c:v>4.4999999999999998E-2</c:v>
                </c:pt>
                <c:pt idx="8">
                  <c:v>4.9999999999999996E-2</c:v>
                </c:pt>
                <c:pt idx="9">
                  <c:v>5.4999999999999993E-2</c:v>
                </c:pt>
                <c:pt idx="10">
                  <c:v>5.9999999999999991E-2</c:v>
                </c:pt>
              </c:numCache>
            </c:numRef>
          </c:cat>
          <c:val>
            <c:numRef>
              <c:f>Sheet2!$B$10:$L$10</c:f>
            </c:numRef>
          </c:val>
          <c:smooth val="0"/>
          <c:extLst>
            <c:ext xmlns:c16="http://schemas.microsoft.com/office/drawing/2014/chart" uri="{C3380CC4-5D6E-409C-BE32-E72D297353CC}">
              <c16:uniqueId val="{00000006-37DA-F349-AECD-4B25D58A8893}"/>
            </c:ext>
          </c:extLst>
        </c:ser>
        <c:ser>
          <c:idx val="7"/>
          <c:order val="7"/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Sheet2!$B$1:$L$1</c:f>
              <c:numCache>
                <c:formatCode>0.0%</c:formatCode>
                <c:ptCount val="11"/>
                <c:pt idx="0">
                  <c:v>0.01</c:v>
                </c:pt>
                <c:pt idx="1">
                  <c:v>1.4999999999999999E-2</c:v>
                </c:pt>
                <c:pt idx="2">
                  <c:v>0.02</c:v>
                </c:pt>
                <c:pt idx="3">
                  <c:v>2.5000000000000001E-2</c:v>
                </c:pt>
                <c:pt idx="4">
                  <c:v>3.0000000000000002E-2</c:v>
                </c:pt>
                <c:pt idx="5">
                  <c:v>3.5000000000000003E-2</c:v>
                </c:pt>
                <c:pt idx="6">
                  <c:v>0.04</c:v>
                </c:pt>
                <c:pt idx="7">
                  <c:v>4.4999999999999998E-2</c:v>
                </c:pt>
                <c:pt idx="8">
                  <c:v>4.9999999999999996E-2</c:v>
                </c:pt>
                <c:pt idx="9">
                  <c:v>5.4999999999999993E-2</c:v>
                </c:pt>
                <c:pt idx="10">
                  <c:v>5.9999999999999991E-2</c:v>
                </c:pt>
              </c:numCache>
            </c:numRef>
          </c:cat>
          <c:val>
            <c:numRef>
              <c:f>Sheet2!$B$11:$L$11</c:f>
            </c:numRef>
          </c:val>
          <c:smooth val="0"/>
          <c:extLst>
            <c:ext xmlns:c16="http://schemas.microsoft.com/office/drawing/2014/chart" uri="{C3380CC4-5D6E-409C-BE32-E72D297353CC}">
              <c16:uniqueId val="{00000007-37DA-F349-AECD-4B25D58A8893}"/>
            </c:ext>
          </c:extLst>
        </c:ser>
        <c:ser>
          <c:idx val="8"/>
          <c:order val="8"/>
          <c:spPr>
            <a:ln w="28575" cap="rnd">
              <a:solidFill>
                <a:schemeClr val="accent3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Sheet2!$B$1:$L$1</c:f>
              <c:numCache>
                <c:formatCode>0.0%</c:formatCode>
                <c:ptCount val="11"/>
                <c:pt idx="0">
                  <c:v>0.01</c:v>
                </c:pt>
                <c:pt idx="1">
                  <c:v>1.4999999999999999E-2</c:v>
                </c:pt>
                <c:pt idx="2">
                  <c:v>0.02</c:v>
                </c:pt>
                <c:pt idx="3">
                  <c:v>2.5000000000000001E-2</c:v>
                </c:pt>
                <c:pt idx="4">
                  <c:v>3.0000000000000002E-2</c:v>
                </c:pt>
                <c:pt idx="5">
                  <c:v>3.5000000000000003E-2</c:v>
                </c:pt>
                <c:pt idx="6">
                  <c:v>0.04</c:v>
                </c:pt>
                <c:pt idx="7">
                  <c:v>4.4999999999999998E-2</c:v>
                </c:pt>
                <c:pt idx="8">
                  <c:v>4.9999999999999996E-2</c:v>
                </c:pt>
                <c:pt idx="9">
                  <c:v>5.4999999999999993E-2</c:v>
                </c:pt>
                <c:pt idx="10">
                  <c:v>5.9999999999999991E-2</c:v>
                </c:pt>
              </c:numCache>
            </c:numRef>
          </c:cat>
          <c:val>
            <c:numRef>
              <c:f>Sheet2!$B$12:$L$12</c:f>
            </c:numRef>
          </c:val>
          <c:smooth val="0"/>
          <c:extLst>
            <c:ext xmlns:c16="http://schemas.microsoft.com/office/drawing/2014/chart" uri="{C3380CC4-5D6E-409C-BE32-E72D297353CC}">
              <c16:uniqueId val="{00000008-37DA-F349-AECD-4B25D58A8893}"/>
            </c:ext>
          </c:extLst>
        </c:ser>
        <c:ser>
          <c:idx val="9"/>
          <c:order val="9"/>
          <c:tx>
            <c:v>Over 10 Years</c:v>
          </c:tx>
          <c:spPr>
            <a:ln w="28575" cap="rnd">
              <a:solidFill>
                <a:schemeClr val="tx2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Sheet2!$B$1:$L$1</c:f>
              <c:numCache>
                <c:formatCode>0.0%</c:formatCode>
                <c:ptCount val="11"/>
                <c:pt idx="0">
                  <c:v>0.01</c:v>
                </c:pt>
                <c:pt idx="1">
                  <c:v>1.4999999999999999E-2</c:v>
                </c:pt>
                <c:pt idx="2">
                  <c:v>0.02</c:v>
                </c:pt>
                <c:pt idx="3">
                  <c:v>2.5000000000000001E-2</c:v>
                </c:pt>
                <c:pt idx="4">
                  <c:v>3.0000000000000002E-2</c:v>
                </c:pt>
                <c:pt idx="5">
                  <c:v>3.5000000000000003E-2</c:v>
                </c:pt>
                <c:pt idx="6">
                  <c:v>0.04</c:v>
                </c:pt>
                <c:pt idx="7">
                  <c:v>4.4999999999999998E-2</c:v>
                </c:pt>
                <c:pt idx="8">
                  <c:v>4.9999999999999996E-2</c:v>
                </c:pt>
                <c:pt idx="9">
                  <c:v>5.4999999999999993E-2</c:v>
                </c:pt>
                <c:pt idx="10">
                  <c:v>5.9999999999999991E-2</c:v>
                </c:pt>
              </c:numCache>
            </c:numRef>
          </c:cat>
          <c:val>
            <c:numRef>
              <c:f>Sheet2!$B$13:$L$13</c:f>
              <c:numCache>
                <c:formatCode>0%</c:formatCode>
                <c:ptCount val="11"/>
                <c:pt idx="0">
                  <c:v>0.93115000000000003</c:v>
                </c:pt>
                <c:pt idx="1">
                  <c:v>0.90690000000000004</c:v>
                </c:pt>
                <c:pt idx="2">
                  <c:v>0.87309999999999999</c:v>
                </c:pt>
                <c:pt idx="3">
                  <c:v>0.83379999999999999</c:v>
                </c:pt>
                <c:pt idx="4">
                  <c:v>0.78664999999999996</c:v>
                </c:pt>
                <c:pt idx="5">
                  <c:v>0.73399999999999999</c:v>
                </c:pt>
                <c:pt idx="6">
                  <c:v>0.67225000000000001</c:v>
                </c:pt>
                <c:pt idx="7">
                  <c:v>0.60235000000000005</c:v>
                </c:pt>
                <c:pt idx="8">
                  <c:v>0.53005000000000002</c:v>
                </c:pt>
                <c:pt idx="9">
                  <c:v>0.45765</c:v>
                </c:pt>
                <c:pt idx="10">
                  <c:v>0.38114999999999999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37DA-F349-AECD-4B25D58A8893}"/>
            </c:ext>
          </c:extLst>
        </c:ser>
        <c:ser>
          <c:idx val="10"/>
          <c:order val="10"/>
          <c:spPr>
            <a:ln w="28575" cap="rnd">
              <a:solidFill>
                <a:schemeClr val="accent5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Sheet2!$B$1:$L$1</c:f>
              <c:numCache>
                <c:formatCode>0.0%</c:formatCode>
                <c:ptCount val="11"/>
                <c:pt idx="0">
                  <c:v>0.01</c:v>
                </c:pt>
                <c:pt idx="1">
                  <c:v>1.4999999999999999E-2</c:v>
                </c:pt>
                <c:pt idx="2">
                  <c:v>0.02</c:v>
                </c:pt>
                <c:pt idx="3">
                  <c:v>2.5000000000000001E-2</c:v>
                </c:pt>
                <c:pt idx="4">
                  <c:v>3.0000000000000002E-2</c:v>
                </c:pt>
                <c:pt idx="5">
                  <c:v>3.5000000000000003E-2</c:v>
                </c:pt>
                <c:pt idx="6">
                  <c:v>0.04</c:v>
                </c:pt>
                <c:pt idx="7">
                  <c:v>4.4999999999999998E-2</c:v>
                </c:pt>
                <c:pt idx="8">
                  <c:v>4.9999999999999996E-2</c:v>
                </c:pt>
                <c:pt idx="9">
                  <c:v>5.4999999999999993E-2</c:v>
                </c:pt>
                <c:pt idx="10">
                  <c:v>5.9999999999999991E-2</c:v>
                </c:pt>
              </c:numCache>
            </c:numRef>
          </c:cat>
          <c:val>
            <c:numRef>
              <c:f>Sheet2!$B$14:$L$14</c:f>
            </c:numRef>
          </c:val>
          <c:smooth val="0"/>
          <c:extLst>
            <c:ext xmlns:c16="http://schemas.microsoft.com/office/drawing/2014/chart" uri="{C3380CC4-5D6E-409C-BE32-E72D297353CC}">
              <c16:uniqueId val="{0000000A-37DA-F349-AECD-4B25D58A8893}"/>
            </c:ext>
          </c:extLst>
        </c:ser>
        <c:ser>
          <c:idx val="11"/>
          <c:order val="11"/>
          <c:spPr>
            <a:ln w="28575" cap="rnd">
              <a:solidFill>
                <a:schemeClr val="accent6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Sheet2!$B$1:$L$1</c:f>
              <c:numCache>
                <c:formatCode>0.0%</c:formatCode>
                <c:ptCount val="11"/>
                <c:pt idx="0">
                  <c:v>0.01</c:v>
                </c:pt>
                <c:pt idx="1">
                  <c:v>1.4999999999999999E-2</c:v>
                </c:pt>
                <c:pt idx="2">
                  <c:v>0.02</c:v>
                </c:pt>
                <c:pt idx="3">
                  <c:v>2.5000000000000001E-2</c:v>
                </c:pt>
                <c:pt idx="4">
                  <c:v>3.0000000000000002E-2</c:v>
                </c:pt>
                <c:pt idx="5">
                  <c:v>3.5000000000000003E-2</c:v>
                </c:pt>
                <c:pt idx="6">
                  <c:v>0.04</c:v>
                </c:pt>
                <c:pt idx="7">
                  <c:v>4.4999999999999998E-2</c:v>
                </c:pt>
                <c:pt idx="8">
                  <c:v>4.9999999999999996E-2</c:v>
                </c:pt>
                <c:pt idx="9">
                  <c:v>5.4999999999999993E-2</c:v>
                </c:pt>
                <c:pt idx="10">
                  <c:v>5.9999999999999991E-2</c:v>
                </c:pt>
              </c:numCache>
            </c:numRef>
          </c:cat>
          <c:val>
            <c:numRef>
              <c:f>Sheet2!$B$15:$L$15</c:f>
            </c:numRef>
          </c:val>
          <c:smooth val="0"/>
          <c:extLst>
            <c:ext xmlns:c16="http://schemas.microsoft.com/office/drawing/2014/chart" uri="{C3380CC4-5D6E-409C-BE32-E72D297353CC}">
              <c16:uniqueId val="{0000000B-37DA-F349-AECD-4B25D58A8893}"/>
            </c:ext>
          </c:extLst>
        </c:ser>
        <c:ser>
          <c:idx val="12"/>
          <c:order val="12"/>
          <c:spPr>
            <a:ln w="28575" cap="rnd">
              <a:solidFill>
                <a:schemeClr val="accent1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Sheet2!$B$1:$L$1</c:f>
              <c:numCache>
                <c:formatCode>0.0%</c:formatCode>
                <c:ptCount val="11"/>
                <c:pt idx="0">
                  <c:v>0.01</c:v>
                </c:pt>
                <c:pt idx="1">
                  <c:v>1.4999999999999999E-2</c:v>
                </c:pt>
                <c:pt idx="2">
                  <c:v>0.02</c:v>
                </c:pt>
                <c:pt idx="3">
                  <c:v>2.5000000000000001E-2</c:v>
                </c:pt>
                <c:pt idx="4">
                  <c:v>3.0000000000000002E-2</c:v>
                </c:pt>
                <c:pt idx="5">
                  <c:v>3.5000000000000003E-2</c:v>
                </c:pt>
                <c:pt idx="6">
                  <c:v>0.04</c:v>
                </c:pt>
                <c:pt idx="7">
                  <c:v>4.4999999999999998E-2</c:v>
                </c:pt>
                <c:pt idx="8">
                  <c:v>4.9999999999999996E-2</c:v>
                </c:pt>
                <c:pt idx="9">
                  <c:v>5.4999999999999993E-2</c:v>
                </c:pt>
                <c:pt idx="10">
                  <c:v>5.9999999999999991E-2</c:v>
                </c:pt>
              </c:numCache>
            </c:numRef>
          </c:cat>
          <c:val>
            <c:numRef>
              <c:f>Sheet2!$B$16:$L$16</c:f>
            </c:numRef>
          </c:val>
          <c:smooth val="0"/>
          <c:extLst>
            <c:ext xmlns:c16="http://schemas.microsoft.com/office/drawing/2014/chart" uri="{C3380CC4-5D6E-409C-BE32-E72D297353CC}">
              <c16:uniqueId val="{0000000C-37DA-F349-AECD-4B25D58A8893}"/>
            </c:ext>
          </c:extLst>
        </c:ser>
        <c:ser>
          <c:idx val="13"/>
          <c:order val="13"/>
          <c:spPr>
            <a:ln w="28575" cap="rnd">
              <a:solidFill>
                <a:schemeClr val="accent2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Sheet2!$B$1:$L$1</c:f>
              <c:numCache>
                <c:formatCode>0.0%</c:formatCode>
                <c:ptCount val="11"/>
                <c:pt idx="0">
                  <c:v>0.01</c:v>
                </c:pt>
                <c:pt idx="1">
                  <c:v>1.4999999999999999E-2</c:v>
                </c:pt>
                <c:pt idx="2">
                  <c:v>0.02</c:v>
                </c:pt>
                <c:pt idx="3">
                  <c:v>2.5000000000000001E-2</c:v>
                </c:pt>
                <c:pt idx="4">
                  <c:v>3.0000000000000002E-2</c:v>
                </c:pt>
                <c:pt idx="5">
                  <c:v>3.5000000000000003E-2</c:v>
                </c:pt>
                <c:pt idx="6">
                  <c:v>0.04</c:v>
                </c:pt>
                <c:pt idx="7">
                  <c:v>4.4999999999999998E-2</c:v>
                </c:pt>
                <c:pt idx="8">
                  <c:v>4.9999999999999996E-2</c:v>
                </c:pt>
                <c:pt idx="9">
                  <c:v>5.4999999999999993E-2</c:v>
                </c:pt>
                <c:pt idx="10">
                  <c:v>5.9999999999999991E-2</c:v>
                </c:pt>
              </c:numCache>
            </c:numRef>
          </c:cat>
          <c:val>
            <c:numRef>
              <c:f>Sheet2!$B$17:$L$17</c:f>
            </c:numRef>
          </c:val>
          <c:smooth val="0"/>
          <c:extLst>
            <c:ext xmlns:c16="http://schemas.microsoft.com/office/drawing/2014/chart" uri="{C3380CC4-5D6E-409C-BE32-E72D297353CC}">
              <c16:uniqueId val="{0000000D-37DA-F349-AECD-4B25D58A8893}"/>
            </c:ext>
          </c:extLst>
        </c:ser>
        <c:ser>
          <c:idx val="14"/>
          <c:order val="14"/>
          <c:tx>
            <c:v>Over 15 Years</c:v>
          </c:tx>
          <c:spPr>
            <a:ln w="28575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Sheet2!$B$1:$L$1</c:f>
              <c:numCache>
                <c:formatCode>0.0%</c:formatCode>
                <c:ptCount val="11"/>
                <c:pt idx="0">
                  <c:v>0.01</c:v>
                </c:pt>
                <c:pt idx="1">
                  <c:v>1.4999999999999999E-2</c:v>
                </c:pt>
                <c:pt idx="2">
                  <c:v>0.02</c:v>
                </c:pt>
                <c:pt idx="3">
                  <c:v>2.5000000000000001E-2</c:v>
                </c:pt>
                <c:pt idx="4">
                  <c:v>3.0000000000000002E-2</c:v>
                </c:pt>
                <c:pt idx="5">
                  <c:v>3.5000000000000003E-2</c:v>
                </c:pt>
                <c:pt idx="6">
                  <c:v>0.04</c:v>
                </c:pt>
                <c:pt idx="7">
                  <c:v>4.4999999999999998E-2</c:v>
                </c:pt>
                <c:pt idx="8">
                  <c:v>4.9999999999999996E-2</c:v>
                </c:pt>
                <c:pt idx="9">
                  <c:v>5.4999999999999993E-2</c:v>
                </c:pt>
                <c:pt idx="10">
                  <c:v>5.9999999999999991E-2</c:v>
                </c:pt>
              </c:numCache>
            </c:numRef>
          </c:cat>
          <c:val>
            <c:numRef>
              <c:f>Sheet2!$B$18:$L$18</c:f>
              <c:numCache>
                <c:formatCode>0%</c:formatCode>
                <c:ptCount val="11"/>
                <c:pt idx="0">
                  <c:v>0.94489999999999996</c:v>
                </c:pt>
                <c:pt idx="1">
                  <c:v>0.91930000000000001</c:v>
                </c:pt>
                <c:pt idx="2">
                  <c:v>0.88639999999999997</c:v>
                </c:pt>
                <c:pt idx="3">
                  <c:v>0.84330000000000005</c:v>
                </c:pt>
                <c:pt idx="4">
                  <c:v>0.78985000000000005</c:v>
                </c:pt>
                <c:pt idx="5">
                  <c:v>0.72499999999999998</c:v>
                </c:pt>
                <c:pt idx="6">
                  <c:v>0.65359999999999996</c:v>
                </c:pt>
                <c:pt idx="7">
                  <c:v>0.57694999999999996</c:v>
                </c:pt>
                <c:pt idx="8">
                  <c:v>0.48845</c:v>
                </c:pt>
                <c:pt idx="9">
                  <c:v>0.40200000000000002</c:v>
                </c:pt>
                <c:pt idx="10">
                  <c:v>0.32450000000000001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E-37DA-F349-AECD-4B25D58A8893}"/>
            </c:ext>
          </c:extLst>
        </c:ser>
        <c:ser>
          <c:idx val="15"/>
          <c:order val="15"/>
          <c:spPr>
            <a:ln w="28575" cap="rnd">
              <a:solidFill>
                <a:schemeClr val="accent4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Sheet2!$B$1:$L$1</c:f>
              <c:numCache>
                <c:formatCode>0.0%</c:formatCode>
                <c:ptCount val="11"/>
                <c:pt idx="0">
                  <c:v>0.01</c:v>
                </c:pt>
                <c:pt idx="1">
                  <c:v>1.4999999999999999E-2</c:v>
                </c:pt>
                <c:pt idx="2">
                  <c:v>0.02</c:v>
                </c:pt>
                <c:pt idx="3">
                  <c:v>2.5000000000000001E-2</c:v>
                </c:pt>
                <c:pt idx="4">
                  <c:v>3.0000000000000002E-2</c:v>
                </c:pt>
                <c:pt idx="5">
                  <c:v>3.5000000000000003E-2</c:v>
                </c:pt>
                <c:pt idx="6">
                  <c:v>0.04</c:v>
                </c:pt>
                <c:pt idx="7">
                  <c:v>4.4999999999999998E-2</c:v>
                </c:pt>
                <c:pt idx="8">
                  <c:v>4.9999999999999996E-2</c:v>
                </c:pt>
                <c:pt idx="9">
                  <c:v>5.4999999999999993E-2</c:v>
                </c:pt>
                <c:pt idx="10">
                  <c:v>5.9999999999999991E-2</c:v>
                </c:pt>
              </c:numCache>
            </c:numRef>
          </c:cat>
          <c:val>
            <c:numRef>
              <c:f>Sheet2!$B$19:$L$19</c:f>
            </c:numRef>
          </c:val>
          <c:smooth val="0"/>
          <c:extLst>
            <c:ext xmlns:c16="http://schemas.microsoft.com/office/drawing/2014/chart" uri="{C3380CC4-5D6E-409C-BE32-E72D297353CC}">
              <c16:uniqueId val="{0000000F-37DA-F349-AECD-4B25D58A8893}"/>
            </c:ext>
          </c:extLst>
        </c:ser>
        <c:ser>
          <c:idx val="16"/>
          <c:order val="16"/>
          <c:spPr>
            <a:ln w="28575" cap="rnd">
              <a:solidFill>
                <a:schemeClr val="accent5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Sheet2!$B$1:$L$1</c:f>
              <c:numCache>
                <c:formatCode>0.0%</c:formatCode>
                <c:ptCount val="11"/>
                <c:pt idx="0">
                  <c:v>0.01</c:v>
                </c:pt>
                <c:pt idx="1">
                  <c:v>1.4999999999999999E-2</c:v>
                </c:pt>
                <c:pt idx="2">
                  <c:v>0.02</c:v>
                </c:pt>
                <c:pt idx="3">
                  <c:v>2.5000000000000001E-2</c:v>
                </c:pt>
                <c:pt idx="4">
                  <c:v>3.0000000000000002E-2</c:v>
                </c:pt>
                <c:pt idx="5">
                  <c:v>3.5000000000000003E-2</c:v>
                </c:pt>
                <c:pt idx="6">
                  <c:v>0.04</c:v>
                </c:pt>
                <c:pt idx="7">
                  <c:v>4.4999999999999998E-2</c:v>
                </c:pt>
                <c:pt idx="8">
                  <c:v>4.9999999999999996E-2</c:v>
                </c:pt>
                <c:pt idx="9">
                  <c:v>5.4999999999999993E-2</c:v>
                </c:pt>
                <c:pt idx="10">
                  <c:v>5.9999999999999991E-2</c:v>
                </c:pt>
              </c:numCache>
            </c:numRef>
          </c:cat>
          <c:val>
            <c:numRef>
              <c:f>Sheet2!$B$20:$L$20</c:f>
            </c:numRef>
          </c:val>
          <c:smooth val="0"/>
          <c:extLst>
            <c:ext xmlns:c16="http://schemas.microsoft.com/office/drawing/2014/chart" uri="{C3380CC4-5D6E-409C-BE32-E72D297353CC}">
              <c16:uniqueId val="{00000010-37DA-F349-AECD-4B25D58A8893}"/>
            </c:ext>
          </c:extLst>
        </c:ser>
        <c:ser>
          <c:idx val="17"/>
          <c:order val="17"/>
          <c:spPr>
            <a:ln w="28575" cap="rnd">
              <a:solidFill>
                <a:schemeClr val="accent6">
                  <a:lumMod val="80000"/>
                  <a:lumOff val="2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Sheet2!$B$1:$L$1</c:f>
              <c:numCache>
                <c:formatCode>0.0%</c:formatCode>
                <c:ptCount val="11"/>
                <c:pt idx="0">
                  <c:v>0.01</c:v>
                </c:pt>
                <c:pt idx="1">
                  <c:v>1.4999999999999999E-2</c:v>
                </c:pt>
                <c:pt idx="2">
                  <c:v>0.02</c:v>
                </c:pt>
                <c:pt idx="3">
                  <c:v>2.5000000000000001E-2</c:v>
                </c:pt>
                <c:pt idx="4">
                  <c:v>3.0000000000000002E-2</c:v>
                </c:pt>
                <c:pt idx="5">
                  <c:v>3.5000000000000003E-2</c:v>
                </c:pt>
                <c:pt idx="6">
                  <c:v>0.04</c:v>
                </c:pt>
                <c:pt idx="7">
                  <c:v>4.4999999999999998E-2</c:v>
                </c:pt>
                <c:pt idx="8">
                  <c:v>4.9999999999999996E-2</c:v>
                </c:pt>
                <c:pt idx="9">
                  <c:v>5.4999999999999993E-2</c:v>
                </c:pt>
                <c:pt idx="10">
                  <c:v>5.9999999999999991E-2</c:v>
                </c:pt>
              </c:numCache>
            </c:numRef>
          </c:cat>
          <c:val>
            <c:numRef>
              <c:f>Sheet2!$B$21:$L$21</c:f>
            </c:numRef>
          </c:val>
          <c:smooth val="0"/>
          <c:extLst>
            <c:ext xmlns:c16="http://schemas.microsoft.com/office/drawing/2014/chart" uri="{C3380CC4-5D6E-409C-BE32-E72D297353CC}">
              <c16:uniqueId val="{00000011-37DA-F349-AECD-4B25D58A8893}"/>
            </c:ext>
          </c:extLst>
        </c:ser>
        <c:ser>
          <c:idx val="18"/>
          <c:order val="18"/>
          <c:spPr>
            <a:ln w="28575" cap="rnd">
              <a:solidFill>
                <a:schemeClr val="accent1">
                  <a:lumMod val="8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Sheet2!$B$1:$L$1</c:f>
              <c:numCache>
                <c:formatCode>0.0%</c:formatCode>
                <c:ptCount val="11"/>
                <c:pt idx="0">
                  <c:v>0.01</c:v>
                </c:pt>
                <c:pt idx="1">
                  <c:v>1.4999999999999999E-2</c:v>
                </c:pt>
                <c:pt idx="2">
                  <c:v>0.02</c:v>
                </c:pt>
                <c:pt idx="3">
                  <c:v>2.5000000000000001E-2</c:v>
                </c:pt>
                <c:pt idx="4">
                  <c:v>3.0000000000000002E-2</c:v>
                </c:pt>
                <c:pt idx="5">
                  <c:v>3.5000000000000003E-2</c:v>
                </c:pt>
                <c:pt idx="6">
                  <c:v>0.04</c:v>
                </c:pt>
                <c:pt idx="7">
                  <c:v>4.4999999999999998E-2</c:v>
                </c:pt>
                <c:pt idx="8">
                  <c:v>4.9999999999999996E-2</c:v>
                </c:pt>
                <c:pt idx="9">
                  <c:v>5.4999999999999993E-2</c:v>
                </c:pt>
                <c:pt idx="10">
                  <c:v>5.9999999999999991E-2</c:v>
                </c:pt>
              </c:numCache>
            </c:numRef>
          </c:cat>
          <c:val>
            <c:numRef>
              <c:f>Sheet2!$B$22:$L$22</c:f>
            </c:numRef>
          </c:val>
          <c:smooth val="0"/>
          <c:extLst>
            <c:ext xmlns:c16="http://schemas.microsoft.com/office/drawing/2014/chart" uri="{C3380CC4-5D6E-409C-BE32-E72D297353CC}">
              <c16:uniqueId val="{00000012-37DA-F349-AECD-4B25D58A8893}"/>
            </c:ext>
          </c:extLst>
        </c:ser>
        <c:ser>
          <c:idx val="19"/>
          <c:order val="19"/>
          <c:tx>
            <c:v>Over 20 Years</c:v>
          </c:tx>
          <c:spPr>
            <a:ln w="28575" cap="rnd">
              <a:solidFill>
                <a:schemeClr val="tx2">
                  <a:lumMod val="20000"/>
                  <a:lumOff val="8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Sheet2!$B$1:$L$1</c:f>
              <c:numCache>
                <c:formatCode>0.0%</c:formatCode>
                <c:ptCount val="11"/>
                <c:pt idx="0">
                  <c:v>0.01</c:v>
                </c:pt>
                <c:pt idx="1">
                  <c:v>1.4999999999999999E-2</c:v>
                </c:pt>
                <c:pt idx="2">
                  <c:v>0.02</c:v>
                </c:pt>
                <c:pt idx="3">
                  <c:v>2.5000000000000001E-2</c:v>
                </c:pt>
                <c:pt idx="4">
                  <c:v>3.0000000000000002E-2</c:v>
                </c:pt>
                <c:pt idx="5">
                  <c:v>3.5000000000000003E-2</c:v>
                </c:pt>
                <c:pt idx="6">
                  <c:v>0.04</c:v>
                </c:pt>
                <c:pt idx="7">
                  <c:v>4.4999999999999998E-2</c:v>
                </c:pt>
                <c:pt idx="8">
                  <c:v>4.9999999999999996E-2</c:v>
                </c:pt>
                <c:pt idx="9">
                  <c:v>5.4999999999999993E-2</c:v>
                </c:pt>
                <c:pt idx="10">
                  <c:v>5.9999999999999991E-2</c:v>
                </c:pt>
              </c:numCache>
            </c:numRef>
          </c:cat>
          <c:val>
            <c:numRef>
              <c:f>Sheet2!$B$23:$L$23</c:f>
              <c:numCache>
                <c:formatCode>0%</c:formatCode>
                <c:ptCount val="11"/>
                <c:pt idx="0">
                  <c:v>0.95694999999999997</c:v>
                </c:pt>
                <c:pt idx="1">
                  <c:v>0.93169999999999997</c:v>
                </c:pt>
                <c:pt idx="2">
                  <c:v>0.89949999999999997</c:v>
                </c:pt>
                <c:pt idx="3">
                  <c:v>0.85399999999999998</c:v>
                </c:pt>
                <c:pt idx="4">
                  <c:v>0.79774999999999996</c:v>
                </c:pt>
                <c:pt idx="5">
                  <c:v>0.72529999999999994</c:v>
                </c:pt>
                <c:pt idx="6">
                  <c:v>0.64480000000000004</c:v>
                </c:pt>
                <c:pt idx="7">
                  <c:v>0.55700000000000005</c:v>
                </c:pt>
                <c:pt idx="8">
                  <c:v>0.46465000000000001</c:v>
                </c:pt>
                <c:pt idx="9">
                  <c:v>0.373</c:v>
                </c:pt>
                <c:pt idx="10">
                  <c:v>0.28820000000000001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3-37DA-F349-AECD-4B25D58A88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61759248"/>
        <c:axId val="1776207024"/>
      </c:lineChart>
      <c:catAx>
        <c:axId val="15617592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GB"/>
                  <a:t>Assumed Yearly Spend</a:t>
                </a:r>
                <a:r>
                  <a:rPr lang="en-GB" baseline="0"/>
                  <a:t> (% of Initial Portfolio Value, Adjusted for Inflation)</a:t>
                </a:r>
                <a:endParaRPr lang="en-GB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GB"/>
            </a:p>
          </c:txPr>
        </c:title>
        <c:numFmt formatCode="0.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776207024"/>
        <c:crosses val="autoZero"/>
        <c:auto val="1"/>
        <c:lblAlgn val="ctr"/>
        <c:lblOffset val="100"/>
        <c:noMultiLvlLbl val="0"/>
      </c:catAx>
      <c:valAx>
        <c:axId val="1776207024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shade val="95000"/>
                <a:satMod val="105000"/>
              </a:schemeClr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5617592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b="0" i="0"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Sheet1!$A$3</c:f>
              <c:strCache>
                <c:ptCount val="1"/>
                <c:pt idx="0">
                  <c:v>10</c:v>
                </c:pt>
              </c:strCache>
            </c:strRef>
          </c:tx>
          <c:spPr>
            <a:solidFill>
              <a:schemeClr val="tx2">
                <a:lumMod val="7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/>
          </c:spPr>
          <c:invertIfNegative val="0"/>
          <c:cat>
            <c:numRef>
              <c:f>Sheet1!$A$3:$A$5</c:f>
              <c:numCache>
                <c:formatCode>General</c:formatCode>
                <c:ptCount val="3"/>
                <c:pt idx="0">
                  <c:v>10</c:v>
                </c:pt>
                <c:pt idx="1">
                  <c:v>15</c:v>
                </c:pt>
                <c:pt idx="2">
                  <c:v>20</c:v>
                </c:pt>
              </c:numCache>
            </c:numRef>
          </c:cat>
          <c:val>
            <c:numRef>
              <c:f>Sheet1!$B$7:$B$10</c:f>
              <c:numCache>
                <c:formatCode>0.0%</c:formatCode>
                <c:ptCount val="3"/>
                <c:pt idx="0">
                  <c:v>-3.2199627044427963E-2</c:v>
                </c:pt>
                <c:pt idx="1">
                  <c:v>-2.681158090149148E-2</c:v>
                </c:pt>
                <c:pt idx="2">
                  <c:v>-2.263340052860633E-2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DE-7944-8923-07BD5E716737}"/>
            </c:ext>
          </c:extLst>
        </c:ser>
        <c:ser>
          <c:idx val="1"/>
          <c:order val="1"/>
          <c:tx>
            <c:strRef>
              <c:f>Sheet1!$I$15</c:f>
              <c:strCache>
                <c:ptCount val="1"/>
                <c:pt idx="0">
                  <c:v>1st to 10th &amp; 90th to 99th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/>
          </c:spPr>
          <c:invertIfNegative val="0"/>
          <c:cat>
            <c:numRef>
              <c:f>Sheet1!$A$3:$A$5</c:f>
              <c:numCache>
                <c:formatCode>General</c:formatCode>
                <c:ptCount val="3"/>
                <c:pt idx="0">
                  <c:v>10</c:v>
                </c:pt>
                <c:pt idx="1">
                  <c:v>15</c:v>
                </c:pt>
                <c:pt idx="2">
                  <c:v>20</c:v>
                </c:pt>
              </c:numCache>
            </c:numRef>
          </c:cat>
          <c:val>
            <c:numRef>
              <c:f>Sheet1!$C$7:$C$10</c:f>
              <c:numCache>
                <c:formatCode>0.0%</c:formatCode>
                <c:ptCount val="3"/>
                <c:pt idx="0">
                  <c:v>-9.5498889043043392E-3</c:v>
                </c:pt>
                <c:pt idx="1">
                  <c:v>-8.9130139378868194E-3</c:v>
                </c:pt>
                <c:pt idx="2">
                  <c:v>-7.9845283678684695E-3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7DE-7944-8923-07BD5E716737}"/>
            </c:ext>
          </c:extLst>
        </c:ser>
        <c:ser>
          <c:idx val="2"/>
          <c:order val="2"/>
          <c:tx>
            <c:strRef>
              <c:f>Sheet1!$I$13</c:f>
              <c:strCache>
                <c:ptCount val="1"/>
                <c:pt idx="0">
                  <c:v>10th to 90th</c:v>
                </c:pt>
              </c:strCache>
            </c:strRef>
          </c:tx>
          <c:spPr>
            <a:solidFill>
              <a:schemeClr val="tx2">
                <a:lumMod val="7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/>
          </c:spPr>
          <c:invertIfNegative val="0"/>
          <c:cat>
            <c:numRef>
              <c:f>Sheet1!$A$3:$A$5</c:f>
              <c:numCache>
                <c:formatCode>General</c:formatCode>
                <c:ptCount val="3"/>
                <c:pt idx="0">
                  <c:v>10</c:v>
                </c:pt>
                <c:pt idx="1">
                  <c:v>15</c:v>
                </c:pt>
                <c:pt idx="2">
                  <c:v>20</c:v>
                </c:pt>
              </c:numCache>
            </c:numRef>
          </c:cat>
          <c:val>
            <c:numRef>
              <c:f>Sheet1!$D$7:$D$10</c:f>
              <c:numCache>
                <c:formatCode>0.0%</c:formatCode>
                <c:ptCount val="3"/>
                <c:pt idx="0">
                  <c:v>6.0671217036501898E-2</c:v>
                </c:pt>
                <c:pt idx="1">
                  <c:v>5.2178029936329799E-2</c:v>
                </c:pt>
                <c:pt idx="2">
                  <c:v>4.6403635775740699E-2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7DE-7944-8923-07BD5E716737}"/>
            </c:ext>
          </c:extLst>
        </c:ser>
        <c:ser>
          <c:idx val="3"/>
          <c:order val="3"/>
          <c:spPr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effectLst/>
          </c:spPr>
          <c:invertIfNegative val="0"/>
          <c:cat>
            <c:numRef>
              <c:f>Sheet1!$A$3:$A$5</c:f>
              <c:numCache>
                <c:formatCode>General</c:formatCode>
                <c:ptCount val="3"/>
                <c:pt idx="0">
                  <c:v>10</c:v>
                </c:pt>
                <c:pt idx="1">
                  <c:v>15</c:v>
                </c:pt>
                <c:pt idx="2">
                  <c:v>20</c:v>
                </c:pt>
              </c:numCache>
            </c:numRef>
          </c:cat>
          <c:val>
            <c:numRef>
              <c:f>Sheet1!$E$7:$E$10</c:f>
              <c:numCache>
                <c:formatCode>0.0%</c:formatCode>
                <c:ptCount val="3"/>
                <c:pt idx="0">
                  <c:v>2.6168201533834007E-2</c:v>
                </c:pt>
                <c:pt idx="1">
                  <c:v>2.35861551448849E-2</c:v>
                </c:pt>
                <c:pt idx="2">
                  <c:v>2.2319924745029494E-2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7DE-7944-8923-07BD5E7167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37847088"/>
        <c:axId val="800971248"/>
      </c:barChart>
      <c:lineChart>
        <c:grouping val="standard"/>
        <c:varyColors val="0"/>
        <c:ser>
          <c:idx val="4"/>
          <c:order val="4"/>
          <c:tx>
            <c:strRef>
              <c:f>Sheet1!$I$14</c:f>
              <c:strCache>
                <c:ptCount val="1"/>
                <c:pt idx="0">
                  <c:v>Median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dash"/>
            <c:size val="34"/>
            <c:spPr>
              <a:solidFill>
                <a:schemeClr val="bg1"/>
              </a:solidFill>
              <a:ln w="9525">
                <a:solidFill>
                  <a:schemeClr val="dk1">
                    <a:shade val="95000"/>
                    <a:satMod val="105000"/>
                  </a:schemeClr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0.10963217846272527"/>
                  <c:y val="-5.702154197048368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7DE-7944-8923-07BD5E716737}"/>
                </c:ext>
              </c:extLst>
            </c:dLbl>
            <c:dLbl>
              <c:idx val="1"/>
              <c:layout>
                <c:manualLayout>
                  <c:x val="-0.11295990793456478"/>
                  <c:y val="-4.801459456443731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7DE-7944-8923-07BD5E716737}"/>
                </c:ext>
              </c:extLst>
            </c:dLbl>
            <c:dLbl>
              <c:idx val="2"/>
              <c:layout>
                <c:manualLayout>
                  <c:x val="-0.11295990793456478"/>
                  <c:y val="-4.801459456443720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7DE-7944-8923-07BD5E7167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bg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Sheet1!$D$3:$D$5</c:f>
              <c:numCache>
                <c:formatCode>0.0%</c:formatCode>
                <c:ptCount val="3"/>
                <c:pt idx="0">
                  <c:v>2.65715589184175E-2</c:v>
                </c:pt>
                <c:pt idx="1">
                  <c:v>2.1935977257973902E-2</c:v>
                </c:pt>
                <c:pt idx="2">
                  <c:v>2.0006459726786201E-2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F7DE-7944-8923-07BD5E7167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37847088"/>
        <c:axId val="800971248"/>
      </c:lineChart>
      <c:catAx>
        <c:axId val="8378470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dk1"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800971248"/>
        <c:crosses val="autoZero"/>
        <c:auto val="1"/>
        <c:lblAlgn val="ctr"/>
        <c:lblOffset val="100"/>
        <c:noMultiLvlLbl val="0"/>
      </c:catAx>
      <c:valAx>
        <c:axId val="800971248"/>
        <c:scaling>
          <c:orientation val="minMax"/>
        </c:scaling>
        <c:delete val="0"/>
        <c:axPos val="l"/>
        <c:numFmt formatCode="0.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shade val="95000"/>
                <a:satMod val="105000"/>
              </a:schemeClr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8378470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delete val="1"/>
      </c:legendEntry>
      <c:legendEntry>
        <c:idx val="3"/>
        <c:delete val="1"/>
      </c:legendEntry>
      <c:layout>
        <c:manualLayout>
          <c:xMode val="edge"/>
          <c:yMode val="edge"/>
          <c:x val="5.0000052405188532E-2"/>
          <c:y val="0"/>
          <c:w val="0.89999989518962298"/>
          <c:h val="5.60889328493064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ptos" panose="020B0004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050" b="0" i="0">
          <a:latin typeface="Aptos" panose="020B0004020202020204" pitchFamily="34" charset="0"/>
        </a:defRPr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74326460012346"/>
          <c:y val="0.11068779082900965"/>
          <c:w val="0.86949701373684352"/>
          <c:h val="0.74847108137577723"/>
        </c:manualLayout>
      </c:layout>
      <c:lineChart>
        <c:grouping val="standard"/>
        <c:varyColors val="0"/>
        <c:ser>
          <c:idx val="0"/>
          <c:order val="0"/>
          <c:tx>
            <c:strRef>
              <c:f>ws_Optimized_Portfolio!$B$2</c:f>
              <c:strCache>
                <c:ptCount val="1"/>
                <c:pt idx="0">
                  <c:v>1st %ile</c:v>
                </c:pt>
              </c:strCache>
            </c:strRef>
          </c:tx>
          <c:spPr>
            <a:ln w="12700">
              <a:solidFill>
                <a:srgbClr val="C00000"/>
              </a:solidFill>
              <a:prstDash val="solid"/>
            </a:ln>
          </c:spPr>
          <c:marker>
            <c:symbol val="none"/>
          </c:marker>
          <c:dLbls>
            <c:dLbl>
              <c:idx val="2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CE48-2842-AC8B-BE784B05D300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ws_Optimized_Portfolio!$A$3:$A$23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ws_Optimized_Portfolio!$B$3:$B$23</c:f>
              <c:numCache>
                <c:formatCode>General</c:formatCode>
                <c:ptCount val="21"/>
                <c:pt idx="0">
                  <c:v>100</c:v>
                </c:pt>
                <c:pt idx="1">
                  <c:v>86.894229622402094</c:v>
                </c:pt>
                <c:pt idx="2">
                  <c:v>87.160679882565006</c:v>
                </c:pt>
                <c:pt idx="3">
                  <c:v>87.562519466778184</c:v>
                </c:pt>
                <c:pt idx="4">
                  <c:v>86.590712607638622</c:v>
                </c:pt>
                <c:pt idx="5">
                  <c:v>87.05943961898366</c:v>
                </c:pt>
                <c:pt idx="6">
                  <c:v>87.450620792458764</c:v>
                </c:pt>
                <c:pt idx="7">
                  <c:v>84.352444101340566</c:v>
                </c:pt>
                <c:pt idx="8">
                  <c:v>83.424315903933788</c:v>
                </c:pt>
                <c:pt idx="9">
                  <c:v>81.038933847823046</c:v>
                </c:pt>
                <c:pt idx="10">
                  <c:v>80.303178014959414</c:v>
                </c:pt>
                <c:pt idx="11">
                  <c:v>79.583601326913055</c:v>
                </c:pt>
                <c:pt idx="12">
                  <c:v>80.201474463797823</c:v>
                </c:pt>
                <c:pt idx="13">
                  <c:v>78.940099450654017</c:v>
                </c:pt>
                <c:pt idx="14">
                  <c:v>78.798663111589079</c:v>
                </c:pt>
                <c:pt idx="15">
                  <c:v>78.273689115033321</c:v>
                </c:pt>
                <c:pt idx="16">
                  <c:v>77.347414575673298</c:v>
                </c:pt>
                <c:pt idx="17">
                  <c:v>78.667424152504964</c:v>
                </c:pt>
                <c:pt idx="18">
                  <c:v>79.216913992349262</c:v>
                </c:pt>
                <c:pt idx="19">
                  <c:v>79.585407130289866</c:v>
                </c:pt>
                <c:pt idx="20">
                  <c:v>79.296290672821797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E48-2842-AC8B-BE784B05D300}"/>
            </c:ext>
          </c:extLst>
        </c:ser>
        <c:ser>
          <c:idx val="1"/>
          <c:order val="1"/>
          <c:tx>
            <c:strRef>
              <c:f>ws_Optimized_Portfolio!$C$2</c:f>
              <c:strCache>
                <c:ptCount val="1"/>
                <c:pt idx="0">
                  <c:v>10th %ile</c:v>
                </c:pt>
              </c:strCache>
            </c:strRef>
          </c:tx>
          <c:spPr>
            <a:ln w="12700">
              <a:solidFill>
                <a:srgbClr val="8064A2"/>
              </a:solidFill>
              <a:prstDash val="solid"/>
            </a:ln>
          </c:spPr>
          <c:marker>
            <c:symbol val="none"/>
          </c:marker>
          <c:dLbls>
            <c:dLbl>
              <c:idx val="2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E48-2842-AC8B-BE784B05D300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ws_Optimized_Portfolio!$A$3:$A$23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ws_Optimized_Portfolio!$C$3:$C$23</c:f>
              <c:numCache>
                <c:formatCode>General</c:formatCode>
                <c:ptCount val="21"/>
                <c:pt idx="0">
                  <c:v>100</c:v>
                </c:pt>
                <c:pt idx="1">
                  <c:v>96.237734130289496</c:v>
                </c:pt>
                <c:pt idx="2">
                  <c:v>97.635365528236704</c:v>
                </c:pt>
                <c:pt idx="3">
                  <c:v>100.65187102068749</c:v>
                </c:pt>
                <c:pt idx="4">
                  <c:v>102.7821564979466</c:v>
                </c:pt>
                <c:pt idx="5">
                  <c:v>105.7682076865501</c:v>
                </c:pt>
                <c:pt idx="6">
                  <c:v>109.1203383118612</c:v>
                </c:pt>
                <c:pt idx="7">
                  <c:v>109.9896120920354</c:v>
                </c:pt>
                <c:pt idx="8">
                  <c:v>110.9645950681675</c:v>
                </c:pt>
                <c:pt idx="9">
                  <c:v>111.5851918620377</c:v>
                </c:pt>
                <c:pt idx="10">
                  <c:v>112.5838535055248</c:v>
                </c:pt>
                <c:pt idx="11">
                  <c:v>113.8882861756633</c:v>
                </c:pt>
                <c:pt idx="12">
                  <c:v>115.2838569500756</c:v>
                </c:pt>
                <c:pt idx="13">
                  <c:v>116.2709982506428</c:v>
                </c:pt>
                <c:pt idx="14">
                  <c:v>118.0223512042692</c:v>
                </c:pt>
                <c:pt idx="15">
                  <c:v>119.28755426536981</c:v>
                </c:pt>
                <c:pt idx="16">
                  <c:v>121.11981114233249</c:v>
                </c:pt>
                <c:pt idx="17">
                  <c:v>122.8511741080063</c:v>
                </c:pt>
                <c:pt idx="18">
                  <c:v>124.55515537426029</c:v>
                </c:pt>
                <c:pt idx="19">
                  <c:v>125.91980536264801</c:v>
                </c:pt>
                <c:pt idx="20">
                  <c:v>128.14299938571739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E48-2842-AC8B-BE784B05D300}"/>
            </c:ext>
          </c:extLst>
        </c:ser>
        <c:ser>
          <c:idx val="2"/>
          <c:order val="2"/>
          <c:tx>
            <c:strRef>
              <c:f>ws_Optimized_Portfolio!$D$2</c:f>
              <c:strCache>
                <c:ptCount val="1"/>
                <c:pt idx="0">
                  <c:v>50th %ile</c:v>
                </c:pt>
              </c:strCache>
            </c:strRef>
          </c:tx>
          <c:spPr>
            <a:ln w="12700">
              <a:solidFill>
                <a:srgbClr val="376092"/>
              </a:solidFill>
              <a:prstDash val="solid"/>
            </a:ln>
          </c:spPr>
          <c:marker>
            <c:symbol val="none"/>
          </c:marker>
          <c:dLbls>
            <c:dLbl>
              <c:idx val="2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E48-2842-AC8B-BE784B05D300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ws_Optimized_Portfolio!$A$3:$A$23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ws_Optimized_Portfolio!$D$3:$D$23</c:f>
              <c:numCache>
                <c:formatCode>General</c:formatCode>
                <c:ptCount val="21"/>
                <c:pt idx="0">
                  <c:v>100</c:v>
                </c:pt>
                <c:pt idx="1">
                  <c:v>106.2881594218982</c:v>
                </c:pt>
                <c:pt idx="2">
                  <c:v>112.0377987477533</c:v>
                </c:pt>
                <c:pt idx="3">
                  <c:v>117.6324474307111</c:v>
                </c:pt>
                <c:pt idx="4">
                  <c:v>124.18361195491281</c:v>
                </c:pt>
                <c:pt idx="5">
                  <c:v>131.4632560506891</c:v>
                </c:pt>
                <c:pt idx="6">
                  <c:v>138.6133770565136</c:v>
                </c:pt>
                <c:pt idx="7">
                  <c:v>144.31132064749119</c:v>
                </c:pt>
                <c:pt idx="8">
                  <c:v>150.11939616711069</c:v>
                </c:pt>
                <c:pt idx="9">
                  <c:v>155.32554684678769</c:v>
                </c:pt>
                <c:pt idx="10">
                  <c:v>161.02281177675741</c:v>
                </c:pt>
                <c:pt idx="11">
                  <c:v>166.46497547832169</c:v>
                </c:pt>
                <c:pt idx="12">
                  <c:v>171.52784822952779</c:v>
                </c:pt>
                <c:pt idx="13">
                  <c:v>177.38487594696349</c:v>
                </c:pt>
                <c:pt idx="14">
                  <c:v>183.59848765147169</c:v>
                </c:pt>
                <c:pt idx="15">
                  <c:v>189.3015468147504</c:v>
                </c:pt>
                <c:pt idx="16">
                  <c:v>195.13536196363299</c:v>
                </c:pt>
                <c:pt idx="17">
                  <c:v>201.24665718651809</c:v>
                </c:pt>
                <c:pt idx="18">
                  <c:v>208.6410581532239</c:v>
                </c:pt>
                <c:pt idx="19">
                  <c:v>215.7270800928415</c:v>
                </c:pt>
                <c:pt idx="20">
                  <c:v>222.8537272085668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E48-2842-AC8B-BE784B05D300}"/>
            </c:ext>
          </c:extLst>
        </c:ser>
        <c:ser>
          <c:idx val="3"/>
          <c:order val="3"/>
          <c:tx>
            <c:strRef>
              <c:f>ws_Optimized_Portfolio!$E$2</c:f>
              <c:strCache>
                <c:ptCount val="1"/>
                <c:pt idx="0">
                  <c:v>90th %ile</c:v>
                </c:pt>
              </c:strCache>
            </c:strRef>
          </c:tx>
          <c:spPr>
            <a:ln w="12700">
              <a:solidFill>
                <a:srgbClr val="77933C"/>
              </a:solidFill>
              <a:prstDash val="solid"/>
            </a:ln>
          </c:spPr>
          <c:marker>
            <c:symbol val="none"/>
          </c:marker>
          <c:dLbls>
            <c:dLbl>
              <c:idx val="2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E48-2842-AC8B-BE784B05D300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ws_Optimized_Portfolio!$A$3:$A$23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ws_Optimized_Portfolio!$E$3:$E$23</c:f>
              <c:numCache>
                <c:formatCode>General</c:formatCode>
                <c:ptCount val="21"/>
                <c:pt idx="0">
                  <c:v>100</c:v>
                </c:pt>
                <c:pt idx="1">
                  <c:v>116.2142580248201</c:v>
                </c:pt>
                <c:pt idx="2">
                  <c:v>126.2371261678696</c:v>
                </c:pt>
                <c:pt idx="3">
                  <c:v>136.05222896056139</c:v>
                </c:pt>
                <c:pt idx="4">
                  <c:v>147.93539233478461</c:v>
                </c:pt>
                <c:pt idx="5">
                  <c:v>160.34299629754139</c:v>
                </c:pt>
                <c:pt idx="6">
                  <c:v>172.43418940169059</c:v>
                </c:pt>
                <c:pt idx="7">
                  <c:v>184.47582514947339</c:v>
                </c:pt>
                <c:pt idx="8">
                  <c:v>196.54701515006559</c:v>
                </c:pt>
                <c:pt idx="9">
                  <c:v>208.95581336879849</c:v>
                </c:pt>
                <c:pt idx="10">
                  <c:v>221.23072806830609</c:v>
                </c:pt>
                <c:pt idx="11">
                  <c:v>233.57028087825671</c:v>
                </c:pt>
                <c:pt idx="12">
                  <c:v>247.97361658290461</c:v>
                </c:pt>
                <c:pt idx="13">
                  <c:v>261.03071924490172</c:v>
                </c:pt>
                <c:pt idx="14">
                  <c:v>275.83029489274912</c:v>
                </c:pt>
                <c:pt idx="15">
                  <c:v>291.47063548389929</c:v>
                </c:pt>
                <c:pt idx="16">
                  <c:v>307.30511022195009</c:v>
                </c:pt>
                <c:pt idx="17">
                  <c:v>323.33555402657572</c:v>
                </c:pt>
                <c:pt idx="18">
                  <c:v>340.46087263986459</c:v>
                </c:pt>
                <c:pt idx="19">
                  <c:v>356.64818017230408</c:v>
                </c:pt>
                <c:pt idx="20">
                  <c:v>374.06673247537418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E48-2842-AC8B-BE784B05D3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GB" sz="900" b="0">
                    <a:latin typeface="Aptos"/>
                  </a:rPr>
                  <a:t>Year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900" b="0">
                <a:latin typeface="Aptos"/>
              </a:defRPr>
            </a:pPr>
            <a:endParaRPr lang="en-US"/>
          </a:p>
        </c:txPr>
        <c:crossAx val="100"/>
        <c:crosses val="autoZero"/>
        <c:auto val="0"/>
        <c:lblAlgn val="ctr"/>
        <c:lblOffset val="100"/>
        <c:tickLblSkip val="5"/>
        <c:tickMarkSkip val="5"/>
        <c:noMultiLvlLbl val="0"/>
      </c:catAx>
      <c:valAx>
        <c:axId val="100"/>
        <c:scaling>
          <c:orientation val="minMax"/>
          <c:max val="450"/>
        </c:scaling>
        <c:delete val="0"/>
        <c:axPos val="l"/>
        <c:title>
          <c:tx>
            <c:rich>
              <a:bodyPr/>
              <a:lstStyle/>
              <a:p>
                <a:pPr>
                  <a:defRPr/>
                </a:pPr>
                <a:r>
                  <a:rPr lang="en-GB" sz="900" b="0">
                    <a:latin typeface="Aptos"/>
                  </a:rPr>
                  <a:t>Nominal Portfolio Values ($)</a:t>
                </a:r>
              </a:p>
            </c:rich>
          </c:tx>
          <c:overlay val="0"/>
        </c:title>
        <c:numFmt formatCode="General" sourceLinked="1"/>
        <c:majorTickMark val="cross"/>
        <c:minorTickMark val="none"/>
        <c:tickLblPos val="nextTo"/>
        <c:txPr>
          <a:bodyPr/>
          <a:lstStyle/>
          <a:p>
            <a:pPr>
              <a:defRPr sz="900" b="0">
                <a:latin typeface="Aptos"/>
              </a:defRPr>
            </a:pPr>
            <a:endParaRPr lang="en-US"/>
          </a:p>
        </c:txPr>
        <c:crossAx val="10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25"/>
          <c:y val="1.4066060120915477E-2"/>
          <c:w val="1"/>
          <c:h val="0.1"/>
        </c:manualLayout>
      </c:layout>
      <c:overlay val="0"/>
      <c:txPr>
        <a:bodyPr/>
        <a:lstStyle/>
        <a:p>
          <a:pPr>
            <a:defRPr sz="900" b="0">
              <a:latin typeface="Aptos"/>
            </a:defRPr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risk_dashboard!$B$38</c:f>
              <c:strCache>
                <c:ptCount val="1"/>
                <c:pt idx="0">
                  <c:v>Exc. Single Stock</c:v>
                </c:pt>
              </c:strCache>
            </c:strRef>
          </c:tx>
          <c:spPr>
            <a:solidFill>
              <a:schemeClr val="tx2">
                <a:lumMod val="7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2.6191113817624411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F92-EB40-81C9-1A53F17B2406}"/>
                </c:ext>
              </c:extLst>
            </c:dLbl>
            <c:dLbl>
              <c:idx val="1"/>
              <c:layout>
                <c:manualLayout>
                  <c:x val="-7.4831753764641167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F92-EB40-81C9-1A53F17B240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risk_dashboard!$A$39:$A$41</c:f>
              <c:strCache>
                <c:ptCount val="3"/>
                <c:pt idx="0">
                  <c:v>Over 1 Month</c:v>
                </c:pt>
                <c:pt idx="1">
                  <c:v>Over 1 Year</c:v>
                </c:pt>
                <c:pt idx="2">
                  <c:v>Over 3 Years</c:v>
                </c:pt>
              </c:strCache>
            </c:strRef>
          </c:cat>
          <c:val>
            <c:numRef>
              <c:f>risk_dashboard!$B$39:$B$41</c:f>
              <c:numCache>
                <c:formatCode>0.0%</c:formatCode>
                <c:ptCount val="3"/>
                <c:pt idx="0">
                  <c:v>4.1420284237808191E-2</c:v>
                </c:pt>
                <c:pt idx="1">
                  <c:v>0.11542478822860409</c:v>
                </c:pt>
                <c:pt idx="2">
                  <c:v>0.12168605450324201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92-EB40-81C9-1A53F17B2406}"/>
            </c:ext>
          </c:extLst>
        </c:ser>
        <c:ser>
          <c:idx val="1"/>
          <c:order val="1"/>
          <c:tx>
            <c:strRef>
              <c:f>risk_dashboard!$C$38</c:f>
              <c:strCache>
                <c:ptCount val="1"/>
                <c:pt idx="0">
                  <c:v>Inc. Single Stock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 w="6350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risk_dashboard!$A$39:$A$41</c:f>
              <c:strCache>
                <c:ptCount val="3"/>
                <c:pt idx="0">
                  <c:v>Over 1 Month</c:v>
                </c:pt>
                <c:pt idx="1">
                  <c:v>Over 1 Year</c:v>
                </c:pt>
                <c:pt idx="2">
                  <c:v>Over 3 Years</c:v>
                </c:pt>
              </c:strCache>
            </c:strRef>
          </c:cat>
          <c:val>
            <c:numRef>
              <c:f>risk_dashboard!$C$39:$C$41</c:f>
              <c:numCache>
                <c:formatCode>0.0%</c:formatCode>
                <c:ptCount val="3"/>
                <c:pt idx="0">
                  <c:v>0.56914782945731501</c:v>
                </c:pt>
                <c:pt idx="1">
                  <c:v>0.52474512706283738</c:v>
                </c:pt>
                <c:pt idx="2">
                  <c:v>0.52098836729805487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F92-EB40-81C9-1A53F17B2406}"/>
            </c:ext>
          </c:extLst>
        </c:ser>
        <c:ser>
          <c:idx val="2"/>
          <c:order val="2"/>
          <c:tx>
            <c:strRef>
              <c:f>risk_dashboard!$D$38</c:f>
              <c:strCache>
                <c:ptCount val="1"/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risk_dashboard!$A$39:$A$41</c:f>
              <c:strCache>
                <c:ptCount val="3"/>
                <c:pt idx="0">
                  <c:v>Over 1 Month</c:v>
                </c:pt>
                <c:pt idx="1">
                  <c:v>Over 1 Year</c:v>
                </c:pt>
                <c:pt idx="2">
                  <c:v>Over 3 Years</c:v>
                </c:pt>
              </c:strCache>
            </c:strRef>
          </c:cat>
          <c:val>
            <c:numRef>
              <c:f>risk_dashboard!$D$39:$D$41</c:f>
              <c:numCache>
                <c:formatCode>0.0%</c:formatCode>
                <c:ptCount val="3"/>
                <c:pt idx="0">
                  <c:v>0.6105681136951232</c:v>
                </c:pt>
                <c:pt idx="1">
                  <c:v>0.64016991529144152</c:v>
                </c:pt>
                <c:pt idx="2">
                  <c:v>0.64267442180129686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F92-EB40-81C9-1A53F17B24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41"/>
        <c:overlap val="100"/>
        <c:axId val="1645031424"/>
        <c:axId val="1567600816"/>
      </c:barChart>
      <c:catAx>
        <c:axId val="164503142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1567600816"/>
        <c:crosses val="autoZero"/>
        <c:auto val="1"/>
        <c:lblAlgn val="ctr"/>
        <c:lblOffset val="100"/>
        <c:noMultiLvlLbl val="0"/>
      </c:catAx>
      <c:valAx>
        <c:axId val="1567600816"/>
        <c:scaling>
          <c:orientation val="minMax"/>
          <c:max val="0.8"/>
          <c:min val="0"/>
        </c:scaling>
        <c:delete val="1"/>
        <c:axPos val="b"/>
        <c:numFmt formatCode="0.0%" sourceLinked="1"/>
        <c:majorTickMark val="out"/>
        <c:minorTickMark val="none"/>
        <c:tickLblPos val="nextTo"/>
        <c:crossAx val="16450314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ptos" panose="020B0004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0" i="0">
          <a:latin typeface="Aptos" panose="020B0004020202020204" pitchFamily="34" charset="0"/>
        </a:defRPr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438517338995045"/>
          <c:y val="7.7611111111111117E-2"/>
          <c:w val="0.69374941023826375"/>
          <c:h val="0.68998611111111108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risk_dashboard!$B$38</c:f>
              <c:strCache>
                <c:ptCount val="1"/>
                <c:pt idx="0">
                  <c:v>Exc. Single Stock</c:v>
                </c:pt>
              </c:strCache>
            </c:strRef>
          </c:tx>
          <c:spPr>
            <a:solidFill>
              <a:schemeClr val="tx2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risk_dashboard!$A$42:$A$44</c:f>
              <c:strCache>
                <c:ptCount val="3"/>
                <c:pt idx="0">
                  <c:v>Over 1 Month</c:v>
                </c:pt>
                <c:pt idx="1">
                  <c:v>Over 1 Year</c:v>
                </c:pt>
                <c:pt idx="2">
                  <c:v>Over 3 Years</c:v>
                </c:pt>
              </c:strCache>
            </c:strRef>
          </c:cat>
          <c:val>
            <c:numRef>
              <c:f>risk_dashboard!$B$42:$B$44</c:f>
              <c:numCache>
                <c:formatCode>0.0%</c:formatCode>
                <c:ptCount val="3"/>
                <c:pt idx="0">
                  <c:v>0.32540000000000002</c:v>
                </c:pt>
                <c:pt idx="1">
                  <c:v>0.14615</c:v>
                </c:pt>
                <c:pt idx="2">
                  <c:v>7.4300000000000005E-2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B5-DA45-B62A-70241AA7DB25}"/>
            </c:ext>
          </c:extLst>
        </c:ser>
        <c:ser>
          <c:idx val="1"/>
          <c:order val="1"/>
          <c:tx>
            <c:strRef>
              <c:f>risk_dashboard!$C$38</c:f>
              <c:strCache>
                <c:ptCount val="1"/>
                <c:pt idx="0">
                  <c:v>Inc. Single Stock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risk_dashboard!$A$42:$A$44</c:f>
              <c:strCache>
                <c:ptCount val="3"/>
                <c:pt idx="0">
                  <c:v>Over 1 Month</c:v>
                </c:pt>
                <c:pt idx="1">
                  <c:v>Over 1 Year</c:v>
                </c:pt>
                <c:pt idx="2">
                  <c:v>Over 3 Years</c:v>
                </c:pt>
              </c:strCache>
            </c:strRef>
          </c:cat>
          <c:val>
            <c:numRef>
              <c:f>risk_dashboard!$C$42:$C$44</c:f>
              <c:numCache>
                <c:formatCode>0.0%</c:formatCode>
                <c:ptCount val="3"/>
                <c:pt idx="0">
                  <c:v>0.12484999999999996</c:v>
                </c:pt>
                <c:pt idx="1">
                  <c:v>0.25235000000000002</c:v>
                </c:pt>
                <c:pt idx="2">
                  <c:v>0.28120000000000001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4B5-DA45-B62A-70241AA7DB25}"/>
            </c:ext>
          </c:extLst>
        </c:ser>
        <c:ser>
          <c:idx val="2"/>
          <c:order val="2"/>
          <c:tx>
            <c:strRef>
              <c:f>risk_dashboard!$D$38</c:f>
              <c:strCache>
                <c:ptCount val="1"/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risk_dashboard!$A$42:$A$44</c:f>
              <c:strCache>
                <c:ptCount val="3"/>
                <c:pt idx="0">
                  <c:v>Over 1 Month</c:v>
                </c:pt>
                <c:pt idx="1">
                  <c:v>Over 1 Year</c:v>
                </c:pt>
                <c:pt idx="2">
                  <c:v>Over 3 Years</c:v>
                </c:pt>
              </c:strCache>
            </c:strRef>
          </c:cat>
          <c:val>
            <c:numRef>
              <c:f>risk_dashboard!$D$42:$D$44</c:f>
              <c:numCache>
                <c:formatCode>0.0%</c:formatCode>
                <c:ptCount val="3"/>
                <c:pt idx="0">
                  <c:v>0.45024999999999998</c:v>
                </c:pt>
                <c:pt idx="1">
                  <c:v>0.39850000000000002</c:v>
                </c:pt>
                <c:pt idx="2">
                  <c:v>0.35550000000000004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4B5-DA45-B62A-70241AA7DB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41"/>
        <c:overlap val="100"/>
        <c:axId val="1645031424"/>
        <c:axId val="1567600816"/>
      </c:barChart>
      <c:catAx>
        <c:axId val="164503142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1567600816"/>
        <c:crosses val="autoZero"/>
        <c:auto val="1"/>
        <c:lblAlgn val="ctr"/>
        <c:lblOffset val="100"/>
        <c:noMultiLvlLbl val="0"/>
      </c:catAx>
      <c:valAx>
        <c:axId val="1567600816"/>
        <c:scaling>
          <c:orientation val="minMax"/>
          <c:max val="0.5"/>
          <c:min val="0"/>
        </c:scaling>
        <c:delete val="0"/>
        <c:axPos val="b"/>
        <c:numFmt formatCode="0.0%" sourceLinked="1"/>
        <c:majorTickMark val="out"/>
        <c:minorTickMark val="none"/>
        <c:tickLblPos val="nextTo"/>
        <c:spPr>
          <a:solidFill>
            <a:schemeClr val="bg1"/>
          </a:solidFill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16450314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4395026116784907"/>
          <c:y val="0.90640885406565574"/>
          <c:w val="0.63091135885242067"/>
          <c:h val="6.731856793762848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ptos" panose="020B0004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0" i="0">
          <a:latin typeface="Aptos" panose="020B0004020202020204" pitchFamily="34" charset="0"/>
        </a:defRPr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tx2">
                  <a:lumMod val="50000"/>
                </a:schemeClr>
              </a:solidFill>
              <a:ln w="6350">
                <a:solidFill>
                  <a:schemeClr val="bg1">
                    <a:lumMod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C8C-1949-84FB-F3B6584BCAA7}"/>
              </c:ext>
            </c:extLst>
          </c:dPt>
          <c:dPt>
            <c:idx val="1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C8C-1949-84FB-F3B6584BCAA7}"/>
              </c:ext>
            </c:extLst>
          </c:dPt>
          <c:dPt>
            <c:idx val="2"/>
            <c:invertIfNegative val="0"/>
            <c:bubble3D val="0"/>
            <c:spPr>
              <a:pattFill prst="dkDnDiag">
                <a:fgClr>
                  <a:srgbClr val="C00000"/>
                </a:fgClr>
                <a:bgClr>
                  <a:schemeClr val="bg1"/>
                </a:bgClr>
              </a:pattFill>
              <a:ln w="6350">
                <a:solidFill>
                  <a:schemeClr val="bg1">
                    <a:lumMod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C8C-1949-84FB-F3B6584BCAA7}"/>
              </c:ext>
            </c:extLst>
          </c:dPt>
          <c:dLbls>
            <c:dLbl>
              <c:idx val="0"/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C8C-1949-84FB-F3B6584BCAA7}"/>
                </c:ext>
              </c:extLst>
            </c:dLbl>
            <c:dLbl>
              <c:idx val="2"/>
              <c:layout>
                <c:manualLayout>
                  <c:x val="0"/>
                  <c:y val="-0.32247286763713429"/>
                </c:manualLayout>
              </c:layout>
              <c:tx>
                <c:rich>
                  <a:bodyPr/>
                  <a:lstStyle/>
                  <a:p>
                    <a:fld id="{4C2890AE-E757-BF45-8D5F-F41ABA9F5704}" type="VALUE">
                      <a:rPr lang="en-US">
                        <a:solidFill>
                          <a:schemeClr val="tx1"/>
                        </a:solidFill>
                      </a:rPr>
                      <a:pPr/>
                      <a:t>[VALUE]</a:t>
                    </a:fld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0C8C-1949-84FB-F3B6584BCAA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bg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risk_dashboard!$F$80:$F$82</c:f>
              <c:strCache>
                <c:ptCount val="3"/>
                <c:pt idx="0">
                  <c:v>Implied Return</c:v>
                </c:pt>
                <c:pt idx="1">
                  <c:v>Risk Premia</c:v>
                </c:pt>
                <c:pt idx="2">
                  <c:v>Implied Alpha</c:v>
                </c:pt>
              </c:strCache>
            </c:strRef>
          </c:cat>
          <c:val>
            <c:numRef>
              <c:f>risk_dashboard!$G$80:$G$82</c:f>
              <c:numCache>
                <c:formatCode>0%</c:formatCode>
                <c:ptCount val="3"/>
                <c:pt idx="0">
                  <c:v>0.54768797000000002</c:v>
                </c:pt>
                <c:pt idx="1">
                  <c:v>0.50268796999999998</c:v>
                </c:pt>
                <c:pt idx="2">
                  <c:v>0.50268796999999998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C8C-1949-84FB-F3B6584BCAA7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tx2">
                  <a:lumMod val="60000"/>
                  <a:lumOff val="40000"/>
                </a:schemeClr>
              </a:solidFill>
              <a:ln w="6350">
                <a:solidFill>
                  <a:schemeClr val="bg1">
                    <a:lumMod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0C8C-1949-84FB-F3B6584BCAA7}"/>
              </c:ext>
            </c:extLst>
          </c:dPt>
          <c:dPt>
            <c:idx val="2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0C8C-1949-84FB-F3B6584BCAA7}"/>
              </c:ext>
            </c:extLst>
          </c:dPt>
          <c:dLbls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0C8C-1949-84FB-F3B6584BCAA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bg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risk_dashboard!$F$80:$F$82</c:f>
              <c:strCache>
                <c:ptCount val="3"/>
                <c:pt idx="0">
                  <c:v>Implied Return</c:v>
                </c:pt>
                <c:pt idx="1">
                  <c:v>Risk Premia</c:v>
                </c:pt>
                <c:pt idx="2">
                  <c:v>Implied Alpha</c:v>
                </c:pt>
              </c:strCache>
            </c:strRef>
          </c:cat>
          <c:val>
            <c:numRef>
              <c:f>risk_dashboard!$H$80:$H$82</c:f>
              <c:numCache>
                <c:formatCode>0%</c:formatCode>
                <c:ptCount val="3"/>
                <c:pt idx="0">
                  <c:v>0</c:v>
                </c:pt>
                <c:pt idx="1">
                  <c:v>4.4999999999999998E-2</c:v>
                </c:pt>
                <c:pt idx="2">
                  <c:v>4.500000000000004E-2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0C8C-1949-84FB-F3B6584BCA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86061296"/>
        <c:axId val="1401510192"/>
      </c:barChart>
      <c:catAx>
        <c:axId val="1486061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1401510192"/>
        <c:crosses val="autoZero"/>
        <c:auto val="1"/>
        <c:lblAlgn val="ctr"/>
        <c:lblOffset val="100"/>
        <c:noMultiLvlLbl val="0"/>
      </c:catAx>
      <c:valAx>
        <c:axId val="1401510192"/>
        <c:scaling>
          <c:orientation val="minMax"/>
          <c:min val="0.3"/>
        </c:scaling>
        <c:delete val="0"/>
        <c:axPos val="l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14860612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700" b="0" i="0">
          <a:latin typeface="Aptos" panose="020B0004020202020204" pitchFamily="34" charset="0"/>
        </a:defRPr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4859981927470215"/>
          <c:y val="0.20973662653833788"/>
          <c:w val="0.50348885375310082"/>
          <c:h val="0.64659792448592812"/>
        </c:manualLayout>
      </c:layout>
      <c:pieChart>
        <c:varyColors val="1"/>
        <c:ser>
          <c:idx val="0"/>
          <c:order val="0"/>
          <c:spPr>
            <a:solidFill>
              <a:schemeClr val="tx2">
                <a:lumMod val="75000"/>
              </a:schemeClr>
            </a:solidFill>
          </c:spPr>
          <c:dPt>
            <c:idx val="0"/>
            <c:bubble3D val="0"/>
            <c:spPr>
              <a:solidFill>
                <a:srgbClr val="C0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CA2-1E44-ADDA-A7ABA4E423C1}"/>
              </c:ext>
            </c:extLst>
          </c:dPt>
          <c:dPt>
            <c:idx val="1"/>
            <c:bubble3D val="0"/>
            <c:spPr>
              <a:solidFill>
                <a:schemeClr val="tx2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CA2-1E44-ADDA-A7ABA4E423C1}"/>
              </c:ext>
            </c:extLst>
          </c:dPt>
          <c:dLbls>
            <c:dLbl>
              <c:idx val="0"/>
              <c:layout>
                <c:manualLayout>
                  <c:x val="-0.13231067012097525"/>
                  <c:y val="-0.17889110417801016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bg1"/>
                      </a:solidFill>
                      <a:latin typeface="Aptos" panose="020B00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CA2-1E44-ADDA-A7ABA4E423C1}"/>
                </c:ext>
              </c:extLst>
            </c:dLbl>
            <c:dLbl>
              <c:idx val="1"/>
              <c:layout>
                <c:manualLayout>
                  <c:x val="0.11774948252994029"/>
                  <c:y val="0.1311390122646951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bg1"/>
                      </a:solidFill>
                      <a:latin typeface="Aptos" panose="020B00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CA2-1E44-ADDA-A7ABA4E423C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risk_dashboard!$C$65:$C$66</c:f>
              <c:strCache>
                <c:ptCount val="2"/>
                <c:pt idx="0">
                  <c:v>Idiosyncratic Risk 
(Unhedgable)</c:v>
                </c:pt>
                <c:pt idx="1">
                  <c:v>Systematic Risk 
(Undiversifiable)</c:v>
                </c:pt>
              </c:strCache>
            </c:strRef>
          </c:cat>
          <c:val>
            <c:numRef>
              <c:f>risk_dashboard!$D$65:$D$66</c:f>
              <c:numCache>
                <c:formatCode>0%</c:formatCode>
                <c:ptCount val="2"/>
                <c:pt idx="0">
                  <c:v>0.73</c:v>
                </c:pt>
                <c:pt idx="1">
                  <c:v>0.27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CA2-1E44-ADDA-A7ABA4E423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9.6460411198600188E-2"/>
          <c:y val="2.4E-2"/>
          <c:w val="0.84596806649168843"/>
          <c:h val="0.12545511811023621"/>
        </c:manualLayout>
      </c:layout>
      <c:overlay val="1"/>
      <c:spPr>
        <a:noFill/>
        <a:ln>
          <a:solidFill>
            <a:schemeClr val="bg1">
              <a:lumMod val="75000"/>
            </a:schemeClr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ptos" panose="020B0004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>
          <a:latin typeface="Aptos" panose="020B0004020202020204" pitchFamily="34" charset="0"/>
        </a:defRPr>
      </a:pPr>
      <a:endParaRPr lang="en-US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2873779992741975E-2"/>
          <c:y val="9.1732712971578104E-2"/>
          <c:w val="0.87250936112214839"/>
          <c:h val="0.79235020334218464"/>
        </c:manualLayout>
      </c:layout>
      <c:scatterChart>
        <c:scatterStyle val="lineMarker"/>
        <c:varyColors val="0"/>
        <c:ser>
          <c:idx val="0"/>
          <c:order val="0"/>
          <c:tx>
            <c:v>Fixed Income</c:v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3">
                  <a:lumMod val="75000"/>
                </a:schemeClr>
              </a:solidFill>
              <a:ln w="9525">
                <a:solidFill>
                  <a:schemeClr val="accent3"/>
                </a:solidFill>
              </a:ln>
              <a:effectLst/>
            </c:spPr>
          </c:marker>
          <c:dPt>
            <c:idx val="26"/>
            <c:marker>
              <c:symbol val="circle"/>
              <c:size val="5"/>
              <c:spPr>
                <a:solidFill>
                  <a:schemeClr val="accent3">
                    <a:lumMod val="75000"/>
                  </a:schemeClr>
                </a:solidFill>
                <a:ln w="19050">
                  <a:solidFill>
                    <a:schemeClr val="accent3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6632-7244-B13C-D2B0CF175948}"/>
              </c:ext>
            </c:extLst>
          </c:dPt>
          <c:dLbls>
            <c:dLbl>
              <c:idx val="0"/>
              <c:layout>
                <c:manualLayout>
                  <c:x val="-5.9124256041946981E-2"/>
                  <c:y val="2.3848119402088214E-2"/>
                </c:manualLayout>
              </c:layout>
              <c:tx>
                <c:rich>
                  <a:bodyPr/>
                  <a:lstStyle/>
                  <a:p>
                    <a:fld id="{701A73C8-2AF8-AD4F-9FDA-EB5B69E4614A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6632-7244-B13C-D2B0CF175948}"/>
                </c:ext>
              </c:extLst>
            </c:dLbl>
            <c:dLbl>
              <c:idx val="1"/>
              <c:layout>
                <c:manualLayout>
                  <c:x val="-3.3649615958361626E-3"/>
                  <c:y val="9.1068832338801024E-3"/>
                </c:manualLayout>
              </c:layout>
              <c:tx>
                <c:rich>
                  <a:bodyPr/>
                  <a:lstStyle/>
                  <a:p>
                    <a:fld id="{3EA003A8-B281-2F47-83F0-198EC24938F6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6632-7244-B13C-D2B0CF175948}"/>
                </c:ext>
              </c:extLst>
            </c:dLbl>
            <c:dLbl>
              <c:idx val="2"/>
              <c:layout>
                <c:manualLayout>
                  <c:x val="-0.12416093768808863"/>
                  <c:y val="7.4525373131525668E-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ptos" panose="020B0004020202020204" pitchFamily="34" charset="0"/>
                        <a:ea typeface="+mn-ea"/>
                        <a:cs typeface="+mn-cs"/>
                      </a:defRPr>
                    </a:pPr>
                    <a:fld id="{4BE86362-8C9C-5044-9C34-40E1DE4A762B}" type="CELLRANGE">
                      <a:rPr lang="en-US"/>
                      <a:pPr>
                        <a:defRPr/>
                      </a:pPr>
                      <a:t>[CELLRANGE]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ptos" panose="020B0004020202020204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2220139091641269"/>
                      <c:h val="8.0442805120961136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6632-7244-B13C-D2B0CF17594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6632-7244-B13C-D2B0CF17594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6632-7244-B13C-D2B0CF175948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6632-7244-B13C-D2B0CF175948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6632-7244-B13C-D2B0CF175948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8-6632-7244-B13C-D2B0CF175948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9-6632-7244-B13C-D2B0CF175948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A-6632-7244-B13C-D2B0CF175948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B-6632-7244-B13C-D2B0CF175948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C-6632-7244-B13C-D2B0CF175948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D-6632-7244-B13C-D2B0CF175948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E-6632-7244-B13C-D2B0CF175948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F-6632-7244-B13C-D2B0CF175948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0-6632-7244-B13C-D2B0CF175948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1-6632-7244-B13C-D2B0CF175948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2-6632-7244-B13C-D2B0CF175948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3-6632-7244-B13C-D2B0CF175948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4-6632-7244-B13C-D2B0CF175948}"/>
                </c:ext>
              </c:extLst>
            </c:dLbl>
            <c:dLbl>
              <c:idx val="20"/>
              <c:layout>
                <c:manualLayout>
                  <c:x val="-1.0135586750048052E-2"/>
                  <c:y val="2.3848119402088214E-2"/>
                </c:manualLayout>
              </c:layout>
              <c:tx>
                <c:rich>
                  <a:bodyPr/>
                  <a:lstStyle/>
                  <a:p>
                    <a:fld id="{7CC0DD19-74C5-664C-812C-6DF1656561B6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5-6632-7244-B13C-D2B0CF175948}"/>
                </c:ext>
              </c:extLst>
            </c:dLbl>
            <c:dLbl>
              <c:idx val="21"/>
              <c:layout>
                <c:manualLayout>
                  <c:x val="-0.17061571029247552"/>
                  <c:y val="-1.7886089551566269E-2"/>
                </c:manualLayout>
              </c:layout>
              <c:tx>
                <c:rich>
                  <a:bodyPr/>
                  <a:lstStyle/>
                  <a:p>
                    <a:fld id="{1DD6F64F-0ACC-7042-9087-7798BF6A1D5B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6-6632-7244-B13C-D2B0CF175948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7-6632-7244-B13C-D2B0CF175948}"/>
                </c:ext>
              </c:extLst>
            </c:dLbl>
            <c:dLbl>
              <c:idx val="26"/>
              <c:layout>
                <c:manualLayout>
                  <c:x val="-0.16371310192539312"/>
                  <c:y val="-2.3738866856967019E-2"/>
                </c:manualLayout>
              </c:layout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0-6632-7244-B13C-D2B0CF17594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xVal>
            <c:numRef>
              <c:f>Sheet1!$D$2:$D$29</c:f>
              <c:numCache>
                <c:formatCode>0.0%</c:formatCode>
                <c:ptCount val="23"/>
                <c:pt idx="0">
                  <c:v>-8.6508068786803505E-2</c:v>
                </c:pt>
                <c:pt idx="1">
                  <c:v>0.104936374495794</c:v>
                </c:pt>
                <c:pt idx="2">
                  <c:v>0.30912633819222501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0.268853172802058</c:v>
                </c:pt>
                <c:pt idx="21">
                  <c:v>5.51567025897318E-2</c:v>
                </c:pt>
                <c:pt idx="22">
                  <c:v>#N/A</c:v>
                </c:pt>
              </c:numCache>
            </c:numRef>
          </c:xVal>
          <c:yVal>
            <c:numRef>
              <c:f>Sheet1!$C$2:$C$29</c:f>
              <c:numCache>
                <c:formatCode>0%</c:formatCode>
                <c:ptCount val="23"/>
                <c:pt idx="0">
                  <c:v>3.2110810353131201E-2</c:v>
                </c:pt>
                <c:pt idx="1">
                  <c:v>4.2238342638410503E-2</c:v>
                </c:pt>
                <c:pt idx="2">
                  <c:v>8.2058406335332804E-2</c:v>
                </c:pt>
                <c:pt idx="3">
                  <c:v>0.14950308831877701</c:v>
                </c:pt>
                <c:pt idx="4">
                  <c:v>0.14474187855499701</c:v>
                </c:pt>
                <c:pt idx="5">
                  <c:v>0.192237867976849</c:v>
                </c:pt>
                <c:pt idx="6">
                  <c:v>0.182085912415376</c:v>
                </c:pt>
                <c:pt idx="7">
                  <c:v>0.201626510653036</c:v>
                </c:pt>
                <c:pt idx="8">
                  <c:v>0.232770455211537</c:v>
                </c:pt>
                <c:pt idx="9">
                  <c:v>0.13562199119584201</c:v>
                </c:pt>
                <c:pt idx="10">
                  <c:v>6.1838706545769902E-2</c:v>
                </c:pt>
                <c:pt idx="11">
                  <c:v>8.8325647168886703E-2</c:v>
                </c:pt>
                <c:pt idx="12">
                  <c:v>7.3138510600272905E-2</c:v>
                </c:pt>
                <c:pt idx="13">
                  <c:v>0.35654736283202199</c:v>
                </c:pt>
                <c:pt idx="14">
                  <c:v>0.13777198464128801</c:v>
                </c:pt>
                <c:pt idx="15">
                  <c:v>0.15640735725123101</c:v>
                </c:pt>
                <c:pt idx="16">
                  <c:v>0.167252179960899</c:v>
                </c:pt>
                <c:pt idx="17">
                  <c:v>0.113600285320638</c:v>
                </c:pt>
                <c:pt idx="18">
                  <c:v>0.14474239435031699</c:v>
                </c:pt>
                <c:pt idx="19">
                  <c:v>0.14614645332248</c:v>
                </c:pt>
                <c:pt idx="20">
                  <c:v>0.122019620848281</c:v>
                </c:pt>
                <c:pt idx="21">
                  <c:v>4.6212231292721499E-2</c:v>
                </c:pt>
                <c:pt idx="22" formatCode="0.0%">
                  <c:v>7.4615293576842906E-2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Sheet1!$A$2:$A$29</c15:f>
                <c15:dlblRangeCache>
                  <c:ptCount val="23"/>
                  <c:pt idx="0">
                    <c:v>US Treasury Bonds</c:v>
                  </c:pt>
                  <c:pt idx="1">
                    <c:v>US Corporate Credit</c:v>
                  </c:pt>
                  <c:pt idx="2">
                    <c:v>US Corporate High Yield</c:v>
                  </c:pt>
                  <c:pt idx="3">
                    <c:v>Global Equity</c:v>
                  </c:pt>
                  <c:pt idx="4">
                    <c:v>US Large Cap</c:v>
                  </c:pt>
                  <c:pt idx="5">
                    <c:v>US Small Caps</c:v>
                  </c:pt>
                  <c:pt idx="6">
                    <c:v>European</c:v>
                  </c:pt>
                  <c:pt idx="7">
                    <c:v>Japan</c:v>
                  </c:pt>
                  <c:pt idx="8">
                    <c:v>Emerging Markets</c:v>
                  </c:pt>
                  <c:pt idx="9">
                    <c:v>Global REITs</c:v>
                  </c:pt>
                  <c:pt idx="10">
                    <c:v>Event Driven</c:v>
                  </c:pt>
                  <c:pt idx="11">
                    <c:v>Equity Long/Short</c:v>
                  </c:pt>
                  <c:pt idx="12">
                    <c:v>Tactical Trading</c:v>
                  </c:pt>
                  <c:pt idx="13">
                    <c:v>Intel Stock Proxy</c:v>
                  </c:pt>
                  <c:pt idx="14">
                    <c:v>Buyout</c:v>
                  </c:pt>
                  <c:pt idx="15">
                    <c:v>Growth</c:v>
                  </c:pt>
                  <c:pt idx="16">
                    <c:v>Venture</c:v>
                  </c:pt>
                  <c:pt idx="17">
                    <c:v>Private Credit</c:v>
                  </c:pt>
                  <c:pt idx="18">
                    <c:v>Private Real Estate</c:v>
                  </c:pt>
                  <c:pt idx="19">
                    <c:v>Infrastructure</c:v>
                  </c:pt>
                  <c:pt idx="20">
                    <c:v>Emerging Markets</c:v>
                  </c:pt>
                  <c:pt idx="21">
                    <c:v>US Inflation Protected</c:v>
                  </c:pt>
                  <c:pt idx="22">
                    <c:v>Moderate Portfolio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18-6632-7244-B13C-D2B0CF175948}"/>
            </c:ext>
          </c:extLst>
        </c:ser>
        <c:ser>
          <c:idx val="1"/>
          <c:order val="1"/>
          <c:tx>
            <c:v>Public Equity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tx2">
                  <a:lumMod val="75000"/>
                </a:schemeClr>
              </a:solidFill>
              <a:ln w="9525">
                <a:solidFill>
                  <a:schemeClr val="tx2"/>
                </a:solidFill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9-6632-7244-B13C-D2B0CF17594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A-6632-7244-B13C-D2B0CF17594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1B-6632-7244-B13C-D2B0CF175948}"/>
                </c:ext>
              </c:extLst>
            </c:dLbl>
            <c:dLbl>
              <c:idx val="3"/>
              <c:layout>
                <c:manualLayout>
                  <c:x val="1.0135586750048052E-2"/>
                  <c:y val="-5.9620298505220536E-3"/>
                </c:manualLayout>
              </c:layout>
              <c:tx>
                <c:rich>
                  <a:bodyPr/>
                  <a:lstStyle/>
                  <a:p>
                    <a:fld id="{34A7CF68-A6DE-A643-B2F3-51EC3BD55FB9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C-6632-7244-B13C-D2B0CF175948}"/>
                </c:ext>
              </c:extLst>
            </c:dLbl>
            <c:dLbl>
              <c:idx val="4"/>
              <c:layout>
                <c:manualLayout>
                  <c:x val="1.098028548569346E-2"/>
                  <c:y val="8.9429274129907473E-3"/>
                </c:manualLayout>
              </c:layout>
              <c:tx>
                <c:rich>
                  <a:bodyPr/>
                  <a:lstStyle/>
                  <a:p>
                    <a:fld id="{73972A7B-5058-F649-9159-0D9FDE49BCA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0360258923007448"/>
                      <c:h val="4.1689611092567781E-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D-6632-7244-B13C-D2B0CF175948}"/>
                </c:ext>
              </c:extLst>
            </c:dLbl>
            <c:dLbl>
              <c:idx val="5"/>
              <c:layout>
                <c:manualLayout>
                  <c:x val="-1.5203380125072139E-2"/>
                  <c:y val="-3.2791164177871292E-2"/>
                </c:manualLayout>
              </c:layout>
              <c:tx>
                <c:rich>
                  <a:bodyPr/>
                  <a:lstStyle/>
                  <a:p>
                    <a:fld id="{B2FC4CAC-7A15-BA4C-97C5-B609B484BD1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E-6632-7244-B13C-D2B0CF175948}"/>
                </c:ext>
              </c:extLst>
            </c:dLbl>
            <c:dLbl>
              <c:idx val="6"/>
              <c:layout>
                <c:manualLayout>
                  <c:x val="-8.6152487375408426E-2"/>
                  <c:y val="8.9430447757830791E-3"/>
                </c:manualLayout>
              </c:layout>
              <c:tx>
                <c:rich>
                  <a:bodyPr/>
                  <a:lstStyle/>
                  <a:p>
                    <a:fld id="{1C760171-CC43-AD49-B6E2-6A771B15ED78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1F-6632-7244-B13C-D2B0CF175948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33A44AED-C322-B04E-A5D2-7597C0B89B94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0-6632-7244-B13C-D2B0CF175948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fld id="{D2ED5B34-67BB-FE42-BAF7-9B61897D90AA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1-6632-7244-B13C-D2B0CF175948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fld id="{DE3B9D22-F84D-354F-B54E-5C5FCA494BDD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2-6632-7244-B13C-D2B0CF175948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3-6632-7244-B13C-D2B0CF175948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4-6632-7244-B13C-D2B0CF175948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5-6632-7244-B13C-D2B0CF175948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6-6632-7244-B13C-D2B0CF175948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7-6632-7244-B13C-D2B0CF175948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8-6632-7244-B13C-D2B0CF175948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9-6632-7244-B13C-D2B0CF175948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A-6632-7244-B13C-D2B0CF175948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B-6632-7244-B13C-D2B0CF175948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C-6632-7244-B13C-D2B0CF175948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D-6632-7244-B13C-D2B0CF175948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E-6632-7244-B13C-D2B0CF175948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2F-6632-7244-B13C-D2B0CF17594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xVal>
            <c:numRef>
              <c:f>Sheet1!$E$2:$E$29</c:f>
              <c:numCache>
                <c:formatCode>0.0%</c:formatCode>
                <c:ptCount val="23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0.498437121945842</c:v>
                </c:pt>
                <c:pt idx="4">
                  <c:v>0.41624082831193099</c:v>
                </c:pt>
                <c:pt idx="5">
                  <c:v>0.44451658727186899</c:v>
                </c:pt>
                <c:pt idx="6">
                  <c:v>0.41798915817555299</c:v>
                </c:pt>
                <c:pt idx="7">
                  <c:v>0.32960273632869302</c:v>
                </c:pt>
                <c:pt idx="8">
                  <c:v>0.37505895361635799</c:v>
                </c:pt>
                <c:pt idx="9">
                  <c:v>0.21822090763501001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</c:numCache>
            </c:numRef>
          </c:xVal>
          <c:yVal>
            <c:numRef>
              <c:f>Sheet1!$C$2:$C$29</c:f>
              <c:numCache>
                <c:formatCode>0%</c:formatCode>
                <c:ptCount val="23"/>
                <c:pt idx="0">
                  <c:v>3.2110810353131201E-2</c:v>
                </c:pt>
                <c:pt idx="1">
                  <c:v>4.2238342638410503E-2</c:v>
                </c:pt>
                <c:pt idx="2">
                  <c:v>8.2058406335332804E-2</c:v>
                </c:pt>
                <c:pt idx="3">
                  <c:v>0.14950308831877701</c:v>
                </c:pt>
                <c:pt idx="4">
                  <c:v>0.14474187855499701</c:v>
                </c:pt>
                <c:pt idx="5">
                  <c:v>0.192237867976849</c:v>
                </c:pt>
                <c:pt idx="6">
                  <c:v>0.182085912415376</c:v>
                </c:pt>
                <c:pt idx="7">
                  <c:v>0.201626510653036</c:v>
                </c:pt>
                <c:pt idx="8">
                  <c:v>0.232770455211537</c:v>
                </c:pt>
                <c:pt idx="9">
                  <c:v>0.13562199119584201</c:v>
                </c:pt>
                <c:pt idx="10">
                  <c:v>6.1838706545769902E-2</c:v>
                </c:pt>
                <c:pt idx="11">
                  <c:v>8.8325647168886703E-2</c:v>
                </c:pt>
                <c:pt idx="12">
                  <c:v>7.3138510600272905E-2</c:v>
                </c:pt>
                <c:pt idx="13">
                  <c:v>0.35654736283202199</c:v>
                </c:pt>
                <c:pt idx="14">
                  <c:v>0.13777198464128801</c:v>
                </c:pt>
                <c:pt idx="15">
                  <c:v>0.15640735725123101</c:v>
                </c:pt>
                <c:pt idx="16">
                  <c:v>0.167252179960899</c:v>
                </c:pt>
                <c:pt idx="17">
                  <c:v>0.113600285320638</c:v>
                </c:pt>
                <c:pt idx="18">
                  <c:v>0.14474239435031699</c:v>
                </c:pt>
                <c:pt idx="19">
                  <c:v>0.14614645332248</c:v>
                </c:pt>
                <c:pt idx="20">
                  <c:v>0.122019620848281</c:v>
                </c:pt>
                <c:pt idx="21">
                  <c:v>4.6212231292721499E-2</c:v>
                </c:pt>
                <c:pt idx="22" formatCode="0.0%">
                  <c:v>7.4615293576842906E-2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Sheet1!$A$2:$A$29</c15:f>
                <c15:dlblRangeCache>
                  <c:ptCount val="23"/>
                  <c:pt idx="0">
                    <c:v>US Treasury Bonds</c:v>
                  </c:pt>
                  <c:pt idx="1">
                    <c:v>US Corporate Credit</c:v>
                  </c:pt>
                  <c:pt idx="2">
                    <c:v>US Corporate High Yield</c:v>
                  </c:pt>
                  <c:pt idx="3">
                    <c:v>Global Equity</c:v>
                  </c:pt>
                  <c:pt idx="4">
                    <c:v>US Large Cap</c:v>
                  </c:pt>
                  <c:pt idx="5">
                    <c:v>US Small Caps</c:v>
                  </c:pt>
                  <c:pt idx="6">
                    <c:v>European</c:v>
                  </c:pt>
                  <c:pt idx="7">
                    <c:v>Japan</c:v>
                  </c:pt>
                  <c:pt idx="8">
                    <c:v>Emerging Markets</c:v>
                  </c:pt>
                  <c:pt idx="9">
                    <c:v>Global REITs</c:v>
                  </c:pt>
                  <c:pt idx="10">
                    <c:v>Event Driven</c:v>
                  </c:pt>
                  <c:pt idx="11">
                    <c:v>Equity Long/Short</c:v>
                  </c:pt>
                  <c:pt idx="12">
                    <c:v>Tactical Trading</c:v>
                  </c:pt>
                  <c:pt idx="13">
                    <c:v>Intel Stock Proxy</c:v>
                  </c:pt>
                  <c:pt idx="14">
                    <c:v>Buyout</c:v>
                  </c:pt>
                  <c:pt idx="15">
                    <c:v>Growth</c:v>
                  </c:pt>
                  <c:pt idx="16">
                    <c:v>Venture</c:v>
                  </c:pt>
                  <c:pt idx="17">
                    <c:v>Private Credit</c:v>
                  </c:pt>
                  <c:pt idx="18">
                    <c:v>Private Real Estate</c:v>
                  </c:pt>
                  <c:pt idx="19">
                    <c:v>Infrastructure</c:v>
                  </c:pt>
                  <c:pt idx="20">
                    <c:v>Emerging Markets</c:v>
                  </c:pt>
                  <c:pt idx="21">
                    <c:v>US Inflation Protected</c:v>
                  </c:pt>
                  <c:pt idx="22">
                    <c:v>Moderate Portfolio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30-6632-7244-B13C-D2B0CF175948}"/>
            </c:ext>
          </c:extLst>
        </c:ser>
        <c:ser>
          <c:idx val="2"/>
          <c:order val="2"/>
          <c:tx>
            <c:v>Alternatives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40000"/>
                  <a:lumOff val="60000"/>
                </a:schemeClr>
              </a:solidFill>
              <a:ln w="9525">
                <a:solidFill>
                  <a:schemeClr val="accent1">
                    <a:lumMod val="60000"/>
                    <a:lumOff val="40000"/>
                  </a:schemeClr>
                </a:solidFill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1-6632-7244-B13C-D2B0CF17594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2-6632-7244-B13C-D2B0CF17594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3-6632-7244-B13C-D2B0CF17594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4-6632-7244-B13C-D2B0CF17594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5-6632-7244-B13C-D2B0CF175948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6-6632-7244-B13C-D2B0CF175948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7-6632-7244-B13C-D2B0CF175948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8-6632-7244-B13C-D2B0CF175948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9-6632-7244-B13C-D2B0CF175948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A-6632-7244-B13C-D2B0CF175948}"/>
                </c:ext>
              </c:extLst>
            </c:dLbl>
            <c:dLbl>
              <c:idx val="10"/>
              <c:layout>
                <c:manualLayout>
                  <c:x val="-8.4463222917067707E-3"/>
                  <c:y val="2.9810149252610267E-2"/>
                </c:manualLayout>
              </c:layout>
              <c:tx>
                <c:rich>
                  <a:bodyPr/>
                  <a:lstStyle/>
                  <a:p>
                    <a:fld id="{BB1773C9-D21C-F548-AD4B-D9502BB7DC1A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3B-6632-7244-B13C-D2B0CF175948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fld id="{8E46F309-6232-FB48-A4F2-C1CB63986E1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C-6632-7244-B13C-D2B0CF175948}"/>
                </c:ext>
              </c:extLst>
            </c:dLbl>
            <c:dLbl>
              <c:idx val="12"/>
              <c:layout>
                <c:manualLayout>
                  <c:x val="-5.0677933750240288E-2"/>
                  <c:y val="-2.9810149252610375E-2"/>
                </c:manualLayout>
              </c:layout>
              <c:tx>
                <c:rich>
                  <a:bodyPr/>
                  <a:lstStyle/>
                  <a:p>
                    <a:fld id="{17F891A1-3ACA-4848-BF40-E8B834B03532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3D-6632-7244-B13C-D2B0CF175948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3E-6632-7244-B13C-D2B0CF175948}"/>
                </c:ext>
              </c:extLst>
            </c:dLbl>
            <c:dLbl>
              <c:idx val="14"/>
              <c:layout>
                <c:manualLayout>
                  <c:x val="-2.1960437958437443E-2"/>
                  <c:y val="2.6829134327349239E-2"/>
                </c:manualLayout>
              </c:layout>
              <c:tx>
                <c:rich>
                  <a:bodyPr/>
                  <a:lstStyle/>
                  <a:p>
                    <a:fld id="{67E9465E-CE62-F440-8335-362ECE01CA21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3F-6632-7244-B13C-D2B0CF175948}"/>
                </c:ext>
              </c:extLst>
            </c:dLbl>
            <c:dLbl>
              <c:idx val="15"/>
              <c:layout>
                <c:manualLayout>
                  <c:x val="0"/>
                  <c:y val="-1.1924059701044216E-2"/>
                </c:manualLayout>
              </c:layout>
              <c:tx>
                <c:rich>
                  <a:bodyPr/>
                  <a:lstStyle/>
                  <a:p>
                    <a:fld id="{CCC53A98-9A1A-7843-BCF3-D8ADF7119699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40-6632-7244-B13C-D2B0CF175948}"/>
                </c:ext>
              </c:extLst>
            </c:dLbl>
            <c:dLbl>
              <c:idx val="16"/>
              <c:layout>
                <c:manualLayout>
                  <c:x val="-8.3383157767325678E-3"/>
                  <c:y val="-2.0716880102640802E-2"/>
                </c:manualLayout>
              </c:layout>
              <c:tx>
                <c:rich>
                  <a:bodyPr/>
                  <a:lstStyle/>
                  <a:p>
                    <a:fld id="{86C29F1F-FE74-7341-BBD4-2C54B1A4C941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41-6632-7244-B13C-D2B0CF175948}"/>
                </c:ext>
              </c:extLst>
            </c:dLbl>
            <c:dLbl>
              <c:idx val="17"/>
              <c:layout>
                <c:manualLayout>
                  <c:x val="-0.11824851208389393"/>
                  <c:y val="0"/>
                </c:manualLayout>
              </c:layout>
              <c:tx>
                <c:rich>
                  <a:bodyPr/>
                  <a:lstStyle/>
                  <a:p>
                    <a:fld id="{3D301600-4698-EF45-A314-9E527970AA9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42-6632-7244-B13C-D2B0CF175948}"/>
                </c:ext>
              </c:extLst>
            </c:dLbl>
            <c:dLbl>
              <c:idx val="18"/>
              <c:layout>
                <c:manualLayout>
                  <c:x val="-0.13683042112564869"/>
                  <c:y val="-2.9810149252610375E-2"/>
                </c:manualLayout>
              </c:layout>
              <c:tx>
                <c:rich>
                  <a:bodyPr/>
                  <a:lstStyle/>
                  <a:p>
                    <a:fld id="{8FDC3FEF-6090-7945-BA3D-640CFE150F66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43-6632-7244-B13C-D2B0CF175948}"/>
                </c:ext>
              </c:extLst>
            </c:dLbl>
            <c:dLbl>
              <c:idx val="19"/>
              <c:layout>
                <c:manualLayout>
                  <c:x val="-2.702823133346147E-2"/>
                  <c:y val="-2.6829134327349239E-2"/>
                </c:manualLayout>
              </c:layout>
              <c:tx>
                <c:rich>
                  <a:bodyPr/>
                  <a:lstStyle/>
                  <a:p>
                    <a:fld id="{D01BF37E-BFB3-AA4D-B84C-2B608E29DEC2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44-6632-7244-B13C-D2B0CF175948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5-6632-7244-B13C-D2B0CF175948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6-6632-7244-B13C-D2B0CF175948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47-6632-7244-B13C-D2B0CF175948}"/>
                </c:ext>
              </c:extLst>
            </c:dLbl>
            <c:dLbl>
              <c:idx val="25"/>
              <c:layout>
                <c:manualLayout>
                  <c:x val="-5.4008445996006044E-2"/>
                  <c:y val="3.2640941928329545E-2"/>
                </c:manualLayout>
              </c:layout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48-6632-7244-B13C-D2B0CF17594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xVal>
            <c:numRef>
              <c:f>Sheet1!$F$2:$F$29</c:f>
              <c:numCache>
                <c:formatCode>0.0%</c:formatCode>
                <c:ptCount val="23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0.33942919613279199</c:v>
                </c:pt>
                <c:pt idx="11">
                  <c:v>0.40004036205398502</c:v>
                </c:pt>
                <c:pt idx="12">
                  <c:v>6.4442015134589498E-2</c:v>
                </c:pt>
                <c:pt idx="13">
                  <c:v>#N/A</c:v>
                </c:pt>
                <c:pt idx="14">
                  <c:v>0.434164729573422</c:v>
                </c:pt>
                <c:pt idx="15">
                  <c:v>0.46072914500845302</c:v>
                </c:pt>
                <c:pt idx="16">
                  <c:v>0.46336217430964899</c:v>
                </c:pt>
                <c:pt idx="17">
                  <c:v>0.24213339009756599</c:v>
                </c:pt>
                <c:pt idx="18">
                  <c:v>0.17135998659937901</c:v>
                </c:pt>
                <c:pt idx="19">
                  <c:v>0.241329373363662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</c:numCache>
            </c:numRef>
          </c:xVal>
          <c:yVal>
            <c:numRef>
              <c:f>Sheet1!$C$2:$C$29</c:f>
              <c:numCache>
                <c:formatCode>0%</c:formatCode>
                <c:ptCount val="23"/>
                <c:pt idx="0">
                  <c:v>3.2110810353131201E-2</c:v>
                </c:pt>
                <c:pt idx="1">
                  <c:v>4.2238342638410503E-2</c:v>
                </c:pt>
                <c:pt idx="2">
                  <c:v>8.2058406335332804E-2</c:v>
                </c:pt>
                <c:pt idx="3">
                  <c:v>0.14950308831877701</c:v>
                </c:pt>
                <c:pt idx="4">
                  <c:v>0.14474187855499701</c:v>
                </c:pt>
                <c:pt idx="5">
                  <c:v>0.192237867976849</c:v>
                </c:pt>
                <c:pt idx="6">
                  <c:v>0.182085912415376</c:v>
                </c:pt>
                <c:pt idx="7">
                  <c:v>0.201626510653036</c:v>
                </c:pt>
                <c:pt idx="8">
                  <c:v>0.232770455211537</c:v>
                </c:pt>
                <c:pt idx="9">
                  <c:v>0.13562199119584201</c:v>
                </c:pt>
                <c:pt idx="10">
                  <c:v>6.1838706545769902E-2</c:v>
                </c:pt>
                <c:pt idx="11">
                  <c:v>8.8325647168886703E-2</c:v>
                </c:pt>
                <c:pt idx="12">
                  <c:v>7.3138510600272905E-2</c:v>
                </c:pt>
                <c:pt idx="13">
                  <c:v>0.35654736283202199</c:v>
                </c:pt>
                <c:pt idx="14">
                  <c:v>0.13777198464128801</c:v>
                </c:pt>
                <c:pt idx="15">
                  <c:v>0.15640735725123101</c:v>
                </c:pt>
                <c:pt idx="16">
                  <c:v>0.167252179960899</c:v>
                </c:pt>
                <c:pt idx="17">
                  <c:v>0.113600285320638</c:v>
                </c:pt>
                <c:pt idx="18">
                  <c:v>0.14474239435031699</c:v>
                </c:pt>
                <c:pt idx="19">
                  <c:v>0.14614645332248</c:v>
                </c:pt>
                <c:pt idx="20">
                  <c:v>0.122019620848281</c:v>
                </c:pt>
                <c:pt idx="21">
                  <c:v>4.6212231292721499E-2</c:v>
                </c:pt>
                <c:pt idx="22" formatCode="0.0%">
                  <c:v>7.4615293576842906E-2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Sheet1!$A$2:$A$29</c15:f>
                <c15:dlblRangeCache>
                  <c:ptCount val="23"/>
                  <c:pt idx="0">
                    <c:v>US Treasury Bonds</c:v>
                  </c:pt>
                  <c:pt idx="1">
                    <c:v>US Corporate Credit</c:v>
                  </c:pt>
                  <c:pt idx="2">
                    <c:v>US Corporate High Yield</c:v>
                  </c:pt>
                  <c:pt idx="3">
                    <c:v>Global Equity</c:v>
                  </c:pt>
                  <c:pt idx="4">
                    <c:v>US Large Cap</c:v>
                  </c:pt>
                  <c:pt idx="5">
                    <c:v>US Small Caps</c:v>
                  </c:pt>
                  <c:pt idx="6">
                    <c:v>European</c:v>
                  </c:pt>
                  <c:pt idx="7">
                    <c:v>Japan</c:v>
                  </c:pt>
                  <c:pt idx="8">
                    <c:v>Emerging Markets</c:v>
                  </c:pt>
                  <c:pt idx="9">
                    <c:v>Global REITs</c:v>
                  </c:pt>
                  <c:pt idx="10">
                    <c:v>Event Driven</c:v>
                  </c:pt>
                  <c:pt idx="11">
                    <c:v>Equity Long/Short</c:v>
                  </c:pt>
                  <c:pt idx="12">
                    <c:v>Tactical Trading</c:v>
                  </c:pt>
                  <c:pt idx="13">
                    <c:v>Intel Stock Proxy</c:v>
                  </c:pt>
                  <c:pt idx="14">
                    <c:v>Buyout</c:v>
                  </c:pt>
                  <c:pt idx="15">
                    <c:v>Growth</c:v>
                  </c:pt>
                  <c:pt idx="16">
                    <c:v>Venture</c:v>
                  </c:pt>
                  <c:pt idx="17">
                    <c:v>Private Credit</c:v>
                  </c:pt>
                  <c:pt idx="18">
                    <c:v>Private Real Estate</c:v>
                  </c:pt>
                  <c:pt idx="19">
                    <c:v>Infrastructure</c:v>
                  </c:pt>
                  <c:pt idx="20">
                    <c:v>Emerging Markets</c:v>
                  </c:pt>
                  <c:pt idx="21">
                    <c:v>US Inflation Protected</c:v>
                  </c:pt>
                  <c:pt idx="22">
                    <c:v>Moderate Portfolio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49-6632-7244-B13C-D2B0CF175948}"/>
            </c:ext>
          </c:extLst>
        </c:ser>
        <c:ser>
          <c:idx val="4"/>
          <c:order val="3"/>
          <c:tx>
            <c:v>Intel Stock Proxy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FF0000"/>
              </a:solidFill>
              <a:ln w="9525">
                <a:solidFill>
                  <a:srgbClr val="FF0000"/>
                </a:solidFill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3-6632-7244-B13C-D2B0CF17594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4-6632-7244-B13C-D2B0CF17594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5-6632-7244-B13C-D2B0CF17594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6-6632-7244-B13C-D2B0CF17594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7-6632-7244-B13C-D2B0CF175948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8-6632-7244-B13C-D2B0CF175948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9-6632-7244-B13C-D2B0CF175948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A-6632-7244-B13C-D2B0CF175948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B-6632-7244-B13C-D2B0CF175948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C-6632-7244-B13C-D2B0CF175948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D-6632-7244-B13C-D2B0CF175948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E-6632-7244-B13C-D2B0CF175948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6F-6632-7244-B13C-D2B0CF175948}"/>
                </c:ext>
              </c:extLst>
            </c:dLbl>
            <c:dLbl>
              <c:idx val="13"/>
              <c:layout>
                <c:manualLayout>
                  <c:x val="-4.3920875916875012E-2"/>
                  <c:y val="-2.3848119402088214E-2"/>
                </c:manualLayout>
              </c:layout>
              <c:tx>
                <c:rich>
                  <a:bodyPr/>
                  <a:lstStyle/>
                  <a:p>
                    <a:fld id="{D196AEAD-91D2-2A4A-BA25-7F43ACD82C99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70-6632-7244-B13C-D2B0CF175948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1-6632-7244-B13C-D2B0CF175948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2-6632-7244-B13C-D2B0CF175948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3-6632-7244-B13C-D2B0CF175948}"/>
                </c:ext>
              </c:extLst>
            </c:dLbl>
            <c:dLbl>
              <c:idx val="17"/>
              <c:layout>
                <c:manualLayout>
                  <c:x val="-3.2067514810128671E-2"/>
                  <c:y val="-3.5608300285450541E-2"/>
                </c:manualLayout>
              </c:layout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74-6632-7244-B13C-D2B0CF175948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5-6632-7244-B13C-D2B0CF175948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6-6632-7244-B13C-D2B0CF175948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7-6632-7244-B13C-D2B0CF175948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8-6632-7244-B13C-D2B0CF175948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79-6632-7244-B13C-D2B0CF17594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xVal>
            <c:numRef>
              <c:f>Sheet1!$H$2:$H$29</c:f>
              <c:numCache>
                <c:formatCode>0.0%</c:formatCode>
                <c:ptCount val="23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1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</c:numCache>
            </c:numRef>
          </c:xVal>
          <c:yVal>
            <c:numRef>
              <c:f>Sheet1!$C$2:$C$29</c:f>
              <c:numCache>
                <c:formatCode>0%</c:formatCode>
                <c:ptCount val="23"/>
                <c:pt idx="0">
                  <c:v>3.2110810353131201E-2</c:v>
                </c:pt>
                <c:pt idx="1">
                  <c:v>4.2238342638410503E-2</c:v>
                </c:pt>
                <c:pt idx="2">
                  <c:v>8.2058406335332804E-2</c:v>
                </c:pt>
                <c:pt idx="3">
                  <c:v>0.14950308831877701</c:v>
                </c:pt>
                <c:pt idx="4">
                  <c:v>0.14474187855499701</c:v>
                </c:pt>
                <c:pt idx="5">
                  <c:v>0.192237867976849</c:v>
                </c:pt>
                <c:pt idx="6">
                  <c:v>0.182085912415376</c:v>
                </c:pt>
                <c:pt idx="7">
                  <c:v>0.201626510653036</c:v>
                </c:pt>
                <c:pt idx="8">
                  <c:v>0.232770455211537</c:v>
                </c:pt>
                <c:pt idx="9">
                  <c:v>0.13562199119584201</c:v>
                </c:pt>
                <c:pt idx="10">
                  <c:v>6.1838706545769902E-2</c:v>
                </c:pt>
                <c:pt idx="11">
                  <c:v>8.8325647168886703E-2</c:v>
                </c:pt>
                <c:pt idx="12">
                  <c:v>7.3138510600272905E-2</c:v>
                </c:pt>
                <c:pt idx="13">
                  <c:v>0.35654736283202199</c:v>
                </c:pt>
                <c:pt idx="14">
                  <c:v>0.13777198464128801</c:v>
                </c:pt>
                <c:pt idx="15">
                  <c:v>0.15640735725123101</c:v>
                </c:pt>
                <c:pt idx="16">
                  <c:v>0.167252179960899</c:v>
                </c:pt>
                <c:pt idx="17">
                  <c:v>0.113600285320638</c:v>
                </c:pt>
                <c:pt idx="18">
                  <c:v>0.14474239435031699</c:v>
                </c:pt>
                <c:pt idx="19">
                  <c:v>0.14614645332248</c:v>
                </c:pt>
                <c:pt idx="20">
                  <c:v>0.122019620848281</c:v>
                </c:pt>
                <c:pt idx="21">
                  <c:v>4.6212231292721499E-2</c:v>
                </c:pt>
                <c:pt idx="22" formatCode="0.0%">
                  <c:v>7.4615293576842906E-2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Sheet1!$A$2:$A$29</c15:f>
                <c15:dlblRangeCache>
                  <c:ptCount val="23"/>
                  <c:pt idx="0">
                    <c:v>US Treasury Bonds</c:v>
                  </c:pt>
                  <c:pt idx="1">
                    <c:v>US Corporate Credit</c:v>
                  </c:pt>
                  <c:pt idx="2">
                    <c:v>US Corporate High Yield</c:v>
                  </c:pt>
                  <c:pt idx="3">
                    <c:v>Global Equity</c:v>
                  </c:pt>
                  <c:pt idx="4">
                    <c:v>US Large Cap</c:v>
                  </c:pt>
                  <c:pt idx="5">
                    <c:v>US Small Caps</c:v>
                  </c:pt>
                  <c:pt idx="6">
                    <c:v>European</c:v>
                  </c:pt>
                  <c:pt idx="7">
                    <c:v>Japan</c:v>
                  </c:pt>
                  <c:pt idx="8">
                    <c:v>Emerging Markets</c:v>
                  </c:pt>
                  <c:pt idx="9">
                    <c:v>Global REITs</c:v>
                  </c:pt>
                  <c:pt idx="10">
                    <c:v>Event Driven</c:v>
                  </c:pt>
                  <c:pt idx="11">
                    <c:v>Equity Long/Short</c:v>
                  </c:pt>
                  <c:pt idx="12">
                    <c:v>Tactical Trading</c:v>
                  </c:pt>
                  <c:pt idx="13">
                    <c:v>Intel Stock Proxy</c:v>
                  </c:pt>
                  <c:pt idx="14">
                    <c:v>Buyout</c:v>
                  </c:pt>
                  <c:pt idx="15">
                    <c:v>Growth</c:v>
                  </c:pt>
                  <c:pt idx="16">
                    <c:v>Venture</c:v>
                  </c:pt>
                  <c:pt idx="17">
                    <c:v>Private Credit</c:v>
                  </c:pt>
                  <c:pt idx="18">
                    <c:v>Private Real Estate</c:v>
                  </c:pt>
                  <c:pt idx="19">
                    <c:v>Infrastructure</c:v>
                  </c:pt>
                  <c:pt idx="20">
                    <c:v>Emerging Markets</c:v>
                  </c:pt>
                  <c:pt idx="21">
                    <c:v>US Inflation Protected</c:v>
                  </c:pt>
                  <c:pt idx="22">
                    <c:v>Moderate Portfolio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7A-6632-7244-B13C-D2B0CF1759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29537760"/>
        <c:axId val="929539472"/>
      </c:scatterChart>
      <c:valAx>
        <c:axId val="929537760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r>
                  <a:rPr lang="en-GB"/>
                  <a:t>Correlation to Intel Stock Proxy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ptos" panose="020B0004020202020204" pitchFamily="34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929539472"/>
        <c:crosses val="autoZero"/>
        <c:crossBetween val="midCat"/>
      </c:valAx>
      <c:valAx>
        <c:axId val="9295394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r>
                  <a:rPr lang="en-GB"/>
                  <a:t>Volatility (% Annualized)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ptos" panose="020B0004020202020204" pitchFamily="34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92953776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ptos" panose="020B0004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b="0" i="0">
          <a:latin typeface="Aptos" panose="020B0004020202020204" pitchFamily="34" charset="0"/>
        </a:defRPr>
      </a:pPr>
      <a:endParaRPr lang="en-US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portfolios!$A$39</c:f>
              <c:strCache>
                <c:ptCount val="1"/>
                <c:pt idx="0">
                  <c:v>Sharpe Ratio (LHS)</c:v>
                </c:pt>
              </c:strCache>
            </c:strRef>
          </c:tx>
          <c:spPr>
            <a:solidFill>
              <a:schemeClr val="tx2">
                <a:lumMod val="5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  <a:effectLst/>
          </c:spPr>
          <c:invertIfNegative val="0"/>
          <c:cat>
            <c:strRef>
              <c:f>portfolios!$B$37:$H$37</c:f>
              <c:strCache>
                <c:ptCount val="7"/>
                <c:pt idx="0">
                  <c:v>Current Portfolio</c:v>
                </c:pt>
                <c:pt idx="1">
                  <c:v>Stage 1</c:v>
                </c:pt>
                <c:pt idx="2">
                  <c:v>Stage 2</c:v>
                </c:pt>
                <c:pt idx="3">
                  <c:v>Stage 3</c:v>
                </c:pt>
                <c:pt idx="4">
                  <c:v>Stage 4</c:v>
                </c:pt>
                <c:pt idx="5">
                  <c:v>Stage 5</c:v>
                </c:pt>
                <c:pt idx="6">
                  <c:v>Diversified Portfolio</c:v>
                </c:pt>
              </c:strCache>
            </c:strRef>
          </c:cat>
          <c:val>
            <c:numRef>
              <c:f>portfolios!$B$39:$H$39</c:f>
              <c:numCache>
                <c:formatCode>0.00</c:formatCode>
                <c:ptCount val="7"/>
                <c:pt idx="0">
                  <c:v>0.16346605152076499</c:v>
                </c:pt>
                <c:pt idx="1">
                  <c:v>0.17777472875906619</c:v>
                </c:pt>
                <c:pt idx="2">
                  <c:v>0.20544213007950371</c:v>
                </c:pt>
                <c:pt idx="3">
                  <c:v>0.25546214852690152</c:v>
                </c:pt>
                <c:pt idx="4">
                  <c:v>0.32069113754206768</c:v>
                </c:pt>
                <c:pt idx="5">
                  <c:v>0.40029898869580433</c:v>
                </c:pt>
                <c:pt idx="6">
                  <c:v>0.46413636396119312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FB-AD4D-9EC0-1C5719E73EDC}"/>
            </c:ext>
          </c:extLst>
        </c:ser>
        <c:ser>
          <c:idx val="2"/>
          <c:order val="2"/>
          <c:tx>
            <c:strRef>
              <c:f>portfolios!$A$40</c:f>
              <c:strCache>
                <c:ptCount val="1"/>
                <c:pt idx="0">
                  <c:v>Implied Return</c:v>
                </c:pt>
              </c:strCache>
            </c:strRef>
          </c:tx>
          <c:spPr>
            <a:solidFill>
              <a:schemeClr val="tx2">
                <a:lumMod val="40000"/>
                <a:lumOff val="6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  <a:effectLst/>
          </c:spPr>
          <c:invertIfNegative val="0"/>
          <c:dLbls>
            <c:dLbl>
              <c:idx val="5"/>
              <c:layout>
                <c:manualLayout>
                  <c:x val="1.5590783907070088E-3"/>
                  <c:y val="-2.667159496137881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792-F14F-A747-68D1438D842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portfolios!$B$37:$H$37</c:f>
              <c:strCache>
                <c:ptCount val="7"/>
                <c:pt idx="0">
                  <c:v>Current Portfolio</c:v>
                </c:pt>
                <c:pt idx="1">
                  <c:v>Stage 1</c:v>
                </c:pt>
                <c:pt idx="2">
                  <c:v>Stage 2</c:v>
                </c:pt>
                <c:pt idx="3">
                  <c:v>Stage 3</c:v>
                </c:pt>
                <c:pt idx="4">
                  <c:v>Stage 4</c:v>
                </c:pt>
                <c:pt idx="5">
                  <c:v>Stage 5</c:v>
                </c:pt>
                <c:pt idx="6">
                  <c:v>Diversified Portfolio</c:v>
                </c:pt>
              </c:strCache>
            </c:strRef>
          </c:cat>
          <c:val>
            <c:numRef>
              <c:f>portfolios!$B$40:$H$40</c:f>
              <c:numCache>
                <c:formatCode>0%</c:formatCode>
                <c:ptCount val="7"/>
                <c:pt idx="0">
                  <c:v>0.49764320248685601</c:v>
                </c:pt>
                <c:pt idx="1">
                  <c:v>0.418509439515031</c:v>
                </c:pt>
                <c:pt idx="2">
                  <c:v>0.33882667672427502</c:v>
                </c:pt>
                <c:pt idx="3">
                  <c:v>0.273768522510416</c:v>
                </c:pt>
                <c:pt idx="4">
                  <c:v>0.20936198530427899</c:v>
                </c:pt>
                <c:pt idx="5">
                  <c:v>0.14495544809814201</c:v>
                </c:pt>
                <c:pt idx="6">
                  <c:v>8.0548910892004999E-2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1FB-AD4D-9EC0-1C5719E73E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566199712"/>
        <c:axId val="1566186688"/>
      </c:barChart>
      <c:lineChart>
        <c:grouping val="standard"/>
        <c:varyColors val="0"/>
        <c:ser>
          <c:idx val="0"/>
          <c:order val="0"/>
          <c:tx>
            <c:strRef>
              <c:f>portfolios!$A$38</c:f>
              <c:strCache>
                <c:ptCount val="1"/>
                <c:pt idx="0">
                  <c:v>Volatility (RHS)</c:v>
                </c:pt>
              </c:strCache>
            </c:strRef>
          </c:tx>
          <c:spPr>
            <a:ln w="28575" cap="rnd">
              <a:solidFill>
                <a:srgbClr val="C00000"/>
              </a:solidFill>
              <a:prstDash val="sysDot"/>
              <a:round/>
            </a:ln>
            <a:effectLst/>
          </c:spPr>
          <c:marker>
            <c:symbol val="none"/>
          </c:marker>
          <c:cat>
            <c:strRef>
              <c:f>portfolios!$B$37:$H$37</c:f>
              <c:strCache>
                <c:ptCount val="7"/>
                <c:pt idx="0">
                  <c:v>Current Portfolio</c:v>
                </c:pt>
                <c:pt idx="1">
                  <c:v>Stage 1</c:v>
                </c:pt>
                <c:pt idx="2">
                  <c:v>Stage 2</c:v>
                </c:pt>
                <c:pt idx="3">
                  <c:v>Stage 3</c:v>
                </c:pt>
                <c:pt idx="4">
                  <c:v>Stage 4</c:v>
                </c:pt>
                <c:pt idx="5">
                  <c:v>Stage 5</c:v>
                </c:pt>
                <c:pt idx="6">
                  <c:v>Diversified Portfolio</c:v>
                </c:pt>
              </c:strCache>
            </c:strRef>
          </c:cat>
          <c:val>
            <c:numRef>
              <c:f>portfolios!$B$38:$H$38</c:f>
              <c:numCache>
                <c:formatCode>0.0%</c:formatCode>
                <c:ptCount val="7"/>
                <c:pt idx="0">
                  <c:v>0.22530577018721809</c:v>
                </c:pt>
                <c:pt idx="1">
                  <c:v>0.1899614796197118</c:v>
                </c:pt>
                <c:pt idx="2">
                  <c:v>0.15456215722214331</c:v>
                </c:pt>
                <c:pt idx="3">
                  <c:v>0.12763851286607961</c:v>
                </c:pt>
                <c:pt idx="4">
                  <c:v>0.10378136139028769</c:v>
                </c:pt>
                <c:pt idx="5">
                  <c:v>8.4828385549804028E-2</c:v>
                </c:pt>
                <c:pt idx="6">
                  <c:v>7.4615293576842989E-2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1FB-AD4D-9EC0-1C5719E73E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41053344"/>
        <c:axId val="1566571584"/>
      </c:lineChart>
      <c:catAx>
        <c:axId val="1566199712"/>
        <c:scaling>
          <c:orientation val="minMax"/>
        </c:scaling>
        <c:delete val="0"/>
        <c:axPos val="b"/>
        <c:numFmt formatCode="General" sourceLinked="1"/>
        <c:majorTickMark val="none"/>
        <c:minorTickMark val="cross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1566186688"/>
        <c:crosses val="autoZero"/>
        <c:auto val="1"/>
        <c:lblAlgn val="ctr"/>
        <c:lblOffset val="100"/>
        <c:noMultiLvlLbl val="0"/>
      </c:catAx>
      <c:valAx>
        <c:axId val="15661866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1566199712"/>
        <c:crosses val="autoZero"/>
        <c:crossBetween val="between"/>
      </c:valAx>
      <c:valAx>
        <c:axId val="1566571584"/>
        <c:scaling>
          <c:orientation val="minMax"/>
          <c:max val="0.3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1241053344"/>
        <c:crosses val="max"/>
        <c:crossBetween val="between"/>
      </c:valAx>
      <c:catAx>
        <c:axId val="124105334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66571584"/>
        <c:crosses val="autoZero"/>
        <c:auto val="1"/>
        <c:lblAlgn val="ctr"/>
        <c:lblOffset val="100"/>
        <c:noMultiLvlLbl val="0"/>
      </c:catAx>
      <c:spPr>
        <a:noFill/>
        <a:ln w="6350">
          <a:solidFill>
            <a:schemeClr val="bg1">
              <a:lumMod val="65000"/>
            </a:schemeClr>
          </a:solidFill>
        </a:ln>
        <a:effectLst/>
      </c:spPr>
    </c:plotArea>
    <c:legend>
      <c:legendPos val="t"/>
      <c:overlay val="0"/>
      <c:spPr>
        <a:noFill/>
        <a:ln w="6350">
          <a:solidFill>
            <a:schemeClr val="bg1">
              <a:lumMod val="65000"/>
            </a:schemeClr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ptos" panose="020B0004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b="0" i="0">
          <a:latin typeface="Aptos" panose="020B0004020202020204" pitchFamily="34" charset="0"/>
        </a:defRPr>
      </a:pPr>
      <a:endParaRPr lang="en-US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195317551866062"/>
          <c:y val="0.11170420484357765"/>
          <c:w val="0.81728896369910176"/>
          <c:h val="0.74616136396210386"/>
        </c:manualLayout>
      </c:layout>
      <c:lineChart>
        <c:grouping val="standard"/>
        <c:varyColors val="0"/>
        <c:ser>
          <c:idx val="0"/>
          <c:order val="0"/>
          <c:tx>
            <c:strRef>
              <c:f>ws_Current_Portfolio_X_SS!$B$2</c:f>
              <c:strCache>
                <c:ptCount val="1"/>
                <c:pt idx="0">
                  <c:v>1st %ile</c:v>
                </c:pt>
              </c:strCache>
            </c:strRef>
          </c:tx>
          <c:spPr>
            <a:ln w="22225">
              <a:solidFill>
                <a:srgbClr val="C00000"/>
              </a:solidFill>
              <a:prstDash val="solid"/>
            </a:ln>
          </c:spPr>
          <c:marker>
            <c:symbol val="none"/>
          </c:marker>
          <c:dLbls>
            <c:dLbl>
              <c:idx val="2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0E3-7D42-B961-4E40C84E3CBC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ws_Current_Portfolio_X_SS!$A$3:$A$23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ws_Current_Portfolio_X_SS!$B$3:$B$23</c:f>
              <c:numCache>
                <c:formatCode>General</c:formatCode>
                <c:ptCount val="21"/>
                <c:pt idx="0">
                  <c:v>100</c:v>
                </c:pt>
                <c:pt idx="1">
                  <c:v>61.818528838662601</c:v>
                </c:pt>
                <c:pt idx="2">
                  <c:v>55.200758171759503</c:v>
                </c:pt>
                <c:pt idx="3">
                  <c:v>54.046708671563898</c:v>
                </c:pt>
                <c:pt idx="4">
                  <c:v>53.151987354922397</c:v>
                </c:pt>
                <c:pt idx="5">
                  <c:v>54.350204240926701</c:v>
                </c:pt>
                <c:pt idx="6">
                  <c:v>56.231422513518801</c:v>
                </c:pt>
                <c:pt idx="7">
                  <c:v>58.433784948301302</c:v>
                </c:pt>
                <c:pt idx="8">
                  <c:v>60.294843373492697</c:v>
                </c:pt>
                <c:pt idx="9">
                  <c:v>62.923042156022198</c:v>
                </c:pt>
                <c:pt idx="10">
                  <c:v>63.799650682808903</c:v>
                </c:pt>
                <c:pt idx="11">
                  <c:v>66.629744601300402</c:v>
                </c:pt>
                <c:pt idx="12">
                  <c:v>68.3061196459347</c:v>
                </c:pt>
                <c:pt idx="13">
                  <c:v>70.223431904647398</c:v>
                </c:pt>
                <c:pt idx="14">
                  <c:v>72.849162870555404</c:v>
                </c:pt>
                <c:pt idx="15">
                  <c:v>74.716550443194507</c:v>
                </c:pt>
                <c:pt idx="16">
                  <c:v>77.288988100974507</c:v>
                </c:pt>
                <c:pt idx="17">
                  <c:v>80.252617127606896</c:v>
                </c:pt>
                <c:pt idx="18">
                  <c:v>82.508864961329195</c:v>
                </c:pt>
                <c:pt idx="19">
                  <c:v>85.728216730682107</c:v>
                </c:pt>
                <c:pt idx="20">
                  <c:v>88.296331281356998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0E3-7D42-B961-4E40C84E3CBC}"/>
            </c:ext>
          </c:extLst>
        </c:ser>
        <c:ser>
          <c:idx val="2"/>
          <c:order val="1"/>
          <c:tx>
            <c:strRef>
              <c:f>ws_Current_Portfolio_X_SS!$D$2</c:f>
              <c:strCache>
                <c:ptCount val="1"/>
                <c:pt idx="0">
                  <c:v>50th %ile</c:v>
                </c:pt>
              </c:strCache>
            </c:strRef>
          </c:tx>
          <c:spPr>
            <a:ln w="22225">
              <a:solidFill>
                <a:schemeClr val="accent1">
                  <a:lumMod val="50000"/>
                </a:schemeClr>
              </a:solidFill>
              <a:prstDash val="solid"/>
            </a:ln>
          </c:spPr>
          <c:marker>
            <c:symbol val="none"/>
          </c:marker>
          <c:dLbls>
            <c:dLbl>
              <c:idx val="2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0E3-7D42-B961-4E40C84E3CBC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ws_Current_Portfolio_X_SS!$A$3:$A$23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ws_Current_Portfolio_X_SS!$D$3:$D$23</c:f>
              <c:numCache>
                <c:formatCode>General</c:formatCode>
                <c:ptCount val="21"/>
                <c:pt idx="0">
                  <c:v>100</c:v>
                </c:pt>
                <c:pt idx="1">
                  <c:v>103.956799090877</c:v>
                </c:pt>
                <c:pt idx="2">
                  <c:v>107.91924850371601</c:v>
                </c:pt>
                <c:pt idx="3">
                  <c:v>113.212512555678</c:v>
                </c:pt>
                <c:pt idx="4">
                  <c:v>120.350523357786</c:v>
                </c:pt>
                <c:pt idx="5">
                  <c:v>128.57281589263701</c:v>
                </c:pt>
                <c:pt idx="6">
                  <c:v>136.769381145675</c:v>
                </c:pt>
                <c:pt idx="7">
                  <c:v>145.95674727191499</c:v>
                </c:pt>
                <c:pt idx="8">
                  <c:v>155.52578084270499</c:v>
                </c:pt>
                <c:pt idx="9">
                  <c:v>164.87606578687399</c:v>
                </c:pt>
                <c:pt idx="10">
                  <c:v>174.45705060933199</c:v>
                </c:pt>
                <c:pt idx="11">
                  <c:v>184.80230439486701</c:v>
                </c:pt>
                <c:pt idx="12">
                  <c:v>195.66847941514001</c:v>
                </c:pt>
                <c:pt idx="13">
                  <c:v>206.978184522188</c:v>
                </c:pt>
                <c:pt idx="14">
                  <c:v>219.70895429414301</c:v>
                </c:pt>
                <c:pt idx="15">
                  <c:v>232.014203418383</c:v>
                </c:pt>
                <c:pt idx="16">
                  <c:v>245.701689701503</c:v>
                </c:pt>
                <c:pt idx="17">
                  <c:v>258.44136710227798</c:v>
                </c:pt>
                <c:pt idx="18">
                  <c:v>274.02181471580099</c:v>
                </c:pt>
                <c:pt idx="19">
                  <c:v>290.70665369525</c:v>
                </c:pt>
                <c:pt idx="20">
                  <c:v>307.07395204053302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0E3-7D42-B961-4E40C84E3CBC}"/>
            </c:ext>
          </c:extLst>
        </c:ser>
        <c:ser>
          <c:idx val="3"/>
          <c:order val="2"/>
          <c:tx>
            <c:strRef>
              <c:f>ws_Current_Portfolio_X_SS!$E$2</c:f>
              <c:strCache>
                <c:ptCount val="1"/>
                <c:pt idx="0">
                  <c:v>90th %ile</c:v>
                </c:pt>
              </c:strCache>
            </c:strRef>
          </c:tx>
          <c:spPr>
            <a:ln w="22225">
              <a:solidFill>
                <a:srgbClr val="77933C"/>
              </a:solidFill>
              <a:prstDash val="solid"/>
            </a:ln>
          </c:spPr>
          <c:marker>
            <c:symbol val="none"/>
          </c:marker>
          <c:cat>
            <c:numRef>
              <c:f>ws_Current_Portfolio_X_SS!$A$3:$A$23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ws_Current_Portfolio_X_SS!$E$3:$E$23</c:f>
              <c:numCache>
                <c:formatCode>General</c:formatCode>
                <c:ptCount val="21"/>
                <c:pt idx="0">
                  <c:v>100</c:v>
                </c:pt>
                <c:pt idx="1">
                  <c:v>136.745002350367</c:v>
                </c:pt>
                <c:pt idx="2">
                  <c:v>155.16160828295199</c:v>
                </c:pt>
                <c:pt idx="3">
                  <c:v>169.54404145550501</c:v>
                </c:pt>
                <c:pt idx="4">
                  <c:v>186.13607471679501</c:v>
                </c:pt>
                <c:pt idx="5">
                  <c:v>202.60055798873401</c:v>
                </c:pt>
                <c:pt idx="6">
                  <c:v>218.98154697701301</c:v>
                </c:pt>
                <c:pt idx="7">
                  <c:v>235.75612505238101</c:v>
                </c:pt>
                <c:pt idx="8">
                  <c:v>253.980527569391</c:v>
                </c:pt>
                <c:pt idx="9">
                  <c:v>272.06105598880799</c:v>
                </c:pt>
                <c:pt idx="10">
                  <c:v>292.441952562484</c:v>
                </c:pt>
                <c:pt idx="11">
                  <c:v>314.219912416824</c:v>
                </c:pt>
                <c:pt idx="12">
                  <c:v>336.95687800720299</c:v>
                </c:pt>
                <c:pt idx="13">
                  <c:v>360.60196476393702</c:v>
                </c:pt>
                <c:pt idx="14">
                  <c:v>387.99667945016</c:v>
                </c:pt>
                <c:pt idx="15">
                  <c:v>416.69455681968799</c:v>
                </c:pt>
                <c:pt idx="16">
                  <c:v>446.089983549941</c:v>
                </c:pt>
                <c:pt idx="17">
                  <c:v>476.83271223189001</c:v>
                </c:pt>
                <c:pt idx="18">
                  <c:v>510.30873167653101</c:v>
                </c:pt>
                <c:pt idx="19">
                  <c:v>546.90512117672995</c:v>
                </c:pt>
                <c:pt idx="20">
                  <c:v>584.45758325677195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0E3-7D42-B961-4E40C84E3CBC}"/>
            </c:ext>
          </c:extLst>
        </c:ser>
        <c:ser>
          <c:idx val="4"/>
          <c:order val="3"/>
          <c:tx>
            <c:strRef>
              <c:f>ws_Current_Portfolio_X_SS!$F$2</c:f>
              <c:strCache>
                <c:ptCount val="1"/>
              </c:strCache>
            </c:strRef>
          </c:tx>
          <c:spPr>
            <a:ln>
              <a:solidFill>
                <a:srgbClr val="C00000"/>
              </a:solidFill>
              <a:prstDash val="sysDot"/>
            </a:ln>
          </c:spPr>
          <c:marker>
            <c:symbol val="none"/>
          </c:marker>
          <c:dLbls>
            <c:dLbl>
              <c:idx val="2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10E3-7D42-B961-4E40C84E3CBC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ws_Current_Portfolio_X_SS!$A$3:$A$23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ws_Current_Portfolio_X_SS!$F$3:$F$23</c:f>
              <c:numCache>
                <c:formatCode>General</c:formatCode>
                <c:ptCount val="21"/>
                <c:pt idx="0">
                  <c:v>100</c:v>
                </c:pt>
                <c:pt idx="1">
                  <c:v>61.818528838662637</c:v>
                </c:pt>
                <c:pt idx="2">
                  <c:v>51.418656500318328</c:v>
                </c:pt>
                <c:pt idx="3">
                  <c:v>45.515505915479586</c:v>
                </c:pt>
                <c:pt idx="4">
                  <c:v>40.816035405245337</c:v>
                </c:pt>
                <c:pt idx="5">
                  <c:v>37.252532271232418</c:v>
                </c:pt>
                <c:pt idx="6">
                  <c:v>33.977457604959049</c:v>
                </c:pt>
                <c:pt idx="7">
                  <c:v>31.43333440582979</c:v>
                </c:pt>
                <c:pt idx="8">
                  <c:v>29.72697440006397</c:v>
                </c:pt>
                <c:pt idx="9">
                  <c:v>27.49419457135048</c:v>
                </c:pt>
                <c:pt idx="10">
                  <c:v>25.547402480417329</c:v>
                </c:pt>
                <c:pt idx="11">
                  <c:v>24.65521735934928</c:v>
                </c:pt>
                <c:pt idx="12">
                  <c:v>22.89769230170635</c:v>
                </c:pt>
                <c:pt idx="13">
                  <c:v>21.3976645070789</c:v>
                </c:pt>
                <c:pt idx="14">
                  <c:v>20.223944984707661</c:v>
                </c:pt>
                <c:pt idx="15">
                  <c:v>19.467366201475681</c:v>
                </c:pt>
                <c:pt idx="16">
                  <c:v>18.282824627442761</c:v>
                </c:pt>
                <c:pt idx="17">
                  <c:v>17.510807624358911</c:v>
                </c:pt>
                <c:pt idx="18">
                  <c:v>17.256404715054199</c:v>
                </c:pt>
                <c:pt idx="19">
                  <c:v>16.567829987066581</c:v>
                </c:pt>
                <c:pt idx="20">
                  <c:v>15.951519416199419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10E3-7D42-B961-4E40C84E3CBC}"/>
            </c:ext>
          </c:extLst>
        </c:ser>
        <c:ser>
          <c:idx val="5"/>
          <c:order val="4"/>
          <c:tx>
            <c:strRef>
              <c:f>ws_Current_Portfolio_X_SS!$G$2</c:f>
              <c:strCache>
                <c:ptCount val="1"/>
              </c:strCache>
            </c:strRef>
          </c:tx>
          <c:marker>
            <c:symbol val="none"/>
          </c:marker>
          <c:cat>
            <c:numRef>
              <c:f>ws_Current_Portfolio_X_SS!$A$3:$A$23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ws_Current_Portfolio_X_SS!$G$3:$G$23</c:f>
            </c:numRef>
          </c:val>
          <c:smooth val="0"/>
          <c:extLst>
            <c:ext xmlns:c16="http://schemas.microsoft.com/office/drawing/2014/chart" uri="{C3380CC4-5D6E-409C-BE32-E72D297353CC}">
              <c16:uniqueId val="{00000005-10E3-7D42-B961-4E40C84E3CBC}"/>
            </c:ext>
          </c:extLst>
        </c:ser>
        <c:ser>
          <c:idx val="6"/>
          <c:order val="5"/>
          <c:tx>
            <c:strRef>
              <c:f>ws_Current_Portfolio_X_SS!$H$2</c:f>
              <c:strCache>
                <c:ptCount val="1"/>
              </c:strCache>
            </c:strRef>
          </c:tx>
          <c:spPr>
            <a:ln>
              <a:solidFill>
                <a:schemeClr val="accent1">
                  <a:lumMod val="50000"/>
                </a:schemeClr>
              </a:solidFill>
              <a:prstDash val="sysDot"/>
            </a:ln>
          </c:spPr>
          <c:marker>
            <c:symbol val="none"/>
          </c:marker>
          <c:dLbls>
            <c:dLbl>
              <c:idx val="2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0E3-7D42-B961-4E40C84E3CBC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ws_Current_Portfolio_X_SS!$A$3:$A$23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ws_Current_Portfolio_X_SS!$H$3:$H$23</c:f>
              <c:numCache>
                <c:formatCode>General</c:formatCode>
                <c:ptCount val="21"/>
                <c:pt idx="0">
                  <c:v>100</c:v>
                </c:pt>
                <c:pt idx="1">
                  <c:v>103.9567990908773</c:v>
                </c:pt>
                <c:pt idx="2">
                  <c:v>107.1145847452551</c:v>
                </c:pt>
                <c:pt idx="3">
                  <c:v>110.57685165845029</c:v>
                </c:pt>
                <c:pt idx="4">
                  <c:v>115.32868879014249</c:v>
                </c:pt>
                <c:pt idx="5">
                  <c:v>120.4385732873385</c:v>
                </c:pt>
                <c:pt idx="6">
                  <c:v>125.4654397278165</c:v>
                </c:pt>
                <c:pt idx="7">
                  <c:v>130.79973378454159</c:v>
                </c:pt>
                <c:pt idx="8">
                  <c:v>137.00040420597799</c:v>
                </c:pt>
                <c:pt idx="9">
                  <c:v>142.0502612187002</c:v>
                </c:pt>
                <c:pt idx="10">
                  <c:v>147.9146147353776</c:v>
                </c:pt>
                <c:pt idx="11">
                  <c:v>153.00997119381989</c:v>
                </c:pt>
                <c:pt idx="12">
                  <c:v>158.58830033045149</c:v>
                </c:pt>
                <c:pt idx="13">
                  <c:v>164.4284467923647</c:v>
                </c:pt>
                <c:pt idx="14">
                  <c:v>171.35597381936091</c:v>
                </c:pt>
                <c:pt idx="15">
                  <c:v>177.74567701918389</c:v>
                </c:pt>
                <c:pt idx="16">
                  <c:v>184.32824926859749</c:v>
                </c:pt>
                <c:pt idx="17">
                  <c:v>189.92205068720139</c:v>
                </c:pt>
                <c:pt idx="18">
                  <c:v>197.52060918620421</c:v>
                </c:pt>
                <c:pt idx="19">
                  <c:v>202.3004067788583</c:v>
                </c:pt>
                <c:pt idx="20">
                  <c:v>209.83315740661129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10E3-7D42-B961-4E40C84E3C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GB" sz="900" b="0">
                    <a:latin typeface="Aptos"/>
                  </a:rPr>
                  <a:t>Year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/>
        </c:spPr>
        <c:txPr>
          <a:bodyPr/>
          <a:lstStyle/>
          <a:p>
            <a:pPr>
              <a:defRPr sz="900" b="0">
                <a:latin typeface="Aptos"/>
              </a:defRPr>
            </a:pPr>
            <a:endParaRPr lang="en-US"/>
          </a:p>
        </c:txPr>
        <c:crossAx val="100"/>
        <c:crosses val="autoZero"/>
        <c:auto val="0"/>
        <c:lblAlgn val="ctr"/>
        <c:lblOffset val="100"/>
        <c:tickLblSkip val="1"/>
        <c:tickMarkSkip val="1"/>
        <c:noMultiLvlLbl val="0"/>
      </c:catAx>
      <c:valAx>
        <c:axId val="100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/>
                </a:pPr>
                <a:r>
                  <a:rPr lang="en-GB" sz="900" b="0" dirty="0">
                    <a:latin typeface="Aptos"/>
                  </a:rPr>
                  <a:t>Nominal Portfolio Values ($mm)</a:t>
                </a:r>
              </a:p>
            </c:rich>
          </c:tx>
          <c:overlay val="0"/>
        </c:title>
        <c:numFmt formatCode="General" sourceLinked="1"/>
        <c:majorTickMark val="cross"/>
        <c:minorTickMark val="none"/>
        <c:tickLblPos val="nextTo"/>
        <c:txPr>
          <a:bodyPr/>
          <a:lstStyle/>
          <a:p>
            <a:pPr>
              <a:defRPr sz="900" b="0">
                <a:latin typeface="Aptos"/>
              </a:defRPr>
            </a:pPr>
            <a:endParaRPr lang="en-US"/>
          </a:p>
        </c:txPr>
        <c:crossAx val="10"/>
        <c:crosses val="autoZero"/>
        <c:crossBetween val="midCat"/>
      </c:valAx>
    </c:plotArea>
    <c:legend>
      <c:legendPos val="t"/>
      <c:legendEntry>
        <c:idx val="3"/>
        <c:delete val="1"/>
      </c:legendEntry>
      <c:legendEntry>
        <c:idx val="4"/>
        <c:delete val="1"/>
      </c:legendEntry>
      <c:layout>
        <c:manualLayout>
          <c:xMode val="edge"/>
          <c:yMode val="edge"/>
          <c:x val="9.8802340033533886E-2"/>
          <c:y val="1.4066170773605639E-2"/>
          <c:w val="0.84250223667745006"/>
          <c:h val="5.0336898408641223E-2"/>
        </c:manualLayout>
      </c:layout>
      <c:overlay val="0"/>
      <c:spPr>
        <a:ln w="6350">
          <a:solidFill>
            <a:schemeClr val="bg1">
              <a:lumMod val="75000"/>
            </a:schemeClr>
          </a:solidFill>
        </a:ln>
      </c:spPr>
      <c:txPr>
        <a:bodyPr/>
        <a:lstStyle/>
        <a:p>
          <a:pPr>
            <a:defRPr sz="900" b="0">
              <a:latin typeface="Aptos"/>
            </a:defRPr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  <c:userShapes r:id="rId2"/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780107747019936"/>
          <c:y val="2.9006929828466255E-2"/>
          <c:w val="0.84610659195879412"/>
          <c:h val="0.80713669071905036"/>
        </c:manualLayout>
      </c:layout>
      <c:lineChart>
        <c:grouping val="standard"/>
        <c:varyColors val="0"/>
        <c:ser>
          <c:idx val="0"/>
          <c:order val="0"/>
          <c:spPr>
            <a:ln w="25400" cap="rnd">
              <a:solidFill>
                <a:schemeClr val="tx1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Sheet1!$B$7:$B$19</c:f>
              <c:numCache>
                <c:formatCode>0%</c:formatCode>
                <c:ptCount val="13"/>
                <c:pt idx="0">
                  <c:v>-0.3</c:v>
                </c:pt>
                <c:pt idx="1">
                  <c:v>-0.25</c:v>
                </c:pt>
                <c:pt idx="2">
                  <c:v>-0.2</c:v>
                </c:pt>
                <c:pt idx="3">
                  <c:v>-0.15000000000000002</c:v>
                </c:pt>
                <c:pt idx="4">
                  <c:v>-0.10000000000000002</c:v>
                </c:pt>
                <c:pt idx="5">
                  <c:v>-5.0000000000000017E-2</c:v>
                </c:pt>
                <c:pt idx="6">
                  <c:v>0</c:v>
                </c:pt>
                <c:pt idx="7">
                  <c:v>0.05</c:v>
                </c:pt>
                <c:pt idx="8">
                  <c:v>0.1</c:v>
                </c:pt>
                <c:pt idx="9">
                  <c:v>0.15000000000000002</c:v>
                </c:pt>
                <c:pt idx="10">
                  <c:v>0.2</c:v>
                </c:pt>
                <c:pt idx="11">
                  <c:v>0.25</c:v>
                </c:pt>
                <c:pt idx="12">
                  <c:v>0.3</c:v>
                </c:pt>
              </c:numCache>
            </c:numRef>
          </c:cat>
          <c:val>
            <c:numRef>
              <c:f>Sheet1!$B$7:$B$19</c:f>
              <c:numCache>
                <c:formatCode>0%</c:formatCode>
                <c:ptCount val="13"/>
                <c:pt idx="0">
                  <c:v>-0.3</c:v>
                </c:pt>
                <c:pt idx="1">
                  <c:v>-0.25</c:v>
                </c:pt>
                <c:pt idx="2">
                  <c:v>-0.2</c:v>
                </c:pt>
                <c:pt idx="3">
                  <c:v>-0.15000000000000002</c:v>
                </c:pt>
                <c:pt idx="4">
                  <c:v>-0.10000000000000002</c:v>
                </c:pt>
                <c:pt idx="5">
                  <c:v>-5.0000000000000017E-2</c:v>
                </c:pt>
                <c:pt idx="6">
                  <c:v>0</c:v>
                </c:pt>
                <c:pt idx="7">
                  <c:v>0.05</c:v>
                </c:pt>
                <c:pt idx="8">
                  <c:v>0.1</c:v>
                </c:pt>
                <c:pt idx="9">
                  <c:v>0.15000000000000002</c:v>
                </c:pt>
                <c:pt idx="10">
                  <c:v>0.2</c:v>
                </c:pt>
                <c:pt idx="11">
                  <c:v>0.25</c:v>
                </c:pt>
                <c:pt idx="12">
                  <c:v>0.3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3F6-3642-9D3A-07C76E2850C4}"/>
            </c:ext>
          </c:extLst>
        </c:ser>
        <c:ser>
          <c:idx val="1"/>
          <c:order val="1"/>
          <c:spPr>
            <a:ln w="25400" cap="rnd">
              <a:solidFill>
                <a:schemeClr val="accent1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Sheet1!$B$7:$B$19</c:f>
              <c:numCache>
                <c:formatCode>0%</c:formatCode>
                <c:ptCount val="13"/>
                <c:pt idx="0">
                  <c:v>-0.3</c:v>
                </c:pt>
                <c:pt idx="1">
                  <c:v>-0.25</c:v>
                </c:pt>
                <c:pt idx="2">
                  <c:v>-0.2</c:v>
                </c:pt>
                <c:pt idx="3">
                  <c:v>-0.15000000000000002</c:v>
                </c:pt>
                <c:pt idx="4">
                  <c:v>-0.10000000000000002</c:v>
                </c:pt>
                <c:pt idx="5">
                  <c:v>-5.0000000000000017E-2</c:v>
                </c:pt>
                <c:pt idx="6">
                  <c:v>0</c:v>
                </c:pt>
                <c:pt idx="7">
                  <c:v>0.05</c:v>
                </c:pt>
                <c:pt idx="8">
                  <c:v>0.1</c:v>
                </c:pt>
                <c:pt idx="9">
                  <c:v>0.15000000000000002</c:v>
                </c:pt>
                <c:pt idx="10">
                  <c:v>0.2</c:v>
                </c:pt>
                <c:pt idx="11">
                  <c:v>0.25</c:v>
                </c:pt>
                <c:pt idx="12">
                  <c:v>0.3</c:v>
                </c:pt>
              </c:numCache>
            </c:numRef>
          </c:cat>
          <c:val>
            <c:numRef>
              <c:f>Sheet1!$C$7:$C$19</c:f>
              <c:numCache>
                <c:formatCode>0%</c:formatCode>
                <c:ptCount val="13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0.18</c:v>
                </c:pt>
                <c:pt idx="7">
                  <c:v>0.18</c:v>
                </c:pt>
                <c:pt idx="8">
                  <c:v>0.18</c:v>
                </c:pt>
                <c:pt idx="9">
                  <c:v>0.18</c:v>
                </c:pt>
                <c:pt idx="10">
                  <c:v>0.18</c:v>
                </c:pt>
                <c:pt idx="11">
                  <c:v>0.18</c:v>
                </c:pt>
                <c:pt idx="12">
                  <c:v>0.18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3F6-3642-9D3A-07C76E2850C4}"/>
            </c:ext>
          </c:extLst>
        </c:ser>
        <c:ser>
          <c:idx val="2"/>
          <c:order val="2"/>
          <c:spPr>
            <a:ln w="2540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Sheet1!$B$7:$B$19</c:f>
              <c:numCache>
                <c:formatCode>0%</c:formatCode>
                <c:ptCount val="13"/>
                <c:pt idx="0">
                  <c:v>-0.3</c:v>
                </c:pt>
                <c:pt idx="1">
                  <c:v>-0.25</c:v>
                </c:pt>
                <c:pt idx="2">
                  <c:v>-0.2</c:v>
                </c:pt>
                <c:pt idx="3">
                  <c:v>-0.15000000000000002</c:v>
                </c:pt>
                <c:pt idx="4">
                  <c:v>-0.10000000000000002</c:v>
                </c:pt>
                <c:pt idx="5">
                  <c:v>-5.0000000000000017E-2</c:v>
                </c:pt>
                <c:pt idx="6">
                  <c:v>0</c:v>
                </c:pt>
                <c:pt idx="7">
                  <c:v>0.05</c:v>
                </c:pt>
                <c:pt idx="8">
                  <c:v>0.1</c:v>
                </c:pt>
                <c:pt idx="9">
                  <c:v>0.15000000000000002</c:v>
                </c:pt>
                <c:pt idx="10">
                  <c:v>0.2</c:v>
                </c:pt>
                <c:pt idx="11">
                  <c:v>0.25</c:v>
                </c:pt>
                <c:pt idx="12">
                  <c:v>0.3</c:v>
                </c:pt>
              </c:numCache>
            </c:numRef>
          </c:cat>
          <c:val>
            <c:numRef>
              <c:f>Sheet1!$D$7:$D$19</c:f>
              <c:numCache>
                <c:formatCode>0.0%</c:formatCode>
                <c:ptCount val="13"/>
                <c:pt idx="0">
                  <c:v>-0.15000000000000002</c:v>
                </c:pt>
                <c:pt idx="1">
                  <c:v>-0.1</c:v>
                </c:pt>
                <c:pt idx="2">
                  <c:v>-0.05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3F6-3642-9D3A-07C76E2850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56925375"/>
        <c:axId val="1556927087"/>
      </c:lineChart>
      <c:catAx>
        <c:axId val="155692537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r>
                  <a:rPr lang="en-GB"/>
                  <a:t>Underlying Cumulative Return at Maturity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ptos" panose="020B0004020202020204" pitchFamily="34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dk1"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1556927087"/>
        <c:crossesAt val="0"/>
        <c:auto val="1"/>
        <c:lblAlgn val="ctr"/>
        <c:lblOffset val="100"/>
        <c:tickLblSkip val="2"/>
        <c:tickMarkSkip val="3"/>
        <c:noMultiLvlLbl val="0"/>
      </c:catAx>
      <c:valAx>
        <c:axId val="15569270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r>
                  <a:rPr lang="en-GB"/>
                  <a:t>Payoff at Maturity (% Notional)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ptos" panose="020B0004020202020204" pitchFamily="34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dk1">
                <a:shade val="95000"/>
                <a:satMod val="105000"/>
              </a:schemeClr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1556925375"/>
        <c:crossesAt val="7"/>
        <c:crossBetween val="midCat"/>
        <c:majorUnit val="0.2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0" i="0">
          <a:latin typeface="Aptos" panose="020B0004020202020204" pitchFamily="34" charset="0"/>
        </a:defRPr>
      </a:pPr>
      <a:endParaRPr lang="en-US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844360617222127"/>
          <c:y val="0.15410166613605011"/>
          <c:w val="0.80485488433603958"/>
          <c:h val="0.7539399841439281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Sheet3!$D$15</c:f>
              <c:strCache>
                <c:ptCount val="1"/>
                <c:pt idx="0">
                  <c:v>90th to 10th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152-EE44-8525-1AE27B12EB98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152-EE44-8525-1AE27B12EB98}"/>
              </c:ext>
            </c:extLst>
          </c:dPt>
          <c:cat>
            <c:strRef>
              <c:f>Sheet3!$D$3:$E$3</c:f>
              <c:strCache>
                <c:ptCount val="2"/>
                <c:pt idx="0">
                  <c:v>S&amp;P 500</c:v>
                </c:pt>
                <c:pt idx="1">
                  <c:v>Autocallable</c:v>
                </c:pt>
              </c:strCache>
            </c:strRef>
          </c:cat>
          <c:val>
            <c:numRef>
              <c:f>Sheet3!$D$11:$E$11</c:f>
              <c:numCache>
                <c:formatCode>0%</c:formatCode>
                <c:ptCount val="2"/>
                <c:pt idx="0">
                  <c:v>-0.13889251124822599</c:v>
                </c:pt>
                <c:pt idx="1">
                  <c:v>4.4999999999999998E-2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152-EE44-8525-1AE27B12EB98}"/>
            </c:ext>
          </c:extLst>
        </c:ser>
        <c:ser>
          <c:idx val="1"/>
          <c:order val="1"/>
          <c:tx>
            <c:strRef>
              <c:f>Sheet3!$D$14</c:f>
              <c:strCache>
                <c:ptCount val="1"/>
                <c:pt idx="0">
                  <c:v>1st-10th and 90th-99th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Sheet3!$D$3:$E$3</c:f>
              <c:strCache>
                <c:ptCount val="2"/>
                <c:pt idx="0">
                  <c:v>S&amp;P 500</c:v>
                </c:pt>
                <c:pt idx="1">
                  <c:v>Autocallable</c:v>
                </c:pt>
              </c:strCache>
            </c:strRef>
          </c:cat>
          <c:val>
            <c:numRef>
              <c:f>Sheet3!$D$10:$E$10</c:f>
              <c:numCache>
                <c:formatCode>0%</c:formatCode>
                <c:ptCount val="2"/>
                <c:pt idx="0">
                  <c:v>-0.245290976392184</c:v>
                </c:pt>
                <c:pt idx="1">
                  <c:v>-0.151697343923133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152-EE44-8525-1AE27B12EB98}"/>
            </c:ext>
          </c:extLst>
        </c:ser>
        <c:ser>
          <c:idx val="2"/>
          <c:order val="2"/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Sheet3!$D$3:$E$3</c:f>
              <c:strCache>
                <c:ptCount val="2"/>
                <c:pt idx="0">
                  <c:v>S&amp;P 500</c:v>
                </c:pt>
                <c:pt idx="1">
                  <c:v>Autocallable</c:v>
                </c:pt>
              </c:strCache>
            </c:strRef>
          </c:cat>
          <c:val>
            <c:numRef>
              <c:f>Sheet3!$D$12:$E$12</c:f>
              <c:numCache>
                <c:formatCode>0%</c:formatCode>
                <c:ptCount val="2"/>
                <c:pt idx="0">
                  <c:v>0.52121120080023697</c:v>
                </c:pt>
                <c:pt idx="1">
                  <c:v>6.7499999999999005E-2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152-EE44-8525-1AE27B12EB98}"/>
            </c:ext>
          </c:extLst>
        </c:ser>
        <c:ser>
          <c:idx val="3"/>
          <c:order val="3"/>
          <c:spPr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Sheet3!$D$3:$E$3</c:f>
              <c:strCache>
                <c:ptCount val="2"/>
                <c:pt idx="0">
                  <c:v>S&amp;P 500</c:v>
                </c:pt>
                <c:pt idx="1">
                  <c:v>Autocallable</c:v>
                </c:pt>
              </c:strCache>
            </c:strRef>
          </c:cat>
          <c:val>
            <c:numRef>
              <c:f>Sheet3!$D$13:$E$13</c:f>
              <c:numCache>
                <c:formatCode>0%</c:formatCode>
                <c:ptCount val="2"/>
                <c:pt idx="0">
                  <c:v>0.31880300208777901</c:v>
                </c:pt>
                <c:pt idx="1">
                  <c:v>6.7499999999999991E-2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7152-EE44-8525-1AE27B12EB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56190863"/>
        <c:axId val="656265215"/>
      </c:barChart>
      <c:scatterChart>
        <c:scatterStyle val="lineMarker"/>
        <c:varyColors val="0"/>
        <c:ser>
          <c:idx val="4"/>
          <c:order val="4"/>
          <c:tx>
            <c:v>Median</c:v>
          </c:tx>
          <c:spPr>
            <a:ln w="25400" cap="rnd">
              <a:noFill/>
              <a:round/>
            </a:ln>
            <a:effectLst/>
          </c:spPr>
          <c:marker>
            <c:symbol val="dash"/>
            <c:size val="18"/>
            <c:spPr>
              <a:solidFill>
                <a:schemeClr val="bg1"/>
              </a:solidFill>
              <a:ln w="9525">
                <a:solidFill>
                  <a:schemeClr val="tx1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7.4044476206593629E-2"/>
                  <c:y val="-3.656812204761453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152-EE44-8525-1AE27B12EB9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yVal>
            <c:numRef>
              <c:f>Sheet3!$D$6:$E$6</c:f>
              <c:numCache>
                <c:formatCode>0%</c:formatCode>
                <c:ptCount val="2"/>
                <c:pt idx="0">
                  <c:v>0.189840058131898</c:v>
                </c:pt>
                <c:pt idx="1">
                  <c:v>4.4999999999999998E-2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9-7152-EE44-8525-1AE27B12EB98}"/>
            </c:ext>
          </c:extLst>
        </c:ser>
        <c:ser>
          <c:idx val="5"/>
          <c:order val="5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yVal>
            <c:numRef>
              <c:f>Sheet3!$D$4:$E$4</c:f>
              <c:numCache>
                <c:formatCode>0%</c:formatCode>
                <c:ptCount val="2"/>
                <c:pt idx="0">
                  <c:v>-0.38418348764040999</c:v>
                </c:pt>
                <c:pt idx="1">
                  <c:v>-0.151697343923133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7152-EE44-8525-1AE27B12EB98}"/>
            </c:ext>
          </c:extLst>
        </c:ser>
        <c:ser>
          <c:idx val="6"/>
          <c:order val="6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6.3227276545647484E-2"/>
                  <c:y val="-3.55127424154065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7152-EE44-8525-1AE27B12EB9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yVal>
            <c:numRef>
              <c:f>Sheet3!$D$8:$E$8</c:f>
              <c:numCache>
                <c:formatCode>0%</c:formatCode>
                <c:ptCount val="2"/>
                <c:pt idx="0">
                  <c:v>0.84001420288801598</c:v>
                </c:pt>
                <c:pt idx="1">
                  <c:v>0.17999999999999899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C-7152-EE44-8525-1AE27B12EB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56190863"/>
        <c:axId val="656265215"/>
      </c:scatterChart>
      <c:catAx>
        <c:axId val="6561908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656265215"/>
        <c:crosses val="autoZero"/>
        <c:auto val="1"/>
        <c:lblAlgn val="ctr"/>
        <c:lblOffset val="100"/>
        <c:noMultiLvlLbl val="0"/>
      </c:catAx>
      <c:valAx>
        <c:axId val="656265215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6561908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2"/>
        <c:delete val="1"/>
      </c:legendEntry>
      <c:legendEntry>
        <c:idx val="3"/>
        <c:delete val="1"/>
      </c:legendEntry>
      <c:legendEntry>
        <c:idx val="5"/>
        <c:delete val="1"/>
      </c:legendEntry>
      <c:legendEntry>
        <c:idx val="6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900" b="0" i="0" u="none" strike="noStrike" kern="1200" baseline="0">
              <a:solidFill>
                <a:schemeClr val="tx1"/>
              </a:solidFill>
              <a:latin typeface="Aptos" panose="020B0004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900" b="0" i="0">
          <a:solidFill>
            <a:schemeClr val="tx1"/>
          </a:solidFill>
          <a:latin typeface="Aptos" panose="020B0004020202020204" pitchFamily="34" charset="0"/>
        </a:defRPr>
      </a:pPr>
      <a:endParaRPr lang="en-US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6906998063505399E-2"/>
          <c:y val="5.2918791436322825E-2"/>
          <c:w val="0.92618600387298922"/>
          <c:h val="0.80226024226730319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09E-FD4D-8658-AFDA1DBD684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Sheet3!$C$35:$C$38</c:f>
              <c:strCache>
                <c:ptCount val="4"/>
                <c:pt idx="0">
                  <c:v>Strong Down Market</c:v>
                </c:pt>
                <c:pt idx="1">
                  <c:v>Flat to Moderate Down</c:v>
                </c:pt>
                <c:pt idx="2">
                  <c:v>Moderate Up Market</c:v>
                </c:pt>
                <c:pt idx="3">
                  <c:v>Strong Up Market</c:v>
                </c:pt>
              </c:strCache>
            </c:strRef>
          </c:cat>
          <c:val>
            <c:numRef>
              <c:f>Sheet3!$P$45:$P$48</c:f>
              <c:numCache>
                <c:formatCode>0%</c:formatCode>
                <c:ptCount val="4"/>
                <c:pt idx="0">
                  <c:v>1</c:v>
                </c:pt>
                <c:pt idx="1">
                  <c:v>1</c:v>
                </c:pt>
                <c:pt idx="2">
                  <c:v>0.24022715266772299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09E-FD4D-8658-AFDA1DBD6842}"/>
            </c:ext>
          </c:extLst>
        </c:ser>
        <c:ser>
          <c:idx val="1"/>
          <c:order val="1"/>
          <c:spPr>
            <a:solidFill>
              <a:srgbClr val="376092"/>
            </a:solidFill>
            <a:ln>
              <a:noFill/>
            </a:ln>
            <a:effectLst/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09E-FD4D-8658-AFDA1DBD6842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09E-FD4D-8658-AFDA1DBD684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Sheet3!$C$35:$C$38</c:f>
              <c:strCache>
                <c:ptCount val="4"/>
                <c:pt idx="0">
                  <c:v>Strong Down Market</c:v>
                </c:pt>
                <c:pt idx="1">
                  <c:v>Flat to Moderate Down</c:v>
                </c:pt>
                <c:pt idx="2">
                  <c:v>Moderate Up Market</c:v>
                </c:pt>
                <c:pt idx="3">
                  <c:v>Strong Up Market</c:v>
                </c:pt>
              </c:strCache>
            </c:strRef>
          </c:cat>
          <c:val>
            <c:numRef>
              <c:f>Sheet3!$Q$45:$Q$48</c:f>
              <c:numCache>
                <c:formatCode>0%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0.75977284733227701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09E-FD4D-8658-AFDA1DBD68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26300399"/>
        <c:axId val="415301439"/>
      </c:barChart>
      <c:catAx>
        <c:axId val="62630039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cross"/>
        <c:minorTickMark val="none"/>
        <c:tickLblPos val="nextTo"/>
        <c:spPr>
          <a:noFill/>
          <a:ln w="9525" cap="flat" cmpd="sng" algn="ctr">
            <a:solidFill>
              <a:schemeClr val="dk1"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415301439"/>
        <c:crosses val="autoZero"/>
        <c:auto val="1"/>
        <c:lblAlgn val="ctr"/>
        <c:lblOffset val="100"/>
        <c:noMultiLvlLbl val="0"/>
      </c:catAx>
      <c:valAx>
        <c:axId val="415301439"/>
        <c:scaling>
          <c:orientation val="minMax"/>
          <c:max val="1"/>
        </c:scaling>
        <c:delete val="1"/>
        <c:axPos val="l"/>
        <c:numFmt formatCode="0%" sourceLinked="1"/>
        <c:majorTickMark val="none"/>
        <c:minorTickMark val="none"/>
        <c:tickLblPos val="none"/>
        <c:crossAx val="6263003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>
          <a:latin typeface="Aptos" panose="020B0004020202020204" pitchFamily="34" charset="0"/>
        </a:defRPr>
      </a:pPr>
      <a:endParaRPr lang="en-US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4458732439373233E-2"/>
          <c:y val="0.11416708329183305"/>
          <c:w val="0.41593602170132515"/>
          <c:h val="0.7327154628010772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Sheet3!$I$50</c:f>
              <c:strCache>
                <c:ptCount val="1"/>
                <c:pt idx="0">
                  <c:v>Underlying</c:v>
                </c:pt>
              </c:strCache>
            </c:strRef>
          </c:tx>
          <c:spPr>
            <a:solidFill>
              <a:srgbClr val="37609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Sheet3!$C$35:$C$38</c:f>
              <c:strCache>
                <c:ptCount val="4"/>
                <c:pt idx="0">
                  <c:v>Strong Down Market</c:v>
                </c:pt>
                <c:pt idx="1">
                  <c:v>Flat to Moderate Down</c:v>
                </c:pt>
                <c:pt idx="2">
                  <c:v>Moderate Up Market</c:v>
                </c:pt>
                <c:pt idx="3">
                  <c:v>Strong Up Market</c:v>
                </c:pt>
              </c:strCache>
            </c:strRef>
          </c:cat>
          <c:val>
            <c:numRef>
              <c:f>Sheet3!$D$35:$D$38</c:f>
              <c:numCache>
                <c:formatCode>0%</c:formatCode>
                <c:ptCount val="4"/>
                <c:pt idx="0">
                  <c:v>-0.36793492303088499</c:v>
                </c:pt>
                <c:pt idx="1">
                  <c:v>-9.3515544580464599E-2</c:v>
                </c:pt>
                <c:pt idx="2">
                  <c:v>0.124073724675585</c:v>
                </c:pt>
                <c:pt idx="3">
                  <c:v>0.36248484188413899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C3-5043-A90B-C63B5AE55D71}"/>
            </c:ext>
          </c:extLst>
        </c:ser>
        <c:ser>
          <c:idx val="1"/>
          <c:order val="1"/>
          <c:tx>
            <c:strRef>
              <c:f>Sheet3!$I$51</c:f>
              <c:strCache>
                <c:ptCount val="1"/>
                <c:pt idx="0">
                  <c:v>Autcallable Buffered Note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Sheet3!$C$35:$C$38</c:f>
              <c:strCache>
                <c:ptCount val="4"/>
                <c:pt idx="0">
                  <c:v>Strong Down Market</c:v>
                </c:pt>
                <c:pt idx="1">
                  <c:v>Flat to Moderate Down</c:v>
                </c:pt>
                <c:pt idx="2">
                  <c:v>Moderate Up Market</c:v>
                </c:pt>
                <c:pt idx="3">
                  <c:v>Strong Up Market</c:v>
                </c:pt>
              </c:strCache>
            </c:strRef>
          </c:cat>
          <c:val>
            <c:numRef>
              <c:f>Sheet3!$F$35:$F$38</c:f>
              <c:numCache>
                <c:formatCode>0%</c:formatCode>
                <c:ptCount val="4"/>
                <c:pt idx="0">
                  <c:v>-4.1904065849227901E-2</c:v>
                </c:pt>
                <c:pt idx="1">
                  <c:v>8.1305060033594501E-2</c:v>
                </c:pt>
                <c:pt idx="2">
                  <c:v>6.5152535657686195E-2</c:v>
                </c:pt>
                <c:pt idx="3">
                  <c:v>4.9045840192478103E-2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CC3-5043-A90B-C63B5AE55D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3"/>
        <c:axId val="586152351"/>
        <c:axId val="585446495"/>
      </c:barChart>
      <c:catAx>
        <c:axId val="58615235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dk1"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585446495"/>
        <c:crosses val="autoZero"/>
        <c:auto val="1"/>
        <c:lblAlgn val="ctr"/>
        <c:lblOffset val="100"/>
        <c:noMultiLvlLbl val="0"/>
      </c:catAx>
      <c:valAx>
        <c:axId val="585446495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solidFill>
            <a:schemeClr val="bg1"/>
          </a:solidFill>
          <a:ln w="9525" cap="flat" cmpd="sng" algn="ctr">
            <a:solidFill>
              <a:schemeClr val="dk1">
                <a:shade val="95000"/>
                <a:satMod val="105000"/>
              </a:schemeClr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5861523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6014215528256316"/>
          <c:y val="0"/>
          <c:w val="0.28862846633333039"/>
          <c:h val="6.953038746627120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ptos" panose="020B0004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900" b="0" i="0">
          <a:latin typeface="Aptos" panose="020B0004020202020204" pitchFamily="34" charset="0"/>
        </a:defRPr>
      </a:pPr>
      <a:endParaRPr lang="en-US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386244013916988"/>
          <c:y val="8.8620878353379062E-2"/>
          <c:w val="0.86168297689569884"/>
          <c:h val="0.8376269368778948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1F7-134D-A75D-3693CE6CF6F1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1F7-134D-A75D-3693CE6CF6F1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E1F7-134D-A75D-3693CE6CF6F1}"/>
              </c:ext>
            </c:extLst>
          </c:dPt>
          <c:cat>
            <c:strRef>
              <c:f>Sheet1!$G$3:$K$3</c:f>
              <c:strCache>
                <c:ptCount val="4"/>
                <c:pt idx="0">
                  <c:v>SAA</c:v>
                </c:pt>
                <c:pt idx="1">
                  <c:v>+10% Note</c:v>
                </c:pt>
                <c:pt idx="2">
                  <c:v>+20% Note</c:v>
                </c:pt>
                <c:pt idx="3">
                  <c:v>+40% Note</c:v>
                </c:pt>
              </c:strCache>
            </c:strRef>
          </c:cat>
          <c:val>
            <c:numRef>
              <c:f>Sheet1!$G$12:$K$12</c:f>
              <c:numCache>
                <c:formatCode>0%</c:formatCode>
                <c:ptCount val="4"/>
                <c:pt idx="0">
                  <c:v>-5.92687486382244E-2</c:v>
                </c:pt>
                <c:pt idx="1">
                  <c:v>-3.8847792994066099E-2</c:v>
                </c:pt>
                <c:pt idx="2">
                  <c:v>-1.8478844182590499E-2</c:v>
                </c:pt>
                <c:pt idx="3">
                  <c:v>1.7874619962907699E-2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1F7-134D-A75D-3693CE6CF6F1}"/>
            </c:ext>
          </c:extLst>
        </c:ser>
        <c:ser>
          <c:idx val="1"/>
          <c:order val="1"/>
          <c:tx>
            <c:strRef>
              <c:f>Sheet1!$H$17</c:f>
              <c:strCache>
                <c:ptCount val="1"/>
                <c:pt idx="0">
                  <c:v>1st to 10th &amp; 90th to 99th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Sheet1!$G$3:$K$3</c:f>
              <c:strCache>
                <c:ptCount val="4"/>
                <c:pt idx="0">
                  <c:v>SAA</c:v>
                </c:pt>
                <c:pt idx="1">
                  <c:v>+10% Note</c:v>
                </c:pt>
                <c:pt idx="2">
                  <c:v>+20% Note</c:v>
                </c:pt>
                <c:pt idx="3">
                  <c:v>+40% Note</c:v>
                </c:pt>
              </c:strCache>
            </c:strRef>
          </c:cat>
          <c:val>
            <c:numRef>
              <c:f>Sheet1!$G$11:$K$11</c:f>
              <c:numCache>
                <c:formatCode>0%</c:formatCode>
                <c:ptCount val="4"/>
                <c:pt idx="0">
                  <c:v>-0.20105730665442462</c:v>
                </c:pt>
                <c:pt idx="1">
                  <c:v>-0.1921075796432189</c:v>
                </c:pt>
                <c:pt idx="2">
                  <c:v>-0.18392175878391051</c:v>
                </c:pt>
                <c:pt idx="3">
                  <c:v>-0.1700005396036727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1F7-134D-A75D-3693CE6CF6F1}"/>
            </c:ext>
          </c:extLst>
        </c:ser>
        <c:ser>
          <c:idx val="2"/>
          <c:order val="2"/>
          <c:tx>
            <c:strRef>
              <c:f>Sheet1!$H$18</c:f>
              <c:strCache>
                <c:ptCount val="1"/>
                <c:pt idx="0">
                  <c:v>10th to 90th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Sheet1!$G$3:$K$3</c:f>
              <c:strCache>
                <c:ptCount val="4"/>
                <c:pt idx="0">
                  <c:v>SAA</c:v>
                </c:pt>
                <c:pt idx="1">
                  <c:v>+10% Note</c:v>
                </c:pt>
                <c:pt idx="2">
                  <c:v>+20% Note</c:v>
                </c:pt>
                <c:pt idx="3">
                  <c:v>+40% Note</c:v>
                </c:pt>
              </c:strCache>
            </c:strRef>
          </c:cat>
          <c:val>
            <c:numRef>
              <c:f>Sheet1!$G$13:$K$13</c:f>
              <c:numCache>
                <c:formatCode>0%</c:formatCode>
                <c:ptCount val="4"/>
                <c:pt idx="0">
                  <c:v>0.39614541982681001</c:v>
                </c:pt>
                <c:pt idx="1">
                  <c:v>0.34714808995295399</c:v>
                </c:pt>
                <c:pt idx="2">
                  <c:v>0.297673138734182</c:v>
                </c:pt>
                <c:pt idx="3">
                  <c:v>0.202580303658801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1F7-134D-A75D-3693CE6CF6F1}"/>
            </c:ext>
          </c:extLst>
        </c:ser>
        <c:ser>
          <c:idx val="3"/>
          <c:order val="3"/>
          <c:spPr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Sheet1!$G$3:$K$3</c:f>
              <c:strCache>
                <c:ptCount val="4"/>
                <c:pt idx="0">
                  <c:v>SAA</c:v>
                </c:pt>
                <c:pt idx="1">
                  <c:v>+10% Note</c:v>
                </c:pt>
                <c:pt idx="2">
                  <c:v>+20% Note</c:v>
                </c:pt>
                <c:pt idx="3">
                  <c:v>+40% Note</c:v>
                </c:pt>
              </c:strCache>
            </c:strRef>
          </c:cat>
          <c:val>
            <c:numRef>
              <c:f>Sheet1!$G$14:$K$14</c:f>
              <c:numCache>
                <c:formatCode>0%</c:formatCode>
                <c:ptCount val="4"/>
                <c:pt idx="0">
                  <c:v>0.19835960758335097</c:v>
                </c:pt>
                <c:pt idx="1">
                  <c:v>0.16465098803618106</c:v>
                </c:pt>
                <c:pt idx="2">
                  <c:v>0.13449896163535202</c:v>
                </c:pt>
                <c:pt idx="3">
                  <c:v>7.6465105631397995E-2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E1F7-134D-A75D-3693CE6CF6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70736431"/>
        <c:axId val="670738143"/>
      </c:barChart>
      <c:scatterChart>
        <c:scatterStyle val="lineMarker"/>
        <c:varyColors val="0"/>
        <c:ser>
          <c:idx val="4"/>
          <c:order val="4"/>
          <c:tx>
            <c:strRef>
              <c:f>Sheet1!$H$19</c:f>
              <c:strCache>
                <c:ptCount val="1"/>
                <c:pt idx="0">
                  <c:v>Median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dash"/>
            <c:size val="15"/>
            <c:spPr>
              <a:solidFill>
                <a:schemeClr val="bg1"/>
              </a:solidFill>
              <a:ln w="9525">
                <a:solidFill>
                  <a:schemeClr val="tx1"/>
                </a:solidFill>
              </a:ln>
              <a:effectLst/>
            </c:spPr>
          </c:marker>
          <c:dLbls>
            <c:dLbl>
              <c:idx val="3"/>
              <c:layout>
                <c:manualLayout>
                  <c:x val="-6.3271216446638218E-2"/>
                  <c:y val="-3.74672613186935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1F7-134D-A75D-3693CE6CF6F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yVal>
            <c:numRef>
              <c:f>Sheet1!$G$6:$K$6</c:f>
              <c:numCache>
                <c:formatCode>0%</c:formatCode>
                <c:ptCount val="4"/>
                <c:pt idx="0">
                  <c:v>0.17873760082859499</c:v>
                </c:pt>
                <c:pt idx="1">
                  <c:v>0.16411522568016401</c:v>
                </c:pt>
                <c:pt idx="2">
                  <c:v>0.149852930857094</c:v>
                </c:pt>
                <c:pt idx="3">
                  <c:v>0.12150592435143701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C-E1F7-134D-A75D-3693CE6CF6F1}"/>
            </c:ext>
          </c:extLst>
        </c:ser>
        <c:ser>
          <c:idx val="5"/>
          <c:order val="5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dLbls>
            <c:dLbl>
              <c:idx val="3"/>
              <c:layout>
                <c:manualLayout>
                  <c:x val="-5.5283995185295906E-2"/>
                  <c:y val="5.685230087250563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E1F7-134D-A75D-3693CE6CF6F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yVal>
            <c:numRef>
              <c:f>Sheet1!$G$4:$K$4</c:f>
              <c:numCache>
                <c:formatCode>0%</c:formatCode>
                <c:ptCount val="4"/>
                <c:pt idx="0">
                  <c:v>-0.26032605529264902</c:v>
                </c:pt>
                <c:pt idx="1">
                  <c:v>-0.23095537263728499</c:v>
                </c:pt>
                <c:pt idx="2">
                  <c:v>-0.202400602966501</c:v>
                </c:pt>
                <c:pt idx="3">
                  <c:v>-0.15212591964076499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E-E1F7-134D-A75D-3693CE6CF6F1}"/>
            </c:ext>
          </c:extLst>
        </c:ser>
        <c:ser>
          <c:idx val="6"/>
          <c:order val="6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yVal>
            <c:numRef>
              <c:f>Sheet1!$G$8:$K$8</c:f>
              <c:numCache>
                <c:formatCode>0%</c:formatCode>
                <c:ptCount val="4"/>
                <c:pt idx="0">
                  <c:v>0.59450502741016098</c:v>
                </c:pt>
                <c:pt idx="1">
                  <c:v>0.51179907798913504</c:v>
                </c:pt>
                <c:pt idx="2">
                  <c:v>0.43217210036953402</c:v>
                </c:pt>
                <c:pt idx="3">
                  <c:v>0.279045409290199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0-E1F7-134D-A75D-3693CE6CF6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70736431"/>
        <c:axId val="670738143"/>
      </c:scatterChart>
      <c:catAx>
        <c:axId val="6707364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670738143"/>
        <c:crosses val="autoZero"/>
        <c:auto val="1"/>
        <c:lblAlgn val="ctr"/>
        <c:lblOffset val="100"/>
        <c:noMultiLvlLbl val="0"/>
      </c:catAx>
      <c:valAx>
        <c:axId val="670738143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6707364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delete val="1"/>
      </c:legendEntry>
      <c:legendEntry>
        <c:idx val="3"/>
        <c:delete val="1"/>
      </c:legendEntry>
      <c:legendEntry>
        <c:idx val="5"/>
        <c:delete val="1"/>
      </c:legendEntry>
      <c:legendEntry>
        <c:idx val="6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900" b="0" i="0" u="none" strike="noStrike" kern="1200" baseline="0">
              <a:solidFill>
                <a:schemeClr val="tx1"/>
              </a:solidFill>
              <a:latin typeface="Aptos" panose="020B0004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900" b="0" i="0">
          <a:solidFill>
            <a:schemeClr val="tx1"/>
          </a:solidFill>
          <a:latin typeface="Aptos" panose="020B0004020202020204" pitchFamily="34" charset="0"/>
        </a:defRPr>
      </a:pPr>
      <a:endParaRPr lang="en-US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4513120701737911E-2"/>
          <c:y val="7.3327735456643561E-2"/>
          <c:w val="0.93479739698421693"/>
          <c:h val="0.7097686992945219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'Buyout Fund'!$B$2</c:f>
              <c:strCache>
                <c:ptCount val="1"/>
                <c:pt idx="0">
                  <c:v>Fund Net Asset Value</c:v>
                </c:pt>
              </c:strCache>
            </c:strRef>
          </c:tx>
          <c:spPr>
            <a:solidFill>
              <a:schemeClr val="tx2">
                <a:lumMod val="75000"/>
              </a:schemeClr>
            </a:solidFill>
            <a:ln w="3175">
              <a:solidFill>
                <a:schemeClr val="tx1">
                  <a:lumMod val="95000"/>
                  <a:lumOff val="5000"/>
                </a:schemeClr>
              </a:solidFill>
            </a:ln>
            <a:effectLst/>
          </c:spPr>
          <c:invertIfNegative val="0"/>
          <c:cat>
            <c:numRef>
              <c:f>'Buyout Fund'!$A$3:$A$18</c:f>
              <c:numCache>
                <c:formatCode>General</c:formatCode>
                <c:ptCount val="1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</c:numCache>
            </c:numRef>
          </c:cat>
          <c:val>
            <c:numRef>
              <c:f>'Buyout Fund'!$B$3:$B$18</c:f>
              <c:numCache>
                <c:formatCode>0</c:formatCode>
                <c:ptCount val="16"/>
                <c:pt idx="0">
                  <c:v>0</c:v>
                </c:pt>
                <c:pt idx="1">
                  <c:v>18</c:v>
                </c:pt>
                <c:pt idx="2">
                  <c:v>37.912744561611397</c:v>
                </c:pt>
                <c:pt idx="3">
                  <c:v>59.6301842695011</c:v>
                </c:pt>
                <c:pt idx="4">
                  <c:v>75.071284908746193</c:v>
                </c:pt>
                <c:pt idx="5">
                  <c:v>87.906527692018201</c:v>
                </c:pt>
                <c:pt idx="6">
                  <c:v>95.631540738282297</c:v>
                </c:pt>
                <c:pt idx="7">
                  <c:v>94.305174013066207</c:v>
                </c:pt>
                <c:pt idx="8">
                  <c:v>81.939031365025599</c:v>
                </c:pt>
                <c:pt idx="9">
                  <c:v>59.943968796591498</c:v>
                </c:pt>
                <c:pt idx="10">
                  <c:v>34.929633716896802</c:v>
                </c:pt>
                <c:pt idx="11">
                  <c:v>15.6403662459812</c:v>
                </c:pt>
                <c:pt idx="12">
                  <c:v>5.6137614567280201</c:v>
                </c:pt>
                <c:pt idx="13">
                  <c:v>2.1656727440643602</c:v>
                </c:pt>
                <c:pt idx="14">
                  <c:v>1.2324299095422899</c:v>
                </c:pt>
                <c:pt idx="15">
                  <c:v>0.87363044101286902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34-604A-93A7-21249D3FB9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6"/>
        <c:overlap val="100"/>
        <c:axId val="992583327"/>
        <c:axId val="992271455"/>
      </c:barChart>
      <c:catAx>
        <c:axId val="99258332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r>
                  <a:rPr lang="en-US"/>
                  <a:t>Beginning of Year</a:t>
                </a:r>
              </a:p>
            </c:rich>
          </c:tx>
          <c:layout>
            <c:manualLayout>
              <c:xMode val="edge"/>
              <c:yMode val="edge"/>
              <c:x val="0.4284638521243837"/>
              <c:y val="0.8875533500359188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/>
                  </a:solidFill>
                  <a:latin typeface="Aptos" panose="020B0004020202020204" pitchFamily="34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low"/>
        <c:spPr>
          <a:noFill/>
          <a:ln w="12700" cap="flat" cmpd="sng" algn="ctr">
            <a:solidFill>
              <a:schemeClr val="dk1"/>
            </a:solidFill>
            <a:prstDash val="solid"/>
            <a:miter lim="800000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992271455"/>
        <c:crosses val="autoZero"/>
        <c:auto val="1"/>
        <c:lblAlgn val="ctr"/>
        <c:lblOffset val="100"/>
        <c:noMultiLvlLbl val="0"/>
      </c:catAx>
      <c:valAx>
        <c:axId val="992271455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dk1"/>
            </a:solidFill>
            <a:prstDash val="solid"/>
            <a:miter lim="800000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9925833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900" b="0" i="0">
          <a:solidFill>
            <a:schemeClr val="tx1"/>
          </a:solidFill>
          <a:latin typeface="Aptos" panose="020B0004020202020204" pitchFamily="34" charset="0"/>
        </a:defRPr>
      </a:pPr>
      <a:endParaRPr lang="en-US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0855142738721135E-2"/>
          <c:y val="7.2115151586739437E-2"/>
          <c:w val="0.91602901356273059"/>
          <c:h val="0.8054729507084962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'Buyout Fund'!$G$2</c:f>
              <c:strCache>
                <c:ptCount val="1"/>
                <c:pt idx="0">
                  <c:v>Capital Calls (LHS)</c:v>
                </c:pt>
              </c:strCache>
            </c:strRef>
          </c:tx>
          <c:spPr>
            <a:solidFill>
              <a:schemeClr val="tx2">
                <a:lumMod val="75000"/>
              </a:schemeClr>
            </a:solidFill>
            <a:ln w="3175">
              <a:solidFill>
                <a:schemeClr val="tx1">
                  <a:lumMod val="95000"/>
                  <a:lumOff val="5000"/>
                </a:schemeClr>
              </a:solidFill>
            </a:ln>
            <a:effectLst/>
          </c:spPr>
          <c:invertIfNegative val="0"/>
          <c:val>
            <c:numRef>
              <c:f>'Buyout Fund'!$G$3:$G$18</c:f>
              <c:numCache>
                <c:formatCode>0</c:formatCode>
                <c:ptCount val="16"/>
                <c:pt idx="0">
                  <c:v>-18</c:v>
                </c:pt>
                <c:pt idx="1">
                  <c:v>-18</c:v>
                </c:pt>
                <c:pt idx="2">
                  <c:v>-18</c:v>
                </c:pt>
                <c:pt idx="3">
                  <c:v>-10.27</c:v>
                </c:pt>
                <c:pt idx="4">
                  <c:v>-7.9799999999999898</c:v>
                </c:pt>
                <c:pt idx="5">
                  <c:v>-6.2</c:v>
                </c:pt>
                <c:pt idx="6">
                  <c:v>-4.8099999999999996</c:v>
                </c:pt>
                <c:pt idx="7">
                  <c:v>-3.74</c:v>
                </c:pt>
                <c:pt idx="8">
                  <c:v>-2.9</c:v>
                </c:pt>
                <c:pt idx="9">
                  <c:v>-2.2599999999999998</c:v>
                </c:pt>
                <c:pt idx="10">
                  <c:v>-1.75</c:v>
                </c:pt>
                <c:pt idx="11">
                  <c:v>-1.3599999999999901</c:v>
                </c:pt>
                <c:pt idx="12">
                  <c:v>-1.06</c:v>
                </c:pt>
                <c:pt idx="13">
                  <c:v>-0.82</c:v>
                </c:pt>
                <c:pt idx="14">
                  <c:v>-0.64</c:v>
                </c:pt>
                <c:pt idx="15">
                  <c:v>-0.5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F4-9147-8C8E-4D2B1A4992C4}"/>
            </c:ext>
          </c:extLst>
        </c:ser>
        <c:ser>
          <c:idx val="1"/>
          <c:order val="1"/>
          <c:tx>
            <c:strRef>
              <c:f>'Buyout Fund'!$H$2</c:f>
              <c:strCache>
                <c:ptCount val="1"/>
                <c:pt idx="0">
                  <c:v>Distributions (LHS)</c:v>
                </c:pt>
              </c:strCache>
            </c:strRef>
          </c:tx>
          <c:spPr>
            <a:solidFill>
              <a:schemeClr val="tx2">
                <a:lumMod val="25000"/>
                <a:lumOff val="75000"/>
              </a:schemeClr>
            </a:solidFill>
            <a:ln w="3175">
              <a:solidFill>
                <a:schemeClr val="tx1">
                  <a:lumMod val="95000"/>
                  <a:lumOff val="5000"/>
                </a:schemeClr>
              </a:solidFill>
            </a:ln>
            <a:effectLst/>
          </c:spPr>
          <c:invertIfNegative val="0"/>
          <c:val>
            <c:numRef>
              <c:f>'Buyout Fund'!$H$3:$H$18</c:f>
              <c:numCache>
                <c:formatCode>0</c:formatCode>
                <c:ptCount val="16"/>
                <c:pt idx="0">
                  <c:v>0</c:v>
                </c:pt>
                <c:pt idx="1">
                  <c:v>1.9914736035214898E-3</c:v>
                </c:pt>
                <c:pt idx="2">
                  <c:v>0.100152808988374</c:v>
                </c:pt>
                <c:pt idx="3">
                  <c:v>0.77378583477353302</c:v>
                </c:pt>
                <c:pt idx="4">
                  <c:v>3.0020131795507901</c:v>
                </c:pt>
                <c:pt idx="5">
                  <c:v>7.8612581501884398</c:v>
                </c:pt>
                <c:pt idx="6">
                  <c:v>15.8924543584201</c:v>
                </c:pt>
                <c:pt idx="7">
                  <c:v>25.761393209589599</c:v>
                </c:pt>
                <c:pt idx="8">
                  <c:v>33.244047658918902</c:v>
                </c:pt>
                <c:pt idx="9">
                  <c:v>33.064035733599802</c:v>
                </c:pt>
                <c:pt idx="10">
                  <c:v>24.4067560203029</c:v>
                </c:pt>
                <c:pt idx="11">
                  <c:v>12.8708820888759</c:v>
                </c:pt>
                <c:pt idx="12">
                  <c:v>5.0437863441690398</c:v>
                </c:pt>
                <c:pt idx="13">
                  <c:v>1.9592199440649001</c:v>
                </c:pt>
                <c:pt idx="14">
                  <c:v>1.1183975741079</c:v>
                </c:pt>
                <c:pt idx="15">
                  <c:v>0.81383436186790503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5F4-9147-8C8E-4D2B1A4992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9"/>
        <c:overlap val="100"/>
        <c:axId val="992583327"/>
        <c:axId val="992271455"/>
      </c:barChart>
      <c:lineChart>
        <c:grouping val="standard"/>
        <c:varyColors val="0"/>
        <c:ser>
          <c:idx val="2"/>
          <c:order val="2"/>
          <c:tx>
            <c:strRef>
              <c:f>'Buyout Fund'!$I$2</c:f>
              <c:strCache>
                <c:ptCount val="1"/>
                <c:pt idx="0">
                  <c:v>Cumulative Net Cash-Flow (RHS)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Pt>
            <c:idx val="4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45F4-9147-8C8E-4D2B1A4992C4}"/>
              </c:ext>
            </c:extLst>
          </c:dPt>
          <c:val>
            <c:numRef>
              <c:f>'Buyout Fund'!$I$3:$I$18</c:f>
              <c:numCache>
                <c:formatCode>0</c:formatCode>
                <c:ptCount val="16"/>
                <c:pt idx="0">
                  <c:v>-18</c:v>
                </c:pt>
                <c:pt idx="1">
                  <c:v>-35.998008526396475</c:v>
                </c:pt>
                <c:pt idx="2">
                  <c:v>-53.897855717408106</c:v>
                </c:pt>
                <c:pt idx="3">
                  <c:v>-63.394069882634575</c:v>
                </c:pt>
                <c:pt idx="4">
                  <c:v>-68.372056703083771</c:v>
                </c:pt>
                <c:pt idx="5">
                  <c:v>-66.710798552895326</c:v>
                </c:pt>
                <c:pt idx="6">
                  <c:v>-55.628344194475225</c:v>
                </c:pt>
                <c:pt idx="7">
                  <c:v>-33.606950984885628</c:v>
                </c:pt>
                <c:pt idx="8">
                  <c:v>-3.2629033259667253</c:v>
                </c:pt>
                <c:pt idx="9">
                  <c:v>27.541132407633079</c:v>
                </c:pt>
                <c:pt idx="10">
                  <c:v>50.197888427935979</c:v>
                </c:pt>
                <c:pt idx="11">
                  <c:v>61.708770516811889</c:v>
                </c:pt>
                <c:pt idx="12">
                  <c:v>65.692556860980929</c:v>
                </c:pt>
                <c:pt idx="13">
                  <c:v>66.831776805045834</c:v>
                </c:pt>
                <c:pt idx="14">
                  <c:v>67.310174379153736</c:v>
                </c:pt>
                <c:pt idx="15">
                  <c:v>67.62400874102164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5F4-9147-8C8E-4D2B1A4992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75499583"/>
        <c:axId val="675300639"/>
      </c:lineChart>
      <c:catAx>
        <c:axId val="992583327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noFill/>
          <a:ln w="12700" cap="flat" cmpd="sng" algn="ctr">
            <a:solidFill>
              <a:schemeClr val="dk1"/>
            </a:solidFill>
            <a:prstDash val="solid"/>
            <a:miter lim="800000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992271455"/>
        <c:crosses val="autoZero"/>
        <c:auto val="1"/>
        <c:lblAlgn val="ctr"/>
        <c:lblOffset val="100"/>
        <c:noMultiLvlLbl val="0"/>
      </c:catAx>
      <c:valAx>
        <c:axId val="992271455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dk1"/>
            </a:solidFill>
            <a:prstDash val="solid"/>
            <a:miter lim="800000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992583327"/>
        <c:crosses val="autoZero"/>
        <c:crossBetween val="between"/>
      </c:valAx>
      <c:valAx>
        <c:axId val="675300639"/>
        <c:scaling>
          <c:orientation val="minMax"/>
        </c:scaling>
        <c:delete val="0"/>
        <c:axPos val="r"/>
        <c:numFmt formatCode="0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dk1"/>
            </a:solidFill>
            <a:prstDash val="solid"/>
            <a:miter lim="800000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675499583"/>
        <c:crosses val="max"/>
        <c:crossBetween val="between"/>
      </c:valAx>
      <c:catAx>
        <c:axId val="675499583"/>
        <c:scaling>
          <c:orientation val="minMax"/>
        </c:scaling>
        <c:delete val="1"/>
        <c:axPos val="b"/>
        <c:majorTickMark val="out"/>
        <c:minorTickMark val="none"/>
        <c:tickLblPos val="nextTo"/>
        <c:crossAx val="67530063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5.0463510502248766E-2"/>
          <c:y val="8.310235429584352E-2"/>
          <c:w val="0.25657138539002755"/>
          <c:h val="0.25991302290022239"/>
        </c:manualLayout>
      </c:layout>
      <c:overlay val="0"/>
      <c:spPr>
        <a:noFill/>
        <a:ln w="3175">
          <a:solidFill>
            <a:schemeClr val="bg1">
              <a:lumMod val="75000"/>
            </a:schemeClr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Aptos" panose="020B0004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900" b="0" i="0">
          <a:solidFill>
            <a:schemeClr val="tx1"/>
          </a:solidFill>
          <a:latin typeface="Aptos" panose="020B0004020202020204" pitchFamily="34" charset="0"/>
        </a:defRPr>
      </a:pPr>
      <a:endParaRPr lang="en-US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9394215170339894E-2"/>
          <c:y val="0.12751336636216734"/>
          <c:w val="0.87375486355662824"/>
          <c:h val="0.7654576813577151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Flows!$B$1</c:f>
              <c:strCache>
                <c:ptCount val="1"/>
                <c:pt idx="0">
                  <c:v>Buyout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val>
            <c:numRef>
              <c:f>Flows!$B$3:$B$22</c:f>
              <c:numCache>
                <c:formatCode>0</c:formatCode>
                <c:ptCount val="20"/>
                <c:pt idx="0">
                  <c:v>-9</c:v>
                </c:pt>
                <c:pt idx="1">
                  <c:v>-9</c:v>
                </c:pt>
                <c:pt idx="2">
                  <c:v>-9</c:v>
                </c:pt>
                <c:pt idx="3">
                  <c:v>-5.1349999999999998</c:v>
                </c:pt>
                <c:pt idx="4">
                  <c:v>-3.98999999999999</c:v>
                </c:pt>
                <c:pt idx="5">
                  <c:v>-3.1</c:v>
                </c:pt>
                <c:pt idx="6">
                  <c:v>-2.4049999999999998</c:v>
                </c:pt>
                <c:pt idx="7">
                  <c:v>-1.87</c:v>
                </c:pt>
                <c:pt idx="8">
                  <c:v>-1.45</c:v>
                </c:pt>
                <c:pt idx="9">
                  <c:v>-1.1299999999999999</c:v>
                </c:pt>
                <c:pt idx="10">
                  <c:v>-0.875</c:v>
                </c:pt>
                <c:pt idx="11">
                  <c:v>-0.67999999999999905</c:v>
                </c:pt>
                <c:pt idx="12">
                  <c:v>-0.53</c:v>
                </c:pt>
                <c:pt idx="13">
                  <c:v>-0.41</c:v>
                </c:pt>
                <c:pt idx="14">
                  <c:v>-0.32</c:v>
                </c:pt>
                <c:pt idx="15">
                  <c:v>-0.25</c:v>
                </c:pt>
                <c:pt idx="16">
                  <c:v>-0.19</c:v>
                </c:pt>
                <c:pt idx="17">
                  <c:v>-0.15</c:v>
                </c:pt>
                <c:pt idx="18">
                  <c:v>-0.11499999999999901</c:v>
                </c:pt>
                <c:pt idx="19">
                  <c:v>-0.09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A10-6C42-8D06-0AB0BCC6CE7A}"/>
            </c:ext>
          </c:extLst>
        </c:ser>
        <c:ser>
          <c:idx val="1"/>
          <c:order val="1"/>
          <c:tx>
            <c:strRef>
              <c:f>Flows!$C$1</c:f>
              <c:strCache>
                <c:ptCount val="1"/>
                <c:pt idx="0">
                  <c:v>Private Credit</c:v>
                </c:pt>
              </c:strCache>
            </c:strRef>
          </c:tx>
          <c:spPr>
            <a:solidFill>
              <a:schemeClr val="tx2">
                <a:lumMod val="75000"/>
              </a:schemeClr>
            </a:solidFill>
            <a:ln>
              <a:noFill/>
            </a:ln>
            <a:effectLst/>
          </c:spPr>
          <c:invertIfNegative val="0"/>
          <c:val>
            <c:numRef>
              <c:f>Flows!$C$3:$C$22</c:f>
              <c:numCache>
                <c:formatCode>0</c:formatCode>
                <c:ptCount val="20"/>
                <c:pt idx="0">
                  <c:v>-17.5</c:v>
                </c:pt>
                <c:pt idx="1">
                  <c:v>-17.5</c:v>
                </c:pt>
                <c:pt idx="2">
                  <c:v>-5.0149999999999997</c:v>
                </c:pt>
                <c:pt idx="3">
                  <c:v>-3.34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A10-6C42-8D06-0AB0BCC6CE7A}"/>
            </c:ext>
          </c:extLst>
        </c:ser>
        <c:ser>
          <c:idx val="2"/>
          <c:order val="2"/>
          <c:tx>
            <c:strRef>
              <c:f>Flows!$D$1</c:f>
              <c:strCache>
                <c:ptCount val="1"/>
                <c:pt idx="0">
                  <c:v>Buyout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val>
            <c:numRef>
              <c:f>Flows!$D$3:$D$22</c:f>
              <c:numCache>
                <c:formatCode>0</c:formatCode>
                <c:ptCount val="20"/>
                <c:pt idx="0">
                  <c:v>0</c:v>
                </c:pt>
                <c:pt idx="1">
                  <c:v>9.9573680176074796E-4</c:v>
                </c:pt>
                <c:pt idx="2">
                  <c:v>5.0076404494187397E-2</c:v>
                </c:pt>
                <c:pt idx="3">
                  <c:v>0.38689291738676601</c:v>
                </c:pt>
                <c:pt idx="4">
                  <c:v>1.5010065897753899</c:v>
                </c:pt>
                <c:pt idx="5">
                  <c:v>3.9306290750942199</c:v>
                </c:pt>
                <c:pt idx="6">
                  <c:v>7.9462271792100596</c:v>
                </c:pt>
                <c:pt idx="7">
                  <c:v>12.880696604794799</c:v>
                </c:pt>
                <c:pt idx="8">
                  <c:v>16.622023829459401</c:v>
                </c:pt>
                <c:pt idx="9">
                  <c:v>16.532017866799901</c:v>
                </c:pt>
                <c:pt idx="10">
                  <c:v>12.2033780101514</c:v>
                </c:pt>
                <c:pt idx="11">
                  <c:v>6.4354410444379697</c:v>
                </c:pt>
                <c:pt idx="12">
                  <c:v>2.5218931720845199</c:v>
                </c:pt>
                <c:pt idx="13">
                  <c:v>0.97960997203245304</c:v>
                </c:pt>
                <c:pt idx="14">
                  <c:v>0.55919878705395099</c:v>
                </c:pt>
                <c:pt idx="15">
                  <c:v>0.40691718093395202</c:v>
                </c:pt>
                <c:pt idx="16">
                  <c:v>0.30777414196385799</c:v>
                </c:pt>
                <c:pt idx="17">
                  <c:v>0.22923661422851899</c:v>
                </c:pt>
                <c:pt idx="18">
                  <c:v>0.176892494795687</c:v>
                </c:pt>
                <c:pt idx="19">
                  <c:v>0.134042989368375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A10-6C42-8D06-0AB0BCC6CE7A}"/>
            </c:ext>
          </c:extLst>
        </c:ser>
        <c:ser>
          <c:idx val="3"/>
          <c:order val="3"/>
          <c:tx>
            <c:strRef>
              <c:f>Flows!$E$1</c:f>
              <c:strCache>
                <c:ptCount val="1"/>
                <c:pt idx="0">
                  <c:v>Private Credit</c:v>
                </c:pt>
              </c:strCache>
            </c:strRef>
          </c:tx>
          <c:spPr>
            <a:solidFill>
              <a:schemeClr val="tx2">
                <a:lumMod val="75000"/>
              </a:schemeClr>
            </a:solidFill>
            <a:ln>
              <a:noFill/>
            </a:ln>
            <a:effectLst/>
          </c:spPr>
          <c:invertIfNegative val="0"/>
          <c:val>
            <c:numRef>
              <c:f>Flows!$E$3:$E$22</c:f>
              <c:numCache>
                <c:formatCode>0</c:formatCode>
                <c:ptCount val="20"/>
                <c:pt idx="0">
                  <c:v>0</c:v>
                </c:pt>
                <c:pt idx="1">
                  <c:v>1.0075101090255201</c:v>
                </c:pt>
                <c:pt idx="2">
                  <c:v>3.3208997083278802</c:v>
                </c:pt>
                <c:pt idx="3">
                  <c:v>7.4010020834184997</c:v>
                </c:pt>
                <c:pt idx="4">
                  <c:v>14.5207470627745</c:v>
                </c:pt>
                <c:pt idx="5">
                  <c:v>20.101500493118198</c:v>
                </c:pt>
                <c:pt idx="6">
                  <c:v>14.335159383097199</c:v>
                </c:pt>
                <c:pt idx="7">
                  <c:v>3.74824045649589</c:v>
                </c:pt>
                <c:pt idx="8">
                  <c:v>0.209438286609408</c:v>
                </c:pt>
                <c:pt idx="9">
                  <c:v>9.1636005485734801E-4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A10-6C42-8D06-0AB0BCC6CE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82515376"/>
        <c:axId val="1806156704"/>
      </c:barChart>
      <c:catAx>
        <c:axId val="158251537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noFill/>
          <a:ln w="12700" cap="flat" cmpd="sng" algn="ctr">
            <a:solidFill>
              <a:schemeClr val="dk1"/>
            </a:solidFill>
            <a:prstDash val="solid"/>
            <a:miter lim="800000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1806156704"/>
        <c:crosses val="autoZero"/>
        <c:auto val="1"/>
        <c:lblAlgn val="ctr"/>
        <c:lblOffset val="100"/>
        <c:tickLblSkip val="2"/>
        <c:tickMarkSkip val="2"/>
        <c:noMultiLvlLbl val="0"/>
      </c:catAx>
      <c:valAx>
        <c:axId val="18061567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dk1"/>
            </a:solidFill>
            <a:prstDash val="solid"/>
            <a:miter lim="800000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Aptos Light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15825153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2"/>
        <c:delete val="1"/>
      </c:legendEntry>
      <c:legendEntry>
        <c:idx val="3"/>
        <c:delete val="1"/>
      </c:legendEntry>
      <c:layout>
        <c:manualLayout>
          <c:xMode val="edge"/>
          <c:yMode val="edge"/>
          <c:x val="8.6975286190006759E-2"/>
          <c:y val="3.599126460834419E-2"/>
          <c:w val="0.84563617272034397"/>
          <c:h val="6.073568412025730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Aptos Light" panose="020B0004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b="0" i="0">
          <a:solidFill>
            <a:schemeClr val="tx1"/>
          </a:solidFill>
          <a:latin typeface="Aptos Light" panose="020B0004020202020204" pitchFamily="34" charset="0"/>
        </a:defRPr>
      </a:pPr>
      <a:endParaRPr lang="en-US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337520336874345E-2"/>
          <c:y val="0.17715795073867388"/>
          <c:w val="0.93995035410087091"/>
          <c:h val="0.6648672211675270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Portfolio!$C$1</c:f>
              <c:strCache>
                <c:ptCount val="1"/>
                <c:pt idx="0">
                  <c:v>Buyout</c:v>
                </c:pt>
              </c:strCache>
            </c:strRef>
          </c:tx>
          <c:spPr>
            <a:solidFill>
              <a:schemeClr val="tx2">
                <a:lumMod val="75000"/>
              </a:schemeClr>
            </a:solidFill>
            <a:ln w="3175">
              <a:solidFill>
                <a:schemeClr val="tx1">
                  <a:lumMod val="95000"/>
                  <a:lumOff val="5000"/>
                </a:schemeClr>
              </a:solidFill>
            </a:ln>
            <a:effectLst/>
          </c:spPr>
          <c:invertIfNegative val="0"/>
          <c:val>
            <c:numRef>
              <c:f>Portfolio!$C$2:$C$21</c:f>
              <c:numCache>
                <c:formatCode>0</c:formatCode>
                <c:ptCount val="20"/>
                <c:pt idx="0">
                  <c:v>0</c:v>
                </c:pt>
                <c:pt idx="1">
                  <c:v>9</c:v>
                </c:pt>
                <c:pt idx="2">
                  <c:v>18.956372280805699</c:v>
                </c:pt>
                <c:pt idx="3">
                  <c:v>29.8150921347505</c:v>
                </c:pt>
                <c:pt idx="4">
                  <c:v>37.535642454373097</c:v>
                </c:pt>
                <c:pt idx="5">
                  <c:v>43.953263846009101</c:v>
                </c:pt>
                <c:pt idx="6">
                  <c:v>47.815770369141099</c:v>
                </c:pt>
                <c:pt idx="7">
                  <c:v>47.152587006533103</c:v>
                </c:pt>
                <c:pt idx="8">
                  <c:v>40.9695156825128</c:v>
                </c:pt>
                <c:pt idx="9">
                  <c:v>29.971984398295699</c:v>
                </c:pt>
                <c:pt idx="10">
                  <c:v>17.464816858448401</c:v>
                </c:pt>
                <c:pt idx="11">
                  <c:v>7.8201831229906302</c:v>
                </c:pt>
                <c:pt idx="12">
                  <c:v>2.80688072836401</c:v>
                </c:pt>
                <c:pt idx="13">
                  <c:v>1.0828363720321801</c:v>
                </c:pt>
                <c:pt idx="14">
                  <c:v>0.61621495477114596</c:v>
                </c:pt>
                <c:pt idx="15">
                  <c:v>0.43681522050643401</c:v>
                </c:pt>
                <c:pt idx="16">
                  <c:v>0.32135877220891501</c:v>
                </c:pt>
                <c:pt idx="17">
                  <c:v>0.234168844844441</c:v>
                </c:pt>
                <c:pt idx="18">
                  <c:v>0.17715150145039699</c:v>
                </c:pt>
                <c:pt idx="19">
                  <c:v>0.132430799498157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F2-F74C-81B3-2E15642549CD}"/>
            </c:ext>
          </c:extLst>
        </c:ser>
        <c:ser>
          <c:idx val="1"/>
          <c:order val="1"/>
          <c:tx>
            <c:strRef>
              <c:f>Portfolio!$D$1</c:f>
              <c:strCache>
                <c:ptCount val="1"/>
                <c:pt idx="0">
                  <c:v>Private Credit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 w="3175">
              <a:solidFill>
                <a:schemeClr val="tx1"/>
              </a:solidFill>
            </a:ln>
            <a:effectLst/>
          </c:spPr>
          <c:invertIfNegative val="0"/>
          <c:val>
            <c:numRef>
              <c:f>Portfolio!$D$2:$D$21</c:f>
              <c:numCache>
                <c:formatCode>0</c:formatCode>
                <c:ptCount val="20"/>
                <c:pt idx="0">
                  <c:v>0</c:v>
                </c:pt>
                <c:pt idx="1">
                  <c:v>17.5</c:v>
                </c:pt>
                <c:pt idx="2">
                  <c:v>36.093853879797898</c:v>
                </c:pt>
                <c:pt idx="3">
                  <c:v>41.898697244794199</c:v>
                </c:pt>
                <c:pt idx="4">
                  <c:v>42.574171725141603</c:v>
                </c:pt>
                <c:pt idx="5">
                  <c:v>32.685842868221897</c:v>
                </c:pt>
                <c:pt idx="6">
                  <c:v>16.2090134034103</c:v>
                </c:pt>
                <c:pt idx="7">
                  <c:v>3.6017267318893</c:v>
                </c:pt>
                <c:pt idx="8">
                  <c:v>0.19229829087153</c:v>
                </c:pt>
                <c:pt idx="9">
                  <c:v>8.4111761690525101E-4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1F2-F74C-81B3-2E15642549CD}"/>
            </c:ext>
          </c:extLst>
        </c:ser>
        <c:ser>
          <c:idx val="2"/>
          <c:order val="2"/>
          <c:tx>
            <c:strRef>
              <c:f>Portfolio!$E$1</c:f>
              <c:strCache>
                <c:ptCount val="1"/>
                <c:pt idx="0">
                  <c:v>Bonds</c:v>
                </c:pt>
              </c:strCache>
            </c:strRef>
          </c:tx>
          <c:spPr>
            <a:solidFill>
              <a:srgbClr val="7F94BA"/>
            </a:solidFill>
            <a:ln w="3175">
              <a:solidFill>
                <a:schemeClr val="tx1"/>
              </a:solidFill>
            </a:ln>
            <a:effectLst/>
          </c:spPr>
          <c:invertIfNegative val="0"/>
          <c:val>
            <c:numRef>
              <c:f>Portfolio!$E$2:$E$21</c:f>
              <c:numCache>
                <c:formatCode>0</c:formatCode>
                <c:ptCount val="20"/>
                <c:pt idx="0">
                  <c:v>40</c:v>
                </c:pt>
                <c:pt idx="1">
                  <c:v>29.400000000000002</c:v>
                </c:pt>
                <c:pt idx="2">
                  <c:v>21.101731495978484</c:v>
                </c:pt>
                <c:pt idx="3">
                  <c:v>18.191985991830482</c:v>
                </c:pt>
                <c:pt idx="4">
                  <c:v>19.094987173295518</c:v>
                </c:pt>
                <c:pt idx="5">
                  <c:v>25.18993742006224</c:v>
                </c:pt>
                <c:pt idx="6">
                  <c:v>35.167182662085445</c:v>
                </c:pt>
                <c:pt idx="7">
                  <c:v>45.156469968036802</c:v>
                </c:pt>
                <c:pt idx="8">
                  <c:v>53.579057596901606</c:v>
                </c:pt>
                <c:pt idx="9">
                  <c:v>62.584864865614804</c:v>
                </c:pt>
                <c:pt idx="10">
                  <c:v>72.04684952169201</c:v>
                </c:pt>
                <c:pt idx="11">
                  <c:v>80.309920108377611</c:v>
                </c:pt>
                <c:pt idx="12">
                  <c:v>86.770245810288813</c:v>
                </c:pt>
                <c:pt idx="13">
                  <c:v>92.060242153123212</c:v>
                </c:pt>
                <c:pt idx="14">
                  <c:v>97.122472019898396</c:v>
                </c:pt>
                <c:pt idx="15">
                  <c:v>102.19884996177801</c:v>
                </c:pt>
                <c:pt idx="16">
                  <c:v>107.51428390724521</c:v>
                </c:pt>
                <c:pt idx="17">
                  <c:v>113.07385407463681</c:v>
                </c:pt>
                <c:pt idx="18">
                  <c:v>118.9635409313848</c:v>
                </c:pt>
                <c:pt idx="19">
                  <c:v>125.09121280108721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1F2-F74C-81B3-2E15642549CD}"/>
            </c:ext>
          </c:extLst>
        </c:ser>
        <c:ser>
          <c:idx val="3"/>
          <c:order val="3"/>
          <c:tx>
            <c:strRef>
              <c:f>Portfolio!$F$1</c:f>
              <c:strCache>
                <c:ptCount val="1"/>
                <c:pt idx="0">
                  <c:v>Equity</c:v>
                </c:pt>
              </c:strCache>
            </c:strRef>
          </c:tx>
          <c:spPr>
            <a:solidFill>
              <a:schemeClr val="tx2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  <a:effectLst/>
          </c:spPr>
          <c:invertIfNegative val="0"/>
          <c:val>
            <c:numRef>
              <c:f>Portfolio!$F$2:$F$21</c:f>
              <c:numCache>
                <c:formatCode>0</c:formatCode>
                <c:ptCount val="20"/>
                <c:pt idx="0">
                  <c:v>60</c:v>
                </c:pt>
                <c:pt idx="1">
                  <c:v>44.1</c:v>
                </c:pt>
                <c:pt idx="2">
                  <c:v>31.652597243967719</c:v>
                </c:pt>
                <c:pt idx="3">
                  <c:v>27.287978987745721</c:v>
                </c:pt>
                <c:pt idx="4">
                  <c:v>28.642480759943279</c:v>
                </c:pt>
                <c:pt idx="5">
                  <c:v>37.784906130093354</c:v>
                </c:pt>
                <c:pt idx="6">
                  <c:v>52.750773993128156</c:v>
                </c:pt>
                <c:pt idx="7">
                  <c:v>67.734704952055196</c:v>
                </c:pt>
                <c:pt idx="8">
                  <c:v>80.368586395352395</c:v>
                </c:pt>
                <c:pt idx="9">
                  <c:v>93.877297298422206</c:v>
                </c:pt>
                <c:pt idx="10">
                  <c:v>108.07027428253799</c:v>
                </c:pt>
                <c:pt idx="11">
                  <c:v>120.4648801625664</c:v>
                </c:pt>
                <c:pt idx="12">
                  <c:v>130.15536871543321</c:v>
                </c:pt>
                <c:pt idx="13">
                  <c:v>138.09036322968481</c:v>
                </c:pt>
                <c:pt idx="14">
                  <c:v>145.68370802984759</c:v>
                </c:pt>
                <c:pt idx="15">
                  <c:v>153.29827494266701</c:v>
                </c:pt>
                <c:pt idx="16">
                  <c:v>161.27142586086779</c:v>
                </c:pt>
                <c:pt idx="17">
                  <c:v>169.61078111195519</c:v>
                </c:pt>
                <c:pt idx="18">
                  <c:v>178.44531139707718</c:v>
                </c:pt>
                <c:pt idx="19">
                  <c:v>187.6368192016308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1F2-F74C-81B3-2E15642549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5"/>
        <c:overlap val="100"/>
        <c:axId val="691674991"/>
        <c:axId val="691314079"/>
      </c:barChart>
      <c:catAx>
        <c:axId val="69167499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tx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r>
                  <a:rPr lang="en-US"/>
                  <a:t>Beginning of 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chemeClr val="tx1"/>
                  </a:solidFill>
                  <a:latin typeface="Aptos" panose="020B0004020202020204" pitchFamily="34" charset="0"/>
                  <a:ea typeface="+mn-ea"/>
                  <a:cs typeface="+mn-cs"/>
                </a:defRPr>
              </a:pPr>
              <a:endParaRPr lang="en-US"/>
            </a:p>
          </c:txPr>
        </c:title>
        <c:majorTickMark val="none"/>
        <c:minorTickMark val="none"/>
        <c:tickLblPos val="nextTo"/>
        <c:spPr>
          <a:noFill/>
          <a:ln w="12700" cap="flat" cmpd="sng" algn="ctr">
            <a:solidFill>
              <a:schemeClr val="dk1"/>
            </a:solidFill>
            <a:prstDash val="solid"/>
            <a:miter lim="800000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691314079"/>
        <c:crosses val="autoZero"/>
        <c:auto val="1"/>
        <c:lblAlgn val="ctr"/>
        <c:lblOffset val="100"/>
        <c:noMultiLvlLbl val="0"/>
      </c:catAx>
      <c:valAx>
        <c:axId val="691314079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dk1"/>
            </a:solidFill>
            <a:prstDash val="solid"/>
            <a:miter lim="800000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6916749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5292832580696154"/>
          <c:y val="6.9908521709180216E-2"/>
          <c:w val="0.35869656457378285"/>
          <c:h val="6.080272097686185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/>
              </a:solidFill>
              <a:latin typeface="Aptos" panose="020B0004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050" b="0" i="0">
          <a:solidFill>
            <a:schemeClr val="tx1"/>
          </a:solidFill>
          <a:latin typeface="Aptos" panose="020B0004020202020204" pitchFamily="34" charset="0"/>
        </a:defRPr>
      </a:pPr>
      <a:endParaRPr lang="en-US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spPr>
            <a:solidFill>
              <a:srgbClr val="0B0D37"/>
            </a:solidFill>
            <a:ln w="6350">
              <a:solidFill>
                <a:schemeClr val="tx1">
                  <a:lumMod val="95000"/>
                  <a:lumOff val="5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bg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'Commitment Pacing'!$B$39</c:f>
              <c:strCache>
                <c:ptCount val="1"/>
                <c:pt idx="0">
                  <c:v>Commitments 
(% of Liquid NAV)</c:v>
                </c:pt>
              </c:strCache>
            </c:strRef>
          </c:cat>
          <c:val>
            <c:numRef>
              <c:f>'Commitment Pacing'!$B$42</c:f>
              <c:numCache>
                <c:formatCode>0.0%</c:formatCode>
                <c:ptCount val="1"/>
                <c:pt idx="0">
                  <c:v>2.3916625976562501E-2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43-344A-AF34-0732B5A0A746}"/>
            </c:ext>
          </c:extLst>
        </c:ser>
        <c:ser>
          <c:idx val="1"/>
          <c:order val="1"/>
          <c:spPr>
            <a:solidFill>
              <a:schemeClr val="tx2">
                <a:lumMod val="60000"/>
                <a:lumOff val="40000"/>
              </a:schemeClr>
            </a:solidFill>
            <a:ln w="6350">
              <a:solidFill>
                <a:schemeClr val="tx1">
                  <a:lumMod val="95000"/>
                  <a:lumOff val="5000"/>
                </a:schemeClr>
              </a:solidFill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1.0%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D9C4-DF4A-8D76-9423E560838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bg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'Commitment Pacing'!$B$39</c:f>
              <c:strCache>
                <c:ptCount val="1"/>
                <c:pt idx="0">
                  <c:v>Commitments 
(% of Liquid NAV)</c:v>
                </c:pt>
              </c:strCache>
            </c:strRef>
          </c:cat>
          <c:val>
            <c:numRef>
              <c:f>'Commitment Pacing'!$C$42</c:f>
              <c:numCache>
                <c:formatCode>0.0%</c:formatCode>
                <c:ptCount val="1"/>
                <c:pt idx="0">
                  <c:v>9.4177246093750007E-3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943-344A-AF34-0732B5A0A746}"/>
            </c:ext>
          </c:extLst>
        </c:ser>
        <c:ser>
          <c:idx val="2"/>
          <c:order val="2"/>
          <c:spPr>
            <a:solidFill>
              <a:srgbClr val="B4C7E7"/>
            </a:solidFill>
            <a:ln w="6350">
              <a:solidFill>
                <a:schemeClr val="tx1">
                  <a:lumMod val="95000"/>
                  <a:lumOff val="5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tx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'Commitment Pacing'!$B$39</c:f>
              <c:strCache>
                <c:ptCount val="1"/>
                <c:pt idx="0">
                  <c:v>Commitments 
(% of Liquid NAV)</c:v>
                </c:pt>
              </c:strCache>
            </c:strRef>
          </c:cat>
          <c:val>
            <c:numRef>
              <c:f>'Commitment Pacing'!$D$42</c:f>
              <c:numCache>
                <c:formatCode>0.0%</c:formatCode>
                <c:ptCount val="1"/>
                <c:pt idx="0">
                  <c:v>4.0344238281249997E-3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943-344A-AF34-0732B5A0A746}"/>
            </c:ext>
          </c:extLst>
        </c:ser>
        <c:ser>
          <c:idx val="3"/>
          <c:order val="3"/>
          <c:spPr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1.5%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D9C4-DF4A-8D76-9423E560838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tx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'Commitment Pacing'!$B$39</c:f>
              <c:strCache>
                <c:ptCount val="1"/>
                <c:pt idx="0">
                  <c:v>Commitments 
(% of Liquid NAV)</c:v>
                </c:pt>
              </c:strCache>
            </c:strRef>
          </c:cat>
          <c:val>
            <c:numRef>
              <c:f>'Commitment Pacing'!$E$42</c:f>
              <c:numCache>
                <c:formatCode>0.0%</c:formatCode>
                <c:ptCount val="1"/>
                <c:pt idx="0">
                  <c:v>1.4416503906249999E-2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943-344A-AF34-0732B5A0A7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19126495"/>
        <c:axId val="218233055"/>
      </c:barChart>
      <c:scatterChart>
        <c:scatterStyle val="lineMarker"/>
        <c:varyColors val="0"/>
        <c:ser>
          <c:idx val="4"/>
          <c:order val="4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5.3%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D9C4-DF4A-8D76-9423E560838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yVal>
            <c:numRef>
              <c:f>'Commitment Pacing'!$F$42</c:f>
              <c:numCache>
                <c:formatCode>0.0%</c:formatCode>
                <c:ptCount val="1"/>
                <c:pt idx="0">
                  <c:v>5.1785278320312503E-2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7943-344A-AF34-0732B5A0A7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9126495"/>
        <c:axId val="218233055"/>
      </c:scatterChart>
      <c:catAx>
        <c:axId val="2191264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dk1"/>
            </a:solidFill>
            <a:prstDash val="solid"/>
            <a:miter lim="800000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218233055"/>
        <c:crosses val="autoZero"/>
        <c:auto val="1"/>
        <c:lblAlgn val="ctr"/>
        <c:lblOffset val="100"/>
        <c:noMultiLvlLbl val="0"/>
      </c:catAx>
      <c:valAx>
        <c:axId val="218233055"/>
        <c:scaling>
          <c:orientation val="minMax"/>
        </c:scaling>
        <c:delete val="1"/>
        <c:axPos val="l"/>
        <c:numFmt formatCode="0.0%" sourceLinked="1"/>
        <c:majorTickMark val="none"/>
        <c:minorTickMark val="none"/>
        <c:tickLblPos val="nextTo"/>
        <c:crossAx val="2191264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050" b="0" i="0">
          <a:solidFill>
            <a:schemeClr val="tx1"/>
          </a:solidFill>
          <a:latin typeface="Aptos" panose="020B0004020202020204" pitchFamily="34" charset="0"/>
        </a:defRPr>
      </a:pPr>
      <a:endParaRPr lang="en-US"/>
    </a:p>
  </c:txPr>
  <c:externalData r:id="rId3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4694129269476059E-2"/>
          <c:y val="0.14179209220531536"/>
          <c:w val="0.93445276467390348"/>
          <c:h val="0.689733909640485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'Commitments Dollars'!$M$3</c:f>
              <c:strCache>
                <c:ptCount val="1"/>
                <c:pt idx="0">
                  <c:v>Buyout</c:v>
                </c:pt>
              </c:strCache>
            </c:strRef>
          </c:tx>
          <c:spPr>
            <a:solidFill>
              <a:schemeClr val="tx2">
                <a:lumMod val="75000"/>
              </a:schemeClr>
            </a:solidFill>
            <a:ln w="3175">
              <a:solidFill>
                <a:schemeClr val="dk1"/>
              </a:solidFill>
            </a:ln>
            <a:effectLst/>
          </c:spPr>
          <c:invertIfNegative val="0"/>
          <c:val>
            <c:numRef>
              <c:f>'Commitments Dollars'!$M$4:$M$23</c:f>
              <c:numCache>
                <c:formatCode>0.0</c:formatCode>
                <c:ptCount val="20"/>
                <c:pt idx="0">
                  <c:v>2.4215507507324201</c:v>
                </c:pt>
                <c:pt idx="1">
                  <c:v>2.3917393330443093</c:v>
                </c:pt>
                <c:pt idx="2">
                  <c:v>2.4844209965808886</c:v>
                </c:pt>
                <c:pt idx="3">
                  <c:v>2.5629877286024172</c:v>
                </c:pt>
                <c:pt idx="4">
                  <c:v>2.6451958123699213</c:v>
                </c:pt>
                <c:pt idx="5">
                  <c:v>2.742030147322605</c:v>
                </c:pt>
                <c:pt idx="6">
                  <c:v>2.8477096408935019</c:v>
                </c:pt>
                <c:pt idx="7">
                  <c:v>2.9677339943221006</c:v>
                </c:pt>
                <c:pt idx="8">
                  <c:v>3.109039819314261</c:v>
                </c:pt>
                <c:pt idx="9">
                  <c:v>3.2743990088040213</c:v>
                </c:pt>
                <c:pt idx="10">
                  <c:v>3.4735163573107051</c:v>
                </c:pt>
                <c:pt idx="11">
                  <c:v>3.699915863528358</c:v>
                </c:pt>
                <c:pt idx="12">
                  <c:v>3.9493431251503268</c:v>
                </c:pt>
                <c:pt idx="13">
                  <c:v>4.2165915874016484</c:v>
                </c:pt>
                <c:pt idx="14">
                  <c:v>4.5030801536418199</c:v>
                </c:pt>
                <c:pt idx="15">
                  <c:v>4.7992091149516467</c:v>
                </c:pt>
                <c:pt idx="16">
                  <c:v>5.1126738701637784</c:v>
                </c:pt>
                <c:pt idx="17">
                  <c:v>5.4439929712345556</c:v>
                </c:pt>
                <c:pt idx="18">
                  <c:v>5.7985588229329785</c:v>
                </c:pt>
                <c:pt idx="19">
                  <c:v>6.1722653384542161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95-1647-B36F-6E238B2BDD21}"/>
            </c:ext>
          </c:extLst>
        </c:ser>
        <c:ser>
          <c:idx val="1"/>
          <c:order val="1"/>
          <c:tx>
            <c:strRef>
              <c:f>'Commitments Dollars'!$N$3</c:f>
              <c:strCache>
                <c:ptCount val="1"/>
                <c:pt idx="0">
                  <c:v>Growth</c:v>
                </c:pt>
              </c:strCache>
            </c:strRef>
          </c:tx>
          <c:spPr>
            <a:solidFill>
              <a:schemeClr val="tx2">
                <a:lumMod val="50000"/>
                <a:lumOff val="50000"/>
              </a:schemeClr>
            </a:solidFill>
            <a:ln w="3175">
              <a:solidFill>
                <a:schemeClr val="dk1"/>
              </a:solidFill>
            </a:ln>
            <a:effectLst/>
          </c:spPr>
          <c:invertIfNegative val="0"/>
          <c:val>
            <c:numRef>
              <c:f>'Commitments Dollars'!$N$4:$N$23</c:f>
              <c:numCache>
                <c:formatCode>0.0</c:formatCode>
                <c:ptCount val="20"/>
                <c:pt idx="0">
                  <c:v>0.95916748046875</c:v>
                </c:pt>
                <c:pt idx="1">
                  <c:v>0.94735928591224183</c:v>
                </c:pt>
                <c:pt idx="2">
                  <c:v>0.98407015710630852</c:v>
                </c:pt>
                <c:pt idx="3">
                  <c:v>1.0151901550576048</c:v>
                </c:pt>
                <c:pt idx="4">
                  <c:v>1.0477524792449429</c:v>
                </c:pt>
                <c:pt idx="5">
                  <c:v>1.0861082085441698</c:v>
                </c:pt>
                <c:pt idx="6">
                  <c:v>1.1279674731311096</c:v>
                </c:pt>
                <c:pt idx="7">
                  <c:v>1.1755086847444445</c:v>
                </c:pt>
                <c:pt idx="8">
                  <c:v>1.2314794101534801</c:v>
                </c:pt>
                <c:pt idx="9">
                  <c:v>1.2969775861084032</c:v>
                </c:pt>
                <c:pt idx="10">
                  <c:v>1.3758472465633855</c:v>
                </c:pt>
                <c:pt idx="11">
                  <c:v>1.4655232708599959</c:v>
                </c:pt>
                <c:pt idx="12">
                  <c:v>1.56432050565584</c:v>
                </c:pt>
                <c:pt idx="13">
                  <c:v>1.6701766534649318</c:v>
                </c:pt>
                <c:pt idx="14">
                  <c:v>1.7836537367680907</c:v>
                </c:pt>
                <c:pt idx="15">
                  <c:v>1.9009493456366904</c:v>
                </c:pt>
                <c:pt idx="16">
                  <c:v>2.0251115996723059</c:v>
                </c:pt>
                <c:pt idx="17">
                  <c:v>2.1563458954264254</c:v>
                </c:pt>
                <c:pt idx="18">
                  <c:v>2.2967881448944452</c:v>
                </c:pt>
                <c:pt idx="19">
                  <c:v>2.4448119419669805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495-1647-B36F-6E238B2BDD21}"/>
            </c:ext>
          </c:extLst>
        </c:ser>
        <c:ser>
          <c:idx val="2"/>
          <c:order val="2"/>
          <c:tx>
            <c:strRef>
              <c:f>'Commitments Dollars'!$O$3</c:f>
              <c:strCache>
                <c:ptCount val="1"/>
                <c:pt idx="0">
                  <c:v>Venture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 w="3175">
              <a:solidFill>
                <a:schemeClr val="dk1"/>
              </a:solidFill>
            </a:ln>
            <a:effectLst/>
          </c:spPr>
          <c:invertIfNegative val="0"/>
          <c:val>
            <c:numRef>
              <c:f>'Commitments Dollars'!$O$4:$O$23</c:f>
              <c:numCache>
                <c:formatCode>0.0</c:formatCode>
                <c:ptCount val="20"/>
                <c:pt idx="0">
                  <c:v>0.408477783203125</c:v>
                </c:pt>
                <c:pt idx="1">
                  <c:v>0.40344906274054587</c:v>
                </c:pt>
                <c:pt idx="2">
                  <c:v>0.41908301154527322</c:v>
                </c:pt>
                <c:pt idx="3">
                  <c:v>0.43233599190092392</c:v>
                </c:pt>
                <c:pt idx="4">
                  <c:v>0.44620321141245811</c:v>
                </c:pt>
                <c:pt idx="5">
                  <c:v>0.46253765101379929</c:v>
                </c:pt>
                <c:pt idx="6">
                  <c:v>0.48036413069869233</c:v>
                </c:pt>
                <c:pt idx="7">
                  <c:v>0.5006103641522236</c:v>
                </c:pt>
                <c:pt idx="8">
                  <c:v>0.52444644940834639</c:v>
                </c:pt>
                <c:pt idx="9">
                  <c:v>0.55233996150368991</c:v>
                </c:pt>
                <c:pt idx="10">
                  <c:v>0.58592794766945322</c:v>
                </c:pt>
                <c:pt idx="11">
                  <c:v>0.62411800765068548</c:v>
                </c:pt>
                <c:pt idx="12">
                  <c:v>0.66619249023873428</c:v>
                </c:pt>
                <c:pt idx="13">
                  <c:v>0.7112731309776682</c:v>
                </c:pt>
                <c:pt idx="14">
                  <c:v>0.75959927669872385</c:v>
                </c:pt>
                <c:pt idx="15">
                  <c:v>0.80955160646984092</c:v>
                </c:pt>
                <c:pt idx="16">
                  <c:v>0.86242821385980939</c:v>
                </c:pt>
                <c:pt idx="17">
                  <c:v>0.91831657048306392</c:v>
                </c:pt>
                <c:pt idx="18">
                  <c:v>0.9781262907862599</c:v>
                </c:pt>
                <c:pt idx="19">
                  <c:v>1.0411647420689796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495-1647-B36F-6E238B2BDD21}"/>
            </c:ext>
          </c:extLst>
        </c:ser>
        <c:ser>
          <c:idx val="3"/>
          <c:order val="3"/>
          <c:tx>
            <c:strRef>
              <c:f>'Commitments Dollars'!$P$3</c:f>
              <c:strCache>
                <c:ptCount val="1"/>
                <c:pt idx="0">
                  <c:v>Private Credit</c:v>
                </c:pt>
              </c:strCache>
            </c:strRef>
          </c:tx>
          <c:spPr>
            <a:solidFill>
              <a:srgbClr val="DCEAF7"/>
            </a:solidFill>
            <a:ln w="3175">
              <a:solidFill>
                <a:schemeClr val="dk1"/>
              </a:solidFill>
            </a:ln>
            <a:effectLst/>
          </c:spPr>
          <c:invertIfNegative val="0"/>
          <c:val>
            <c:numRef>
              <c:f>'Commitments Dollars'!$P$4:$P$23</c:f>
              <c:numCache>
                <c:formatCode>0.0</c:formatCode>
                <c:ptCount val="20"/>
                <c:pt idx="0">
                  <c:v>1.45904541015625</c:v>
                </c:pt>
                <c:pt idx="1">
                  <c:v>1.4410832790157266</c:v>
                </c:pt>
                <c:pt idx="2">
                  <c:v>1.4969263191617119</c:v>
                </c:pt>
                <c:pt idx="3">
                  <c:v>1.5442647570252652</c:v>
                </c:pt>
                <c:pt idx="4">
                  <c:v>1.5937972011676971</c:v>
                </c:pt>
                <c:pt idx="5">
                  <c:v>1.6521423305916882</c:v>
                </c:pt>
                <c:pt idx="6">
                  <c:v>1.7158168911994383</c:v>
                </c:pt>
                <c:pt idx="7">
                  <c:v>1.7881345917159366</c:v>
                </c:pt>
                <c:pt idx="8">
                  <c:v>1.8732749156677657</c:v>
                </c:pt>
                <c:pt idx="9">
                  <c:v>1.9729079984677935</c:v>
                </c:pt>
                <c:pt idx="10">
                  <c:v>2.0928812236142371</c:v>
                </c:pt>
                <c:pt idx="11">
                  <c:v>2.2292926369652055</c:v>
                </c:pt>
                <c:pt idx="12">
                  <c:v>2.3795788538150084</c:v>
                </c:pt>
                <c:pt idx="13">
                  <c:v>2.5406027935780591</c:v>
                </c:pt>
                <c:pt idx="14">
                  <c:v>2.7132193813198349</c:v>
                </c:pt>
                <c:pt idx="15">
                  <c:v>2.8916445502669479</c:v>
                </c:pt>
                <c:pt idx="16">
                  <c:v>3.0805149723300329</c:v>
                </c:pt>
                <c:pt idx="17">
                  <c:v>3.2801430881430922</c:v>
                </c:pt>
                <c:pt idx="18">
                  <c:v>3.493777957601127</c:v>
                </c:pt>
                <c:pt idx="19">
                  <c:v>3.7189455598295047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495-1647-B36F-6E238B2BDD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44479199"/>
        <c:axId val="943945727"/>
      </c:barChart>
      <c:scatterChart>
        <c:scatterStyle val="lineMarker"/>
        <c:varyColors val="0"/>
        <c:ser>
          <c:idx val="4"/>
          <c:order val="4"/>
          <c:tx>
            <c:strRef>
              <c:f>'Commitments Dollars'!$Q$3</c:f>
              <c:strCache>
                <c:ptCount val="1"/>
                <c:pt idx="0">
                  <c:v>Total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yVal>
            <c:numRef>
              <c:f>'Commitments Dollars'!$Q$4:$Q$23</c:f>
              <c:numCache>
                <c:formatCode>0.0</c:formatCode>
                <c:ptCount val="20"/>
                <c:pt idx="0">
                  <c:v>5.2482414245605442</c:v>
                </c:pt>
                <c:pt idx="1">
                  <c:v>5.183630960712823</c:v>
                </c:pt>
                <c:pt idx="2">
                  <c:v>5.3845004843941817</c:v>
                </c:pt>
                <c:pt idx="3">
                  <c:v>5.5547786325862099</c:v>
                </c:pt>
                <c:pt idx="4">
                  <c:v>5.7329487041950182</c:v>
                </c:pt>
                <c:pt idx="5">
                  <c:v>5.9428183374722616</c:v>
                </c:pt>
                <c:pt idx="6">
                  <c:v>6.1718581359227409</c:v>
                </c:pt>
                <c:pt idx="7">
                  <c:v>6.4319876349347043</c:v>
                </c:pt>
                <c:pt idx="8">
                  <c:v>6.7382405945438517</c:v>
                </c:pt>
                <c:pt idx="9">
                  <c:v>7.0966245548839071</c:v>
                </c:pt>
                <c:pt idx="10">
                  <c:v>7.5281727751577794</c:v>
                </c:pt>
                <c:pt idx="11">
                  <c:v>8.0188497790042437</c:v>
                </c:pt>
                <c:pt idx="12">
                  <c:v>8.5594349748599079</c:v>
                </c:pt>
                <c:pt idx="13">
                  <c:v>9.1386441654223063</c:v>
                </c:pt>
                <c:pt idx="14">
                  <c:v>9.7595525484284682</c:v>
                </c:pt>
                <c:pt idx="15">
                  <c:v>10.401354617325124</c:v>
                </c:pt>
                <c:pt idx="16">
                  <c:v>11.080728656025924</c:v>
                </c:pt>
                <c:pt idx="17">
                  <c:v>11.798798525287134</c:v>
                </c:pt>
                <c:pt idx="18">
                  <c:v>12.567251216214808</c:v>
                </c:pt>
                <c:pt idx="19">
                  <c:v>13.37718758231968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A495-1647-B36F-6E238B2BDD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44479199"/>
        <c:axId val="943945727"/>
      </c:scatterChart>
      <c:catAx>
        <c:axId val="94447919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r>
                  <a:rPr lang="en-GB"/>
                  <a:t>Beginning of 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Aptos" panose="020B0004020202020204" pitchFamily="34" charset="0"/>
                  <a:ea typeface="+mn-ea"/>
                  <a:cs typeface="+mn-cs"/>
                </a:defRPr>
              </a:pPr>
              <a:endParaRPr lang="en-US"/>
            </a:p>
          </c:txPr>
        </c:title>
        <c:majorTickMark val="none"/>
        <c:minorTickMark val="none"/>
        <c:tickLblPos val="nextTo"/>
        <c:spPr>
          <a:noFill/>
          <a:ln w="12700" cap="flat" cmpd="sng" algn="ctr">
            <a:solidFill>
              <a:schemeClr val="dk1"/>
            </a:solidFill>
            <a:prstDash val="solid"/>
            <a:miter lim="800000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3945727"/>
        <c:crosses val="autoZero"/>
        <c:auto val="1"/>
        <c:lblAlgn val="ctr"/>
        <c:lblOffset val="100"/>
        <c:noMultiLvlLbl val="0"/>
      </c:catAx>
      <c:valAx>
        <c:axId val="943945727"/>
        <c:scaling>
          <c:orientation val="minMax"/>
          <c:max val="16"/>
        </c:scaling>
        <c:delete val="0"/>
        <c:axPos val="l"/>
        <c:numFmt formatCode="0.0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dk1"/>
            </a:solidFill>
            <a:prstDash val="solid"/>
            <a:miter lim="800000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4479199"/>
        <c:crosses val="autoZero"/>
        <c:crossBetween val="between"/>
        <c:majorUnit val="4"/>
      </c:valAx>
      <c:spPr>
        <a:noFill/>
        <a:ln w="3175">
          <a:noFill/>
        </a:ln>
        <a:effectLst/>
      </c:spPr>
    </c:plotArea>
    <c:legend>
      <c:legendPos val="t"/>
      <c:legendEntry>
        <c:idx val="4"/>
        <c:delete val="1"/>
      </c:legendEntry>
      <c:layout>
        <c:manualLayout>
          <c:xMode val="edge"/>
          <c:yMode val="edge"/>
          <c:x val="0.30509056961236231"/>
          <c:y val="2.735317144228391E-2"/>
          <c:w val="0.38981886077527539"/>
          <c:h val="6.3254747408538273E-2"/>
        </c:manualLayout>
      </c:layout>
      <c:overlay val="0"/>
      <c:spPr>
        <a:noFill/>
        <a:ln w="3175">
          <a:solidFill>
            <a:schemeClr val="bg1">
              <a:lumMod val="65000"/>
            </a:schemeClr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Aptos" panose="020B0004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 b="0" i="0">
          <a:solidFill>
            <a:schemeClr val="tx1"/>
          </a:solidFill>
          <a:latin typeface="Aptos" panose="020B0004020202020204" pitchFamily="34" charset="0"/>
        </a:defRPr>
      </a:pPr>
      <a:endParaRPr lang="en-US"/>
    </a:p>
  </c:txPr>
  <c:externalData r:id="rId3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4694129269476059E-2"/>
          <c:y val="0.11553693878657749"/>
          <c:w val="0.93445276467390348"/>
          <c:h val="0.7159894167465352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'Commitment Pacing'!$E$2</c:f>
              <c:strCache>
                <c:ptCount val="1"/>
                <c:pt idx="0">
                  <c:v>Buyout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  <a:ln w="3175">
              <a:solidFill>
                <a:schemeClr val="dk1"/>
              </a:solidFill>
            </a:ln>
            <a:effectLst/>
          </c:spPr>
          <c:invertIfNegative val="0"/>
          <c:val>
            <c:numRef>
              <c:f>'Commitment Pacing'!$E$3:$E$22</c:f>
              <c:numCache>
                <c:formatCode>0%</c:formatCode>
                <c:ptCount val="20"/>
                <c:pt idx="0">
                  <c:v>0</c:v>
                </c:pt>
                <c:pt idx="1">
                  <c:v>4.3049926757812501E-3</c:v>
                </c:pt>
                <c:pt idx="2">
                  <c:v>1.27635315965615E-2</c:v>
                </c:pt>
                <c:pt idx="3">
                  <c:v>2.5118272555327899E-2</c:v>
                </c:pt>
                <c:pt idx="4">
                  <c:v>3.9429033788606203E-2</c:v>
                </c:pt>
                <c:pt idx="5">
                  <c:v>5.4643202209278603E-2</c:v>
                </c:pt>
                <c:pt idx="6">
                  <c:v>6.9787557775812803E-2</c:v>
                </c:pt>
                <c:pt idx="7">
                  <c:v>8.3568329092247096E-2</c:v>
                </c:pt>
                <c:pt idx="8">
                  <c:v>9.4288124395023806E-2</c:v>
                </c:pt>
                <c:pt idx="9">
                  <c:v>0.10099250292793201</c:v>
                </c:pt>
                <c:pt idx="10">
                  <c:v>0.103731308282246</c:v>
                </c:pt>
                <c:pt idx="11">
                  <c:v>0.10387299553014299</c:v>
                </c:pt>
                <c:pt idx="12">
                  <c:v>0.102916225442211</c:v>
                </c:pt>
                <c:pt idx="13">
                  <c:v>0.10184368959354299</c:v>
                </c:pt>
                <c:pt idx="14">
                  <c:v>0.100951466913132</c:v>
                </c:pt>
                <c:pt idx="15">
                  <c:v>0.100433658178836</c:v>
                </c:pt>
                <c:pt idx="16">
                  <c:v>0.10015861750112399</c:v>
                </c:pt>
                <c:pt idx="17">
                  <c:v>0.100081950296793</c:v>
                </c:pt>
                <c:pt idx="18">
                  <c:v>0.10008658070937</c:v>
                </c:pt>
                <c:pt idx="19">
                  <c:v>0.100183879956384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7E-A24A-95D7-75D1E9676C39}"/>
            </c:ext>
          </c:extLst>
        </c:ser>
        <c:ser>
          <c:idx val="1"/>
          <c:order val="1"/>
          <c:tx>
            <c:strRef>
              <c:f>'Commitment Pacing'!$F$2</c:f>
              <c:strCache>
                <c:ptCount val="1"/>
                <c:pt idx="0">
                  <c:v>Growth</c:v>
                </c:pt>
              </c:strCache>
            </c:strRef>
          </c:tx>
          <c:spPr>
            <a:solidFill>
              <a:schemeClr val="tx2">
                <a:lumMod val="50000"/>
                <a:lumOff val="50000"/>
              </a:schemeClr>
            </a:solidFill>
            <a:ln w="3175">
              <a:solidFill>
                <a:schemeClr val="dk1"/>
              </a:solidFill>
            </a:ln>
            <a:effectLst/>
          </c:spPr>
          <c:invertIfNegative val="0"/>
          <c:val>
            <c:numRef>
              <c:f>'Commitment Pacing'!$F$3:$F$22</c:f>
              <c:numCache>
                <c:formatCode>0%</c:formatCode>
                <c:ptCount val="20"/>
                <c:pt idx="0">
                  <c:v>0</c:v>
                </c:pt>
                <c:pt idx="1">
                  <c:v>2.0718994140624999E-3</c:v>
                </c:pt>
                <c:pt idx="2">
                  <c:v>6.1384275567630802E-3</c:v>
                </c:pt>
                <c:pt idx="3">
                  <c:v>1.1281020647672099E-2</c:v>
                </c:pt>
                <c:pt idx="4">
                  <c:v>1.7111430210244302E-2</c:v>
                </c:pt>
                <c:pt idx="5">
                  <c:v>2.3203497825282599E-2</c:v>
                </c:pt>
                <c:pt idx="6">
                  <c:v>2.9146262614719198E-2</c:v>
                </c:pt>
                <c:pt idx="7">
                  <c:v>3.4394447245414898E-2</c:v>
                </c:pt>
                <c:pt idx="8">
                  <c:v>3.82914445501078E-2</c:v>
                </c:pt>
                <c:pt idx="9">
                  <c:v>4.0554775947362898E-2</c:v>
                </c:pt>
                <c:pt idx="10">
                  <c:v>4.13312788473435E-2</c:v>
                </c:pt>
                <c:pt idx="11">
                  <c:v>4.1232320493287698E-2</c:v>
                </c:pt>
                <c:pt idx="12">
                  <c:v>4.0817800400894999E-2</c:v>
                </c:pt>
                <c:pt idx="13">
                  <c:v>4.04076382949239E-2</c:v>
                </c:pt>
                <c:pt idx="14">
                  <c:v>4.0080201390122597E-2</c:v>
                </c:pt>
                <c:pt idx="15">
                  <c:v>3.98998069222622E-2</c:v>
                </c:pt>
                <c:pt idx="16">
                  <c:v>3.9810732390073003E-2</c:v>
                </c:pt>
                <c:pt idx="17">
                  <c:v>3.97942692988872E-2</c:v>
                </c:pt>
                <c:pt idx="18">
                  <c:v>3.9803557340592099E-2</c:v>
                </c:pt>
                <c:pt idx="19">
                  <c:v>3.9844751689357701E-2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27E-A24A-95D7-75D1E9676C39}"/>
            </c:ext>
          </c:extLst>
        </c:ser>
        <c:ser>
          <c:idx val="2"/>
          <c:order val="2"/>
          <c:tx>
            <c:strRef>
              <c:f>'Commitment Pacing'!$G$2</c:f>
              <c:strCache>
                <c:ptCount val="1"/>
                <c:pt idx="0">
                  <c:v>Venture</c:v>
                </c:pt>
              </c:strCache>
            </c:strRef>
          </c:tx>
          <c:spPr>
            <a:solidFill>
              <a:srgbClr val="B4C7E7"/>
            </a:solidFill>
            <a:ln w="3175">
              <a:solidFill>
                <a:schemeClr val="dk1"/>
              </a:solidFill>
            </a:ln>
            <a:effectLst/>
          </c:spPr>
          <c:invertIfNegative val="0"/>
          <c:val>
            <c:numRef>
              <c:f>'Commitment Pacing'!$G$3:$G$22</c:f>
              <c:numCache>
                <c:formatCode>0%</c:formatCode>
                <c:ptCount val="20"/>
                <c:pt idx="0">
                  <c:v>0</c:v>
                </c:pt>
                <c:pt idx="1">
                  <c:v>7.2619628906249998E-4</c:v>
                </c:pt>
                <c:pt idx="2">
                  <c:v>2.1464420676018999E-3</c:v>
                </c:pt>
                <c:pt idx="3">
                  <c:v>3.9898208573999399E-3</c:v>
                </c:pt>
                <c:pt idx="4">
                  <c:v>6.1404199332067101E-3</c:v>
                </c:pt>
                <c:pt idx="5">
                  <c:v>8.4990701503727794E-3</c:v>
                </c:pt>
                <c:pt idx="6">
                  <c:v>1.1005915911992801E-2</c:v>
                </c:pt>
                <c:pt idx="7">
                  <c:v>1.3564790273611E-2</c:v>
                </c:pt>
                <c:pt idx="8">
                  <c:v>1.5983266850949401E-2</c:v>
                </c:pt>
                <c:pt idx="9">
                  <c:v>1.80507812688263E-2</c:v>
                </c:pt>
                <c:pt idx="10">
                  <c:v>1.95292629225578E-2</c:v>
                </c:pt>
                <c:pt idx="11">
                  <c:v>2.03371524351393E-2</c:v>
                </c:pt>
                <c:pt idx="12">
                  <c:v>2.0568694198476199E-2</c:v>
                </c:pt>
                <c:pt idx="13">
                  <c:v>2.0476519838268301E-2</c:v>
                </c:pt>
                <c:pt idx="14">
                  <c:v>2.0283081093618101E-2</c:v>
                </c:pt>
                <c:pt idx="15">
                  <c:v>2.0129031939056598E-2</c:v>
                </c:pt>
                <c:pt idx="16">
                  <c:v>2.0020134529521501E-2</c:v>
                </c:pt>
                <c:pt idx="17">
                  <c:v>1.9957799952439698E-2</c:v>
                </c:pt>
                <c:pt idx="18">
                  <c:v>1.9924135005412201E-2</c:v>
                </c:pt>
                <c:pt idx="19">
                  <c:v>1.9923417814953E-2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7E-A24A-95D7-75D1E9676C39}"/>
            </c:ext>
          </c:extLst>
        </c:ser>
        <c:ser>
          <c:idx val="3"/>
          <c:order val="3"/>
          <c:tx>
            <c:strRef>
              <c:f>'Commitment Pacing'!$H$2</c:f>
              <c:strCache>
                <c:ptCount val="1"/>
                <c:pt idx="0">
                  <c:v>Private Credit</c:v>
                </c:pt>
              </c:strCache>
            </c:strRef>
          </c:tx>
          <c:spPr>
            <a:solidFill>
              <a:srgbClr val="DCEAF7"/>
            </a:solidFill>
            <a:ln w="3175">
              <a:solidFill>
                <a:schemeClr val="dk1"/>
              </a:solidFill>
            </a:ln>
            <a:effectLst/>
          </c:spPr>
          <c:invertIfNegative val="0"/>
          <c:val>
            <c:numRef>
              <c:f>'Commitment Pacing'!$H$3:$H$22</c:f>
              <c:numCache>
                <c:formatCode>0%</c:formatCode>
                <c:ptCount val="20"/>
                <c:pt idx="0">
                  <c:v>0</c:v>
                </c:pt>
                <c:pt idx="1">
                  <c:v>5.0457763671875001E-3</c:v>
                </c:pt>
                <c:pt idx="2">
                  <c:v>1.47525583768379E-2</c:v>
                </c:pt>
                <c:pt idx="3">
                  <c:v>2.5152535704737501E-2</c:v>
                </c:pt>
                <c:pt idx="4">
                  <c:v>3.4748724515775403E-2</c:v>
                </c:pt>
                <c:pt idx="5">
                  <c:v>4.1089861994061401E-2</c:v>
                </c:pt>
                <c:pt idx="6">
                  <c:v>4.3370063308431198E-2</c:v>
                </c:pt>
                <c:pt idx="7">
                  <c:v>4.3042275511236398E-2</c:v>
                </c:pt>
                <c:pt idx="8">
                  <c:v>4.2083943310568403E-2</c:v>
                </c:pt>
                <c:pt idx="9">
                  <c:v>4.1226071281250602E-2</c:v>
                </c:pt>
                <c:pt idx="10">
                  <c:v>4.0513199868804098E-2</c:v>
                </c:pt>
                <c:pt idx="11">
                  <c:v>4.0002403292654698E-2</c:v>
                </c:pt>
                <c:pt idx="12">
                  <c:v>3.9681848118714898E-2</c:v>
                </c:pt>
                <c:pt idx="13">
                  <c:v>3.9531601735941703E-2</c:v>
                </c:pt>
                <c:pt idx="14">
                  <c:v>3.9485441568345402E-2</c:v>
                </c:pt>
                <c:pt idx="15">
                  <c:v>3.9541370026768101E-2</c:v>
                </c:pt>
                <c:pt idx="16">
                  <c:v>3.9612455081437903E-2</c:v>
                </c:pt>
                <c:pt idx="17">
                  <c:v>3.9678021743098001E-2</c:v>
                </c:pt>
                <c:pt idx="18">
                  <c:v>3.9708480104330597E-2</c:v>
                </c:pt>
                <c:pt idx="19">
                  <c:v>3.9734384646142401E-2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27E-A24A-95D7-75D1E9676C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44479199"/>
        <c:axId val="943945727"/>
      </c:barChart>
      <c:lineChart>
        <c:grouping val="standard"/>
        <c:varyColors val="0"/>
        <c:ser>
          <c:idx val="4"/>
          <c:order val="4"/>
          <c:tx>
            <c:strRef>
              <c:f>'Commitment Pacing'!$I$2</c:f>
              <c:strCache>
                <c:ptCount val="1"/>
                <c:pt idx="0">
                  <c:v>Target Weight</c:v>
                </c:pt>
              </c:strCache>
            </c:strRef>
          </c:tx>
          <c:spPr>
            <a:ln w="12700" cap="rnd">
              <a:solidFill>
                <a:srgbClr val="C00000"/>
              </a:solidFill>
              <a:prstDash val="sysDot"/>
              <a:round/>
            </a:ln>
            <a:effectLst/>
          </c:spPr>
          <c:marker>
            <c:symbol val="none"/>
          </c:marker>
          <c:val>
            <c:numRef>
              <c:f>'Commitment Pacing'!$I$3:$I$22</c:f>
              <c:numCache>
                <c:formatCode>0%</c:formatCode>
                <c:ptCount val="20"/>
                <c:pt idx="0">
                  <c:v>0.2</c:v>
                </c:pt>
                <c:pt idx="1">
                  <c:v>0.2</c:v>
                </c:pt>
                <c:pt idx="2">
                  <c:v>0.2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0.2</c:v>
                </c:pt>
                <c:pt idx="7">
                  <c:v>0.2</c:v>
                </c:pt>
                <c:pt idx="8">
                  <c:v>0.2</c:v>
                </c:pt>
                <c:pt idx="9">
                  <c:v>0.2</c:v>
                </c:pt>
                <c:pt idx="10">
                  <c:v>0.2</c:v>
                </c:pt>
                <c:pt idx="11">
                  <c:v>0.2</c:v>
                </c:pt>
                <c:pt idx="12">
                  <c:v>0.2</c:v>
                </c:pt>
                <c:pt idx="13">
                  <c:v>0.2</c:v>
                </c:pt>
                <c:pt idx="14">
                  <c:v>0.2</c:v>
                </c:pt>
                <c:pt idx="15">
                  <c:v>0.2</c:v>
                </c:pt>
                <c:pt idx="16">
                  <c:v>0.2</c:v>
                </c:pt>
                <c:pt idx="17">
                  <c:v>0.2</c:v>
                </c:pt>
                <c:pt idx="18">
                  <c:v>0.2</c:v>
                </c:pt>
                <c:pt idx="19">
                  <c:v>0.2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027E-A24A-95D7-75D1E9676C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44479199"/>
        <c:axId val="943945727"/>
      </c:lineChart>
      <c:catAx>
        <c:axId val="94447919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/>
                    </a:solidFill>
                    <a:latin typeface="Aptos" panose="020B0004020202020204" pitchFamily="34" charset="0"/>
                    <a:ea typeface="+mn-ea"/>
                    <a:cs typeface="+mn-cs"/>
                  </a:defRPr>
                </a:pPr>
                <a:r>
                  <a:rPr lang="en-GB"/>
                  <a:t>Beginning of 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chemeClr val="tx1"/>
                  </a:solidFill>
                  <a:latin typeface="Aptos" panose="020B0004020202020204" pitchFamily="34" charset="0"/>
                  <a:ea typeface="+mn-ea"/>
                  <a:cs typeface="+mn-cs"/>
                </a:defRPr>
              </a:pPr>
              <a:endParaRPr lang="en-US"/>
            </a:p>
          </c:txPr>
        </c:title>
        <c:majorTickMark val="none"/>
        <c:minorTickMark val="none"/>
        <c:tickLblPos val="nextTo"/>
        <c:spPr>
          <a:noFill/>
          <a:ln w="12700" cap="flat" cmpd="sng" algn="ctr">
            <a:solidFill>
              <a:schemeClr val="dk1"/>
            </a:solidFill>
            <a:prstDash val="solid"/>
            <a:miter lim="800000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943945727"/>
        <c:crosses val="autoZero"/>
        <c:auto val="1"/>
        <c:lblAlgn val="ctr"/>
        <c:lblOffset val="100"/>
        <c:noMultiLvlLbl val="0"/>
      </c:catAx>
      <c:valAx>
        <c:axId val="943945727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dk1"/>
            </a:solidFill>
            <a:prstDash val="solid"/>
            <a:miter lim="800000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Aptos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944479199"/>
        <c:crosses val="autoZero"/>
        <c:crossBetween val="between"/>
      </c:valAx>
      <c:spPr>
        <a:noFill/>
        <a:ln w="3175">
          <a:noFill/>
        </a:ln>
        <a:effectLst/>
      </c:spPr>
    </c:plotArea>
    <c:legend>
      <c:legendPos val="t"/>
      <c:legendEntry>
        <c:idx val="4"/>
        <c:delete val="1"/>
      </c:legendEntry>
      <c:overlay val="0"/>
      <c:spPr>
        <a:noFill/>
        <a:ln w="3175">
          <a:solidFill>
            <a:schemeClr val="bg1">
              <a:lumMod val="65000"/>
            </a:schemeClr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/>
              </a:solidFill>
              <a:latin typeface="Aptos" panose="020B0004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100" b="0" i="0">
          <a:solidFill>
            <a:schemeClr val="tx1"/>
          </a:solidFill>
          <a:latin typeface="Aptos" panose="020B0004020202020204" pitchFamily="34" charset="0"/>
        </a:defRPr>
      </a:pPr>
      <a:endParaRPr lang="en-US"/>
    </a:p>
  </c:txPr>
  <c:externalData r:id="rId3">
    <c:autoUpdate val="0"/>
  </c:externalData>
  <c:userShapes r:id="rId4"/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7861179380410446E-2"/>
          <c:y val="0.10524435981244509"/>
          <c:w val="0.8802700333432476"/>
          <c:h val="0.75462716405036201"/>
        </c:manualLayout>
      </c:layout>
      <c:lineChart>
        <c:grouping val="standard"/>
        <c:varyColors val="0"/>
        <c:ser>
          <c:idx val="0"/>
          <c:order val="0"/>
          <c:tx>
            <c:strRef>
              <c:f>ws_0!$B$2</c:f>
              <c:strCache>
                <c:ptCount val="1"/>
                <c:pt idx="0">
                  <c:v>1st %ile</c:v>
                </c:pt>
              </c:strCache>
            </c:strRef>
          </c:tx>
          <c:spPr>
            <a:ln w="12700">
              <a:solidFill>
                <a:srgbClr val="C00000"/>
              </a:solidFill>
              <a:prstDash val="solid"/>
            </a:ln>
          </c:spPr>
          <c:marker>
            <c:symbol val="none"/>
          </c:marker>
          <c:dLbls>
            <c:dLbl>
              <c:idx val="2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BD7-2B4C-BB94-47DAD4E4BD94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ws_0!$A$3:$A$23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ws_0!$B$3:$B$23</c:f>
              <c:numCache>
                <c:formatCode>General</c:formatCode>
                <c:ptCount val="21"/>
                <c:pt idx="0">
                  <c:v>100</c:v>
                </c:pt>
                <c:pt idx="1">
                  <c:v>88.2494495888551</c:v>
                </c:pt>
                <c:pt idx="2">
                  <c:v>88.403588214557402</c:v>
                </c:pt>
                <c:pt idx="3">
                  <c:v>89.777363866252401</c:v>
                </c:pt>
                <c:pt idx="4">
                  <c:v>89.873321405830396</c:v>
                </c:pt>
                <c:pt idx="5">
                  <c:v>91.129084739376793</c:v>
                </c:pt>
                <c:pt idx="6">
                  <c:v>92.405119798238502</c:v>
                </c:pt>
                <c:pt idx="7">
                  <c:v>91.359428929604405</c:v>
                </c:pt>
                <c:pt idx="8">
                  <c:v>92.232909220937998</c:v>
                </c:pt>
                <c:pt idx="9">
                  <c:v>92.071466659037796</c:v>
                </c:pt>
                <c:pt idx="10">
                  <c:v>93.071325716748703</c:v>
                </c:pt>
                <c:pt idx="11">
                  <c:v>94.478859991553406</c:v>
                </c:pt>
                <c:pt idx="12">
                  <c:v>95.901160092499694</c:v>
                </c:pt>
                <c:pt idx="13">
                  <c:v>97.5020811475746</c:v>
                </c:pt>
                <c:pt idx="14">
                  <c:v>98.124587878733607</c:v>
                </c:pt>
                <c:pt idx="15">
                  <c:v>100.66184412384899</c:v>
                </c:pt>
                <c:pt idx="16">
                  <c:v>101.51036114062499</c:v>
                </c:pt>
                <c:pt idx="17">
                  <c:v>104.50546322422301</c:v>
                </c:pt>
                <c:pt idx="18">
                  <c:v>107.801744685652</c:v>
                </c:pt>
                <c:pt idx="19">
                  <c:v>110.128683742525</c:v>
                </c:pt>
                <c:pt idx="20">
                  <c:v>113.186667332292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BD7-2B4C-BB94-47DAD4E4BD94}"/>
            </c:ext>
          </c:extLst>
        </c:ser>
        <c:ser>
          <c:idx val="1"/>
          <c:order val="1"/>
          <c:tx>
            <c:strRef>
              <c:f>ws_0!$C$2</c:f>
              <c:strCache>
                <c:ptCount val="1"/>
                <c:pt idx="0">
                  <c:v>10th %ile</c:v>
                </c:pt>
              </c:strCache>
            </c:strRef>
          </c:tx>
          <c:spPr>
            <a:ln w="12700">
              <a:solidFill>
                <a:srgbClr val="8064A2"/>
              </a:solidFill>
              <a:prstDash val="solid"/>
            </a:ln>
          </c:spPr>
          <c:marker>
            <c:symbol val="none"/>
          </c:marker>
          <c:dLbls>
            <c:dLbl>
              <c:idx val="2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BD7-2B4C-BB94-47DAD4E4BD94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ws_0!$A$3:$A$23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ws_0!$C$3:$C$23</c:f>
              <c:numCache>
                <c:formatCode>General</c:formatCode>
                <c:ptCount val="21"/>
                <c:pt idx="0">
                  <c:v>100</c:v>
                </c:pt>
                <c:pt idx="1">
                  <c:v>96.603440972081401</c:v>
                </c:pt>
                <c:pt idx="2">
                  <c:v>98.936710991896504</c:v>
                </c:pt>
                <c:pt idx="3">
                  <c:v>102.72434811926701</c:v>
                </c:pt>
                <c:pt idx="4">
                  <c:v>106.25824109072001</c:v>
                </c:pt>
                <c:pt idx="5">
                  <c:v>110.596484078312</c:v>
                </c:pt>
                <c:pt idx="6">
                  <c:v>115.28637953307999</c:v>
                </c:pt>
                <c:pt idx="7">
                  <c:v>118.77810630993299</c:v>
                </c:pt>
                <c:pt idx="8">
                  <c:v>122.58916186825699</c:v>
                </c:pt>
                <c:pt idx="9">
                  <c:v>126.008835510079</c:v>
                </c:pt>
                <c:pt idx="10">
                  <c:v>130.02630459816899</c:v>
                </c:pt>
                <c:pt idx="11">
                  <c:v>134.250152796447</c:v>
                </c:pt>
                <c:pt idx="12">
                  <c:v>139.168345160966</c:v>
                </c:pt>
                <c:pt idx="13">
                  <c:v>143.64735131942399</c:v>
                </c:pt>
                <c:pt idx="14">
                  <c:v>149.22412917685401</c:v>
                </c:pt>
                <c:pt idx="15">
                  <c:v>154.74575252841601</c:v>
                </c:pt>
                <c:pt idx="16">
                  <c:v>160.65637866178599</c:v>
                </c:pt>
                <c:pt idx="17">
                  <c:v>165.919584777994</c:v>
                </c:pt>
                <c:pt idx="18">
                  <c:v>172.06825965454999</c:v>
                </c:pt>
                <c:pt idx="19">
                  <c:v>179.41174822544301</c:v>
                </c:pt>
                <c:pt idx="20">
                  <c:v>186.10104744217901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BD7-2B4C-BB94-47DAD4E4BD94}"/>
            </c:ext>
          </c:extLst>
        </c:ser>
        <c:ser>
          <c:idx val="2"/>
          <c:order val="2"/>
          <c:tx>
            <c:strRef>
              <c:f>ws_0!$D$2</c:f>
              <c:strCache>
                <c:ptCount val="1"/>
                <c:pt idx="0">
                  <c:v>50th %ile</c:v>
                </c:pt>
              </c:strCache>
            </c:strRef>
          </c:tx>
          <c:spPr>
            <a:ln w="12700">
              <a:solidFill>
                <a:srgbClr val="376092"/>
              </a:solidFill>
              <a:prstDash val="solid"/>
            </a:ln>
          </c:spPr>
          <c:marker>
            <c:symbol val="none"/>
          </c:marker>
          <c:dLbls>
            <c:dLbl>
              <c:idx val="2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2BD7-2B4C-BB94-47DAD4E4BD94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ws_0!$A$3:$A$23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ws_0!$D$3:$D$23</c:f>
              <c:numCache>
                <c:formatCode>General</c:formatCode>
                <c:ptCount val="21"/>
                <c:pt idx="0">
                  <c:v>100</c:v>
                </c:pt>
                <c:pt idx="1">
                  <c:v>107.237077407526</c:v>
                </c:pt>
                <c:pt idx="2">
                  <c:v>113.612214273354</c:v>
                </c:pt>
                <c:pt idx="3">
                  <c:v>120.44927090837599</c:v>
                </c:pt>
                <c:pt idx="4">
                  <c:v>128.55141794454201</c:v>
                </c:pt>
                <c:pt idx="5">
                  <c:v>137.45634485804001</c:v>
                </c:pt>
                <c:pt idx="6">
                  <c:v>146.827142206974</c:v>
                </c:pt>
                <c:pt idx="7">
                  <c:v>156.581132834785</c:v>
                </c:pt>
                <c:pt idx="8">
                  <c:v>166.48806938760501</c:v>
                </c:pt>
                <c:pt idx="9">
                  <c:v>176.783127287658</c:v>
                </c:pt>
                <c:pt idx="10">
                  <c:v>187.40441333260401</c:v>
                </c:pt>
                <c:pt idx="11">
                  <c:v>198.44746877577501</c:v>
                </c:pt>
                <c:pt idx="12">
                  <c:v>209.71616742710401</c:v>
                </c:pt>
                <c:pt idx="13">
                  <c:v>222.37777697341301</c:v>
                </c:pt>
                <c:pt idx="14">
                  <c:v>235.82057597705099</c:v>
                </c:pt>
                <c:pt idx="15">
                  <c:v>249.20726550934299</c:v>
                </c:pt>
                <c:pt idx="16">
                  <c:v>263.463541641235</c:v>
                </c:pt>
                <c:pt idx="17">
                  <c:v>278.42112063492903</c:v>
                </c:pt>
                <c:pt idx="18">
                  <c:v>294.91079616020801</c:v>
                </c:pt>
                <c:pt idx="19">
                  <c:v>312.22668346802101</c:v>
                </c:pt>
                <c:pt idx="20">
                  <c:v>330.152739361832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BD7-2B4C-BB94-47DAD4E4BD94}"/>
            </c:ext>
          </c:extLst>
        </c:ser>
        <c:ser>
          <c:idx val="3"/>
          <c:order val="3"/>
          <c:tx>
            <c:strRef>
              <c:f>ws_0!$E$2</c:f>
              <c:strCache>
                <c:ptCount val="1"/>
                <c:pt idx="0">
                  <c:v>90th %ile</c:v>
                </c:pt>
              </c:strCache>
            </c:strRef>
          </c:tx>
          <c:spPr>
            <a:ln w="12700">
              <a:solidFill>
                <a:srgbClr val="77933C"/>
              </a:solidFill>
              <a:prstDash val="solid"/>
            </a:ln>
          </c:spPr>
          <c:marker>
            <c:symbol val="none"/>
          </c:marker>
          <c:dLbls>
            <c:dLbl>
              <c:idx val="2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BD7-2B4C-BB94-47DAD4E4BD94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ws_0!$A$3:$A$23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ws_0!$E$3:$E$23</c:f>
              <c:numCache>
                <c:formatCode>General</c:formatCode>
                <c:ptCount val="21"/>
                <c:pt idx="0">
                  <c:v>100</c:v>
                </c:pt>
                <c:pt idx="1">
                  <c:v>116.97168333396201</c:v>
                </c:pt>
                <c:pt idx="2">
                  <c:v>128.82299493689101</c:v>
                </c:pt>
                <c:pt idx="3">
                  <c:v>140.42638707141299</c:v>
                </c:pt>
                <c:pt idx="4">
                  <c:v>153.85681313558899</c:v>
                </c:pt>
                <c:pt idx="5">
                  <c:v>168.64524512040501</c:v>
                </c:pt>
                <c:pt idx="6">
                  <c:v>183.997083119726</c:v>
                </c:pt>
                <c:pt idx="7">
                  <c:v>201.21545817288199</c:v>
                </c:pt>
                <c:pt idx="8">
                  <c:v>219.21235338256199</c:v>
                </c:pt>
                <c:pt idx="9">
                  <c:v>238.90346806593701</c:v>
                </c:pt>
                <c:pt idx="10">
                  <c:v>259.20596938243102</c:v>
                </c:pt>
                <c:pt idx="11">
                  <c:v>281.13905240440698</c:v>
                </c:pt>
                <c:pt idx="12">
                  <c:v>305.39131332441502</c:v>
                </c:pt>
                <c:pt idx="13">
                  <c:v>331.066963062529</c:v>
                </c:pt>
                <c:pt idx="14">
                  <c:v>359.03492888671798</c:v>
                </c:pt>
                <c:pt idx="15">
                  <c:v>388.39088979398201</c:v>
                </c:pt>
                <c:pt idx="16">
                  <c:v>418.57661501411098</c:v>
                </c:pt>
                <c:pt idx="17">
                  <c:v>451.944794360956</c:v>
                </c:pt>
                <c:pt idx="18">
                  <c:v>489.180370767684</c:v>
                </c:pt>
                <c:pt idx="19">
                  <c:v>525.68105286645505</c:v>
                </c:pt>
                <c:pt idx="20">
                  <c:v>564.15741839223301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BD7-2B4C-BB94-47DAD4E4BD94}"/>
            </c:ext>
          </c:extLst>
        </c:ser>
        <c:ser>
          <c:idx val="4"/>
          <c:order val="4"/>
          <c:tx>
            <c:strRef>
              <c:f>ws_0!$F$2</c:f>
              <c:strCache>
                <c:ptCount val="1"/>
              </c:strCache>
            </c:strRef>
          </c:tx>
          <c:spPr>
            <a:ln>
              <a:solidFill>
                <a:schemeClr val="tx1"/>
              </a:solidFill>
              <a:prstDash val="sysDot"/>
            </a:ln>
          </c:spPr>
          <c:marker>
            <c:symbol val="none"/>
          </c:marker>
          <c:cat>
            <c:numRef>
              <c:f>ws_0!$A$3:$A$23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ws_0!$F$3:$F$23</c:f>
              <c:numCache>
                <c:formatCode>General</c:formatCode>
                <c:ptCount val="21"/>
                <c:pt idx="0">
                  <c:v>100</c:v>
                </c:pt>
                <c:pt idx="1">
                  <c:v>107.761888297211</c:v>
                </c:pt>
                <c:pt idx="2">
                  <c:v>115.103704887413</c:v>
                </c:pt>
                <c:pt idx="3">
                  <c:v>122.666257329361</c:v>
                </c:pt>
                <c:pt idx="4">
                  <c:v>131.576886175174</c:v>
                </c:pt>
                <c:pt idx="5">
                  <c:v>141.15343765253101</c:v>
                </c:pt>
                <c:pt idx="6">
                  <c:v>151.08353080596601</c:v>
                </c:pt>
                <c:pt idx="7">
                  <c:v>161.181851972711</c:v>
                </c:pt>
                <c:pt idx="8">
                  <c:v>171.51312348221299</c:v>
                </c:pt>
                <c:pt idx="9">
                  <c:v>182.10309236823699</c:v>
                </c:pt>
                <c:pt idx="10">
                  <c:v>193.01278579212399</c:v>
                </c:pt>
                <c:pt idx="11">
                  <c:v>204.54726053776801</c:v>
                </c:pt>
                <c:pt idx="12">
                  <c:v>215.78344078697901</c:v>
                </c:pt>
                <c:pt idx="13">
                  <c:v>229.16677462246</c:v>
                </c:pt>
                <c:pt idx="14">
                  <c:v>243.03830570450901</c:v>
                </c:pt>
                <c:pt idx="15">
                  <c:v>256.70591252860601</c:v>
                </c:pt>
                <c:pt idx="16">
                  <c:v>271.68557504637403</c:v>
                </c:pt>
                <c:pt idx="17">
                  <c:v>286.54219100751601</c:v>
                </c:pt>
                <c:pt idx="18">
                  <c:v>304.527440061606</c:v>
                </c:pt>
                <c:pt idx="19">
                  <c:v>321.64392853247301</c:v>
                </c:pt>
                <c:pt idx="20">
                  <c:v>340.17718713429099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BD7-2B4C-BB94-47DAD4E4BD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"/>
        <c:axId val="100"/>
      </c:lineChart>
      <c:catAx>
        <c:axId val="1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GB" sz="900" b="0">
                    <a:latin typeface="Aptos"/>
                  </a:rPr>
                  <a:t>Year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900" b="0">
                <a:latin typeface="Aptos"/>
              </a:defRPr>
            </a:pPr>
            <a:endParaRPr lang="en-US"/>
          </a:p>
        </c:txPr>
        <c:crossAx val="100"/>
        <c:crosses val="autoZero"/>
        <c:auto val="0"/>
        <c:lblAlgn val="ctr"/>
        <c:lblOffset val="100"/>
        <c:tickLblSkip val="5"/>
        <c:tickMarkSkip val="5"/>
        <c:noMultiLvlLbl val="0"/>
      </c:catAx>
      <c:valAx>
        <c:axId val="100"/>
        <c:scaling>
          <c:orientation val="minMax"/>
          <c:max val="700"/>
        </c:scaling>
        <c:delete val="0"/>
        <c:axPos val="l"/>
        <c:title>
          <c:tx>
            <c:rich>
              <a:bodyPr/>
              <a:lstStyle/>
              <a:p>
                <a:pPr>
                  <a:defRPr/>
                </a:pPr>
                <a:r>
                  <a:rPr lang="en-GB" sz="900" b="0">
                    <a:latin typeface="Aptos"/>
                  </a:rPr>
                  <a:t>Nominal Portfolio Values ($)</a:t>
                </a:r>
              </a:p>
            </c:rich>
          </c:tx>
          <c:overlay val="0"/>
        </c:title>
        <c:numFmt formatCode="General" sourceLinked="1"/>
        <c:majorTickMark val="cross"/>
        <c:minorTickMark val="none"/>
        <c:tickLblPos val="nextTo"/>
        <c:txPr>
          <a:bodyPr/>
          <a:lstStyle/>
          <a:p>
            <a:pPr>
              <a:defRPr sz="900" b="0">
                <a:latin typeface="Aptos"/>
              </a:defRPr>
            </a:pPr>
            <a:endParaRPr lang="en-US"/>
          </a:p>
        </c:txPr>
        <c:crossAx val="10"/>
        <c:crosses val="autoZero"/>
        <c:crossBetween val="between"/>
      </c:valAx>
    </c:plotArea>
    <c:legend>
      <c:legendPos val="t"/>
      <c:legendEntry>
        <c:idx val="4"/>
        <c:delete val="1"/>
      </c:legendEntry>
      <c:layout>
        <c:manualLayout>
          <c:xMode val="edge"/>
          <c:yMode val="edge"/>
          <c:x val="0.25"/>
          <c:y val="1.4066060120915477E-2"/>
          <c:w val="0.61680750144800489"/>
          <c:h val="5.9137433536819418E-2"/>
        </c:manualLayout>
      </c:layout>
      <c:overlay val="0"/>
      <c:txPr>
        <a:bodyPr/>
        <a:lstStyle/>
        <a:p>
          <a:pPr>
            <a:defRPr sz="900" b="0">
              <a:latin typeface="Apto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B0DE8E-D0CA-E943-AD2A-90F312FF3070}" type="doc">
      <dgm:prSet loTypeId="urn:microsoft.com/office/officeart/2005/8/layout/matrix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63C40BFF-2A10-CE4D-88D3-C153350D26D5}">
      <dgm:prSet phldrT="[Text]"/>
      <dgm:spPr>
        <a:solidFill>
          <a:schemeClr val="accent1">
            <a:lumMod val="60000"/>
            <a:lumOff val="40000"/>
          </a:schemeClr>
        </a:solidFill>
        <a:ln w="6350">
          <a:solidFill>
            <a:schemeClr val="tx1"/>
          </a:solidFill>
        </a:ln>
      </dgm:spPr>
      <dgm:t>
        <a:bodyPr/>
        <a:lstStyle/>
        <a:p>
          <a:r>
            <a:rPr lang="en-GB" b="0" i="0" dirty="0">
              <a:latin typeface="Aptos Light" panose="020B0004020202020204" pitchFamily="34" charset="0"/>
            </a:rPr>
            <a:t>25%</a:t>
          </a:r>
        </a:p>
      </dgm:t>
    </dgm:pt>
    <dgm:pt modelId="{DB64D3D6-A9FC-5745-9F31-6397C2A27F3D}" type="parTrans" cxnId="{EB41908C-96F8-9E41-9489-47B88692E4C7}">
      <dgm:prSet/>
      <dgm:spPr/>
      <dgm:t>
        <a:bodyPr/>
        <a:lstStyle/>
        <a:p>
          <a:endParaRPr lang="en-GB" b="0" i="0">
            <a:latin typeface="Aptos Light" panose="020B0004020202020204" pitchFamily="34" charset="0"/>
          </a:endParaRPr>
        </a:p>
      </dgm:t>
    </dgm:pt>
    <dgm:pt modelId="{069AC2C1-69C4-064B-89BB-64F16A707609}" type="sibTrans" cxnId="{EB41908C-96F8-9E41-9489-47B88692E4C7}">
      <dgm:prSet/>
      <dgm:spPr/>
      <dgm:t>
        <a:bodyPr/>
        <a:lstStyle/>
        <a:p>
          <a:endParaRPr lang="en-GB" b="0" i="0">
            <a:latin typeface="Aptos Light" panose="020B0004020202020204" pitchFamily="34" charset="0"/>
          </a:endParaRPr>
        </a:p>
      </dgm:t>
    </dgm:pt>
    <dgm:pt modelId="{6FD3258B-80B6-6549-A62F-0C89AE4575F8}">
      <dgm:prSet phldrT="[Text]"/>
      <dgm:spPr>
        <a:solidFill>
          <a:schemeClr val="accent1">
            <a:lumMod val="60000"/>
            <a:lumOff val="40000"/>
          </a:schemeClr>
        </a:solidFill>
        <a:ln w="6350">
          <a:solidFill>
            <a:schemeClr val="tx1"/>
          </a:solidFill>
        </a:ln>
      </dgm:spPr>
      <dgm:t>
        <a:bodyPr/>
        <a:lstStyle/>
        <a:p>
          <a:r>
            <a:rPr lang="en-GB" b="0" i="0" dirty="0">
              <a:latin typeface="Aptos Light" panose="020B0004020202020204" pitchFamily="34" charset="0"/>
            </a:rPr>
            <a:t>65%</a:t>
          </a:r>
        </a:p>
      </dgm:t>
    </dgm:pt>
    <dgm:pt modelId="{2A0FEBD8-0E6D-2F47-A425-D71528DFFF13}" type="parTrans" cxnId="{5153D8AF-3772-4C4E-A0ED-6F8AA8200E9C}">
      <dgm:prSet/>
      <dgm:spPr/>
      <dgm:t>
        <a:bodyPr/>
        <a:lstStyle/>
        <a:p>
          <a:endParaRPr lang="en-GB" b="0" i="0">
            <a:latin typeface="Aptos Light" panose="020B0004020202020204" pitchFamily="34" charset="0"/>
          </a:endParaRPr>
        </a:p>
      </dgm:t>
    </dgm:pt>
    <dgm:pt modelId="{4022E190-5DC5-1444-B2D3-CBDBA1C6AB42}" type="sibTrans" cxnId="{5153D8AF-3772-4C4E-A0ED-6F8AA8200E9C}">
      <dgm:prSet/>
      <dgm:spPr/>
      <dgm:t>
        <a:bodyPr/>
        <a:lstStyle/>
        <a:p>
          <a:endParaRPr lang="en-GB" b="0" i="0">
            <a:latin typeface="Aptos Light" panose="020B0004020202020204" pitchFamily="34" charset="0"/>
          </a:endParaRPr>
        </a:p>
      </dgm:t>
    </dgm:pt>
    <dgm:pt modelId="{486C0F38-FA9F-F344-913F-193BFB2A7F07}">
      <dgm:prSet phldrT="[Text]"/>
      <dgm:spPr>
        <a:solidFill>
          <a:schemeClr val="accent1">
            <a:lumMod val="60000"/>
            <a:lumOff val="40000"/>
          </a:schemeClr>
        </a:solidFill>
        <a:ln w="6350"/>
      </dgm:spPr>
      <dgm:t>
        <a:bodyPr/>
        <a:lstStyle/>
        <a:p>
          <a:r>
            <a:rPr lang="en-GB" b="0" i="0" dirty="0">
              <a:latin typeface="Aptos Light" panose="020B0004020202020204" pitchFamily="34" charset="0"/>
            </a:rPr>
            <a:t>3%</a:t>
          </a:r>
        </a:p>
      </dgm:t>
    </dgm:pt>
    <dgm:pt modelId="{8554CA13-5C0C-D843-AEB7-BBCC8183DB38}" type="parTrans" cxnId="{FD536BC3-C5E1-BE43-83E5-11B6315CB20C}">
      <dgm:prSet/>
      <dgm:spPr/>
      <dgm:t>
        <a:bodyPr/>
        <a:lstStyle/>
        <a:p>
          <a:endParaRPr lang="en-GB" b="0" i="0">
            <a:latin typeface="Aptos Light" panose="020B0004020202020204" pitchFamily="34" charset="0"/>
          </a:endParaRPr>
        </a:p>
      </dgm:t>
    </dgm:pt>
    <dgm:pt modelId="{1A367DBF-D61D-CC4C-AE67-2F37CAD8F564}" type="sibTrans" cxnId="{FD536BC3-C5E1-BE43-83E5-11B6315CB20C}">
      <dgm:prSet/>
      <dgm:spPr/>
      <dgm:t>
        <a:bodyPr/>
        <a:lstStyle/>
        <a:p>
          <a:endParaRPr lang="en-GB" b="0" i="0">
            <a:latin typeface="Aptos Light" panose="020B0004020202020204" pitchFamily="34" charset="0"/>
          </a:endParaRPr>
        </a:p>
      </dgm:t>
    </dgm:pt>
    <dgm:pt modelId="{24EE943D-961A-044C-9173-E985E087BD09}">
      <dgm:prSet phldrT="[Text]"/>
      <dgm:spPr>
        <a:solidFill>
          <a:schemeClr val="accent1">
            <a:lumMod val="60000"/>
            <a:lumOff val="40000"/>
          </a:schemeClr>
        </a:solidFill>
        <a:ln w="6350"/>
      </dgm:spPr>
      <dgm:t>
        <a:bodyPr/>
        <a:lstStyle/>
        <a:p>
          <a:r>
            <a:rPr lang="en-GB" b="0" i="0" dirty="0">
              <a:latin typeface="Aptos Light" panose="020B0004020202020204" pitchFamily="34" charset="0"/>
            </a:rPr>
            <a:t>19%</a:t>
          </a:r>
        </a:p>
      </dgm:t>
    </dgm:pt>
    <dgm:pt modelId="{3D664126-EC6C-0643-A6A8-87ABA8BBC027}" type="parTrans" cxnId="{D92C5A37-1BC7-B640-A6BD-3D515128924B}">
      <dgm:prSet/>
      <dgm:spPr/>
      <dgm:t>
        <a:bodyPr/>
        <a:lstStyle/>
        <a:p>
          <a:endParaRPr lang="en-GB" b="0" i="0">
            <a:latin typeface="Aptos Light" panose="020B0004020202020204" pitchFamily="34" charset="0"/>
          </a:endParaRPr>
        </a:p>
      </dgm:t>
    </dgm:pt>
    <dgm:pt modelId="{CFDABF97-39FB-9C44-8075-C5D321ECC724}" type="sibTrans" cxnId="{D92C5A37-1BC7-B640-A6BD-3D515128924B}">
      <dgm:prSet/>
      <dgm:spPr/>
      <dgm:t>
        <a:bodyPr/>
        <a:lstStyle/>
        <a:p>
          <a:endParaRPr lang="en-GB" b="0" i="0">
            <a:latin typeface="Aptos Light" panose="020B0004020202020204" pitchFamily="34" charset="0"/>
          </a:endParaRPr>
        </a:p>
      </dgm:t>
    </dgm:pt>
    <dgm:pt modelId="{93F57FE1-8BAF-234D-A6A7-E62CF8DA1316}" type="pres">
      <dgm:prSet presAssocID="{26B0DE8E-D0CA-E943-AD2A-90F312FF3070}" presName="matrix" presStyleCnt="0">
        <dgm:presLayoutVars>
          <dgm:chMax val="1"/>
          <dgm:dir/>
          <dgm:resizeHandles val="exact"/>
        </dgm:presLayoutVars>
      </dgm:prSet>
      <dgm:spPr/>
    </dgm:pt>
    <dgm:pt modelId="{8037B6DF-511F-C444-9F00-D6408C605C58}" type="pres">
      <dgm:prSet presAssocID="{26B0DE8E-D0CA-E943-AD2A-90F312FF3070}" presName="axisShape" presStyleLbl="bgShp" presStyleIdx="0" presStyleCnt="1"/>
      <dgm:spPr/>
    </dgm:pt>
    <dgm:pt modelId="{3AD4564C-9BAC-2A45-9C81-8BF7A07CEB21}" type="pres">
      <dgm:prSet presAssocID="{26B0DE8E-D0CA-E943-AD2A-90F312FF3070}" presName="rect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67F35C8-26E3-EC4C-89FC-A2203EB7315E}" type="pres">
      <dgm:prSet presAssocID="{26B0DE8E-D0CA-E943-AD2A-90F312FF3070}" presName="rect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31BE76DA-1570-404D-8114-7861C4F3A80A}" type="pres">
      <dgm:prSet presAssocID="{26B0DE8E-D0CA-E943-AD2A-90F312FF3070}" presName="rect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2599B07-A382-314D-865D-C392A4D68578}" type="pres">
      <dgm:prSet presAssocID="{26B0DE8E-D0CA-E943-AD2A-90F312FF3070}" presName="rect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A9B0B311-533C-0B4B-AFEC-6CBAE2842EF7}" type="presOf" srcId="{6FD3258B-80B6-6549-A62F-0C89AE4575F8}" destId="{B67F35C8-26E3-EC4C-89FC-A2203EB7315E}" srcOrd="0" destOrd="0" presId="urn:microsoft.com/office/officeart/2005/8/layout/matrix2"/>
    <dgm:cxn modelId="{D92C5A37-1BC7-B640-A6BD-3D515128924B}" srcId="{26B0DE8E-D0CA-E943-AD2A-90F312FF3070}" destId="{24EE943D-961A-044C-9173-E985E087BD09}" srcOrd="3" destOrd="0" parTransId="{3D664126-EC6C-0643-A6A8-87ABA8BBC027}" sibTransId="{CFDABF97-39FB-9C44-8075-C5D321ECC724}"/>
    <dgm:cxn modelId="{9CE02841-A0CD-CE4E-947E-77CBCF2E24AF}" type="presOf" srcId="{63C40BFF-2A10-CE4D-88D3-C153350D26D5}" destId="{3AD4564C-9BAC-2A45-9C81-8BF7A07CEB21}" srcOrd="0" destOrd="0" presId="urn:microsoft.com/office/officeart/2005/8/layout/matrix2"/>
    <dgm:cxn modelId="{EB41908C-96F8-9E41-9489-47B88692E4C7}" srcId="{26B0DE8E-D0CA-E943-AD2A-90F312FF3070}" destId="{63C40BFF-2A10-CE4D-88D3-C153350D26D5}" srcOrd="0" destOrd="0" parTransId="{DB64D3D6-A9FC-5745-9F31-6397C2A27F3D}" sibTransId="{069AC2C1-69C4-064B-89BB-64F16A707609}"/>
    <dgm:cxn modelId="{69610B8E-9B7B-5E45-99DD-5ECCF9E8A7E7}" type="presOf" srcId="{26B0DE8E-D0CA-E943-AD2A-90F312FF3070}" destId="{93F57FE1-8BAF-234D-A6A7-E62CF8DA1316}" srcOrd="0" destOrd="0" presId="urn:microsoft.com/office/officeart/2005/8/layout/matrix2"/>
    <dgm:cxn modelId="{5153D8AF-3772-4C4E-A0ED-6F8AA8200E9C}" srcId="{26B0DE8E-D0CA-E943-AD2A-90F312FF3070}" destId="{6FD3258B-80B6-6549-A62F-0C89AE4575F8}" srcOrd="1" destOrd="0" parTransId="{2A0FEBD8-0E6D-2F47-A425-D71528DFFF13}" sibTransId="{4022E190-5DC5-1444-B2D3-CBDBA1C6AB42}"/>
    <dgm:cxn modelId="{659524B8-5D1F-1A43-AD11-4C82FDEBE1D8}" type="presOf" srcId="{486C0F38-FA9F-F344-913F-193BFB2A7F07}" destId="{31BE76DA-1570-404D-8114-7861C4F3A80A}" srcOrd="0" destOrd="0" presId="urn:microsoft.com/office/officeart/2005/8/layout/matrix2"/>
    <dgm:cxn modelId="{FD536BC3-C5E1-BE43-83E5-11B6315CB20C}" srcId="{26B0DE8E-D0CA-E943-AD2A-90F312FF3070}" destId="{486C0F38-FA9F-F344-913F-193BFB2A7F07}" srcOrd="2" destOrd="0" parTransId="{8554CA13-5C0C-D843-AEB7-BBCC8183DB38}" sibTransId="{1A367DBF-D61D-CC4C-AE67-2F37CAD8F564}"/>
    <dgm:cxn modelId="{2DEF2DD4-2016-1848-925B-08DF4E9E0E7D}" type="presOf" srcId="{24EE943D-961A-044C-9173-E985E087BD09}" destId="{32599B07-A382-314D-865D-C392A4D68578}" srcOrd="0" destOrd="0" presId="urn:microsoft.com/office/officeart/2005/8/layout/matrix2"/>
    <dgm:cxn modelId="{C23C7A71-34EE-C84E-A70D-B69AB706C66C}" type="presParOf" srcId="{93F57FE1-8BAF-234D-A6A7-E62CF8DA1316}" destId="{8037B6DF-511F-C444-9F00-D6408C605C58}" srcOrd="0" destOrd="0" presId="urn:microsoft.com/office/officeart/2005/8/layout/matrix2"/>
    <dgm:cxn modelId="{BE15F354-3D9C-A04F-A1B3-348E1047496B}" type="presParOf" srcId="{93F57FE1-8BAF-234D-A6A7-E62CF8DA1316}" destId="{3AD4564C-9BAC-2A45-9C81-8BF7A07CEB21}" srcOrd="1" destOrd="0" presId="urn:microsoft.com/office/officeart/2005/8/layout/matrix2"/>
    <dgm:cxn modelId="{19CAFDFA-9E56-084F-B0AD-9B22FDEE0558}" type="presParOf" srcId="{93F57FE1-8BAF-234D-A6A7-E62CF8DA1316}" destId="{B67F35C8-26E3-EC4C-89FC-A2203EB7315E}" srcOrd="2" destOrd="0" presId="urn:microsoft.com/office/officeart/2005/8/layout/matrix2"/>
    <dgm:cxn modelId="{74B77BF2-696F-0B42-858B-22F168D0AEA8}" type="presParOf" srcId="{93F57FE1-8BAF-234D-A6A7-E62CF8DA1316}" destId="{31BE76DA-1570-404D-8114-7861C4F3A80A}" srcOrd="3" destOrd="0" presId="urn:microsoft.com/office/officeart/2005/8/layout/matrix2"/>
    <dgm:cxn modelId="{59A5A53B-A02C-0643-A309-530C44E9FD41}" type="presParOf" srcId="{93F57FE1-8BAF-234D-A6A7-E62CF8DA1316}" destId="{32599B07-A382-314D-865D-C392A4D68578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37B6DF-511F-C444-9F00-D6408C605C58}">
      <dsp:nvSpPr>
        <dsp:cNvPr id="0" name=""/>
        <dsp:cNvSpPr/>
      </dsp:nvSpPr>
      <dsp:spPr>
        <a:xfrm>
          <a:off x="1016000" y="0"/>
          <a:ext cx="4064000" cy="4064000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D4564C-9BAC-2A45-9C81-8BF7A07CEB21}">
      <dsp:nvSpPr>
        <dsp:cNvPr id="0" name=""/>
        <dsp:cNvSpPr/>
      </dsp:nvSpPr>
      <dsp:spPr>
        <a:xfrm>
          <a:off x="1280160" y="264160"/>
          <a:ext cx="1625600" cy="1625600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 w="63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600" b="0" i="0" kern="1200" dirty="0">
              <a:latin typeface="Aptos Light" panose="020B0004020202020204" pitchFamily="34" charset="0"/>
            </a:rPr>
            <a:t>25%</a:t>
          </a:r>
        </a:p>
      </dsp:txBody>
      <dsp:txXfrm>
        <a:off x="1359515" y="343515"/>
        <a:ext cx="1466890" cy="1466890"/>
      </dsp:txXfrm>
    </dsp:sp>
    <dsp:sp modelId="{B67F35C8-26E3-EC4C-89FC-A2203EB7315E}">
      <dsp:nvSpPr>
        <dsp:cNvPr id="0" name=""/>
        <dsp:cNvSpPr/>
      </dsp:nvSpPr>
      <dsp:spPr>
        <a:xfrm>
          <a:off x="3190240" y="264160"/>
          <a:ext cx="1625600" cy="1625600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 w="63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600" b="0" i="0" kern="1200" dirty="0">
              <a:latin typeface="Aptos Light" panose="020B0004020202020204" pitchFamily="34" charset="0"/>
            </a:rPr>
            <a:t>65%</a:t>
          </a:r>
        </a:p>
      </dsp:txBody>
      <dsp:txXfrm>
        <a:off x="3269595" y="343515"/>
        <a:ext cx="1466890" cy="1466890"/>
      </dsp:txXfrm>
    </dsp:sp>
    <dsp:sp modelId="{31BE76DA-1570-404D-8114-7861C4F3A80A}">
      <dsp:nvSpPr>
        <dsp:cNvPr id="0" name=""/>
        <dsp:cNvSpPr/>
      </dsp:nvSpPr>
      <dsp:spPr>
        <a:xfrm>
          <a:off x="1280160" y="2174240"/>
          <a:ext cx="1625600" cy="1625600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 w="63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600" b="0" i="0" kern="1200" dirty="0">
              <a:latin typeface="Aptos Light" panose="020B0004020202020204" pitchFamily="34" charset="0"/>
            </a:rPr>
            <a:t>3%</a:t>
          </a:r>
        </a:p>
      </dsp:txBody>
      <dsp:txXfrm>
        <a:off x="1359515" y="2253595"/>
        <a:ext cx="1466890" cy="1466890"/>
      </dsp:txXfrm>
    </dsp:sp>
    <dsp:sp modelId="{32599B07-A382-314D-865D-C392A4D68578}">
      <dsp:nvSpPr>
        <dsp:cNvPr id="0" name=""/>
        <dsp:cNvSpPr/>
      </dsp:nvSpPr>
      <dsp:spPr>
        <a:xfrm>
          <a:off x="3190240" y="2174240"/>
          <a:ext cx="1625600" cy="1625600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 w="63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600" b="0" i="0" kern="1200" dirty="0">
              <a:latin typeface="Aptos Light" panose="020B0004020202020204" pitchFamily="34" charset="0"/>
            </a:rPr>
            <a:t>19%</a:t>
          </a:r>
        </a:p>
      </dsp:txBody>
      <dsp:txXfrm>
        <a:off x="3269595" y="2253595"/>
        <a:ext cx="1466890" cy="14668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0.58907</cdr:x>
      <cdr:y>0.14928</cdr:y>
    </cdr:from>
    <cdr:to>
      <cdr:x>0.76012</cdr:x>
      <cdr:y>0.23107</cdr:y>
    </cdr:to>
    <cdr:sp macro="" textlink="">
      <cdr:nvSpPr>
        <cdr:cNvPr id="3" name="TextBox 13">
          <a:extLst xmlns:a="http://schemas.openxmlformats.org/drawingml/2006/main">
            <a:ext uri="{FF2B5EF4-FFF2-40B4-BE49-F238E27FC236}">
              <a16:creationId xmlns:a16="http://schemas.microsoft.com/office/drawing/2014/main" id="{FC649FF1-B1BB-2CE5-B111-24E938081D9D}"/>
            </a:ext>
          </a:extLst>
        </cdr:cNvPr>
        <cdr:cNvSpPr txBox="1"/>
      </cdr:nvSpPr>
      <cdr:spPr>
        <a:xfrm xmlns:a="http://schemas.openxmlformats.org/drawingml/2006/main">
          <a:off x="4062447" y="617895"/>
          <a:ext cx="1179646" cy="338554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/>
        </a:solidFill>
        <a:ln xmlns:a="http://schemas.openxmlformats.org/drawingml/2006/main" w="6350">
          <a:solidFill>
            <a:schemeClr val="bg1">
              <a:lumMod val="50000"/>
            </a:schemeClr>
          </a:solidFill>
        </a:ln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sz="800" dirty="0">
              <a:latin typeface="Aptos" panose="020B0004020202020204" pitchFamily="34" charset="0"/>
            </a:rPr>
            <a:t>Long-Term Target Portfolio</a:t>
          </a: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0.07206</cdr:x>
      <cdr:y>0.3036</cdr:y>
    </cdr:from>
    <cdr:to>
      <cdr:x>0.42596</cdr:x>
      <cdr:y>0.3036</cdr:y>
    </cdr:to>
    <cdr:cxnSp macro="">
      <cdr:nvCxnSpPr>
        <cdr:cNvPr id="4" name="Straight Arrow Connector 3">
          <a:extLst xmlns:a="http://schemas.openxmlformats.org/drawingml/2006/main">
            <a:ext uri="{FF2B5EF4-FFF2-40B4-BE49-F238E27FC236}">
              <a16:creationId xmlns:a16="http://schemas.microsoft.com/office/drawing/2014/main" id="{D0CDDE63-DD40-4F00-2ACE-CD2BC499947D}"/>
            </a:ext>
          </a:extLst>
        </cdr:cNvPr>
        <cdr:cNvCxnSpPr/>
      </cdr:nvCxnSpPr>
      <cdr:spPr>
        <a:xfrm xmlns:a="http://schemas.openxmlformats.org/drawingml/2006/main">
          <a:off x="603483" y="1114090"/>
          <a:ext cx="2963918" cy="0"/>
        </a:xfrm>
        <a:prstGeom xmlns:a="http://schemas.openxmlformats.org/drawingml/2006/main" prst="straightConnector1">
          <a:avLst/>
        </a:prstGeom>
        <a:ln xmlns:a="http://schemas.openxmlformats.org/drawingml/2006/main">
          <a:solidFill>
            <a:srgbClr val="C00000"/>
          </a:solidFill>
          <a:headEnd type="triangle"/>
          <a:tailEnd type="triangle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0.10733</cdr:x>
      <cdr:y>0.28089</cdr:y>
    </cdr:from>
    <cdr:to>
      <cdr:x>0.30284</cdr:x>
      <cdr:y>0.43815</cdr:y>
    </cdr:to>
    <cdr:sp macro="" textlink="">
      <cdr:nvSpPr>
        <cdr:cNvPr id="2" name="TextBox 5">
          <a:extLst xmlns:a="http://schemas.openxmlformats.org/drawingml/2006/main">
            <a:ext uri="{FF2B5EF4-FFF2-40B4-BE49-F238E27FC236}">
              <a16:creationId xmlns:a16="http://schemas.microsoft.com/office/drawing/2014/main" id="{7A866E57-8AA2-9618-F690-24595E0740B9}"/>
            </a:ext>
          </a:extLst>
        </cdr:cNvPr>
        <cdr:cNvSpPr txBox="1"/>
      </cdr:nvSpPr>
      <cdr:spPr>
        <a:xfrm xmlns:a="http://schemas.openxmlformats.org/drawingml/2006/main">
          <a:off x="898872" y="1030757"/>
          <a:ext cx="1637414" cy="577081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/>
        </a:solidFill>
        <a:ln xmlns:a="http://schemas.openxmlformats.org/drawingml/2006/main">
          <a:solidFill>
            <a:srgbClr val="C00000"/>
          </a:solidFill>
        </a:ln>
      </cdr:spPr>
      <cdr:txBody>
        <a:bodyPr xmlns:a="http://schemas.openxmlformats.org/drawingml/2006/main" wrap="square" rtlCol="0">
          <a:spAutoFit/>
        </a:bodyPr>
        <a:lstStyle xmlns:a="http://schemas.openxmlformats.org/drawingml/2006/main">
          <a:defPPr>
            <a:defRPr lang="en-US"/>
          </a:defPPr>
          <a:lvl1pPr marL="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4572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GB" sz="1050" dirty="0">
              <a:solidFill>
                <a:srgbClr val="C00000"/>
              </a:solidFill>
              <a:latin typeface="Aptos" panose="020B0004020202020204" pitchFamily="34" charset="0"/>
            </a:rPr>
            <a:t>Potential drag on portfolio performance in early years</a:t>
          </a:r>
          <a:endParaRPr lang="en-US" sz="1050" dirty="0">
            <a:solidFill>
              <a:srgbClr val="C00000"/>
            </a:solidFill>
            <a:latin typeface="Aptos" panose="020B0004020202020204" pitchFamily="34" charset="0"/>
          </a:endParaRP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1FBADA-4773-404F-874F-B3857A68950B}" type="datetimeFigureOut">
              <a:rPr lang="en-US" smtClean="0"/>
              <a:t>7/9/25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130C15-E458-4B43-AE0F-5F07CFCA48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524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130C15-E458-4B43-AE0F-5F07CFCA48D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7936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130C15-E458-4B43-AE0F-5F07CFCA48D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1080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130C15-E458-4B43-AE0F-5F07CFCA48D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75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9B213-3102-C349-9554-E434846F78E6}" type="datetime1">
              <a:rPr lang="en-GB" smtClean="0"/>
              <a:t>09/07/2025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7A49E-DC7B-E44E-B81C-A7ED720E1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846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61742-974A-4443-8BE3-693B2B3ED8AD}" type="datetime1">
              <a:rPr lang="en-GB" smtClean="0"/>
              <a:t>09/07/2025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7A49E-DC7B-E44E-B81C-A7ED720E1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544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C1FB4-6600-964E-87AE-7944E8A54BF4}" type="datetime1">
              <a:rPr lang="en-GB" smtClean="0"/>
              <a:t>09/07/2025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7A49E-DC7B-E44E-B81C-A7ED720E1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996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1E02E-8688-0D40-8D95-F6B633E19384}" type="datetime1">
              <a:rPr lang="en-GB" smtClean="0"/>
              <a:t>09/07/2025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7A49E-DC7B-E44E-B81C-A7ED720E1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583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2112C-A07D-0C49-83D0-97E7715572E8}" type="datetime1">
              <a:rPr lang="en-GB" smtClean="0"/>
              <a:t>09/07/2025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7A49E-DC7B-E44E-B81C-A7ED720E1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376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3FB06-81A1-7145-AA10-23CB90609DB1}" type="datetime1">
              <a:rPr lang="en-GB" smtClean="0"/>
              <a:t>09/07/2025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7A49E-DC7B-E44E-B81C-A7ED720E1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131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6BF7C-B1D2-D341-B6EA-0F9EDB8B80EA}" type="datetime1">
              <a:rPr lang="en-GB" smtClean="0"/>
              <a:t>09/07/2025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7A49E-DC7B-E44E-B81C-A7ED720E1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39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0714D-A05F-CA49-830F-7B0ACED6C706}" type="datetime1">
              <a:rPr lang="en-GB" smtClean="0"/>
              <a:t>09/07/2025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7A49E-DC7B-E44E-B81C-A7ED720E1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719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311A0-74F8-7840-9594-267945A9A042}" type="datetime1">
              <a:rPr lang="en-GB" smtClean="0"/>
              <a:t>09/07/2025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7A49E-DC7B-E44E-B81C-A7ED720E1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388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F3922-980F-3047-91E3-B20D946F972E}" type="datetime1">
              <a:rPr lang="en-GB" smtClean="0"/>
              <a:t>09/07/2025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7A49E-DC7B-E44E-B81C-A7ED720E1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894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351C3-CB6C-CB43-A403-149A332B98B6}" type="datetime1">
              <a:rPr lang="en-GB" smtClean="0"/>
              <a:t>09/07/2025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7A49E-DC7B-E44E-B81C-A7ED720E1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43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41A623-B36F-C440-9672-F52869BB3AE9}" type="datetime1">
              <a:rPr lang="en-GB" smtClean="0"/>
              <a:t>09/07/2025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47A49E-DC7B-E44E-B81C-A7ED720E17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261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3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package" Target="../embeddings/Microsoft_Excel_Worksheet.xlsx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package" Target="../embeddings/Microsoft_Excel_Worksheet2.xlsx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emf"/><Relationship Id="rId4" Type="http://schemas.openxmlformats.org/officeDocument/2006/relationships/package" Target="../embeddings/Microsoft_Excel_Worksheet3.xlsx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package" Target="../embeddings/Microsoft_Excel_Worksheet4.xlsx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emf"/><Relationship Id="rId4" Type="http://schemas.openxmlformats.org/officeDocument/2006/relationships/package" Target="../embeddings/Microsoft_Excel_Worksheet5.xlsx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package" Target="../embeddings/Microsoft_Excel_Worksheet6.xlsx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emf"/><Relationship Id="rId4" Type="http://schemas.openxmlformats.org/officeDocument/2006/relationships/package" Target="../embeddings/Microsoft_Excel_Worksheet7.xlsx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package" Target="../embeddings/Microsoft_Excel_Worksheet8.xlsx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emf"/><Relationship Id="rId4" Type="http://schemas.openxmlformats.org/officeDocument/2006/relationships/package" Target="../embeddings/Microsoft_Excel_Worksheet9.xlsx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package" Target="../embeddings/Microsoft_Excel_Worksheet10.xlsx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emf"/><Relationship Id="rId4" Type="http://schemas.openxmlformats.org/officeDocument/2006/relationships/package" Target="../embeddings/Microsoft_Excel_Worksheet11.xlsx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e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package" Target="../embeddings/Microsoft_Excel_Worksheet13.xlsx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package" Target="../embeddings/Microsoft_Excel_Worksheet14.xlsx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7.xml"/><Relationship Id="rId4" Type="http://schemas.openxmlformats.org/officeDocument/2006/relationships/chart" Target="../charts/chart1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package" Target="../embeddings/Microsoft_Excel_Worksheet15.xlsx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2.xml"/><Relationship Id="rId4" Type="http://schemas.openxmlformats.org/officeDocument/2006/relationships/image" Target="../media/image23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4.xml"/><Relationship Id="rId2" Type="http://schemas.openxmlformats.org/officeDocument/2006/relationships/chart" Target="../charts/chart2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package" Target="../embeddings/Microsoft_Excel_Worksheet17.xlsx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7.xml"/><Relationship Id="rId2" Type="http://schemas.openxmlformats.org/officeDocument/2006/relationships/chart" Target="../charts/chart2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openxmlformats.org/officeDocument/2006/relationships/chart" Target="../charts/chart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package" Target="../embeddings/Microsoft_Excel_Worksheet19.xlsx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package" Target="../embeddings/Microsoft_Excel_Worksheet20.xlsx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1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2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E2EBE9-2CBC-7D80-DF5C-3788740F8B6C}"/>
              </a:ext>
            </a:extLst>
          </p:cNvPr>
          <p:cNvSpPr txBox="1"/>
          <p:nvPr/>
        </p:nvSpPr>
        <p:spPr>
          <a:xfrm>
            <a:off x="1769918" y="2719627"/>
            <a:ext cx="56041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Grotesque Light" panose="020B0304020202020204" pitchFamily="34" charset="0"/>
              </a:rPr>
              <a:t>Asset Allocation Modelling and Portfolio Analytics</a:t>
            </a:r>
          </a:p>
        </p:txBody>
      </p:sp>
    </p:spTree>
    <p:extLst>
      <p:ext uri="{BB962C8B-B14F-4D97-AF65-F5344CB8AC3E}">
        <p14:creationId xmlns:p14="http://schemas.microsoft.com/office/powerpoint/2010/main" val="908521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5A865-4313-992A-38F5-E35A632D5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8AE1749-0506-5C6B-D271-229EB17E0020}"/>
              </a:ext>
            </a:extLst>
          </p:cNvPr>
          <p:cNvCxnSpPr/>
          <p:nvPr/>
        </p:nvCxnSpPr>
        <p:spPr>
          <a:xfrm>
            <a:off x="441436" y="914400"/>
            <a:ext cx="107205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AD96609-A747-2EA1-6026-6BC29844DBC2}"/>
              </a:ext>
            </a:extLst>
          </p:cNvPr>
          <p:cNvSpPr txBox="1"/>
          <p:nvPr/>
        </p:nvSpPr>
        <p:spPr>
          <a:xfrm>
            <a:off x="351605" y="389382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Contents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51AC9E-C9BB-65E3-B900-8BED243982BA}"/>
              </a:ext>
            </a:extLst>
          </p:cNvPr>
          <p:cNvSpPr txBox="1"/>
          <p:nvPr/>
        </p:nvSpPr>
        <p:spPr>
          <a:xfrm>
            <a:off x="631060" y="1264093"/>
            <a:ext cx="7952501" cy="3369833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Grotesque Light" panose="020B0304020202020204" pitchFamily="34" charset="0"/>
              </a:rPr>
              <a:t>A Multi-Factor Framework for Asset Allocation Modelling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Grotesque Light" panose="020B0304020202020204" pitchFamily="34" charset="0"/>
                <a:cs typeface="Calibri Light" panose="020F0302020204030204" pitchFamily="34" charset="0"/>
              </a:rPr>
              <a:t>Case Studies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Grotesque Light" panose="020B0304020202020204" pitchFamily="34" charset="0"/>
                <a:cs typeface="Calibri Light" panose="020F0302020204030204" pitchFamily="34" charset="0"/>
              </a:rPr>
              <a:t>Sample Portfolio Risk Analytics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Grotesque Light" panose="020B0304020202020204" pitchFamily="34" charset="0"/>
                <a:cs typeface="Calibri Light" panose="020F0302020204030204" pitchFamily="34" charset="0"/>
              </a:rPr>
              <a:t>Portfolio Optimization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Grotesque Light" panose="020B0304020202020204" pitchFamily="34" charset="0"/>
                <a:cs typeface="Calibri Light" panose="020F0302020204030204" pitchFamily="34" charset="0"/>
              </a:rPr>
              <a:t>Concentrated Risk Analysis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Grotesque Light" panose="020B0304020202020204" pitchFamily="34" charset="0"/>
                <a:cs typeface="Calibri Light" panose="020F0302020204030204" pitchFamily="34" charset="0"/>
              </a:rPr>
              <a:t>Structured Notes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  <a:latin typeface="Grotesque Light" panose="020B0304020202020204" pitchFamily="34" charset="0"/>
                <a:cs typeface="Calibri Light" panose="020F0302020204030204" pitchFamily="34" charset="0"/>
              </a:rPr>
              <a:t>Private Markets Modelling</a:t>
            </a:r>
          </a:p>
          <a:p>
            <a:pPr marL="857250" lvl="1" indent="-400050">
              <a:lnSpc>
                <a:spcPct val="150000"/>
              </a:lnSpc>
              <a:buFont typeface="+mj-lt"/>
              <a:buAutoNum type="romanUcPeriod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Grotesque Light" panose="020B030402020202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4668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147EF-8075-3188-8082-36EE28EDE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317F320-8DCD-A612-3705-F1836EE907A9}"/>
              </a:ext>
            </a:extLst>
          </p:cNvPr>
          <p:cNvSpPr txBox="1"/>
          <p:nvPr/>
        </p:nvSpPr>
        <p:spPr>
          <a:xfrm>
            <a:off x="1769918" y="2719627"/>
            <a:ext cx="56041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Grotesque Light" panose="020B0304020202020204" pitchFamily="34" charset="0"/>
              </a:rPr>
              <a:t>A Multi-Factor Framework for Asset Allocation Modelling</a:t>
            </a:r>
          </a:p>
        </p:txBody>
      </p:sp>
    </p:spTree>
    <p:extLst>
      <p:ext uri="{BB962C8B-B14F-4D97-AF65-F5344CB8AC3E}">
        <p14:creationId xmlns:p14="http://schemas.microsoft.com/office/powerpoint/2010/main" val="3522575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BEC45-7043-D024-6E5A-62AB70B4E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09E853-7B99-9351-58D8-5916BAFDF475}"/>
              </a:ext>
            </a:extLst>
          </p:cNvPr>
          <p:cNvSpPr txBox="1"/>
          <p:nvPr/>
        </p:nvSpPr>
        <p:spPr>
          <a:xfrm>
            <a:off x="340972" y="368117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Multi-Factor Models Identify Sources of Long-Term Returns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96FCF6F1-A6FC-19E0-9FF1-FC890EF1E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759" y="2265875"/>
            <a:ext cx="1333500" cy="15240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74448FBE-5591-A3C1-D06F-6D10EEB4F8F8}"/>
              </a:ext>
            </a:extLst>
          </p:cNvPr>
          <p:cNvSpPr txBox="1"/>
          <p:nvPr/>
        </p:nvSpPr>
        <p:spPr>
          <a:xfrm>
            <a:off x="871868" y="3853670"/>
            <a:ext cx="1426631" cy="4154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solidFill>
                  <a:srgbClr val="FF0000"/>
                </a:solidFill>
                <a:latin typeface="Aptos" panose="020B0004020202020204" pitchFamily="34" charset="0"/>
              </a:rPr>
              <a:t>POOR ESTIMATES OF </a:t>
            </a:r>
          </a:p>
          <a:p>
            <a:pPr algn="ctr"/>
            <a:r>
              <a:rPr lang="en-US" sz="1050" dirty="0">
                <a:solidFill>
                  <a:srgbClr val="FF0000"/>
                </a:solidFill>
                <a:latin typeface="Aptos" panose="020B0004020202020204" pitchFamily="34" charset="0"/>
              </a:rPr>
              <a:t>RISK AND RETURN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A8D2779-83F1-1829-564E-8F9A86CF66E6}"/>
              </a:ext>
            </a:extLst>
          </p:cNvPr>
          <p:cNvSpPr txBox="1"/>
          <p:nvPr/>
        </p:nvSpPr>
        <p:spPr>
          <a:xfrm>
            <a:off x="2927478" y="3866137"/>
            <a:ext cx="1641840" cy="415498"/>
          </a:xfrm>
          <a:prstGeom prst="rect">
            <a:avLst/>
          </a:prstGeom>
          <a:noFill/>
          <a:ln>
            <a:solidFill>
              <a:srgbClr val="7CC04D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solidFill>
                  <a:srgbClr val="7CC04D"/>
                </a:solidFill>
                <a:latin typeface="Aptos" panose="020B0004020202020204" pitchFamily="34" charset="0"/>
              </a:rPr>
              <a:t>OVER 2X THE PRECISION OF ESTIMATES </a:t>
            </a:r>
          </a:p>
        </p:txBody>
      </p:sp>
      <p:sp>
        <p:nvSpPr>
          <p:cNvPr id="45" name="Multiply 44">
            <a:extLst>
              <a:ext uri="{FF2B5EF4-FFF2-40B4-BE49-F238E27FC236}">
                <a16:creationId xmlns:a16="http://schemas.microsoft.com/office/drawing/2014/main" id="{4557E188-5A16-F87C-609B-99E2ECD5DDE4}"/>
              </a:ext>
            </a:extLst>
          </p:cNvPr>
          <p:cNvSpPr/>
          <p:nvPr/>
        </p:nvSpPr>
        <p:spPr>
          <a:xfrm rot="1062317">
            <a:off x="2227116" y="3691865"/>
            <a:ext cx="318977" cy="330734"/>
          </a:xfrm>
          <a:prstGeom prst="mathMultiply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CB90895-1BDE-3B27-B00D-E67474791AE7}"/>
              </a:ext>
            </a:extLst>
          </p:cNvPr>
          <p:cNvSpPr txBox="1"/>
          <p:nvPr/>
        </p:nvSpPr>
        <p:spPr>
          <a:xfrm rot="1668696">
            <a:off x="4392600" y="3712085"/>
            <a:ext cx="4504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✅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A96FAD-14A8-CCB5-0EFC-58F3D9C2334F}"/>
              </a:ext>
            </a:extLst>
          </p:cNvPr>
          <p:cNvSpPr txBox="1"/>
          <p:nvPr/>
        </p:nvSpPr>
        <p:spPr>
          <a:xfrm>
            <a:off x="316427" y="1057616"/>
            <a:ext cx="8441032" cy="523220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ptos Light" panose="020B0004020202020204" pitchFamily="34" charset="0"/>
              </a:rPr>
              <a:t>Multi-factor models provide deeper insight into the true drivers of return, resulting in more precise and reliable long-term return estimates relative to single factor models.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Aptos Light" panose="020B0004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83A8EA-55B8-4D7D-2A39-826EBC8FCF61}"/>
              </a:ext>
            </a:extLst>
          </p:cNvPr>
          <p:cNvSpPr/>
          <p:nvPr/>
        </p:nvSpPr>
        <p:spPr>
          <a:xfrm>
            <a:off x="382772" y="1814658"/>
            <a:ext cx="4869711" cy="2609151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DE485B-39C8-1232-4AD6-DEF4B7AF37C4}"/>
              </a:ext>
            </a:extLst>
          </p:cNvPr>
          <p:cNvSpPr/>
          <p:nvPr/>
        </p:nvSpPr>
        <p:spPr>
          <a:xfrm>
            <a:off x="5465135" y="1807569"/>
            <a:ext cx="3349256" cy="2626873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E586C7-E9C4-F005-F207-08C9EEFAF540}"/>
              </a:ext>
            </a:extLst>
          </p:cNvPr>
          <p:cNvSpPr txBox="1"/>
          <p:nvPr/>
        </p:nvSpPr>
        <p:spPr>
          <a:xfrm>
            <a:off x="5454502" y="1691782"/>
            <a:ext cx="3366770" cy="276999"/>
          </a:xfrm>
          <a:prstGeom prst="rect">
            <a:avLst/>
          </a:prstGeom>
          <a:solidFill>
            <a:srgbClr val="151824"/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Each Asset Has a Unique Factor Profile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01D5E2-9D27-EAA0-6465-C7EBD11C791F}"/>
              </a:ext>
            </a:extLst>
          </p:cNvPr>
          <p:cNvSpPr txBox="1"/>
          <p:nvPr/>
        </p:nvSpPr>
        <p:spPr>
          <a:xfrm>
            <a:off x="5559945" y="2112369"/>
            <a:ext cx="1510706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Aptos" panose="020B0004020202020204" pitchFamily="34" charset="0"/>
              </a:rPr>
              <a:t>EM External Debt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2E6CF9-BC60-42CB-BF72-E2C67AB18E5E}"/>
              </a:ext>
            </a:extLst>
          </p:cNvPr>
          <p:cNvSpPr txBox="1"/>
          <p:nvPr/>
        </p:nvSpPr>
        <p:spPr>
          <a:xfrm>
            <a:off x="316427" y="4616073"/>
            <a:ext cx="8647582" cy="523220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ptos Light" panose="020B0004020202020204" pitchFamily="34" charset="0"/>
              </a:rPr>
              <a:t>Factors represent systematic risk exposures that are grounded in economic rationale, capturing risk premia associated with the transfer of risk.</a:t>
            </a:r>
            <a:endParaRPr lang="en-US" sz="1400" dirty="0">
              <a:latin typeface="Aptos Light" panose="020B0004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56CE3B-A169-7C88-F02D-A56342273E7F}"/>
              </a:ext>
            </a:extLst>
          </p:cNvPr>
          <p:cNvSpPr txBox="1"/>
          <p:nvPr/>
        </p:nvSpPr>
        <p:spPr>
          <a:xfrm>
            <a:off x="7222169" y="2105280"/>
            <a:ext cx="1510706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Aptos" panose="020B0004020202020204" pitchFamily="34" charset="0"/>
              </a:rPr>
              <a:t>Event Driven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7C52633-4E36-71DA-438A-4B0549C63762}"/>
              </a:ext>
            </a:extLst>
          </p:cNvPr>
          <p:cNvSpPr txBox="1"/>
          <p:nvPr/>
        </p:nvSpPr>
        <p:spPr>
          <a:xfrm>
            <a:off x="947626" y="2045241"/>
            <a:ext cx="1510706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Aptos" panose="020B0004020202020204" pitchFamily="34" charset="0"/>
              </a:rPr>
              <a:t>Single-Factor Model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85809F-C560-BE63-92F9-B781EF7B3645}"/>
              </a:ext>
            </a:extLst>
          </p:cNvPr>
          <p:cNvSpPr txBox="1"/>
          <p:nvPr/>
        </p:nvSpPr>
        <p:spPr>
          <a:xfrm>
            <a:off x="2940599" y="2066269"/>
            <a:ext cx="1510706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Aptos" panose="020B0004020202020204" pitchFamily="34" charset="0"/>
              </a:rPr>
              <a:t>Multi-Factor Model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1DDFAA3-BA83-AD32-EE35-F0913B2A5011}"/>
              </a:ext>
            </a:extLst>
          </p:cNvPr>
          <p:cNvSpPr txBox="1"/>
          <p:nvPr/>
        </p:nvSpPr>
        <p:spPr>
          <a:xfrm>
            <a:off x="374650" y="1688236"/>
            <a:ext cx="4883150" cy="276999"/>
          </a:xfrm>
          <a:prstGeom prst="rect">
            <a:avLst/>
          </a:prstGeom>
          <a:solidFill>
            <a:srgbClr val="151824"/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Multi-Factor Modelling Enhances Our Understanding Of Return Drivers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66C5162-25E9-BE09-E019-4ED3EE5AF826}"/>
              </a:ext>
            </a:extLst>
          </p:cNvPr>
          <p:cNvSpPr txBox="1"/>
          <p:nvPr/>
        </p:nvSpPr>
        <p:spPr>
          <a:xfrm>
            <a:off x="5581479" y="4100357"/>
            <a:ext cx="3121085" cy="253916"/>
          </a:xfrm>
          <a:prstGeom prst="rect">
            <a:avLst/>
          </a:prstGeom>
          <a:noFill/>
          <a:ln>
            <a:solidFill>
              <a:srgbClr val="7CC04D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solidFill>
                  <a:srgbClr val="7CC04D"/>
                </a:solidFill>
                <a:latin typeface="Aptos" panose="020B0004020202020204" pitchFamily="34" charset="0"/>
              </a:rPr>
              <a:t>BETTER UNDERSTANDING OF DIVERSIFICATION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0F09B2-AA3A-B04E-37A6-D5257C13F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910" y="2250372"/>
            <a:ext cx="1323428" cy="1536884"/>
          </a:xfrm>
          <a:prstGeom prst="rect">
            <a:avLst/>
          </a:prstGeom>
        </p:spPr>
      </p:pic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39C8938A-49E7-2045-04DA-38BC539CDAA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8837732"/>
              </p:ext>
            </p:extLst>
          </p:nvPr>
        </p:nvGraphicFramePr>
        <p:xfrm>
          <a:off x="7178566" y="2290357"/>
          <a:ext cx="1418896" cy="14577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45AD2213-6AB2-304E-83F6-9CDE0C99BC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92538397"/>
              </p:ext>
            </p:extLst>
          </p:nvPr>
        </p:nvGraphicFramePr>
        <p:xfrm>
          <a:off x="5590424" y="2307773"/>
          <a:ext cx="1418400" cy="14430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544619E-5052-73C1-5C2C-81158BFBBB74}"/>
              </a:ext>
            </a:extLst>
          </p:cNvPr>
          <p:cNvSpPr txBox="1"/>
          <p:nvPr/>
        </p:nvSpPr>
        <p:spPr>
          <a:xfrm>
            <a:off x="6086812" y="3658140"/>
            <a:ext cx="488159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Aptos Light" panose="020B0004020202020204" pitchFamily="34" charset="0"/>
              </a:rPr>
              <a:t>4.9%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501E96-FAD1-9698-0F41-081A6BD6937C}"/>
              </a:ext>
            </a:extLst>
          </p:cNvPr>
          <p:cNvSpPr txBox="1"/>
          <p:nvPr/>
        </p:nvSpPr>
        <p:spPr>
          <a:xfrm>
            <a:off x="6038913" y="3819249"/>
            <a:ext cx="597017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Aptos Light" panose="020B0004020202020204" pitchFamily="34" charset="0"/>
              </a:rPr>
              <a:t>+/- 3%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5A333F-5FA6-623D-E246-B832ACF4797D}"/>
              </a:ext>
            </a:extLst>
          </p:cNvPr>
          <p:cNvSpPr txBox="1"/>
          <p:nvPr/>
        </p:nvSpPr>
        <p:spPr>
          <a:xfrm>
            <a:off x="7719669" y="3636368"/>
            <a:ext cx="488159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Aptos Light" panose="020B0004020202020204" pitchFamily="34" charset="0"/>
              </a:rPr>
              <a:t>2.1%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815968-C680-A255-34C3-0048B53DD207}"/>
              </a:ext>
            </a:extLst>
          </p:cNvPr>
          <p:cNvSpPr txBox="1"/>
          <p:nvPr/>
        </p:nvSpPr>
        <p:spPr>
          <a:xfrm>
            <a:off x="7671770" y="3797477"/>
            <a:ext cx="597017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Aptos Light" panose="020B0004020202020204" pitchFamily="34" charset="0"/>
              </a:rPr>
              <a:t>+/- 1%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63567CB-A4CF-0CDE-B565-1AB5F905765E}"/>
              </a:ext>
            </a:extLst>
          </p:cNvPr>
          <p:cNvCxnSpPr/>
          <p:nvPr/>
        </p:nvCxnSpPr>
        <p:spPr>
          <a:xfrm>
            <a:off x="441436" y="914400"/>
            <a:ext cx="107205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7" name="Object 26">
            <a:extLst>
              <a:ext uri="{FF2B5EF4-FFF2-40B4-BE49-F238E27FC236}">
                <a16:creationId xmlns:a16="http://schemas.microsoft.com/office/drawing/2014/main" id="{C34615B5-4D5A-0D90-2E42-177D1C2478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6240723"/>
              </p:ext>
            </p:extLst>
          </p:nvPr>
        </p:nvGraphicFramePr>
        <p:xfrm>
          <a:off x="335305" y="5225746"/>
          <a:ext cx="8473391" cy="13494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11328400" imgH="1803400" progId="Excel.Sheet.12">
                  <p:embed/>
                </p:oleObj>
              </mc:Choice>
              <mc:Fallback>
                <p:oleObj name="Worksheet" r:id="rId6" imgW="11328400" imgH="18034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35305" y="5225746"/>
                        <a:ext cx="8473391" cy="13494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99915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465B7-C208-963D-D26D-B108470BD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9A746641-E87C-A425-6F99-48FD35A9E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927" y="2827440"/>
            <a:ext cx="2715228" cy="24274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EBF518-F7EA-077C-6231-08D53D67CB81}"/>
              </a:ext>
            </a:extLst>
          </p:cNvPr>
          <p:cNvSpPr txBox="1"/>
          <p:nvPr/>
        </p:nvSpPr>
        <p:spPr>
          <a:xfrm>
            <a:off x="351605" y="389382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Improving Asset Allocations with Robust Portfolio Optimization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63E2078-E921-293D-A070-989106796A8E}"/>
              </a:ext>
            </a:extLst>
          </p:cNvPr>
          <p:cNvSpPr txBox="1"/>
          <p:nvPr/>
        </p:nvSpPr>
        <p:spPr>
          <a:xfrm>
            <a:off x="397934" y="2076726"/>
            <a:ext cx="8348400" cy="276999"/>
          </a:xfrm>
          <a:prstGeom prst="rect">
            <a:avLst/>
          </a:prstGeom>
          <a:solidFill>
            <a:srgbClr val="151824"/>
          </a:solidFill>
          <a:ln w="1270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Robust Optimization is Designed to Deliver Superior Allocations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918B6C-CD26-D625-750A-82CFF5A45A18}"/>
              </a:ext>
            </a:extLst>
          </p:cNvPr>
          <p:cNvSpPr txBox="1"/>
          <p:nvPr/>
        </p:nvSpPr>
        <p:spPr>
          <a:xfrm>
            <a:off x="388882" y="1152855"/>
            <a:ext cx="8389843" cy="738664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Aptos Light" panose="020B0004020202020204" pitchFamily="34" charset="0"/>
              </a:rPr>
              <a:t>Traditional portfolio optimization overlooks uncertainty in risk and return estimates, resulting in unstable, poorly diversified portfolios; robust optimization addresses this shortcoming by incorporating uncertainty directly into the process, leading to superior optimal allocations.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Aptos Light" panose="020B0004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52A6D4-0B92-F98E-3029-EB0B2EA94200}"/>
              </a:ext>
            </a:extLst>
          </p:cNvPr>
          <p:cNvSpPr/>
          <p:nvPr/>
        </p:nvSpPr>
        <p:spPr>
          <a:xfrm>
            <a:off x="398721" y="2352004"/>
            <a:ext cx="8348400" cy="3619240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2281DF-C099-366A-8A61-EEF991953C98}"/>
              </a:ext>
            </a:extLst>
          </p:cNvPr>
          <p:cNvSpPr txBox="1"/>
          <p:nvPr/>
        </p:nvSpPr>
        <p:spPr>
          <a:xfrm>
            <a:off x="560320" y="2507040"/>
            <a:ext cx="3288666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Aptos" panose="020B0004020202020204" pitchFamily="34" charset="0"/>
              </a:rPr>
              <a:t>TRADITIONAL OPTIMIZATION METHODOLOGIES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2DFD52-F98A-5867-D8FC-42B632B393F9}"/>
              </a:ext>
            </a:extLst>
          </p:cNvPr>
          <p:cNvSpPr txBox="1"/>
          <p:nvPr/>
        </p:nvSpPr>
        <p:spPr>
          <a:xfrm>
            <a:off x="639051" y="5371874"/>
            <a:ext cx="2848429" cy="4154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solidFill>
                  <a:srgbClr val="FF0000"/>
                </a:solidFill>
                <a:latin typeface="Aptos" panose="020B0004020202020204" pitchFamily="34" charset="0"/>
              </a:rPr>
              <a:t>IGNORES UNCERTAINTIES IN RETURN ESTIMTATES -&gt; POOR DIVERSIFICATION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3C3F4F-BAA5-27C4-CA8D-F255D18254DB}"/>
              </a:ext>
            </a:extLst>
          </p:cNvPr>
          <p:cNvSpPr txBox="1"/>
          <p:nvPr/>
        </p:nvSpPr>
        <p:spPr>
          <a:xfrm>
            <a:off x="5651501" y="5393137"/>
            <a:ext cx="2875811" cy="415498"/>
          </a:xfrm>
          <a:prstGeom prst="rect">
            <a:avLst/>
          </a:prstGeom>
          <a:noFill/>
          <a:ln>
            <a:solidFill>
              <a:srgbClr val="7CC04D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solidFill>
                  <a:srgbClr val="7CC04D"/>
                </a:solidFill>
                <a:latin typeface="Aptos" panose="020B0004020202020204" pitchFamily="34" charset="0"/>
              </a:rPr>
              <a:t>ACKNOWLEDGES UNCERTAINTIES IN RETURN ESTIMATES -&gt; SUPERIOR DIVERSIFICATION</a:t>
            </a:r>
          </a:p>
        </p:txBody>
      </p:sp>
      <p:sp>
        <p:nvSpPr>
          <p:cNvPr id="9" name="Multiply 8">
            <a:extLst>
              <a:ext uri="{FF2B5EF4-FFF2-40B4-BE49-F238E27FC236}">
                <a16:creationId xmlns:a16="http://schemas.microsoft.com/office/drawing/2014/main" id="{41666A2D-7463-95B1-BA36-6604FF2CA57A}"/>
              </a:ext>
            </a:extLst>
          </p:cNvPr>
          <p:cNvSpPr/>
          <p:nvPr/>
        </p:nvSpPr>
        <p:spPr>
          <a:xfrm rot="1062317">
            <a:off x="3316331" y="5174688"/>
            <a:ext cx="331213" cy="365052"/>
          </a:xfrm>
          <a:prstGeom prst="mathMultiply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DF0FCE-58FE-D0BE-AD6A-7635DE5C832C}"/>
              </a:ext>
            </a:extLst>
          </p:cNvPr>
          <p:cNvSpPr txBox="1"/>
          <p:nvPr/>
        </p:nvSpPr>
        <p:spPr>
          <a:xfrm rot="1668696">
            <a:off x="5390537" y="5214701"/>
            <a:ext cx="4676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✅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9EBEFD3-4351-F964-4B11-AA8F36F15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909" y="2776586"/>
            <a:ext cx="2787871" cy="249238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B7AD27E-7475-1BE6-30D4-AAB1A7260090}"/>
              </a:ext>
            </a:extLst>
          </p:cNvPr>
          <p:cNvSpPr txBox="1"/>
          <p:nvPr/>
        </p:nvSpPr>
        <p:spPr>
          <a:xfrm>
            <a:off x="5894773" y="2507040"/>
            <a:ext cx="2526212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Aptos" panose="020B0004020202020204" pitchFamily="34" charset="0"/>
              </a:rPr>
              <a:t>ROBUST PORTFOLIO OPTIMIZATION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B9502F5-3320-B015-40FF-CB23C81F56E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9719" b="23225"/>
          <a:stretch>
            <a:fillRect/>
          </a:stretch>
        </p:blipFill>
        <p:spPr>
          <a:xfrm>
            <a:off x="3972501" y="2802744"/>
            <a:ext cx="1198998" cy="903768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2678A8D2-6DD2-A21B-23BB-A04CBCEBBE91}"/>
              </a:ext>
            </a:extLst>
          </p:cNvPr>
          <p:cNvSpPr/>
          <p:nvPr/>
        </p:nvSpPr>
        <p:spPr>
          <a:xfrm>
            <a:off x="3934047" y="2802742"/>
            <a:ext cx="1244009" cy="914400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Curved Connector 54">
            <a:extLst>
              <a:ext uri="{FF2B5EF4-FFF2-40B4-BE49-F238E27FC236}">
                <a16:creationId xmlns:a16="http://schemas.microsoft.com/office/drawing/2014/main" id="{0B6513DE-70A3-0E2E-3917-F83F4931DD12}"/>
              </a:ext>
            </a:extLst>
          </p:cNvPr>
          <p:cNvCxnSpPr>
            <a:cxnSpLocks/>
          </p:cNvCxnSpPr>
          <p:nvPr/>
        </p:nvCxnSpPr>
        <p:spPr>
          <a:xfrm>
            <a:off x="5167422" y="3249309"/>
            <a:ext cx="839973" cy="733647"/>
          </a:xfrm>
          <a:prstGeom prst="curvedConnector3">
            <a:avLst>
              <a:gd name="adj1" fmla="val 46203"/>
            </a:avLst>
          </a:prstGeom>
          <a:ln w="2222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urved Connector 62">
            <a:extLst>
              <a:ext uri="{FF2B5EF4-FFF2-40B4-BE49-F238E27FC236}">
                <a16:creationId xmlns:a16="http://schemas.microsoft.com/office/drawing/2014/main" id="{63175A04-2692-726C-6ED7-830959414FFF}"/>
              </a:ext>
            </a:extLst>
          </p:cNvPr>
          <p:cNvCxnSpPr>
            <a:cxnSpLocks/>
          </p:cNvCxnSpPr>
          <p:nvPr/>
        </p:nvCxnSpPr>
        <p:spPr>
          <a:xfrm rot="10800000" flipV="1">
            <a:off x="3083442" y="3249303"/>
            <a:ext cx="839979" cy="744285"/>
          </a:xfrm>
          <a:prstGeom prst="curvedConnector3">
            <a:avLst>
              <a:gd name="adj1" fmla="val 50000"/>
            </a:avLst>
          </a:prstGeom>
          <a:ln w="2222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6ED3269-3732-1125-0B3F-363428E88208}"/>
              </a:ext>
            </a:extLst>
          </p:cNvPr>
          <p:cNvCxnSpPr/>
          <p:nvPr/>
        </p:nvCxnSpPr>
        <p:spPr>
          <a:xfrm>
            <a:off x="441436" y="914400"/>
            <a:ext cx="107205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8995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18CF0-2FA1-07A8-DDD9-355395D0F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72E006FD-A5FA-0AC9-ED4D-8ABFFD4B7E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469"/>
          <a:stretch>
            <a:fillRect/>
          </a:stretch>
        </p:blipFill>
        <p:spPr>
          <a:xfrm>
            <a:off x="482307" y="2323520"/>
            <a:ext cx="4536846" cy="40882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6CBA32A-5261-DDCD-F296-642543F12876}"/>
              </a:ext>
            </a:extLst>
          </p:cNvPr>
          <p:cNvSpPr txBox="1"/>
          <p:nvPr/>
        </p:nvSpPr>
        <p:spPr>
          <a:xfrm>
            <a:off x="383014" y="389138"/>
            <a:ext cx="7747376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Factor-Based Risk Analytics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41BD3A-47A5-F99A-1867-9383A0F5D872}"/>
              </a:ext>
            </a:extLst>
          </p:cNvPr>
          <p:cNvSpPr/>
          <p:nvPr/>
        </p:nvSpPr>
        <p:spPr>
          <a:xfrm>
            <a:off x="372140" y="2298084"/>
            <a:ext cx="4880343" cy="3342796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65950F-0F6B-CC93-A7A4-DBD094E351BD}"/>
              </a:ext>
            </a:extLst>
          </p:cNvPr>
          <p:cNvSpPr/>
          <p:nvPr/>
        </p:nvSpPr>
        <p:spPr>
          <a:xfrm>
            <a:off x="5465135" y="2216564"/>
            <a:ext cx="3349256" cy="3434945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3BC275-E45A-2FF7-E4E1-1558F880767B}"/>
              </a:ext>
            </a:extLst>
          </p:cNvPr>
          <p:cNvSpPr txBox="1"/>
          <p:nvPr/>
        </p:nvSpPr>
        <p:spPr>
          <a:xfrm>
            <a:off x="5461000" y="2100777"/>
            <a:ext cx="3356934" cy="276999"/>
          </a:xfrm>
          <a:prstGeom prst="rect">
            <a:avLst/>
          </a:prstGeom>
          <a:solidFill>
            <a:srgbClr val="151824"/>
          </a:solidFill>
          <a:ln w="12700">
            <a:solidFill>
              <a:schemeClr val="tx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Applying Factor Risk Analytics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894ED4-DDA5-E2CD-EADC-3465294B24FC}"/>
              </a:ext>
            </a:extLst>
          </p:cNvPr>
          <p:cNvSpPr txBox="1"/>
          <p:nvPr/>
        </p:nvSpPr>
        <p:spPr>
          <a:xfrm>
            <a:off x="5751331" y="2702118"/>
            <a:ext cx="2722818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Aptos" panose="020B0004020202020204" pitchFamily="34" charset="0"/>
              </a:rPr>
              <a:t>Event Driven Hedge Funds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7CEF43C-74F2-F15D-9231-A0EEDC6AEDCD}"/>
              </a:ext>
            </a:extLst>
          </p:cNvPr>
          <p:cNvSpPr txBox="1"/>
          <p:nvPr/>
        </p:nvSpPr>
        <p:spPr>
          <a:xfrm>
            <a:off x="368593" y="2097231"/>
            <a:ext cx="4880343" cy="276999"/>
          </a:xfrm>
          <a:prstGeom prst="rect">
            <a:avLst/>
          </a:prstGeom>
          <a:solidFill>
            <a:srgbClr val="151824"/>
          </a:solidFill>
          <a:ln w="12700">
            <a:solidFill>
              <a:schemeClr val="tx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Factor-Based Risk Models Better Capture True Market Dynamics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2D25396-A637-57BA-075D-53E156C924AF}"/>
              </a:ext>
            </a:extLst>
          </p:cNvPr>
          <p:cNvSpPr txBox="1"/>
          <p:nvPr/>
        </p:nvSpPr>
        <p:spPr>
          <a:xfrm>
            <a:off x="5752214" y="4852835"/>
            <a:ext cx="2860158" cy="253916"/>
          </a:xfrm>
          <a:prstGeom prst="rect">
            <a:avLst/>
          </a:prstGeom>
          <a:noFill/>
          <a:ln>
            <a:solidFill>
              <a:srgbClr val="7CC04D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solidFill>
                  <a:srgbClr val="7CC04D"/>
                </a:solidFill>
                <a:latin typeface="Aptos" panose="020B0004020202020204" pitchFamily="34" charset="0"/>
              </a:rPr>
              <a:t>MORE REALISTIC DOWNSIDE RISK ESTIMATES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B5FECD8-A062-C36A-ABDB-3D2120D9239D}"/>
              </a:ext>
            </a:extLst>
          </p:cNvPr>
          <p:cNvSpPr/>
          <p:nvPr/>
        </p:nvSpPr>
        <p:spPr>
          <a:xfrm>
            <a:off x="4189228" y="4779639"/>
            <a:ext cx="531628" cy="308348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A6283E6-2CD8-A7C6-9DAD-E2DD2A87D4E0}"/>
              </a:ext>
            </a:extLst>
          </p:cNvPr>
          <p:cNvCxnSpPr/>
          <p:nvPr/>
        </p:nvCxnSpPr>
        <p:spPr>
          <a:xfrm>
            <a:off x="4465673" y="3918402"/>
            <a:ext cx="0" cy="7868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C0F8F78C-4699-0E4D-F60B-0DB8D899EAB0}"/>
              </a:ext>
            </a:extLst>
          </p:cNvPr>
          <p:cNvSpPr txBox="1"/>
          <p:nvPr/>
        </p:nvSpPr>
        <p:spPr>
          <a:xfrm>
            <a:off x="3721393" y="3529018"/>
            <a:ext cx="1339705" cy="41549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solidFill>
                  <a:srgbClr val="FF0000"/>
                </a:solidFill>
                <a:latin typeface="Aptos" panose="020B0004020202020204" pitchFamily="34" charset="0"/>
              </a:rPr>
              <a:t>UNABLE TO CAPTURE FAT TAILS</a:t>
            </a:r>
          </a:p>
        </p:txBody>
      </p:sp>
      <p:sp>
        <p:nvSpPr>
          <p:cNvPr id="45" name="Multiply 44">
            <a:extLst>
              <a:ext uri="{FF2B5EF4-FFF2-40B4-BE49-F238E27FC236}">
                <a16:creationId xmlns:a16="http://schemas.microsoft.com/office/drawing/2014/main" id="{32FF0F2E-9354-848F-9143-2D79449AC308}"/>
              </a:ext>
            </a:extLst>
          </p:cNvPr>
          <p:cNvSpPr/>
          <p:nvPr/>
        </p:nvSpPr>
        <p:spPr>
          <a:xfrm rot="1062317">
            <a:off x="3598716" y="3377845"/>
            <a:ext cx="318977" cy="330734"/>
          </a:xfrm>
          <a:prstGeom prst="mathMultiply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D6DF57D-EC3C-4242-82BF-396CB8474439}"/>
              </a:ext>
            </a:extLst>
          </p:cNvPr>
          <p:cNvSpPr/>
          <p:nvPr/>
        </p:nvSpPr>
        <p:spPr>
          <a:xfrm>
            <a:off x="489098" y="4811540"/>
            <a:ext cx="1201478" cy="308344"/>
          </a:xfrm>
          <a:prstGeom prst="ellipse">
            <a:avLst/>
          </a:prstGeom>
          <a:noFill/>
          <a:ln w="19050">
            <a:solidFill>
              <a:srgbClr val="7CC0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1250C75-FDBB-B149-E7C5-45B31BDB3BD4}"/>
              </a:ext>
            </a:extLst>
          </p:cNvPr>
          <p:cNvCxnSpPr>
            <a:cxnSpLocks/>
          </p:cNvCxnSpPr>
          <p:nvPr/>
        </p:nvCxnSpPr>
        <p:spPr>
          <a:xfrm>
            <a:off x="1194387" y="3854609"/>
            <a:ext cx="0" cy="917945"/>
          </a:xfrm>
          <a:prstGeom prst="straightConnector1">
            <a:avLst/>
          </a:prstGeom>
          <a:ln>
            <a:solidFill>
              <a:srgbClr val="7CC04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50988488-AF07-5E11-2BDD-9729C15B64B6}"/>
              </a:ext>
            </a:extLst>
          </p:cNvPr>
          <p:cNvSpPr txBox="1"/>
          <p:nvPr/>
        </p:nvSpPr>
        <p:spPr>
          <a:xfrm>
            <a:off x="705270" y="3467061"/>
            <a:ext cx="1878441" cy="415498"/>
          </a:xfrm>
          <a:prstGeom prst="rect">
            <a:avLst/>
          </a:prstGeom>
          <a:solidFill>
            <a:schemeClr val="bg1"/>
          </a:solidFill>
          <a:ln>
            <a:solidFill>
              <a:srgbClr val="7CC04D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solidFill>
                  <a:srgbClr val="7CC04D"/>
                </a:solidFill>
                <a:latin typeface="Aptos" panose="020B0004020202020204" pitchFamily="34" charset="0"/>
              </a:rPr>
              <a:t>BETTER CAPTURE OF REAL-WORLD TAIL EVENTS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6A22526-0E03-2665-EC2D-171FAE076FE5}"/>
              </a:ext>
            </a:extLst>
          </p:cNvPr>
          <p:cNvSpPr txBox="1"/>
          <p:nvPr/>
        </p:nvSpPr>
        <p:spPr>
          <a:xfrm rot="1846201">
            <a:off x="481843" y="3355127"/>
            <a:ext cx="3737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✅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3179DB-56F0-070C-68F0-E62427F39DD4}"/>
              </a:ext>
            </a:extLst>
          </p:cNvPr>
          <p:cNvSpPr txBox="1"/>
          <p:nvPr/>
        </p:nvSpPr>
        <p:spPr>
          <a:xfrm rot="1516188">
            <a:off x="5514834" y="4699599"/>
            <a:ext cx="3737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✅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526A335-6315-8329-6A34-CF74136BBA93}"/>
              </a:ext>
            </a:extLst>
          </p:cNvPr>
          <p:cNvSpPr txBox="1"/>
          <p:nvPr/>
        </p:nvSpPr>
        <p:spPr>
          <a:xfrm>
            <a:off x="420413" y="3152230"/>
            <a:ext cx="2507083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Aptos" panose="020B0004020202020204" pitchFamily="34" charset="0"/>
              </a:rPr>
              <a:t>Factor-Based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9E49DC-CF25-5DA6-A1C7-45E926C08DBA}"/>
              </a:ext>
            </a:extLst>
          </p:cNvPr>
          <p:cNvSpPr txBox="1"/>
          <p:nvPr/>
        </p:nvSpPr>
        <p:spPr>
          <a:xfrm>
            <a:off x="3057749" y="3177040"/>
            <a:ext cx="2722818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Aptos" panose="020B0004020202020204" pitchFamily="34" charset="0"/>
              </a:rPr>
              <a:t>Normal Distribution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782EF9C-B1C4-F86C-CFBD-828442BC1158}"/>
              </a:ext>
            </a:extLst>
          </p:cNvPr>
          <p:cNvCxnSpPr/>
          <p:nvPr/>
        </p:nvCxnSpPr>
        <p:spPr>
          <a:xfrm flipH="1" flipV="1">
            <a:off x="3423684" y="3067797"/>
            <a:ext cx="361507" cy="148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D234065-7413-E52F-2DBE-7BAA4C345E78}"/>
              </a:ext>
            </a:extLst>
          </p:cNvPr>
          <p:cNvCxnSpPr>
            <a:cxnSpLocks/>
          </p:cNvCxnSpPr>
          <p:nvPr/>
        </p:nvCxnSpPr>
        <p:spPr>
          <a:xfrm>
            <a:off x="2249214" y="3321268"/>
            <a:ext cx="866126" cy="1080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9A5143E-6BAD-A9D4-B38A-1A3A9173DEDB}"/>
              </a:ext>
            </a:extLst>
          </p:cNvPr>
          <p:cNvCxnSpPr/>
          <p:nvPr/>
        </p:nvCxnSpPr>
        <p:spPr>
          <a:xfrm>
            <a:off x="441436" y="914400"/>
            <a:ext cx="107205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315B075-AFB2-1435-8876-5B2D6357E47F}"/>
              </a:ext>
            </a:extLst>
          </p:cNvPr>
          <p:cNvSpPr txBox="1"/>
          <p:nvPr/>
        </p:nvSpPr>
        <p:spPr>
          <a:xfrm>
            <a:off x="351484" y="1116980"/>
            <a:ext cx="8441032" cy="830997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latin typeface="Aptos Light" panose="020B0004020202020204" pitchFamily="34" charset="0"/>
              </a:defRPr>
            </a:lvl1pPr>
          </a:lstStyle>
          <a:p>
            <a:r>
              <a:rPr lang="en-GB" sz="1600" dirty="0"/>
              <a:t>Factor-based risk models better capture real-world market behaviour leading to more realistic measures of portfolio risk when compared to traditional risk analytics, even in stressed market scenarios.</a:t>
            </a: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E51DEE8E-1CD0-3949-A9FE-B08970DA87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5550012"/>
              </p:ext>
            </p:extLst>
          </p:nvPr>
        </p:nvGraphicFramePr>
        <p:xfrm>
          <a:off x="5847621" y="3109394"/>
          <a:ext cx="2611042" cy="13693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2857500" imgH="1498600" progId="Excel.Sheet.12">
                  <p:embed/>
                </p:oleObj>
              </mc:Choice>
              <mc:Fallback>
                <p:oleObj name="Worksheet" r:id="rId3" imgW="2857500" imgH="14986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47621" y="3109394"/>
                        <a:ext cx="2611042" cy="13693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61509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495BE-1818-E109-32C1-2C731A2EA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B8DF3BC-0AD5-FAF1-F262-BF7873421B81}"/>
              </a:ext>
            </a:extLst>
          </p:cNvPr>
          <p:cNvSpPr txBox="1"/>
          <p:nvPr/>
        </p:nvSpPr>
        <p:spPr>
          <a:xfrm>
            <a:off x="1769918" y="2736503"/>
            <a:ext cx="560416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>
                <a:latin typeface="Grotesque Light" panose="020B0304020202020204" pitchFamily="34" charset="0"/>
              </a:defRPr>
            </a:lvl1pPr>
          </a:lstStyle>
          <a:p>
            <a:r>
              <a:rPr lang="en-US" dirty="0"/>
              <a:t>Case Studies:</a:t>
            </a:r>
          </a:p>
          <a:p>
            <a:r>
              <a:rPr lang="en-US" dirty="0"/>
              <a:t>Sample Portfolio Risk and Return Analytics</a:t>
            </a:r>
          </a:p>
        </p:txBody>
      </p:sp>
    </p:spTree>
    <p:extLst>
      <p:ext uri="{BB962C8B-B14F-4D97-AF65-F5344CB8AC3E}">
        <p14:creationId xmlns:p14="http://schemas.microsoft.com/office/powerpoint/2010/main" val="4137232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EE856-C901-FF68-A896-340EF470A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831C97-B8FD-ADED-555B-7172C37C91E1}"/>
              </a:ext>
            </a:extLst>
          </p:cNvPr>
          <p:cNvSpPr txBox="1"/>
          <p:nvPr/>
        </p:nvSpPr>
        <p:spPr>
          <a:xfrm>
            <a:off x="338291" y="289102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Sample Portfolio Risk and Return 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7DFE78-E2CF-5F9E-A512-6EC39A7B3DED}"/>
              </a:ext>
            </a:extLst>
          </p:cNvPr>
          <p:cNvSpPr txBox="1"/>
          <p:nvPr/>
        </p:nvSpPr>
        <p:spPr>
          <a:xfrm>
            <a:off x="302496" y="1003170"/>
            <a:ext cx="8539009" cy="276999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Forward Looking Portfolio Risk and </a:t>
            </a:r>
            <a:r>
              <a:rPr lang="en-US"/>
              <a:t>Return Analytics </a:t>
            </a:r>
            <a:endParaRPr lang="en-US" dirty="0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71C636B3-34E4-B9EB-D790-CDD89E4138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3967877"/>
              </p:ext>
            </p:extLst>
          </p:nvPr>
        </p:nvGraphicFramePr>
        <p:xfrm>
          <a:off x="478658" y="1413379"/>
          <a:ext cx="3563796" cy="48195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803900" imgH="7848600" progId="Excel.Sheet.12">
                  <p:embed/>
                </p:oleObj>
              </mc:Choice>
              <mc:Fallback>
                <p:oleObj name="Worksheet" r:id="rId2" imgW="5803900" imgH="78486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78658" y="1413379"/>
                        <a:ext cx="3563796" cy="48195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BA9D689C-CEBF-85B7-5F2F-88913F5BB3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4604413"/>
              </p:ext>
            </p:extLst>
          </p:nvPr>
        </p:nvGraphicFramePr>
        <p:xfrm>
          <a:off x="4485139" y="1626895"/>
          <a:ext cx="4214495" cy="460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6438900" imgH="7035800" progId="Excel.Sheet.12">
                  <p:embed/>
                </p:oleObj>
              </mc:Choice>
              <mc:Fallback>
                <p:oleObj name="Worksheet" r:id="rId4" imgW="6438900" imgH="70358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85139" y="1626895"/>
                        <a:ext cx="4214495" cy="4605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16B4329-6EFE-196D-D94A-9B60009C7E1E}"/>
              </a:ext>
            </a:extLst>
          </p:cNvPr>
          <p:cNvSpPr txBox="1"/>
          <p:nvPr/>
        </p:nvSpPr>
        <p:spPr>
          <a:xfrm>
            <a:off x="347435" y="606892"/>
            <a:ext cx="77473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Grotesque Light" panose="020B0304020202020204" pitchFamily="34" charset="0"/>
              </a:rPr>
              <a:t>Base Currency: USD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0BE04B9-7B16-9B76-E4AC-9FC610AA1899}"/>
              </a:ext>
            </a:extLst>
          </p:cNvPr>
          <p:cNvCxnSpPr/>
          <p:nvPr/>
        </p:nvCxnSpPr>
        <p:spPr>
          <a:xfrm>
            <a:off x="302496" y="6436242"/>
            <a:ext cx="853900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EF60B05-2298-2A08-B562-00A35E0A143E}"/>
              </a:ext>
            </a:extLst>
          </p:cNvPr>
          <p:cNvSpPr txBox="1"/>
          <p:nvPr/>
        </p:nvSpPr>
        <p:spPr>
          <a:xfrm>
            <a:off x="237947" y="6470773"/>
            <a:ext cx="85964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aseline="30000" dirty="0">
                <a:latin typeface="Grotesque Light" panose="020B0304020202020204" pitchFamily="34" charset="0"/>
              </a:rPr>
              <a:t>1</a:t>
            </a:r>
            <a:r>
              <a:rPr lang="en-US" sz="700" dirty="0">
                <a:latin typeface="Grotesque Light" panose="020B0304020202020204" pitchFamily="34" charset="0"/>
              </a:rPr>
              <a:t>Predicted performance over stress periods captures the expected cumulative portfolio performance should a similar type economic shock happens again in the future. Past performance is not indicative of future results, which may vary. Not investment advice.</a:t>
            </a:r>
          </a:p>
        </p:txBody>
      </p:sp>
    </p:spTree>
    <p:extLst>
      <p:ext uri="{BB962C8B-B14F-4D97-AF65-F5344CB8AC3E}">
        <p14:creationId xmlns:p14="http://schemas.microsoft.com/office/powerpoint/2010/main" val="2636714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58801-7EA8-BE34-422D-B22A73EB1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027511-E1A0-5646-C7ED-AF8203B013F3}"/>
              </a:ext>
            </a:extLst>
          </p:cNvPr>
          <p:cNvSpPr txBox="1"/>
          <p:nvPr/>
        </p:nvSpPr>
        <p:spPr>
          <a:xfrm>
            <a:off x="302495" y="311996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Portfolio Risk</a:t>
            </a:r>
            <a:r>
              <a:rPr lang="en-US" sz="2000" baseline="30000" dirty="0">
                <a:latin typeface="Grotesque Light" panose="020B0304020202020204" pitchFamily="34" charset="0"/>
              </a:rPr>
              <a:t>1</a:t>
            </a:r>
            <a:r>
              <a:rPr lang="en-US" sz="2000" dirty="0">
                <a:latin typeface="Grotesque Light" panose="020B0304020202020204" pitchFamily="34" charset="0"/>
              </a:rPr>
              <a:t> Decomposition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C65087-5F7A-9CC0-C4F8-18C39F468874}"/>
              </a:ext>
            </a:extLst>
          </p:cNvPr>
          <p:cNvSpPr txBox="1"/>
          <p:nvPr/>
        </p:nvSpPr>
        <p:spPr>
          <a:xfrm>
            <a:off x="302495" y="1155211"/>
            <a:ext cx="3998843" cy="26161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Risk </a:t>
            </a:r>
            <a:r>
              <a:rPr lang="en-US"/>
              <a:t>Decomposition by Asset Class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CD0A72-9B7D-06B1-1085-AC7870394F3A}"/>
              </a:ext>
            </a:extLst>
          </p:cNvPr>
          <p:cNvSpPr txBox="1"/>
          <p:nvPr/>
        </p:nvSpPr>
        <p:spPr>
          <a:xfrm>
            <a:off x="4520794" y="1160191"/>
            <a:ext cx="4320711" cy="26161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Risk </a:t>
            </a:r>
            <a:r>
              <a:rPr lang="en-US"/>
              <a:t>Decomposition by FX Exposure</a:t>
            </a:r>
            <a:endParaRPr lang="en-US" dirty="0"/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7CF8B335-84BD-19F5-3C3B-2FFA69D008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89702999"/>
              </p:ext>
            </p:extLst>
          </p:nvPr>
        </p:nvGraphicFramePr>
        <p:xfrm>
          <a:off x="416530" y="1671713"/>
          <a:ext cx="3636661" cy="4243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Oval 10">
            <a:extLst>
              <a:ext uri="{FF2B5EF4-FFF2-40B4-BE49-F238E27FC236}">
                <a16:creationId xmlns:a16="http://schemas.microsoft.com/office/drawing/2014/main" id="{AB950D54-8C89-40B7-6CFD-0A37722B79D8}"/>
              </a:ext>
            </a:extLst>
          </p:cNvPr>
          <p:cNvSpPr/>
          <p:nvPr/>
        </p:nvSpPr>
        <p:spPr>
          <a:xfrm>
            <a:off x="3636659" y="4890200"/>
            <a:ext cx="337721" cy="333929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DED66C-AE00-1949-59D0-B0455183828A}"/>
              </a:ext>
            </a:extLst>
          </p:cNvPr>
          <p:cNvSpPr txBox="1"/>
          <p:nvPr/>
        </p:nvSpPr>
        <p:spPr>
          <a:xfrm>
            <a:off x="4474723" y="3754287"/>
            <a:ext cx="4252747" cy="26161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Portfolio Risk Under Various Currency </a:t>
            </a:r>
            <a:r>
              <a:rPr lang="en-US"/>
              <a:t>Hedging Scenarios</a:t>
            </a:r>
            <a:endParaRPr lang="en-US" dirty="0"/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C86B274B-F430-D553-8FEB-31F4119C3A7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55143231"/>
              </p:ext>
            </p:extLst>
          </p:nvPr>
        </p:nvGraphicFramePr>
        <p:xfrm>
          <a:off x="4753583" y="4224739"/>
          <a:ext cx="3761767" cy="18097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26157E1D-4D6A-EAB3-8A6E-CFF040D370F2}"/>
              </a:ext>
            </a:extLst>
          </p:cNvPr>
          <p:cNvSpPr txBox="1"/>
          <p:nvPr/>
        </p:nvSpPr>
        <p:spPr>
          <a:xfrm>
            <a:off x="7168028" y="4186286"/>
            <a:ext cx="1559442" cy="507831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171450" indent="-171450" algn="ctr">
              <a:buFont typeface="Arial" panose="020B0604020202020204" pitchFamily="34" charset="0"/>
              <a:buChar char="•"/>
              <a:defRPr sz="11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indent="0">
              <a:buNone/>
            </a:pPr>
            <a:r>
              <a:rPr lang="en-US" sz="900" dirty="0"/>
              <a:t>The portfolio volatility can be minimized further by hedging all foreign currencies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EE5745D-8085-8D77-A4F5-1102756F63B1}"/>
              </a:ext>
            </a:extLst>
          </p:cNvPr>
          <p:cNvCxnSpPr/>
          <p:nvPr/>
        </p:nvCxnSpPr>
        <p:spPr>
          <a:xfrm>
            <a:off x="302495" y="6500036"/>
            <a:ext cx="853900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E9630B3-32EF-D46C-D1E8-D1FFCC088C93}"/>
              </a:ext>
            </a:extLst>
          </p:cNvPr>
          <p:cNvSpPr txBox="1"/>
          <p:nvPr/>
        </p:nvSpPr>
        <p:spPr>
          <a:xfrm>
            <a:off x="245035" y="6581915"/>
            <a:ext cx="774737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aseline="30000" dirty="0">
                <a:latin typeface="Grotesque Light" panose="020B0304020202020204" pitchFamily="34" charset="0"/>
              </a:rPr>
              <a:t>1</a:t>
            </a:r>
            <a:r>
              <a:rPr lang="en-US" sz="700" dirty="0">
                <a:latin typeface="Grotesque Light" panose="020B0304020202020204" pitchFamily="34" charset="0"/>
              </a:rPr>
              <a:t>Risk is quantified by the ex-ante variance of portfolio returns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23FC3FD-33ED-8790-CE85-20C66D68F3D1}"/>
              </a:ext>
            </a:extLst>
          </p:cNvPr>
          <p:cNvCxnSpPr>
            <a:cxnSpLocks/>
          </p:cNvCxnSpPr>
          <p:nvPr/>
        </p:nvCxnSpPr>
        <p:spPr>
          <a:xfrm>
            <a:off x="3805519" y="4362113"/>
            <a:ext cx="0" cy="51391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FFF632F-7A25-C3F1-5485-0D4D4F153500}"/>
              </a:ext>
            </a:extLst>
          </p:cNvPr>
          <p:cNvSpPr txBox="1"/>
          <p:nvPr/>
        </p:nvSpPr>
        <p:spPr>
          <a:xfrm>
            <a:off x="2716978" y="3854282"/>
            <a:ext cx="1395403" cy="64633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Calibri Light" panose="020F0302020204030204" pitchFamily="34" charset="0"/>
                <a:cs typeface="Calibri Light" panose="020F0302020204030204" pitchFamily="34" charset="0"/>
              </a:rPr>
              <a:t>Close to half of the portfolio volatility is driven by exposure to US Equity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D4AB2C-DB9C-7329-2CBD-82ADC4950067}"/>
              </a:ext>
            </a:extLst>
          </p:cNvPr>
          <p:cNvSpPr txBox="1"/>
          <p:nvPr/>
        </p:nvSpPr>
        <p:spPr>
          <a:xfrm>
            <a:off x="299609" y="641462"/>
            <a:ext cx="77473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Grotesque Light" panose="020B0304020202020204" pitchFamily="34" charset="0"/>
              </a:rPr>
              <a:t>Base Currency: USD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AB1F986-2E67-5F2C-A768-931B8C5773E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5405002"/>
              </p:ext>
            </p:extLst>
          </p:nvPr>
        </p:nvGraphicFramePr>
        <p:xfrm>
          <a:off x="4632959" y="1576252"/>
          <a:ext cx="4005943" cy="19855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941580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547D3-69BF-4848-16EB-8DEE57A55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7C8BF4C-58D3-640F-09F0-4D52535DBB73}"/>
              </a:ext>
            </a:extLst>
          </p:cNvPr>
          <p:cNvSpPr txBox="1"/>
          <p:nvPr/>
        </p:nvSpPr>
        <p:spPr>
          <a:xfrm>
            <a:off x="317027" y="289102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Portfolio Factor Decomposition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4C6099-039A-C340-A268-BD7F3DF29FB2}"/>
              </a:ext>
            </a:extLst>
          </p:cNvPr>
          <p:cNvSpPr txBox="1"/>
          <p:nvPr/>
        </p:nvSpPr>
        <p:spPr>
          <a:xfrm>
            <a:off x="302495" y="1109211"/>
            <a:ext cx="3998843" cy="26161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sz="1100"/>
              <a:t>Excess Return </a:t>
            </a:r>
            <a:r>
              <a:rPr lang="en-US" sz="1100" dirty="0"/>
              <a:t>Decomposition </a:t>
            </a:r>
            <a:r>
              <a:rPr lang="en-US" sz="1100"/>
              <a:t>by Factor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6F0554-EBD5-6754-F517-9DE8E5BC07FB}"/>
              </a:ext>
            </a:extLst>
          </p:cNvPr>
          <p:cNvSpPr txBox="1"/>
          <p:nvPr/>
        </p:nvSpPr>
        <p:spPr>
          <a:xfrm>
            <a:off x="4520794" y="1101221"/>
            <a:ext cx="4320711" cy="26161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Portfolio Loss Given 2 Standard Deviation Factor Shock</a:t>
            </a:r>
            <a:endParaRPr lang="en-US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B9802A8-594D-AEE9-98F2-701F267832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96959347"/>
              </p:ext>
            </p:extLst>
          </p:nvPr>
        </p:nvGraphicFramePr>
        <p:xfrm>
          <a:off x="412480" y="1565269"/>
          <a:ext cx="3799499" cy="40078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AF3683AD-052A-4312-F594-807ADDD9F4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5682188"/>
              </p:ext>
            </p:extLst>
          </p:nvPr>
        </p:nvGraphicFramePr>
        <p:xfrm>
          <a:off x="4572000" y="1475380"/>
          <a:ext cx="4089843" cy="409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C963BCA-E6F3-3457-521C-53C1B623FFFE}"/>
              </a:ext>
            </a:extLst>
          </p:cNvPr>
          <p:cNvSpPr txBox="1"/>
          <p:nvPr/>
        </p:nvSpPr>
        <p:spPr>
          <a:xfrm>
            <a:off x="317027" y="624044"/>
            <a:ext cx="77473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Grotesque Light" panose="020B0304020202020204" pitchFamily="34" charset="0"/>
              </a:rPr>
              <a:t>Base Currency: USD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22AD8A8-7963-D5BB-5A1F-1EFB1D80261C}"/>
              </a:ext>
            </a:extLst>
          </p:cNvPr>
          <p:cNvCxnSpPr/>
          <p:nvPr/>
        </p:nvCxnSpPr>
        <p:spPr>
          <a:xfrm>
            <a:off x="302495" y="6500036"/>
            <a:ext cx="853900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8413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ED990-EDA5-93B9-1247-B2BA65E01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00000000-0008-0000-0400-000003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5827551"/>
              </p:ext>
            </p:extLst>
          </p:nvPr>
        </p:nvGraphicFramePr>
        <p:xfrm>
          <a:off x="338291" y="1451869"/>
          <a:ext cx="6027608" cy="4013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7721431-2CC8-123C-C694-FD7352C7CCC7}"/>
              </a:ext>
            </a:extLst>
          </p:cNvPr>
          <p:cNvSpPr txBox="1"/>
          <p:nvPr/>
        </p:nvSpPr>
        <p:spPr>
          <a:xfrm>
            <a:off x="302496" y="1023947"/>
            <a:ext cx="8539009" cy="276999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Evolution of Nominal Portfolio Value Paths, Over 20 Years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BECEF5-8C2E-0B67-5638-CF5F6375D00B}"/>
              </a:ext>
            </a:extLst>
          </p:cNvPr>
          <p:cNvSpPr txBox="1"/>
          <p:nvPr/>
        </p:nvSpPr>
        <p:spPr>
          <a:xfrm>
            <a:off x="6702254" y="3487370"/>
            <a:ext cx="20573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Reference Portfolio Median Case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6050885-67A2-1CA1-F36C-E38993B1A687}"/>
              </a:ext>
            </a:extLst>
          </p:cNvPr>
          <p:cNvCxnSpPr/>
          <p:nvPr/>
        </p:nvCxnSpPr>
        <p:spPr>
          <a:xfrm flipH="1">
            <a:off x="6442679" y="3603501"/>
            <a:ext cx="22336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436186C-024D-7652-ADED-5A90AE8DEFBE}"/>
              </a:ext>
            </a:extLst>
          </p:cNvPr>
          <p:cNvSpPr txBox="1"/>
          <p:nvPr/>
        </p:nvSpPr>
        <p:spPr>
          <a:xfrm>
            <a:off x="6702254" y="3183584"/>
            <a:ext cx="20573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SAA Portfolio Median Case </a:t>
            </a:r>
            <a:r>
              <a:rPr lang="en-US" sz="1000" dirty="0">
                <a:solidFill>
                  <a:srgbClr val="7CC04D"/>
                </a:solidFill>
              </a:rPr>
              <a:t>(+74mn)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25912D7-CFD8-EE30-39EB-9BF033520932}"/>
              </a:ext>
            </a:extLst>
          </p:cNvPr>
          <p:cNvCxnSpPr/>
          <p:nvPr/>
        </p:nvCxnSpPr>
        <p:spPr>
          <a:xfrm flipH="1">
            <a:off x="6442679" y="3299715"/>
            <a:ext cx="22336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1BF37A9-8B5D-F983-1FC3-258D70E7A3FF}"/>
              </a:ext>
            </a:extLst>
          </p:cNvPr>
          <p:cNvSpPr txBox="1"/>
          <p:nvPr/>
        </p:nvSpPr>
        <p:spPr>
          <a:xfrm>
            <a:off x="460745" y="5537147"/>
            <a:ext cx="8380760" cy="769441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100" dirty="0">
                <a:latin typeface="Calibri Light" panose="020F0302020204030204" pitchFamily="34" charset="0"/>
                <a:cs typeface="Calibri Light" panose="020F0302020204030204" pitchFamily="34" charset="0"/>
              </a:rPr>
              <a:t>In the median case, the SAA portfolio would be expected to grow to around $373, in nominal terms, representing $74 additional growth over the reference portfolio over the 20-year horizon.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endParaRPr lang="en-US" sz="11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100" dirty="0">
                <a:latin typeface="Calibri Light" panose="020F0302020204030204" pitchFamily="34" charset="0"/>
                <a:cs typeface="Calibri Light" panose="020F0302020204030204" pitchFamily="34" charset="0"/>
              </a:rPr>
              <a:t>In the very bad case, the portfolio would still be expected to grow in nominal terms.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901AA9-D0BE-D819-A9C8-11348B06BC8C}"/>
              </a:ext>
            </a:extLst>
          </p:cNvPr>
          <p:cNvSpPr txBox="1"/>
          <p:nvPr/>
        </p:nvSpPr>
        <p:spPr>
          <a:xfrm>
            <a:off x="338291" y="289102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Portfolio Wealth Projections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936D7F-89B8-C8B5-D050-7B14494E386D}"/>
              </a:ext>
            </a:extLst>
          </p:cNvPr>
          <p:cNvSpPr txBox="1"/>
          <p:nvPr/>
        </p:nvSpPr>
        <p:spPr>
          <a:xfrm>
            <a:off x="338291" y="588604"/>
            <a:ext cx="77473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Grotesque Light" panose="020B0304020202020204" pitchFamily="34" charset="0"/>
              </a:rPr>
              <a:t>Currency: USD. No Inflows or Outflows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E28A640-95FF-CC71-4B29-1BB1163BB34E}"/>
              </a:ext>
            </a:extLst>
          </p:cNvPr>
          <p:cNvCxnSpPr/>
          <p:nvPr/>
        </p:nvCxnSpPr>
        <p:spPr>
          <a:xfrm>
            <a:off x="302495" y="6500036"/>
            <a:ext cx="853900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3091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06753-B0B4-376E-9014-32E18E3B9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CF33C7-9276-F324-2DCB-69624477106F}"/>
              </a:ext>
            </a:extLst>
          </p:cNvPr>
          <p:cNvSpPr txBox="1"/>
          <p:nvPr/>
        </p:nvSpPr>
        <p:spPr>
          <a:xfrm>
            <a:off x="338291" y="233262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Portfolio Capital Preservation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6090D4-F37F-CE20-B207-BD276D0E5E63}"/>
              </a:ext>
            </a:extLst>
          </p:cNvPr>
          <p:cNvSpPr txBox="1"/>
          <p:nvPr/>
        </p:nvSpPr>
        <p:spPr>
          <a:xfrm>
            <a:off x="302496" y="1039422"/>
            <a:ext cx="8539009" cy="276999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Portfolio Wealth Illustrations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BA0733-B160-F21F-F7CC-59D810F719E8}"/>
              </a:ext>
            </a:extLst>
          </p:cNvPr>
          <p:cNvSpPr txBox="1"/>
          <p:nvPr/>
        </p:nvSpPr>
        <p:spPr>
          <a:xfrm>
            <a:off x="338291" y="567664"/>
            <a:ext cx="77473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Grotesque Light" panose="020B0304020202020204" pitchFamily="34" charset="0"/>
              </a:rPr>
              <a:t>Currency: USD. 5.5 Million Yearly Spend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48886F-8D60-E291-30E0-633BA85B9EC4}"/>
              </a:ext>
            </a:extLst>
          </p:cNvPr>
          <p:cNvSpPr txBox="1"/>
          <p:nvPr/>
        </p:nvSpPr>
        <p:spPr>
          <a:xfrm>
            <a:off x="781997" y="5578593"/>
            <a:ext cx="7831295" cy="600164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100" dirty="0">
                <a:latin typeface="Calibri Light" panose="020F0302020204030204" pitchFamily="34" charset="0"/>
                <a:cs typeface="Calibri Light" panose="020F0302020204030204" pitchFamily="34" charset="0"/>
              </a:rPr>
              <a:t>With a spend of $5.5mm per year, some amount of real capital destruction would be expected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endParaRPr lang="en-US" sz="11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100" dirty="0">
                <a:latin typeface="Calibri Light" panose="020F0302020204030204" pitchFamily="34" charset="0"/>
                <a:cs typeface="Calibri Light" panose="020F0302020204030204" pitchFamily="34" charset="0"/>
              </a:rPr>
              <a:t>In the very bad case, the portfolio could experience full capital depletion within the 20-year investment horizon.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F78CF40-D4D8-9660-A548-E92F41683D22}"/>
              </a:ext>
            </a:extLst>
          </p:cNvPr>
          <p:cNvGrpSpPr/>
          <p:nvPr/>
        </p:nvGrpSpPr>
        <p:grpSpPr>
          <a:xfrm>
            <a:off x="302495" y="1556951"/>
            <a:ext cx="8539009" cy="3797339"/>
            <a:chOff x="302495" y="1530330"/>
            <a:chExt cx="8539009" cy="3797339"/>
          </a:xfrm>
        </p:grpSpPr>
        <p:graphicFrame>
          <p:nvGraphicFramePr>
            <p:cNvPr id="11" name="Chart 10">
              <a:extLst>
                <a:ext uri="{FF2B5EF4-FFF2-40B4-BE49-F238E27FC236}">
                  <a16:creationId xmlns:a16="http://schemas.microsoft.com/office/drawing/2014/main" id="{00000000-0008-0000-0A00-000004000000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31744640"/>
                </p:ext>
              </p:extLst>
            </p:nvPr>
          </p:nvGraphicFramePr>
          <p:xfrm>
            <a:off x="302495" y="1530330"/>
            <a:ext cx="8539009" cy="373152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graphicFrame>
          <p:nvGraphicFramePr>
            <p:cNvPr id="12" name="Chart 11">
              <a:extLst>
                <a:ext uri="{FF2B5EF4-FFF2-40B4-BE49-F238E27FC236}">
                  <a16:creationId xmlns:a16="http://schemas.microsoft.com/office/drawing/2014/main" id="{00000000-0008-0000-0A00-000002000000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432867668"/>
                </p:ext>
              </p:extLst>
            </p:nvPr>
          </p:nvGraphicFramePr>
          <p:xfrm>
            <a:off x="4572000" y="1604152"/>
            <a:ext cx="4194356" cy="372351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A58B946-1E66-5757-23B5-C88CFA7B8CCC}"/>
              </a:ext>
            </a:extLst>
          </p:cNvPr>
          <p:cNvSpPr txBox="1"/>
          <p:nvPr/>
        </p:nvSpPr>
        <p:spPr>
          <a:xfrm>
            <a:off x="302495" y="1364065"/>
            <a:ext cx="3998843" cy="26161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Portfolio Value Paths, Adjusted for Inflation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1F41FD-7777-AE1B-F2E4-708DDEF2DFBD}"/>
              </a:ext>
            </a:extLst>
          </p:cNvPr>
          <p:cNvSpPr txBox="1"/>
          <p:nvPr/>
        </p:nvSpPr>
        <p:spPr>
          <a:xfrm>
            <a:off x="4520794" y="1362947"/>
            <a:ext cx="4320711" cy="26161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Yearly Nominal Outflow Quantiles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63BDF97-9B99-2D27-41D9-DEC946834A66}"/>
              </a:ext>
            </a:extLst>
          </p:cNvPr>
          <p:cNvSpPr/>
          <p:nvPr/>
        </p:nvSpPr>
        <p:spPr>
          <a:xfrm>
            <a:off x="4069209" y="3329480"/>
            <a:ext cx="328067" cy="31410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E86B78B-78CC-57BB-7545-15F07EA2C1BC}"/>
              </a:ext>
            </a:extLst>
          </p:cNvPr>
          <p:cNvCxnSpPr/>
          <p:nvPr/>
        </p:nvCxnSpPr>
        <p:spPr>
          <a:xfrm>
            <a:off x="935125" y="3226290"/>
            <a:ext cx="3352037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D7BBA2E-CEE7-A857-7C2A-611D396E98CB}"/>
              </a:ext>
            </a:extLst>
          </p:cNvPr>
          <p:cNvCxnSpPr/>
          <p:nvPr/>
        </p:nvCxnSpPr>
        <p:spPr>
          <a:xfrm>
            <a:off x="302495" y="6500036"/>
            <a:ext cx="853900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6202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47BA1-F357-E0B7-CABB-755AE6473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CC15D3C2-5CA1-C2CB-08BA-53429653B77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81687004"/>
              </p:ext>
            </p:extLst>
          </p:nvPr>
        </p:nvGraphicFramePr>
        <p:xfrm>
          <a:off x="506415" y="1394134"/>
          <a:ext cx="8131170" cy="42269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040C3-DBCE-44EA-1E31-B426D2AE9161}"/>
              </a:ext>
            </a:extLst>
          </p:cNvPr>
          <p:cNvSpPr txBox="1"/>
          <p:nvPr/>
        </p:nvSpPr>
        <p:spPr>
          <a:xfrm>
            <a:off x="338291" y="289102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Probability of Wealth Preservation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7F05CC-8F1F-EA77-0228-AE616BC5229B}"/>
              </a:ext>
            </a:extLst>
          </p:cNvPr>
          <p:cNvSpPr txBox="1"/>
          <p:nvPr/>
        </p:nvSpPr>
        <p:spPr>
          <a:xfrm>
            <a:off x="302496" y="982066"/>
            <a:ext cx="8539009" cy="276999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Probability of Real Wealth Preservation Across Spending Levels and Investment Horizon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20E49B-4298-6478-3440-3F151A56BC66}"/>
              </a:ext>
            </a:extLst>
          </p:cNvPr>
          <p:cNvSpPr txBox="1"/>
          <p:nvPr/>
        </p:nvSpPr>
        <p:spPr>
          <a:xfrm>
            <a:off x="656353" y="5665542"/>
            <a:ext cx="7831295" cy="600164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100" dirty="0">
                <a:latin typeface="Calibri Light" panose="020F0302020204030204" pitchFamily="34" charset="0"/>
                <a:cs typeface="Calibri Light" panose="020F0302020204030204" pitchFamily="34" charset="0"/>
              </a:rPr>
              <a:t>With a spend of $5.5mm per year, some amount of real capital destruction would be expected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endParaRPr lang="en-US" sz="11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100" dirty="0">
                <a:latin typeface="Calibri Light" panose="020F0302020204030204" pitchFamily="34" charset="0"/>
                <a:cs typeface="Calibri Light" panose="020F0302020204030204" pitchFamily="34" charset="0"/>
              </a:rPr>
              <a:t>In the very bad case, the portfolio could experience full capital depletion within the 20-year investment horizon.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7D334C0-FFCA-96A4-A6A0-0C57C89EAA6B}"/>
              </a:ext>
            </a:extLst>
          </p:cNvPr>
          <p:cNvCxnSpPr>
            <a:cxnSpLocks/>
          </p:cNvCxnSpPr>
          <p:nvPr/>
        </p:nvCxnSpPr>
        <p:spPr>
          <a:xfrm>
            <a:off x="1047022" y="3371414"/>
            <a:ext cx="7405943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348B962-3241-D66C-0A45-32755C423AAB}"/>
              </a:ext>
            </a:extLst>
          </p:cNvPr>
          <p:cNvCxnSpPr/>
          <p:nvPr/>
        </p:nvCxnSpPr>
        <p:spPr>
          <a:xfrm>
            <a:off x="302495" y="6500036"/>
            <a:ext cx="853900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32478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4E719-26F0-6578-78E6-A739F45C7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59BD2C5-AE7F-83BC-F998-CFE98EF5AD52}"/>
              </a:ext>
            </a:extLst>
          </p:cNvPr>
          <p:cNvSpPr txBox="1"/>
          <p:nvPr/>
        </p:nvSpPr>
        <p:spPr>
          <a:xfrm>
            <a:off x="338291" y="289102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Probability of Wealth Preservation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ACDE8E-4172-8A07-7F03-DAFDA98D41F7}"/>
              </a:ext>
            </a:extLst>
          </p:cNvPr>
          <p:cNvSpPr txBox="1"/>
          <p:nvPr/>
        </p:nvSpPr>
        <p:spPr>
          <a:xfrm>
            <a:off x="302496" y="982066"/>
            <a:ext cx="8539009" cy="276999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Probability of Real Wealth Preservation Across Starting Values and Investment Horizon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D6A25D-C407-8C7E-E561-AC4520D2C17D}"/>
              </a:ext>
            </a:extLst>
          </p:cNvPr>
          <p:cNvSpPr txBox="1"/>
          <p:nvPr/>
        </p:nvSpPr>
        <p:spPr>
          <a:xfrm>
            <a:off x="656353" y="5665542"/>
            <a:ext cx="7831295" cy="600164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Calibri Light" panose="020F0302020204030204" pitchFamily="34" charset="0"/>
                <a:cs typeface="Calibri Light" panose="020F0302020204030204" pitchFamily="34" charset="0"/>
              </a:rPr>
              <a:t>With a spend of $5.5mm per year, some amount of real capital destruction would be expected</a:t>
            </a:r>
          </a:p>
          <a:p>
            <a:pPr algn="ctr"/>
            <a:endParaRPr lang="en-US" sz="11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ctr"/>
            <a:r>
              <a:rPr lang="en-US" sz="1100" dirty="0">
                <a:latin typeface="Calibri Light" panose="020F0302020204030204" pitchFamily="34" charset="0"/>
                <a:cs typeface="Calibri Light" panose="020F0302020204030204" pitchFamily="34" charset="0"/>
              </a:rPr>
              <a:t>In the very bad case, the portfolio could experience full capital depletion within the 20-year investment horizon.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8FF0E2D-AEBE-A79A-537D-56F56924DD3F}"/>
              </a:ext>
            </a:extLst>
          </p:cNvPr>
          <p:cNvCxnSpPr/>
          <p:nvPr/>
        </p:nvCxnSpPr>
        <p:spPr>
          <a:xfrm>
            <a:off x="302495" y="6500036"/>
            <a:ext cx="853900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37366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8F272-64F2-51BE-08EE-F5535C6E3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5624E6F-E595-49BB-B5CC-9A848ED67484}"/>
              </a:ext>
            </a:extLst>
          </p:cNvPr>
          <p:cNvSpPr txBox="1"/>
          <p:nvPr/>
        </p:nvSpPr>
        <p:spPr>
          <a:xfrm>
            <a:off x="1769918" y="2951947"/>
            <a:ext cx="56041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>
                <a:latin typeface="Grotesque Light" panose="020B0304020202020204" pitchFamily="34" charset="0"/>
              </a:defRPr>
            </a:lvl1pPr>
          </a:lstStyle>
          <a:p>
            <a:r>
              <a:rPr lang="en-US" dirty="0"/>
              <a:t>Case Studies:</a:t>
            </a:r>
          </a:p>
          <a:p>
            <a:r>
              <a:rPr lang="en-US" dirty="0"/>
              <a:t>Portfolio Optimization</a:t>
            </a:r>
          </a:p>
        </p:txBody>
      </p:sp>
    </p:spTree>
    <p:extLst>
      <p:ext uri="{BB962C8B-B14F-4D97-AF65-F5344CB8AC3E}">
        <p14:creationId xmlns:p14="http://schemas.microsoft.com/office/powerpoint/2010/main" val="4754388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E628F-740B-BEDA-3A71-CB650E119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552D726-DE9D-DB23-01AF-5AF817C179C1}"/>
              </a:ext>
            </a:extLst>
          </p:cNvPr>
          <p:cNvSpPr txBox="1"/>
          <p:nvPr/>
        </p:nvSpPr>
        <p:spPr>
          <a:xfrm>
            <a:off x="287491" y="365302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Return Matched Optimization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21217FF-4355-686F-613F-C9E2304B9635}"/>
              </a:ext>
            </a:extLst>
          </p:cNvPr>
          <p:cNvCxnSpPr/>
          <p:nvPr/>
        </p:nvCxnSpPr>
        <p:spPr>
          <a:xfrm>
            <a:off x="302495" y="6500036"/>
            <a:ext cx="853900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0835E208-1D83-7AFB-FC78-ACA3919D39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8843061"/>
              </p:ext>
            </p:extLst>
          </p:nvPr>
        </p:nvGraphicFramePr>
        <p:xfrm>
          <a:off x="320672" y="1397000"/>
          <a:ext cx="4081345" cy="49191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997700" imgH="8432800" progId="Excel.Sheet.12">
                  <p:embed/>
                </p:oleObj>
              </mc:Choice>
              <mc:Fallback>
                <p:oleObj name="Worksheet" r:id="rId2" imgW="6997700" imgH="84328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20672" y="1397000"/>
                        <a:ext cx="4081345" cy="49191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E0E9A5CB-D088-126D-C84F-5FA63F160484}"/>
              </a:ext>
            </a:extLst>
          </p:cNvPr>
          <p:cNvSpPr/>
          <p:nvPr/>
        </p:nvSpPr>
        <p:spPr>
          <a:xfrm>
            <a:off x="2336800" y="5765800"/>
            <a:ext cx="2048934" cy="1947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F2669D8B-A0DB-82D8-8073-829AA0FC39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1281355"/>
              </p:ext>
            </p:extLst>
          </p:nvPr>
        </p:nvGraphicFramePr>
        <p:xfrm>
          <a:off x="4722358" y="1599477"/>
          <a:ext cx="4064433" cy="47166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6172200" imgH="7162800" progId="Excel.Sheet.12">
                  <p:embed/>
                </p:oleObj>
              </mc:Choice>
              <mc:Fallback>
                <p:oleObj name="Worksheet" r:id="rId4" imgW="6172200" imgH="71628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22358" y="1599477"/>
                        <a:ext cx="4064433" cy="47166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860FE8AF-80A5-2A66-F1D1-60719A8B1C4B}"/>
              </a:ext>
            </a:extLst>
          </p:cNvPr>
          <p:cNvSpPr txBox="1"/>
          <p:nvPr/>
        </p:nvSpPr>
        <p:spPr>
          <a:xfrm>
            <a:off x="294030" y="978513"/>
            <a:ext cx="8539009" cy="276999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Forward Looking Portfolio Risk and Return Analytics </a:t>
            </a:r>
          </a:p>
        </p:txBody>
      </p:sp>
    </p:spTree>
    <p:extLst>
      <p:ext uri="{BB962C8B-B14F-4D97-AF65-F5344CB8AC3E}">
        <p14:creationId xmlns:p14="http://schemas.microsoft.com/office/powerpoint/2010/main" val="8501500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8CAFC-E135-578D-2FF1-35E47D048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AA4B2BC2-ACF3-BAB8-3C31-CAECAA865C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8450986"/>
              </p:ext>
            </p:extLst>
          </p:nvPr>
        </p:nvGraphicFramePr>
        <p:xfrm>
          <a:off x="309600" y="1396229"/>
          <a:ext cx="4058666" cy="49057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997700" imgH="8458200" progId="Excel.Sheet.12">
                  <p:embed/>
                </p:oleObj>
              </mc:Choice>
              <mc:Fallback>
                <p:oleObj name="Worksheet" r:id="rId2" imgW="6997700" imgH="8458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09600" y="1396229"/>
                        <a:ext cx="4058666" cy="49057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B869FF9-284A-343B-7571-FFF5B5784A00}"/>
              </a:ext>
            </a:extLst>
          </p:cNvPr>
          <p:cNvSpPr txBox="1"/>
          <p:nvPr/>
        </p:nvSpPr>
        <p:spPr>
          <a:xfrm>
            <a:off x="287491" y="365302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Risk Matched Optimization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9F376A1-5402-BA3B-66D4-1F61E3FCD56A}"/>
              </a:ext>
            </a:extLst>
          </p:cNvPr>
          <p:cNvCxnSpPr/>
          <p:nvPr/>
        </p:nvCxnSpPr>
        <p:spPr>
          <a:xfrm>
            <a:off x="302495" y="6500036"/>
            <a:ext cx="853900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011E32FD-F1E4-783A-7AEC-1937D8176C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6348279"/>
              </p:ext>
            </p:extLst>
          </p:nvPr>
        </p:nvGraphicFramePr>
        <p:xfrm>
          <a:off x="4656128" y="1558835"/>
          <a:ext cx="4081472" cy="47321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6045200" imgH="7010400" progId="Excel.Sheet.12">
                  <p:embed/>
                </p:oleObj>
              </mc:Choice>
              <mc:Fallback>
                <p:oleObj name="Worksheet" r:id="rId4" imgW="6045200" imgH="70104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56128" y="1558835"/>
                        <a:ext cx="4081472" cy="47321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6AD07135-C579-129D-1E02-AC7FCA4DDF76}"/>
              </a:ext>
            </a:extLst>
          </p:cNvPr>
          <p:cNvSpPr/>
          <p:nvPr/>
        </p:nvSpPr>
        <p:spPr>
          <a:xfrm>
            <a:off x="2286000" y="6104951"/>
            <a:ext cx="2048934" cy="1947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11344D-E44B-1465-18BD-E0FADA347A3E}"/>
              </a:ext>
            </a:extLst>
          </p:cNvPr>
          <p:cNvSpPr txBox="1"/>
          <p:nvPr/>
        </p:nvSpPr>
        <p:spPr>
          <a:xfrm>
            <a:off x="294030" y="978513"/>
            <a:ext cx="8539009" cy="276999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Forward Looking Portfolio Risk and Return Analytics </a:t>
            </a:r>
          </a:p>
        </p:txBody>
      </p:sp>
    </p:spTree>
    <p:extLst>
      <p:ext uri="{BB962C8B-B14F-4D97-AF65-F5344CB8AC3E}">
        <p14:creationId xmlns:p14="http://schemas.microsoft.com/office/powerpoint/2010/main" val="11060384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E9222-1BE5-539F-80E5-7AA7DEC0C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1923062-11DE-6550-DF80-48FC129EB677}"/>
              </a:ext>
            </a:extLst>
          </p:cNvPr>
          <p:cNvSpPr txBox="1"/>
          <p:nvPr/>
        </p:nvSpPr>
        <p:spPr>
          <a:xfrm>
            <a:off x="287491" y="365302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Constrained Downside Risk Optimization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6DC6E7E-D29B-7C4B-AD6C-E989C0F7B862}"/>
              </a:ext>
            </a:extLst>
          </p:cNvPr>
          <p:cNvCxnSpPr/>
          <p:nvPr/>
        </p:nvCxnSpPr>
        <p:spPr>
          <a:xfrm>
            <a:off x="302495" y="6500036"/>
            <a:ext cx="853900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AE4A3D78-148B-EE22-B722-31E9C98B88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4812882"/>
              </p:ext>
            </p:extLst>
          </p:nvPr>
        </p:nvGraphicFramePr>
        <p:xfrm>
          <a:off x="268288" y="1397000"/>
          <a:ext cx="4110037" cy="4945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997700" imgH="8420100" progId="Excel.Sheet.12">
                  <p:embed/>
                </p:oleObj>
              </mc:Choice>
              <mc:Fallback>
                <p:oleObj name="Worksheet" r:id="rId2" imgW="6997700" imgH="84201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68288" y="1397000"/>
                        <a:ext cx="4110037" cy="4945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77D33380-904B-4C91-03B6-1A6E36CD3E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113908"/>
              </p:ext>
            </p:extLst>
          </p:nvPr>
        </p:nvGraphicFramePr>
        <p:xfrm>
          <a:off x="4630876" y="1551865"/>
          <a:ext cx="4101621" cy="47814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5969000" imgH="6959600" progId="Excel.Sheet.12">
                  <p:embed/>
                </p:oleObj>
              </mc:Choice>
              <mc:Fallback>
                <p:oleObj name="Worksheet" r:id="rId4" imgW="5969000" imgH="69596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30876" y="1551865"/>
                        <a:ext cx="4101621" cy="47814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D8CF88B6-12B9-B352-FFC3-BD154B165004}"/>
              </a:ext>
            </a:extLst>
          </p:cNvPr>
          <p:cNvSpPr/>
          <p:nvPr/>
        </p:nvSpPr>
        <p:spPr>
          <a:xfrm>
            <a:off x="7094583" y="4918648"/>
            <a:ext cx="1515533" cy="169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C7CA9C-F347-3AA7-A294-D7AE7F340A49}"/>
              </a:ext>
            </a:extLst>
          </p:cNvPr>
          <p:cNvSpPr txBox="1"/>
          <p:nvPr/>
        </p:nvSpPr>
        <p:spPr>
          <a:xfrm>
            <a:off x="294030" y="978513"/>
            <a:ext cx="8539009" cy="276999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Forward Looking Portfolio Risk and Return Analytics </a:t>
            </a:r>
          </a:p>
        </p:txBody>
      </p:sp>
    </p:spTree>
    <p:extLst>
      <p:ext uri="{BB962C8B-B14F-4D97-AF65-F5344CB8AC3E}">
        <p14:creationId xmlns:p14="http://schemas.microsoft.com/office/powerpoint/2010/main" val="9092548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8EC4F-A0AC-1F7D-D114-08ED2370D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283EB00-D804-56C1-0262-06F225194538}"/>
              </a:ext>
            </a:extLst>
          </p:cNvPr>
          <p:cNvSpPr txBox="1"/>
          <p:nvPr/>
        </p:nvSpPr>
        <p:spPr>
          <a:xfrm>
            <a:off x="287491" y="365302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Constrained Drawdown Optimization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59CE1ED-796A-30E5-4E51-9D3EDE64F0D3}"/>
              </a:ext>
            </a:extLst>
          </p:cNvPr>
          <p:cNvCxnSpPr/>
          <p:nvPr/>
        </p:nvCxnSpPr>
        <p:spPr>
          <a:xfrm>
            <a:off x="302495" y="6500036"/>
            <a:ext cx="853900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9A6D8D79-9400-BA4B-CBB0-EF0DB63974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8649484"/>
              </p:ext>
            </p:extLst>
          </p:nvPr>
        </p:nvGraphicFramePr>
        <p:xfrm>
          <a:off x="274638" y="1385889"/>
          <a:ext cx="4140000" cy="49805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997700" imgH="8420100" progId="Excel.Sheet.12">
                  <p:embed/>
                </p:oleObj>
              </mc:Choice>
              <mc:Fallback>
                <p:oleObj name="Worksheet" r:id="rId2" imgW="6997700" imgH="84201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4638" y="1385889"/>
                        <a:ext cx="4140000" cy="49805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D07F5A3-2832-09F7-7C25-457F5DB8AE83}"/>
              </a:ext>
            </a:extLst>
          </p:cNvPr>
          <p:cNvSpPr txBox="1"/>
          <p:nvPr/>
        </p:nvSpPr>
        <p:spPr>
          <a:xfrm>
            <a:off x="294030" y="978513"/>
            <a:ext cx="8539009" cy="276999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Forward Looking Portfolio Risk and Return Analytics 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15D112AC-9513-6789-F46A-9B18512596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5842358"/>
              </p:ext>
            </p:extLst>
          </p:nvPr>
        </p:nvGraphicFramePr>
        <p:xfrm>
          <a:off x="4636904" y="1386159"/>
          <a:ext cx="3979518" cy="50061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5765800" imgH="7251700" progId="Excel.Sheet.12">
                  <p:embed/>
                </p:oleObj>
              </mc:Choice>
              <mc:Fallback>
                <p:oleObj name="Worksheet" r:id="rId4" imgW="5765800" imgH="72517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36904" y="1386159"/>
                        <a:ext cx="3979518" cy="5006174"/>
                      </a:xfrm>
                      <a:prstGeom prst="rect">
                        <a:avLst/>
                      </a:prstGeom>
                      <a:ln w="1905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B9C8C542-831D-7D3D-9B4C-CFF25034A7E3}"/>
              </a:ext>
            </a:extLst>
          </p:cNvPr>
          <p:cNvSpPr/>
          <p:nvPr/>
        </p:nvSpPr>
        <p:spPr>
          <a:xfrm>
            <a:off x="6942667" y="4411133"/>
            <a:ext cx="381000" cy="1608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BB7F4E-1898-DF2E-5009-B66E637BE586}"/>
              </a:ext>
            </a:extLst>
          </p:cNvPr>
          <p:cNvSpPr/>
          <p:nvPr/>
        </p:nvSpPr>
        <p:spPr>
          <a:xfrm>
            <a:off x="7780867" y="4411133"/>
            <a:ext cx="381000" cy="16086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1176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3B93D-D3C1-A24F-86B6-5BF5596CC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FCA055-950D-C4E0-2B58-A074450C6CF0}"/>
              </a:ext>
            </a:extLst>
          </p:cNvPr>
          <p:cNvSpPr txBox="1"/>
          <p:nvPr/>
        </p:nvSpPr>
        <p:spPr>
          <a:xfrm>
            <a:off x="287491" y="365302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Optimized For Real Return Target with Spending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4A7172F-1963-044D-32CE-2A4A033EDFB5}"/>
              </a:ext>
            </a:extLst>
          </p:cNvPr>
          <p:cNvCxnSpPr/>
          <p:nvPr/>
        </p:nvCxnSpPr>
        <p:spPr>
          <a:xfrm>
            <a:off x="302495" y="6500036"/>
            <a:ext cx="853900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CF6E55E-70E6-D2C9-8F5D-C09605C0ED69}"/>
              </a:ext>
            </a:extLst>
          </p:cNvPr>
          <p:cNvSpPr txBox="1"/>
          <p:nvPr/>
        </p:nvSpPr>
        <p:spPr>
          <a:xfrm>
            <a:off x="484743" y="1478619"/>
            <a:ext cx="3816416" cy="276999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Portfolio Optimized for 2% Real Growth after Spending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E9678D-7CA6-5EB1-67E1-DA67A78DC36C}"/>
              </a:ext>
            </a:extLst>
          </p:cNvPr>
          <p:cNvSpPr txBox="1"/>
          <p:nvPr/>
        </p:nvSpPr>
        <p:spPr>
          <a:xfrm>
            <a:off x="377077" y="841997"/>
            <a:ext cx="8389843" cy="461665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Aptos Light" panose="020B0004020202020204" pitchFamily="34" charset="0"/>
                <a:cs typeface="Calibri Light" panose="020F0302020204030204" pitchFamily="34" charset="0"/>
              </a:rPr>
              <a:t>Here we solve for the optimal portfolio with the objective to grow at 2% per annum in real terms, net of spending, over the next 20 years. Spending is assumed to be </a:t>
            </a:r>
            <a:r>
              <a:rPr lang="en-GB" sz="12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Aptos Light" panose="020B0004020202020204" pitchFamily="34" charset="0"/>
                <a:cs typeface="Calibri Light" panose="020F0302020204030204" pitchFamily="34" charset="0"/>
              </a:rPr>
              <a:t>2% in years 1-5 and then 3% thereafter</a:t>
            </a:r>
            <a:r>
              <a:rPr lang="en-GB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Aptos Light" panose="020B0004020202020204" pitchFamily="34" charset="0"/>
                <a:cs typeface="Calibri Light" panose="020F0302020204030204" pitchFamily="34" charset="0"/>
              </a:rPr>
              <a:t>.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Aptos Light" panose="020B0004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A5C655-F41C-EE26-193F-2F9C89543C2C}"/>
              </a:ext>
            </a:extLst>
          </p:cNvPr>
          <p:cNvSpPr txBox="1"/>
          <p:nvPr/>
        </p:nvSpPr>
        <p:spPr>
          <a:xfrm>
            <a:off x="4906966" y="1488666"/>
            <a:ext cx="3816416" cy="276999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Distribution of Simulated Portfolio Real Returns</a:t>
            </a:r>
          </a:p>
        </p:txBody>
      </p:sp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4574A5FC-DCB5-39F0-5F16-53DCE6387F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8285040"/>
              </p:ext>
            </p:extLst>
          </p:nvPr>
        </p:nvGraphicFramePr>
        <p:xfrm>
          <a:off x="4828587" y="2011680"/>
          <a:ext cx="3816416" cy="42300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5" name="Object 24">
            <a:extLst>
              <a:ext uri="{FF2B5EF4-FFF2-40B4-BE49-F238E27FC236}">
                <a16:creationId xmlns:a16="http://schemas.microsoft.com/office/drawing/2014/main" id="{F07EAA51-9800-BF3F-132F-F20471CD60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9711236"/>
              </p:ext>
            </p:extLst>
          </p:nvPr>
        </p:nvGraphicFramePr>
        <p:xfrm>
          <a:off x="829673" y="1902272"/>
          <a:ext cx="2993390" cy="43790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279900" imgH="6261100" progId="Excel.Sheet.12">
                  <p:embed/>
                </p:oleObj>
              </mc:Choice>
              <mc:Fallback>
                <p:oleObj name="Worksheet" r:id="rId3" imgW="4279900" imgH="62611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29673" y="1902272"/>
                        <a:ext cx="2993390" cy="43790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Oval 25">
            <a:extLst>
              <a:ext uri="{FF2B5EF4-FFF2-40B4-BE49-F238E27FC236}">
                <a16:creationId xmlns:a16="http://schemas.microsoft.com/office/drawing/2014/main" id="{98C776F0-950F-EA46-FDE6-4C5C3A4027ED}"/>
              </a:ext>
            </a:extLst>
          </p:cNvPr>
          <p:cNvSpPr/>
          <p:nvPr/>
        </p:nvSpPr>
        <p:spPr>
          <a:xfrm>
            <a:off x="7783101" y="3849153"/>
            <a:ext cx="426720" cy="278674"/>
          </a:xfrm>
          <a:prstGeom prst="ellipse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649A9EE-2E30-36EA-801B-231369A4F86D}"/>
              </a:ext>
            </a:extLst>
          </p:cNvPr>
          <p:cNvCxnSpPr>
            <a:cxnSpLocks/>
          </p:cNvCxnSpPr>
          <p:nvPr/>
        </p:nvCxnSpPr>
        <p:spPr>
          <a:xfrm>
            <a:off x="8334102" y="4206240"/>
            <a:ext cx="0" cy="10537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13">
            <a:extLst>
              <a:ext uri="{FF2B5EF4-FFF2-40B4-BE49-F238E27FC236}">
                <a16:creationId xmlns:a16="http://schemas.microsoft.com/office/drawing/2014/main" id="{1A778670-C2C5-7D2C-5F67-47C9E9DB4EFD}"/>
              </a:ext>
            </a:extLst>
          </p:cNvPr>
          <p:cNvSpPr txBox="1"/>
          <p:nvPr/>
        </p:nvSpPr>
        <p:spPr>
          <a:xfrm>
            <a:off x="8270784" y="4442291"/>
            <a:ext cx="655495" cy="584775"/>
          </a:xfrm>
          <a:prstGeom prst="rect">
            <a:avLst/>
          </a:prstGeom>
          <a:solidFill>
            <a:schemeClr val="bg1"/>
          </a:solidFill>
          <a:ln w="6350"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>
                <a:solidFill>
                  <a:srgbClr val="FF0000"/>
                </a:solidFill>
                <a:latin typeface="Aptos" panose="020B0004020202020204" pitchFamily="34" charset="0"/>
              </a:rPr>
              <a:t>50% Probability of missing target</a:t>
            </a:r>
          </a:p>
        </p:txBody>
      </p:sp>
    </p:spTree>
    <p:extLst>
      <p:ext uri="{BB962C8B-B14F-4D97-AF65-F5344CB8AC3E}">
        <p14:creationId xmlns:p14="http://schemas.microsoft.com/office/powerpoint/2010/main" val="26799793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8B21D-1076-9822-DF0D-44BBCF5DB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DC8977F-BF3E-3D25-919B-B1D96B65D417}"/>
              </a:ext>
            </a:extLst>
          </p:cNvPr>
          <p:cNvSpPr/>
          <p:nvPr/>
        </p:nvSpPr>
        <p:spPr>
          <a:xfrm>
            <a:off x="1027611" y="2508069"/>
            <a:ext cx="1402080" cy="31263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0000000-0008-0000-0300-000003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15609141"/>
              </p:ext>
            </p:extLst>
          </p:nvPr>
        </p:nvGraphicFramePr>
        <p:xfrm>
          <a:off x="377077" y="2033454"/>
          <a:ext cx="6055394" cy="42001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B0207BF-094D-1420-94E0-B158BD2A465E}"/>
              </a:ext>
            </a:extLst>
          </p:cNvPr>
          <p:cNvSpPr txBox="1"/>
          <p:nvPr/>
        </p:nvSpPr>
        <p:spPr>
          <a:xfrm>
            <a:off x="287491" y="365302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Optimized For Real Return Target with Spending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3119EE-47AC-F09A-3646-3A644D84B2A4}"/>
              </a:ext>
            </a:extLst>
          </p:cNvPr>
          <p:cNvCxnSpPr/>
          <p:nvPr/>
        </p:nvCxnSpPr>
        <p:spPr>
          <a:xfrm>
            <a:off x="302495" y="6500036"/>
            <a:ext cx="853900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23FD32F-861E-5FE8-20C3-9FD85521BE0B}"/>
              </a:ext>
            </a:extLst>
          </p:cNvPr>
          <p:cNvSpPr txBox="1"/>
          <p:nvPr/>
        </p:nvSpPr>
        <p:spPr>
          <a:xfrm>
            <a:off x="377077" y="1599699"/>
            <a:ext cx="8188994" cy="276999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Simulated Nominal Portfolio Values, Net of Spending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D3D41F-51E0-D80C-2C5E-9C071C3B5CD4}"/>
              </a:ext>
            </a:extLst>
          </p:cNvPr>
          <p:cNvSpPr txBox="1"/>
          <p:nvPr/>
        </p:nvSpPr>
        <p:spPr>
          <a:xfrm>
            <a:off x="377077" y="911668"/>
            <a:ext cx="8389843" cy="461665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Aptos Light" panose="020B0004020202020204" pitchFamily="34" charset="0"/>
                <a:cs typeface="Calibri Light" panose="020F0302020204030204" pitchFamily="34" charset="0"/>
              </a:rPr>
              <a:t>Here we solve for the optimal portfolio with the objective to grow at 2% per annum in real terms, net of spending, over the next 20 years. Spending is assumed to be </a:t>
            </a:r>
            <a:r>
              <a:rPr lang="en-GB" sz="12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Aptos Light" panose="020B0004020202020204" pitchFamily="34" charset="0"/>
                <a:cs typeface="Calibri Light" panose="020F0302020204030204" pitchFamily="34" charset="0"/>
              </a:rPr>
              <a:t>2% in years 1-5 and then 3% thereafter</a:t>
            </a:r>
            <a:r>
              <a:rPr lang="en-GB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Aptos Light" panose="020B0004020202020204" pitchFamily="34" charset="0"/>
                <a:cs typeface="Calibri Light" panose="020F0302020204030204" pitchFamily="34" charset="0"/>
              </a:rPr>
              <a:t>.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Aptos Light" panose="020B000402020202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CC336D2-2DD6-A29D-8270-630325BD22A5}"/>
              </a:ext>
            </a:extLst>
          </p:cNvPr>
          <p:cNvCxnSpPr>
            <a:cxnSpLocks/>
          </p:cNvCxnSpPr>
          <p:nvPr/>
        </p:nvCxnSpPr>
        <p:spPr>
          <a:xfrm flipV="1">
            <a:off x="2540908" y="2725188"/>
            <a:ext cx="3515006" cy="1317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E0009B9-0519-9A6D-756D-E6E535566843}"/>
              </a:ext>
            </a:extLst>
          </p:cNvPr>
          <p:cNvSpPr txBox="1"/>
          <p:nvPr/>
        </p:nvSpPr>
        <p:spPr>
          <a:xfrm>
            <a:off x="1138828" y="2630639"/>
            <a:ext cx="1179646" cy="215444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</a:rPr>
              <a:t>2% Yearly Spending</a:t>
            </a:r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C8A87DDC-F524-3199-C1E3-DB5E75EAC6B5}"/>
              </a:ext>
            </a:extLst>
          </p:cNvPr>
          <p:cNvSpPr txBox="1"/>
          <p:nvPr/>
        </p:nvSpPr>
        <p:spPr>
          <a:xfrm>
            <a:off x="3708597" y="2616875"/>
            <a:ext cx="1179628" cy="21544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>
                <a:latin typeface="Aptos" panose="020B0004020202020204" pitchFamily="34" charset="0"/>
              </a:rPr>
              <a:t>3% Yearly Spending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496D658-FF5B-CC71-A734-61DB1906AD2C}"/>
              </a:ext>
            </a:extLst>
          </p:cNvPr>
          <p:cNvCxnSpPr>
            <a:cxnSpLocks/>
          </p:cNvCxnSpPr>
          <p:nvPr/>
        </p:nvCxnSpPr>
        <p:spPr>
          <a:xfrm flipV="1">
            <a:off x="6505303" y="3017859"/>
            <a:ext cx="1529564" cy="6587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13">
            <a:extLst>
              <a:ext uri="{FF2B5EF4-FFF2-40B4-BE49-F238E27FC236}">
                <a16:creationId xmlns:a16="http://schemas.microsoft.com/office/drawing/2014/main" id="{01A0944E-12F7-C5CE-21A8-D9209397D440}"/>
              </a:ext>
            </a:extLst>
          </p:cNvPr>
          <p:cNvSpPr txBox="1"/>
          <p:nvPr/>
        </p:nvSpPr>
        <p:spPr>
          <a:xfrm>
            <a:off x="6936761" y="2846083"/>
            <a:ext cx="1179628" cy="33855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>
                <a:latin typeface="Aptos" panose="020B0004020202020204" pitchFamily="34" charset="0"/>
              </a:rPr>
              <a:t>90% of outcomes will be less than this value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30D2FD9-3A8A-3716-6A82-2F9A034C5B28}"/>
              </a:ext>
            </a:extLst>
          </p:cNvPr>
          <p:cNvCxnSpPr>
            <a:cxnSpLocks/>
          </p:cNvCxnSpPr>
          <p:nvPr/>
        </p:nvCxnSpPr>
        <p:spPr>
          <a:xfrm flipV="1">
            <a:off x="6505303" y="4074224"/>
            <a:ext cx="1529564" cy="6587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3">
            <a:extLst>
              <a:ext uri="{FF2B5EF4-FFF2-40B4-BE49-F238E27FC236}">
                <a16:creationId xmlns:a16="http://schemas.microsoft.com/office/drawing/2014/main" id="{137B2374-7102-E571-0DE9-823A88D5FBF1}"/>
              </a:ext>
            </a:extLst>
          </p:cNvPr>
          <p:cNvSpPr txBox="1"/>
          <p:nvPr/>
        </p:nvSpPr>
        <p:spPr>
          <a:xfrm>
            <a:off x="6936761" y="3902448"/>
            <a:ext cx="1179628" cy="33855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>
                <a:latin typeface="Aptos" panose="020B0004020202020204" pitchFamily="34" charset="0"/>
              </a:rPr>
              <a:t>50% of outcomes will be less than this value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FB91CE6-BE5A-2406-4636-646EFB0A052C}"/>
              </a:ext>
            </a:extLst>
          </p:cNvPr>
          <p:cNvCxnSpPr>
            <a:cxnSpLocks/>
          </p:cNvCxnSpPr>
          <p:nvPr/>
        </p:nvCxnSpPr>
        <p:spPr>
          <a:xfrm flipV="1">
            <a:off x="6505303" y="4691231"/>
            <a:ext cx="1529564" cy="6587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3">
            <a:extLst>
              <a:ext uri="{FF2B5EF4-FFF2-40B4-BE49-F238E27FC236}">
                <a16:creationId xmlns:a16="http://schemas.microsoft.com/office/drawing/2014/main" id="{0EA62E1A-3E15-EB15-9952-24727EF97C85}"/>
              </a:ext>
            </a:extLst>
          </p:cNvPr>
          <p:cNvSpPr txBox="1"/>
          <p:nvPr/>
        </p:nvSpPr>
        <p:spPr>
          <a:xfrm>
            <a:off x="6936761" y="4519455"/>
            <a:ext cx="1179628" cy="33855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>
                <a:latin typeface="Aptos" panose="020B0004020202020204" pitchFamily="34" charset="0"/>
              </a:rPr>
              <a:t>10% of outcomes will be less than this value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781582B-240A-058A-D264-F487380754E6}"/>
              </a:ext>
            </a:extLst>
          </p:cNvPr>
          <p:cNvCxnSpPr>
            <a:cxnSpLocks/>
          </p:cNvCxnSpPr>
          <p:nvPr/>
        </p:nvCxnSpPr>
        <p:spPr>
          <a:xfrm flipV="1">
            <a:off x="6505303" y="5091523"/>
            <a:ext cx="1529564" cy="6587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13">
            <a:extLst>
              <a:ext uri="{FF2B5EF4-FFF2-40B4-BE49-F238E27FC236}">
                <a16:creationId xmlns:a16="http://schemas.microsoft.com/office/drawing/2014/main" id="{D544845B-FF90-8623-6F9D-B1F0A8AD4AE0}"/>
              </a:ext>
            </a:extLst>
          </p:cNvPr>
          <p:cNvSpPr txBox="1"/>
          <p:nvPr/>
        </p:nvSpPr>
        <p:spPr>
          <a:xfrm>
            <a:off x="6936761" y="4919747"/>
            <a:ext cx="1179628" cy="33855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>
                <a:latin typeface="Aptos" panose="020B0004020202020204" pitchFamily="34" charset="0"/>
              </a:rPr>
              <a:t>1% of outcomes will be less than this value</a:t>
            </a:r>
          </a:p>
        </p:txBody>
      </p:sp>
    </p:spTree>
    <p:extLst>
      <p:ext uri="{BB962C8B-B14F-4D97-AF65-F5344CB8AC3E}">
        <p14:creationId xmlns:p14="http://schemas.microsoft.com/office/powerpoint/2010/main" val="25448367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21508-1377-CFA5-7401-4879FC369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E512B6F-64BC-F081-4895-43323BB05856}"/>
              </a:ext>
            </a:extLst>
          </p:cNvPr>
          <p:cNvSpPr txBox="1"/>
          <p:nvPr/>
        </p:nvSpPr>
        <p:spPr>
          <a:xfrm>
            <a:off x="287491" y="365302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Optimized For Real Return Target with Spending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56C582-EAFC-D04E-37A2-897BC87D7B4B}"/>
              </a:ext>
            </a:extLst>
          </p:cNvPr>
          <p:cNvCxnSpPr/>
          <p:nvPr/>
        </p:nvCxnSpPr>
        <p:spPr>
          <a:xfrm>
            <a:off x="302495" y="6500036"/>
            <a:ext cx="853900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6DE4625-AFB1-4469-CE45-484B80E52177}"/>
              </a:ext>
            </a:extLst>
          </p:cNvPr>
          <p:cNvSpPr txBox="1"/>
          <p:nvPr/>
        </p:nvSpPr>
        <p:spPr>
          <a:xfrm>
            <a:off x="428785" y="1539232"/>
            <a:ext cx="8137285" cy="276999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Likelihood of Real Wealth Preservation under Growth and Inflation Scenarios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65905F-0B3B-DB8F-5C87-A54300D84E21}"/>
              </a:ext>
            </a:extLst>
          </p:cNvPr>
          <p:cNvSpPr txBox="1"/>
          <p:nvPr/>
        </p:nvSpPr>
        <p:spPr>
          <a:xfrm>
            <a:off x="377077" y="911668"/>
            <a:ext cx="8389843" cy="461665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Aptos Light" panose="020B0004020202020204" pitchFamily="34" charset="0"/>
                <a:cs typeface="Calibri Light" panose="020F0302020204030204" pitchFamily="34" charset="0"/>
              </a:rPr>
              <a:t>Here we solve for the optimal portfolio with the objective to grow at 2% per annum in real terms, net of spending, over the next 20 years. Spending is assumed to be </a:t>
            </a:r>
            <a:r>
              <a:rPr lang="en-GB" sz="12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Aptos Light" panose="020B0004020202020204" pitchFamily="34" charset="0"/>
                <a:cs typeface="Calibri Light" panose="020F0302020204030204" pitchFamily="34" charset="0"/>
              </a:rPr>
              <a:t>2% in years 1-5 and then 3% thereafter</a:t>
            </a:r>
            <a:r>
              <a:rPr lang="en-GB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Aptos Light" panose="020B0004020202020204" pitchFamily="34" charset="0"/>
                <a:cs typeface="Calibri Light" panose="020F0302020204030204" pitchFamily="34" charset="0"/>
              </a:rPr>
              <a:t>.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Aptos Light" panose="020B0004020202020204" pitchFamily="34" charset="0"/>
              <a:cs typeface="Calibri Light" panose="020F0302020204030204" pitchFamily="34" charset="0"/>
            </a:endParaRPr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97A890C3-07E9-AAAA-7E2C-6F65859C81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0723601"/>
              </p:ext>
            </p:extLst>
          </p:nvPr>
        </p:nvGraphicFramePr>
        <p:xfrm>
          <a:off x="1423574" y="2086716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EAA5157F-DEE7-892C-D6DB-74B92D3C2B45}"/>
              </a:ext>
            </a:extLst>
          </p:cNvPr>
          <p:cNvSpPr txBox="1"/>
          <p:nvPr/>
        </p:nvSpPr>
        <p:spPr>
          <a:xfrm>
            <a:off x="2931465" y="2028067"/>
            <a:ext cx="1179646" cy="215444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</a:rPr>
              <a:t>High Inflation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048CD97-58E0-4B82-1763-5D72F57122A6}"/>
              </a:ext>
            </a:extLst>
          </p:cNvPr>
          <p:cNvSpPr txBox="1"/>
          <p:nvPr/>
        </p:nvSpPr>
        <p:spPr>
          <a:xfrm>
            <a:off x="4840340" y="2028067"/>
            <a:ext cx="1179646" cy="215444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</a:rPr>
              <a:t>Low Inflation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2069694-1150-3485-8235-EC00F14BBA26}"/>
              </a:ext>
            </a:extLst>
          </p:cNvPr>
          <p:cNvSpPr txBox="1"/>
          <p:nvPr/>
        </p:nvSpPr>
        <p:spPr>
          <a:xfrm rot="16200000">
            <a:off x="1714848" y="3049450"/>
            <a:ext cx="1179646" cy="215444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</a:rPr>
              <a:t>High Growth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5DDBD3-92D6-5DC9-CABA-AC734455F5FE}"/>
              </a:ext>
            </a:extLst>
          </p:cNvPr>
          <p:cNvSpPr txBox="1"/>
          <p:nvPr/>
        </p:nvSpPr>
        <p:spPr>
          <a:xfrm rot="16200000">
            <a:off x="1714848" y="5000183"/>
            <a:ext cx="1179646" cy="215444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</a:rPr>
              <a:t>Low Growth</a:t>
            </a:r>
          </a:p>
        </p:txBody>
      </p:sp>
    </p:spTree>
    <p:extLst>
      <p:ext uri="{BB962C8B-B14F-4D97-AF65-F5344CB8AC3E}">
        <p14:creationId xmlns:p14="http://schemas.microsoft.com/office/powerpoint/2010/main" val="23959737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2085E-2483-579E-1912-E411008BF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35C9D87-E1C1-4F58-B63C-6574977B7668}"/>
              </a:ext>
            </a:extLst>
          </p:cNvPr>
          <p:cNvSpPr txBox="1"/>
          <p:nvPr/>
        </p:nvSpPr>
        <p:spPr>
          <a:xfrm>
            <a:off x="287491" y="365302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Optimizing with Manager Alpha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A426E96-B61E-2642-EF6A-20B04A5D4199}"/>
              </a:ext>
            </a:extLst>
          </p:cNvPr>
          <p:cNvCxnSpPr/>
          <p:nvPr/>
        </p:nvCxnSpPr>
        <p:spPr>
          <a:xfrm>
            <a:off x="302495" y="6500036"/>
            <a:ext cx="853900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DBFAD34-A54F-B1F6-2FA1-093AE6DAEBFA}"/>
              </a:ext>
            </a:extLst>
          </p:cNvPr>
          <p:cNvSpPr txBox="1"/>
          <p:nvPr/>
        </p:nvSpPr>
        <p:spPr>
          <a:xfrm>
            <a:off x="398504" y="1060795"/>
            <a:ext cx="8188994" cy="276999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Simulated Nominal Portfolio Values, Net of Spending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469C0EB6-DF20-9132-4DBD-C667BCB7C3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2941340"/>
              </p:ext>
            </p:extLst>
          </p:nvPr>
        </p:nvGraphicFramePr>
        <p:xfrm>
          <a:off x="655737" y="1562734"/>
          <a:ext cx="7832526" cy="3705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2319000" imgH="5829300" progId="Excel.Sheet.12">
                  <p:embed/>
                </p:oleObj>
              </mc:Choice>
              <mc:Fallback>
                <p:oleObj name="Worksheet" r:id="rId2" imgW="12319000" imgH="58293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55737" y="1562734"/>
                        <a:ext cx="7832526" cy="37059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183F3B9-B3D9-B265-93B5-A42212363AAC}"/>
              </a:ext>
            </a:extLst>
          </p:cNvPr>
          <p:cNvSpPr txBox="1"/>
          <p:nvPr/>
        </p:nvSpPr>
        <p:spPr>
          <a:xfrm>
            <a:off x="558646" y="5566372"/>
            <a:ext cx="8026709" cy="461665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Aptos Light" panose="020B0004020202020204" pitchFamily="34" charset="0"/>
                <a:cs typeface="Calibri Light" panose="020F0302020204030204" pitchFamily="34" charset="0"/>
              </a:rPr>
              <a:t>Investors that believe that they have superior ability to pick top performing managers should have larger exposure to private markets funds.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  <a:latin typeface="Aptos Light" panose="020B000402020202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6587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1942B-9CDA-1BFD-6151-596573075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3ABBC86-D119-6DE5-BE75-B5CDD684A9C1}"/>
              </a:ext>
            </a:extLst>
          </p:cNvPr>
          <p:cNvSpPr txBox="1"/>
          <p:nvPr/>
        </p:nvSpPr>
        <p:spPr>
          <a:xfrm>
            <a:off x="1769918" y="2951947"/>
            <a:ext cx="56041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Grotesque Light" panose="020B0304020202020204" pitchFamily="34" charset="0"/>
              </a:rPr>
              <a:t>Case Studies:</a:t>
            </a:r>
          </a:p>
          <a:p>
            <a:pPr algn="ctr"/>
            <a:r>
              <a:rPr lang="en-US" sz="2800" dirty="0">
                <a:latin typeface="Grotesque Light" panose="020B0304020202020204" pitchFamily="34" charset="0"/>
              </a:rPr>
              <a:t>Concentrated Risk Analysis</a:t>
            </a:r>
          </a:p>
        </p:txBody>
      </p:sp>
    </p:spTree>
    <p:extLst>
      <p:ext uri="{BB962C8B-B14F-4D97-AF65-F5344CB8AC3E}">
        <p14:creationId xmlns:p14="http://schemas.microsoft.com/office/powerpoint/2010/main" val="35441849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84BBA-D5B5-C8D2-6FE8-78AE77576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E9D295AC-F777-745F-6A90-B3A88C942A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0557007"/>
              </p:ext>
            </p:extLst>
          </p:nvPr>
        </p:nvGraphicFramePr>
        <p:xfrm>
          <a:off x="1551072" y="1196245"/>
          <a:ext cx="6041857" cy="4548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8890000" imgH="6692900" progId="Excel.Sheet.12">
                  <p:embed/>
                </p:oleObj>
              </mc:Choice>
              <mc:Fallback>
                <p:oleObj name="Worksheet" r:id="rId2" imgW="8890000" imgH="66929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51072" y="1196245"/>
                        <a:ext cx="6041857" cy="45486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C120C29-EB57-CA8E-AE1E-04A1D144A0CD}"/>
              </a:ext>
            </a:extLst>
          </p:cNvPr>
          <p:cNvSpPr txBox="1"/>
          <p:nvPr/>
        </p:nvSpPr>
        <p:spPr>
          <a:xfrm>
            <a:off x="338291" y="289102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Concentrated Equity Position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D486EC-85B1-5F82-9EF8-6DCE82811978}"/>
              </a:ext>
            </a:extLst>
          </p:cNvPr>
          <p:cNvSpPr txBox="1"/>
          <p:nvPr/>
        </p:nvSpPr>
        <p:spPr>
          <a:xfrm>
            <a:off x="1131488" y="899511"/>
            <a:ext cx="6881024" cy="276999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Forward Looking Portfolio Risk and Return Analytics 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C12DECC-AF5E-E916-A756-E570658541B3}"/>
              </a:ext>
            </a:extLst>
          </p:cNvPr>
          <p:cNvSpPr/>
          <p:nvPr/>
        </p:nvSpPr>
        <p:spPr>
          <a:xfrm>
            <a:off x="4039149" y="5552183"/>
            <a:ext cx="447332" cy="19525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49097A-2074-1F71-DA1C-A9A8F7F5C01A}"/>
              </a:ext>
            </a:extLst>
          </p:cNvPr>
          <p:cNvSpPr txBox="1"/>
          <p:nvPr/>
        </p:nvSpPr>
        <p:spPr>
          <a:xfrm>
            <a:off x="2709891" y="5964932"/>
            <a:ext cx="3105848" cy="430887"/>
          </a:xfrm>
          <a:prstGeom prst="rect">
            <a:avLst/>
          </a:prstGeom>
          <a:noFill/>
          <a:ln w="63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Calibri Light" panose="020F0302020204030204" pitchFamily="34" charset="0"/>
                <a:cs typeface="Calibri Light" panose="020F0302020204030204" pitchFamily="34" charset="0"/>
              </a:rPr>
              <a:t>Portfolio risk over twice that of an aggressive diversified portfolio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0E68E7F-1AA9-4FA3-6D65-2A1F35FFDF49}"/>
              </a:ext>
            </a:extLst>
          </p:cNvPr>
          <p:cNvCxnSpPr>
            <a:cxnSpLocks/>
            <a:stCxn id="6" idx="0"/>
            <a:endCxn id="5" idx="4"/>
          </p:cNvCxnSpPr>
          <p:nvPr/>
        </p:nvCxnSpPr>
        <p:spPr>
          <a:xfrm flipV="1">
            <a:off x="4262815" y="5747435"/>
            <a:ext cx="0" cy="21749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4E51727-7245-4EA1-2A00-7329E9D95795}"/>
              </a:ext>
            </a:extLst>
          </p:cNvPr>
          <p:cNvSpPr/>
          <p:nvPr/>
        </p:nvSpPr>
        <p:spPr>
          <a:xfrm>
            <a:off x="1551071" y="4605235"/>
            <a:ext cx="6041856" cy="296029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F7EA01-C570-15AA-6B52-8562B22E7961}"/>
              </a:ext>
            </a:extLst>
          </p:cNvPr>
          <p:cNvSpPr txBox="1"/>
          <p:nvPr/>
        </p:nvSpPr>
        <p:spPr>
          <a:xfrm>
            <a:off x="66668" y="6519446"/>
            <a:ext cx="90106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Intel Stock systematic risk and return is modelled using the stocks designated GICS sector, in this case, S&amp;P 500 Information Technology. The idiosyncratic sector risk is adjusted upwards to match the stocks historical trading volatility.</a:t>
            </a:r>
          </a:p>
        </p:txBody>
      </p:sp>
    </p:spTree>
    <p:extLst>
      <p:ext uri="{BB962C8B-B14F-4D97-AF65-F5344CB8AC3E}">
        <p14:creationId xmlns:p14="http://schemas.microsoft.com/office/powerpoint/2010/main" val="35697684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46D20-315D-F555-9389-750903EEC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8A19030-9CE5-76E5-87FC-7FAA5049DD76}"/>
              </a:ext>
            </a:extLst>
          </p:cNvPr>
          <p:cNvSpPr txBox="1"/>
          <p:nvPr/>
        </p:nvSpPr>
        <p:spPr>
          <a:xfrm>
            <a:off x="338291" y="289102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Concentrated Equity Position Risk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F7DCD7-C1DF-277F-5BAE-99341680140D}"/>
              </a:ext>
            </a:extLst>
          </p:cNvPr>
          <p:cNvSpPr txBox="1"/>
          <p:nvPr/>
        </p:nvSpPr>
        <p:spPr>
          <a:xfrm>
            <a:off x="498863" y="4224332"/>
            <a:ext cx="3737638" cy="261610"/>
          </a:xfrm>
          <a:prstGeom prst="rect">
            <a:avLst/>
          </a:prstGeom>
          <a:solidFill>
            <a:srgbClr val="151824"/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+mj-lt"/>
              </a:rPr>
              <a:t>Impact of Concentrated Position on Portfolio Value at Risk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A9E159A-E50C-8CC7-0EA9-439DB6AD9C8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93616478"/>
              </p:ext>
            </p:extLst>
          </p:nvPr>
        </p:nvGraphicFramePr>
        <p:xfrm>
          <a:off x="628650" y="4617510"/>
          <a:ext cx="3391200" cy="17975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52B7A2A-E1EE-2C5C-3561-0527A766C545}"/>
              </a:ext>
            </a:extLst>
          </p:cNvPr>
          <p:cNvSpPr txBox="1"/>
          <p:nvPr/>
        </p:nvSpPr>
        <p:spPr>
          <a:xfrm>
            <a:off x="498864" y="982984"/>
            <a:ext cx="8146272" cy="261610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Calibri Light" panose="020F0302020204030204" pitchFamily="34" charset="0"/>
                <a:cs typeface="Calibri Light" panose="020F0302020204030204" pitchFamily="34" charset="0"/>
              </a:rPr>
              <a:t>Most of the risk inherent in a concentrated stock position is idiosyncratic, and absent a strong forward view, it should be diversified away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4E8A25-032E-97F9-E9F8-5A373A8DA7E1}"/>
              </a:ext>
            </a:extLst>
          </p:cNvPr>
          <p:cNvSpPr txBox="1"/>
          <p:nvPr/>
        </p:nvSpPr>
        <p:spPr>
          <a:xfrm>
            <a:off x="4907497" y="4224332"/>
            <a:ext cx="3737639" cy="261610"/>
          </a:xfrm>
          <a:prstGeom prst="rect">
            <a:avLst/>
          </a:prstGeom>
          <a:solidFill>
            <a:srgbClr val="151824"/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chemeClr val="bg1"/>
                </a:solidFill>
                <a:latin typeface="+mj-lt"/>
              </a:rPr>
              <a:t>Impact of Concentrated Position on Probability of Loss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55BBC4F7-4522-7348-8A20-1AB34DEEBD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10034240"/>
              </p:ext>
            </p:extLst>
          </p:nvPr>
        </p:nvGraphicFramePr>
        <p:xfrm>
          <a:off x="5033632" y="4617510"/>
          <a:ext cx="33912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E54BAF49-5A9D-D8DB-8C48-7E8D6386EE6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1258716"/>
              </p:ext>
            </p:extLst>
          </p:nvPr>
        </p:nvGraphicFramePr>
        <p:xfrm>
          <a:off x="5033632" y="1467061"/>
          <a:ext cx="3179411" cy="2364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5D324663-6050-7EEE-6237-D3BC4E61D4D6}"/>
              </a:ext>
            </a:extLst>
          </p:cNvPr>
          <p:cNvSpPr txBox="1"/>
          <p:nvPr/>
        </p:nvSpPr>
        <p:spPr>
          <a:xfrm>
            <a:off x="66669" y="6568898"/>
            <a:ext cx="901066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Implied return assumes the risk aversion of an aggressive global investor</a:t>
            </a:r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98FA5FD0-8933-5964-01AF-93BA1A6BE7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00755285"/>
              </p:ext>
            </p:extLst>
          </p:nvPr>
        </p:nvGraphicFramePr>
        <p:xfrm>
          <a:off x="734544" y="1517401"/>
          <a:ext cx="3179411" cy="24757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6849310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8E2A9-B068-2D8B-D3C3-FB0F3CBF9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DCF5330C-C74E-1CEB-9A43-79F2C202DF98}"/>
              </a:ext>
            </a:extLst>
          </p:cNvPr>
          <p:cNvSpPr/>
          <p:nvPr/>
        </p:nvSpPr>
        <p:spPr>
          <a:xfrm>
            <a:off x="1661276" y="4320716"/>
            <a:ext cx="1765979" cy="642174"/>
          </a:xfrm>
          <a:prstGeom prst="ellipse">
            <a:avLst/>
          </a:prstGeom>
          <a:solidFill>
            <a:srgbClr val="DAE3F3">
              <a:alpha val="41569"/>
            </a:srgbClr>
          </a:solidFill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B73F5AFF-436E-81FC-A26E-30B6A62454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40508918"/>
              </p:ext>
            </p:extLst>
          </p:nvPr>
        </p:nvGraphicFramePr>
        <p:xfrm>
          <a:off x="812967" y="1298853"/>
          <a:ext cx="7518065" cy="42602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8B1ECD1-6320-2DBE-194E-1890AAD3A561}"/>
              </a:ext>
            </a:extLst>
          </p:cNvPr>
          <p:cNvSpPr txBox="1"/>
          <p:nvPr/>
        </p:nvSpPr>
        <p:spPr>
          <a:xfrm>
            <a:off x="338291" y="289102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Diversification Opportunities by Asset Class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78AD09-1790-4E2A-F252-079321639212}"/>
              </a:ext>
            </a:extLst>
          </p:cNvPr>
          <p:cNvSpPr txBox="1"/>
          <p:nvPr/>
        </p:nvSpPr>
        <p:spPr>
          <a:xfrm>
            <a:off x="302496" y="919246"/>
            <a:ext cx="8539009" cy="276999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Forward Looking Portfolio Risk and Return Analytics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9D8588E-77B9-F670-828E-BD57E3393343}"/>
              </a:ext>
            </a:extLst>
          </p:cNvPr>
          <p:cNvCxnSpPr>
            <a:cxnSpLocks/>
          </p:cNvCxnSpPr>
          <p:nvPr/>
        </p:nvCxnSpPr>
        <p:spPr>
          <a:xfrm flipV="1">
            <a:off x="2297898" y="4962890"/>
            <a:ext cx="0" cy="83701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09E8A64-FCD5-1280-7F9B-9B14D5B0AB65}"/>
              </a:ext>
            </a:extLst>
          </p:cNvPr>
          <p:cNvSpPr txBox="1"/>
          <p:nvPr/>
        </p:nvSpPr>
        <p:spPr>
          <a:xfrm>
            <a:off x="1233758" y="5720774"/>
            <a:ext cx="5837595" cy="430887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Calibri Light" panose="020F0302020204030204" pitchFamily="34" charset="0"/>
                <a:cs typeface="Calibri Light" panose="020F0302020204030204" pitchFamily="34" charset="0"/>
              </a:rPr>
              <a:t>Ideal diversifiers for holders of Intel stock would be those assets with both low correlation to Intel and low volatility. This means </a:t>
            </a:r>
            <a:r>
              <a:rPr lang="en-US" sz="1100" b="1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high quality fixed income </a:t>
            </a:r>
            <a:r>
              <a:rPr lang="en-US" sz="1100" dirty="0">
                <a:latin typeface="Calibri Light" panose="020F0302020204030204" pitchFamily="34" charset="0"/>
                <a:cs typeface="Calibri Light" panose="020F0302020204030204" pitchFamily="34" charset="0"/>
              </a:rPr>
              <a:t>and </a:t>
            </a:r>
            <a:r>
              <a:rPr lang="en-US" sz="1100" b="1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tactical trading hedge funds</a:t>
            </a:r>
            <a:r>
              <a:rPr lang="en-US" sz="1100" dirty="0">
                <a:latin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219021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B8C55-35EA-0323-C5F9-6078B4887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BF4423-11FF-9F9F-514C-367A1F464C5B}"/>
              </a:ext>
            </a:extLst>
          </p:cNvPr>
          <p:cNvSpPr txBox="1"/>
          <p:nvPr/>
        </p:nvSpPr>
        <p:spPr>
          <a:xfrm>
            <a:off x="338291" y="289102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Example Staged Diversification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589848-5162-B1FB-B508-2D7AFA62B941}"/>
              </a:ext>
            </a:extLst>
          </p:cNvPr>
          <p:cNvSpPr txBox="1"/>
          <p:nvPr/>
        </p:nvSpPr>
        <p:spPr>
          <a:xfrm>
            <a:off x="302496" y="983038"/>
            <a:ext cx="8539009" cy="276999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Evolution of Portfolio Weights in Staged Stock Sell-Down</a:t>
            </a: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E7757516-0573-7F01-F8FA-9D56EDD6D2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3330023"/>
              </p:ext>
            </p:extLst>
          </p:nvPr>
        </p:nvGraphicFramePr>
        <p:xfrm>
          <a:off x="503752" y="1333069"/>
          <a:ext cx="8136497" cy="429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2661900" imgH="6692900" progId="Excel.Sheet.12">
                  <p:embed/>
                </p:oleObj>
              </mc:Choice>
              <mc:Fallback>
                <p:oleObj name="Worksheet" r:id="rId2" imgW="12661900" imgH="66929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3752" y="1333069"/>
                        <a:ext cx="8136497" cy="42999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DB198AC-3540-AAD3-6295-55DD4206E2F4}"/>
              </a:ext>
            </a:extLst>
          </p:cNvPr>
          <p:cNvCxnSpPr>
            <a:cxnSpLocks/>
          </p:cNvCxnSpPr>
          <p:nvPr/>
        </p:nvCxnSpPr>
        <p:spPr>
          <a:xfrm flipV="1">
            <a:off x="4747932" y="5632982"/>
            <a:ext cx="0" cy="48428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7B438E8-63EE-B424-FFE9-E0E19F0244DA}"/>
              </a:ext>
            </a:extLst>
          </p:cNvPr>
          <p:cNvCxnSpPr>
            <a:cxnSpLocks/>
          </p:cNvCxnSpPr>
          <p:nvPr/>
        </p:nvCxnSpPr>
        <p:spPr>
          <a:xfrm flipH="1" flipV="1">
            <a:off x="4027548" y="5681844"/>
            <a:ext cx="1061903" cy="43542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B02520D-FC4C-D57A-16D5-1BD679013B38}"/>
              </a:ext>
            </a:extLst>
          </p:cNvPr>
          <p:cNvCxnSpPr>
            <a:cxnSpLocks/>
          </p:cNvCxnSpPr>
          <p:nvPr/>
        </p:nvCxnSpPr>
        <p:spPr>
          <a:xfrm flipH="1" flipV="1">
            <a:off x="5807487" y="5632982"/>
            <a:ext cx="650463" cy="38691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C60583B-4823-40E1-C190-CECA46750828}"/>
              </a:ext>
            </a:extLst>
          </p:cNvPr>
          <p:cNvSpPr txBox="1"/>
          <p:nvPr/>
        </p:nvSpPr>
        <p:spPr>
          <a:xfrm>
            <a:off x="317027" y="624044"/>
            <a:ext cx="77473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Grotesque Light" panose="020B0304020202020204" pitchFamily="34" charset="0"/>
              </a:rPr>
              <a:t>Stock Sell-Down in 10% Increments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60DB0F-031A-E940-48C6-93B6E10DA813}"/>
              </a:ext>
            </a:extLst>
          </p:cNvPr>
          <p:cNvSpPr txBox="1"/>
          <p:nvPr/>
        </p:nvSpPr>
        <p:spPr>
          <a:xfrm>
            <a:off x="5930762" y="5969437"/>
            <a:ext cx="1928929" cy="60016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Calibri Light" panose="020F0302020204030204" pitchFamily="34" charset="0"/>
                <a:cs typeface="Calibri Light" panose="020F0302020204030204" pitchFamily="34" charset="0"/>
              </a:rPr>
              <a:t>Stages 3 onwards focuses on building a diversified public equity portfolio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EC3DA7-26A2-7D2B-625A-0DE6F7B7B2D6}"/>
              </a:ext>
            </a:extLst>
          </p:cNvPr>
          <p:cNvSpPr txBox="1"/>
          <p:nvPr/>
        </p:nvSpPr>
        <p:spPr>
          <a:xfrm>
            <a:off x="3545919" y="5969437"/>
            <a:ext cx="2261568" cy="60016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Calibri Light" panose="020F0302020204030204" pitchFamily="34" charset="0"/>
                <a:cs typeface="Calibri Light" panose="020F0302020204030204" pitchFamily="34" charset="0"/>
              </a:rPr>
              <a:t>Stages 1-2 Focuses on investing in lowly correlated diversifiers to maximize risk reduction</a:t>
            </a:r>
          </a:p>
        </p:txBody>
      </p:sp>
    </p:spTree>
    <p:extLst>
      <p:ext uri="{BB962C8B-B14F-4D97-AF65-F5344CB8AC3E}">
        <p14:creationId xmlns:p14="http://schemas.microsoft.com/office/powerpoint/2010/main" val="21968870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7B092-6532-C0B0-F50F-23BE05789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D0AD1E-A5CA-1044-840D-6591ACEA6B3D}"/>
              </a:ext>
            </a:extLst>
          </p:cNvPr>
          <p:cNvSpPr txBox="1"/>
          <p:nvPr/>
        </p:nvSpPr>
        <p:spPr>
          <a:xfrm>
            <a:off x="302496" y="1067018"/>
            <a:ext cx="8539009" cy="276999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+mj-lt"/>
              </a:rPr>
              <a:t>Forward Looking Portfolio Risk and Return Analytics 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25A7E875-4C1D-1C71-9637-8F02D81F83F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1202094"/>
              </p:ext>
            </p:extLst>
          </p:nvPr>
        </p:nvGraphicFramePr>
        <p:xfrm>
          <a:off x="516531" y="1426279"/>
          <a:ext cx="8145838" cy="38092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D891CDE-ADDF-7106-4BC0-CC9156292FF5}"/>
              </a:ext>
            </a:extLst>
          </p:cNvPr>
          <p:cNvSpPr txBox="1"/>
          <p:nvPr/>
        </p:nvSpPr>
        <p:spPr>
          <a:xfrm>
            <a:off x="338291" y="289102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Example Staged Diversification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B4D4D2-E51B-B71A-FE97-2C4E85E7AFE0}"/>
              </a:ext>
            </a:extLst>
          </p:cNvPr>
          <p:cNvSpPr txBox="1"/>
          <p:nvPr/>
        </p:nvSpPr>
        <p:spPr>
          <a:xfrm>
            <a:off x="828231" y="5580519"/>
            <a:ext cx="7487538" cy="430887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Calibri Light" panose="020F0302020204030204" pitchFamily="34" charset="0"/>
                <a:cs typeface="Calibri Light" panose="020F0302020204030204" pitchFamily="34" charset="0"/>
              </a:rPr>
              <a:t>Diversifying into a long-term multi-asset portfolio leads to significantly improved risk-adjusted prospects. Even at low allocations, Intel would require a disproportionally high return to justify its portfolio risk contribution.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8C0D4B-E380-E076-9C9D-087E582F6EEF}"/>
              </a:ext>
            </a:extLst>
          </p:cNvPr>
          <p:cNvSpPr txBox="1"/>
          <p:nvPr/>
        </p:nvSpPr>
        <p:spPr>
          <a:xfrm>
            <a:off x="338291" y="622539"/>
            <a:ext cx="77473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Grotesque Light" panose="020B0304020202020204" pitchFamily="34" charset="0"/>
              </a:rPr>
              <a:t>Impact on Risk and Return</a:t>
            </a:r>
          </a:p>
        </p:txBody>
      </p:sp>
    </p:spTree>
    <p:extLst>
      <p:ext uri="{BB962C8B-B14F-4D97-AF65-F5344CB8AC3E}">
        <p14:creationId xmlns:p14="http://schemas.microsoft.com/office/powerpoint/2010/main" val="87968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0D355-1B48-CC9B-F75E-2A2142FF6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2E576B4-659B-D23C-D3E9-B101B4C5C0E0}"/>
              </a:ext>
            </a:extLst>
          </p:cNvPr>
          <p:cNvCxnSpPr>
            <a:cxnSpLocks/>
          </p:cNvCxnSpPr>
          <p:nvPr/>
        </p:nvCxnSpPr>
        <p:spPr>
          <a:xfrm>
            <a:off x="3538937" y="2259985"/>
            <a:ext cx="2980526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271BB5FD-A14F-9EED-E21C-FDE069BBD678}"/>
              </a:ext>
            </a:extLst>
          </p:cNvPr>
          <p:cNvSpPr/>
          <p:nvPr/>
        </p:nvSpPr>
        <p:spPr>
          <a:xfrm>
            <a:off x="1137765" y="1933502"/>
            <a:ext cx="1982363" cy="30852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B1F207-B37D-1E00-828B-63C4318BB6A1}"/>
              </a:ext>
            </a:extLst>
          </p:cNvPr>
          <p:cNvSpPr txBox="1"/>
          <p:nvPr/>
        </p:nvSpPr>
        <p:spPr>
          <a:xfrm>
            <a:off x="338291" y="289102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Example Staged Diversification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789CC8-0164-4435-288F-C77686B14DEC}"/>
              </a:ext>
            </a:extLst>
          </p:cNvPr>
          <p:cNvSpPr txBox="1"/>
          <p:nvPr/>
        </p:nvSpPr>
        <p:spPr>
          <a:xfrm>
            <a:off x="338291" y="622539"/>
            <a:ext cx="77473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Grotesque Light" panose="020B0304020202020204" pitchFamily="34" charset="0"/>
              </a:rPr>
              <a:t>Portfolio Wealth Projections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02DC9B-41C4-6BA9-B44E-4AAA3694A5AA}"/>
              </a:ext>
            </a:extLst>
          </p:cNvPr>
          <p:cNvSpPr txBox="1"/>
          <p:nvPr/>
        </p:nvSpPr>
        <p:spPr>
          <a:xfrm>
            <a:off x="302496" y="1038664"/>
            <a:ext cx="8539009" cy="276999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+mj-lt"/>
              </a:rPr>
              <a:t>Simulated Future Nominal Portfolio Value Paths through Staged Diversification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1D62FB-6D9A-3D24-3CAC-B2DA21A791B2}"/>
              </a:ext>
            </a:extLst>
          </p:cNvPr>
          <p:cNvSpPr txBox="1"/>
          <p:nvPr/>
        </p:nvSpPr>
        <p:spPr>
          <a:xfrm>
            <a:off x="509551" y="5693256"/>
            <a:ext cx="8124897" cy="430887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Calibri Light" panose="020F0302020204030204" pitchFamily="34" charset="0"/>
                <a:cs typeface="Calibri Light" panose="020F0302020204030204" pitchFamily="34" charset="0"/>
              </a:rPr>
              <a:t>The result of the staged diversification is a long-term wealth projection with both improved expected values along with improved downside estimates.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CDEF84-B8E6-842D-6FAE-A7DA8408DC32}"/>
              </a:ext>
            </a:extLst>
          </p:cNvPr>
          <p:cNvSpPr txBox="1"/>
          <p:nvPr/>
        </p:nvSpPr>
        <p:spPr>
          <a:xfrm>
            <a:off x="7181156" y="3542428"/>
            <a:ext cx="1809022" cy="784830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Calibri Light" panose="020F0302020204030204" pitchFamily="34" charset="0"/>
                <a:cs typeface="Calibri Light" panose="020F0302020204030204" pitchFamily="34" charset="0"/>
              </a:rPr>
              <a:t>In the median case, the staged diversification strategy would be expected to grow by approx. $100mm more over the next 20-year vs the current portfolio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649FF1-B1BB-2CE5-B111-24E938081D9D}"/>
              </a:ext>
            </a:extLst>
          </p:cNvPr>
          <p:cNvSpPr txBox="1"/>
          <p:nvPr/>
        </p:nvSpPr>
        <p:spPr>
          <a:xfrm>
            <a:off x="1546103" y="2090708"/>
            <a:ext cx="1179646" cy="338554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</a:rPr>
              <a:t>Staged Diversification with yearly sell-down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00000000-0008-0000-0300-000003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72744018"/>
              </p:ext>
            </p:extLst>
          </p:nvPr>
        </p:nvGraphicFramePr>
        <p:xfrm>
          <a:off x="439750" y="1472813"/>
          <a:ext cx="6896390" cy="41392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902341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019D7-E96C-B374-9C93-FFAD0F30A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F9FB94-50CC-A595-4091-259FFADF6353}"/>
              </a:ext>
            </a:extLst>
          </p:cNvPr>
          <p:cNvSpPr txBox="1"/>
          <p:nvPr/>
        </p:nvSpPr>
        <p:spPr>
          <a:xfrm>
            <a:off x="1769918" y="2951947"/>
            <a:ext cx="56041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Grotesque Light" panose="020B0304020202020204" pitchFamily="34" charset="0"/>
              </a:rPr>
              <a:t>Case Studies:</a:t>
            </a:r>
          </a:p>
          <a:p>
            <a:pPr algn="ctr"/>
            <a:r>
              <a:rPr lang="en-US" sz="2800" dirty="0">
                <a:latin typeface="Grotesque Light" panose="020B0304020202020204" pitchFamily="34" charset="0"/>
              </a:rPr>
              <a:t>Structured Notes</a:t>
            </a:r>
          </a:p>
        </p:txBody>
      </p:sp>
    </p:spTree>
    <p:extLst>
      <p:ext uri="{BB962C8B-B14F-4D97-AF65-F5344CB8AC3E}">
        <p14:creationId xmlns:p14="http://schemas.microsoft.com/office/powerpoint/2010/main" val="15446713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B5422-98E0-D915-543E-D436A9AE5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Chart 28">
            <a:extLst>
              <a:ext uri="{FF2B5EF4-FFF2-40B4-BE49-F238E27FC236}">
                <a16:creationId xmlns:a16="http://schemas.microsoft.com/office/drawing/2014/main" id="{FCD63AB9-5AE2-8BE9-BFF4-2A64539F97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06243777"/>
              </p:ext>
            </p:extLst>
          </p:nvPr>
        </p:nvGraphicFramePr>
        <p:xfrm>
          <a:off x="338291" y="1464288"/>
          <a:ext cx="4233710" cy="2403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7625851-F13A-ED92-665D-79EB66EBCD0C}"/>
              </a:ext>
            </a:extLst>
          </p:cNvPr>
          <p:cNvSpPr txBox="1"/>
          <p:nvPr/>
        </p:nvSpPr>
        <p:spPr>
          <a:xfrm>
            <a:off x="302497" y="249071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Modelling Structured Notes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167B6A-E382-AC54-8DB9-04A5431C45CA}"/>
              </a:ext>
            </a:extLst>
          </p:cNvPr>
          <p:cNvSpPr txBox="1"/>
          <p:nvPr/>
        </p:nvSpPr>
        <p:spPr>
          <a:xfrm>
            <a:off x="302497" y="1069424"/>
            <a:ext cx="4269504" cy="276999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Payoff Profile and Note Terms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FC6C18-3349-E734-25B8-37CC6361D7D5}"/>
              </a:ext>
            </a:extLst>
          </p:cNvPr>
          <p:cNvSpPr txBox="1"/>
          <p:nvPr/>
        </p:nvSpPr>
        <p:spPr>
          <a:xfrm>
            <a:off x="4710023" y="1069424"/>
            <a:ext cx="4269504" cy="276999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Simulated Terminal Payoff: Underlying &amp; Autocallable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519714-FC5B-91D1-51EF-6B424C802DC7}"/>
              </a:ext>
            </a:extLst>
          </p:cNvPr>
          <p:cNvSpPr txBox="1"/>
          <p:nvPr/>
        </p:nvSpPr>
        <p:spPr>
          <a:xfrm>
            <a:off x="302851" y="588604"/>
            <a:ext cx="77473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Grotesque Light" panose="020B0304020202020204" pitchFamily="34" charset="0"/>
              </a:rPr>
              <a:t>Autocallable Coupon Buffered Notes</a:t>
            </a:r>
          </a:p>
        </p:txBody>
      </p:sp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0159DDBB-6FBD-86C3-2584-F0B77B4883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6389337"/>
              </p:ext>
            </p:extLst>
          </p:nvPr>
        </p:nvGraphicFramePr>
        <p:xfrm>
          <a:off x="500063" y="4056063"/>
          <a:ext cx="3806825" cy="209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6057900" imgH="3340100" progId="Excel.Sheet.12">
                  <p:embed/>
                </p:oleObj>
              </mc:Choice>
              <mc:Fallback>
                <p:oleObj name="Worksheet" r:id="rId3" imgW="6057900" imgH="33401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0063" y="4056063"/>
                        <a:ext cx="3806825" cy="2098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E17F088-EAF5-B620-D83D-44250425996F}"/>
              </a:ext>
            </a:extLst>
          </p:cNvPr>
          <p:cNvCxnSpPr>
            <a:cxnSpLocks/>
          </p:cNvCxnSpPr>
          <p:nvPr/>
        </p:nvCxnSpPr>
        <p:spPr>
          <a:xfrm flipH="1">
            <a:off x="1747471" y="2390720"/>
            <a:ext cx="79016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70B309C-F8A4-461E-E0D5-410692C4C31B}"/>
              </a:ext>
            </a:extLst>
          </p:cNvPr>
          <p:cNvCxnSpPr>
            <a:cxnSpLocks/>
          </p:cNvCxnSpPr>
          <p:nvPr/>
        </p:nvCxnSpPr>
        <p:spPr>
          <a:xfrm flipV="1">
            <a:off x="1689948" y="1533013"/>
            <a:ext cx="0" cy="1938517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01DC984-5400-0F0C-F072-06219A8E8572}"/>
              </a:ext>
            </a:extLst>
          </p:cNvPr>
          <p:cNvSpPr txBox="1"/>
          <p:nvPr/>
        </p:nvSpPr>
        <p:spPr>
          <a:xfrm>
            <a:off x="1025188" y="1554277"/>
            <a:ext cx="6718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latin typeface="Aptos" panose="020B0004020202020204" pitchFamily="34" charset="0"/>
              </a:rPr>
              <a:t>Barrier &amp; Coupon level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EC9E6B-3CBB-4A2B-0495-A11A9C26F655}"/>
              </a:ext>
            </a:extLst>
          </p:cNvPr>
          <p:cNvSpPr txBox="1"/>
          <p:nvPr/>
        </p:nvSpPr>
        <p:spPr>
          <a:xfrm rot="20152289">
            <a:off x="3733591" y="1686394"/>
            <a:ext cx="6718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latin typeface="Aptos" panose="020B0004020202020204" pitchFamily="34" charset="0"/>
              </a:rPr>
              <a:t>Underlying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05BD6E-C85D-18F5-535B-5F624DC2E7F9}"/>
              </a:ext>
            </a:extLst>
          </p:cNvPr>
          <p:cNvSpPr txBox="1"/>
          <p:nvPr/>
        </p:nvSpPr>
        <p:spPr>
          <a:xfrm>
            <a:off x="2542156" y="1871008"/>
            <a:ext cx="143635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ptos" panose="020B0004020202020204" pitchFamily="34" charset="0"/>
              </a:rPr>
              <a:t>Capped Coupon Return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0DDDBE-AD3D-776E-2025-6CF79BDA64A2}"/>
              </a:ext>
            </a:extLst>
          </p:cNvPr>
          <p:cNvSpPr txBox="1"/>
          <p:nvPr/>
        </p:nvSpPr>
        <p:spPr>
          <a:xfrm>
            <a:off x="1915968" y="2264510"/>
            <a:ext cx="467091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</a:rPr>
              <a:t>Buffer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7FB044B-9CE1-61D2-A579-91C3AB0620B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4728029"/>
              </p:ext>
            </p:extLst>
          </p:nvPr>
        </p:nvGraphicFramePr>
        <p:xfrm>
          <a:off x="4784651" y="1490483"/>
          <a:ext cx="4083127" cy="41549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TextBox 13">
            <a:extLst>
              <a:ext uri="{FF2B5EF4-FFF2-40B4-BE49-F238E27FC236}">
                <a16:creationId xmlns:a16="http://schemas.microsoft.com/office/drawing/2014/main" id="{B39781E1-E3ED-A053-6685-74876D598A1E}"/>
              </a:ext>
            </a:extLst>
          </p:cNvPr>
          <p:cNvSpPr txBox="1"/>
          <p:nvPr/>
        </p:nvSpPr>
        <p:spPr>
          <a:xfrm>
            <a:off x="6898658" y="1980611"/>
            <a:ext cx="1260058" cy="58477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u="sng" dirty="0">
                <a:latin typeface="Aptos" panose="020B0004020202020204" pitchFamily="34" charset="0"/>
              </a:rPr>
              <a:t>Probability of Loss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 dirty="0">
              <a:latin typeface="Aptos" panose="020B00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latin typeface="Aptos" panose="020B0004020202020204" pitchFamily="34" charset="0"/>
              </a:rPr>
              <a:t>S&amp;P 500: 23%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latin typeface="Aptos" panose="020B0004020202020204" pitchFamily="34" charset="0"/>
              </a:rPr>
              <a:t>AutoCallable: 4%</a:t>
            </a:r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BDE6A1C0-7611-B687-F8EB-221E3932C8C4}"/>
              </a:ext>
            </a:extLst>
          </p:cNvPr>
          <p:cNvSpPr txBox="1"/>
          <p:nvPr/>
        </p:nvSpPr>
        <p:spPr>
          <a:xfrm>
            <a:off x="6898658" y="2628481"/>
            <a:ext cx="1260058" cy="58477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u="sng" dirty="0">
                <a:latin typeface="Aptos" panose="020B0004020202020204" pitchFamily="34" charset="0"/>
              </a:rPr>
              <a:t>Simulated Volatility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 dirty="0">
              <a:latin typeface="Aptos" panose="020B00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latin typeface="Aptos" panose="020B0004020202020204" pitchFamily="34" charset="0"/>
              </a:rPr>
              <a:t>S&amp;P 500: 12.1%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dirty="0">
                <a:latin typeface="Aptos" panose="020B0004020202020204" pitchFamily="34" charset="0"/>
              </a:rPr>
              <a:t>AutoCallable: 2.4%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8139359-DA26-0E21-ABA8-BD3D6E397F77}"/>
              </a:ext>
            </a:extLst>
          </p:cNvPr>
          <p:cNvSpPr/>
          <p:nvPr/>
        </p:nvSpPr>
        <p:spPr>
          <a:xfrm>
            <a:off x="6032205" y="4848447"/>
            <a:ext cx="375683" cy="29771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CC421D3-EB33-5C95-20CA-BF9CAF6CF77C}"/>
              </a:ext>
            </a:extLst>
          </p:cNvPr>
          <p:cNvSpPr/>
          <p:nvPr/>
        </p:nvSpPr>
        <p:spPr>
          <a:xfrm>
            <a:off x="7674190" y="4391247"/>
            <a:ext cx="375683" cy="29771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BE46CB-C7DA-182E-6078-29503B0DCC26}"/>
              </a:ext>
            </a:extLst>
          </p:cNvPr>
          <p:cNvSpPr txBox="1"/>
          <p:nvPr/>
        </p:nvSpPr>
        <p:spPr>
          <a:xfrm>
            <a:off x="6844776" y="4913635"/>
            <a:ext cx="1129644" cy="215444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  <a:cs typeface="Calibri Light" panose="020F0302020204030204" pitchFamily="34" charset="0"/>
              </a:rPr>
              <a:t>1</a:t>
            </a:r>
            <a:r>
              <a:rPr lang="en-US" sz="800" baseline="30000" dirty="0">
                <a:latin typeface="Aptos" panose="020B0004020202020204" pitchFamily="34" charset="0"/>
                <a:cs typeface="Calibri Light" panose="020F0302020204030204" pitchFamily="34" charset="0"/>
              </a:rPr>
              <a:t>st</a:t>
            </a:r>
            <a:r>
              <a:rPr lang="en-US" sz="800" dirty="0">
                <a:latin typeface="Aptos" panose="020B0004020202020204" pitchFamily="34" charset="0"/>
                <a:cs typeface="Calibri Light" panose="020F0302020204030204" pitchFamily="34" charset="0"/>
              </a:rPr>
              <a:t> Percentile Loss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4823A61-625C-2571-1F58-E498AE3B378F}"/>
              </a:ext>
            </a:extLst>
          </p:cNvPr>
          <p:cNvCxnSpPr/>
          <p:nvPr/>
        </p:nvCxnSpPr>
        <p:spPr>
          <a:xfrm flipV="1">
            <a:off x="7733414" y="4688958"/>
            <a:ext cx="77972" cy="22467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407CA83-8C84-84EF-50F9-EA77325356C0}"/>
              </a:ext>
            </a:extLst>
          </p:cNvPr>
          <p:cNvCxnSpPr>
            <a:stCxn id="17" idx="1"/>
          </p:cNvCxnSpPr>
          <p:nvPr/>
        </p:nvCxnSpPr>
        <p:spPr>
          <a:xfrm flipH="1" flipV="1">
            <a:off x="6407888" y="4976037"/>
            <a:ext cx="436888" cy="4532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723DBF4-040C-CB1B-8669-EE583E2BE76A}"/>
              </a:ext>
            </a:extLst>
          </p:cNvPr>
          <p:cNvSpPr txBox="1"/>
          <p:nvPr/>
        </p:nvSpPr>
        <p:spPr>
          <a:xfrm>
            <a:off x="5124894" y="5754902"/>
            <a:ext cx="3607980" cy="507831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900" dirty="0">
                <a:latin typeface="Aptos Light" panose="020B0004020202020204" pitchFamily="34" charset="0"/>
              </a:rPr>
              <a:t>Buffered Autocallable Notes help mitigate tail risk through downside protection; however, this protection comes at the expense of full upside participation relative to holding the underlying asset directly</a:t>
            </a:r>
            <a:endParaRPr lang="en-US" sz="900" dirty="0">
              <a:latin typeface="Aptos Light" panose="020B000402020202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8549491-DC85-F25E-3988-2D7B908A9352}"/>
              </a:ext>
            </a:extLst>
          </p:cNvPr>
          <p:cNvCxnSpPr/>
          <p:nvPr/>
        </p:nvCxnSpPr>
        <p:spPr>
          <a:xfrm flipV="1">
            <a:off x="2587256" y="2079364"/>
            <a:ext cx="0" cy="410400"/>
          </a:xfrm>
          <a:prstGeom prst="line">
            <a:avLst/>
          </a:prstGeom>
          <a:ln w="2222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72018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DAE96-D654-780A-E1C1-800F7E03F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795B64-4FA7-34DE-D01D-1DDB328C2AB8}"/>
              </a:ext>
            </a:extLst>
          </p:cNvPr>
          <p:cNvSpPr txBox="1"/>
          <p:nvPr/>
        </p:nvSpPr>
        <p:spPr>
          <a:xfrm>
            <a:off x="302497" y="249071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Modelling Structured Notes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974445-149A-8DF9-8D11-ED8593C0741A}"/>
              </a:ext>
            </a:extLst>
          </p:cNvPr>
          <p:cNvSpPr txBox="1"/>
          <p:nvPr/>
        </p:nvSpPr>
        <p:spPr>
          <a:xfrm>
            <a:off x="346384" y="1336605"/>
            <a:ext cx="4176000" cy="276999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Performance Under Varying Market Scenarios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6F88C3-07F8-3AF5-3448-598080677A42}"/>
              </a:ext>
            </a:extLst>
          </p:cNvPr>
          <p:cNvSpPr txBox="1"/>
          <p:nvPr/>
        </p:nvSpPr>
        <p:spPr>
          <a:xfrm>
            <a:off x="4660407" y="1336605"/>
            <a:ext cx="4176000" cy="276999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Outperformance Probability Under Varying </a:t>
            </a:r>
            <a:r>
              <a:rPr lang="en-US"/>
              <a:t>Market Scenarios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6A86DC-2E5D-8444-A689-4B9702055933}"/>
              </a:ext>
            </a:extLst>
          </p:cNvPr>
          <p:cNvSpPr txBox="1"/>
          <p:nvPr/>
        </p:nvSpPr>
        <p:spPr>
          <a:xfrm>
            <a:off x="302496" y="589651"/>
            <a:ext cx="77473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Grotesque Light" panose="020B0304020202020204" pitchFamily="34" charset="0"/>
              </a:rPr>
              <a:t>Autocallable Coupon Buffered Notes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BDE65B-C1D6-2809-9AF5-ED426595925C}"/>
              </a:ext>
            </a:extLst>
          </p:cNvPr>
          <p:cNvSpPr txBox="1"/>
          <p:nvPr/>
        </p:nvSpPr>
        <p:spPr>
          <a:xfrm>
            <a:off x="643011" y="5365615"/>
            <a:ext cx="3444949" cy="707886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dirty="0">
                <a:latin typeface="Aptos Light" panose="020B0004020202020204" pitchFamily="34" charset="0"/>
              </a:rPr>
              <a:t>Buffered Autocallables reduce losses in down markets and outperform in flat to moderately up environments due to coupon and early call features. Upside is limited in strong bull markets.</a:t>
            </a:r>
            <a:endParaRPr lang="en-US" sz="1000" dirty="0">
              <a:latin typeface="Aptos Light" panose="020B00040202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F6C892-2D6E-7A83-1427-2A43FF448192}"/>
              </a:ext>
            </a:extLst>
          </p:cNvPr>
          <p:cNvSpPr txBox="1"/>
          <p:nvPr/>
        </p:nvSpPr>
        <p:spPr>
          <a:xfrm>
            <a:off x="5112316" y="5355106"/>
            <a:ext cx="3522921" cy="737999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50" dirty="0">
                <a:latin typeface="Aptos Light" panose="020B0004020202020204" pitchFamily="34" charset="0"/>
              </a:rPr>
              <a:t>Outperformance is highly likely in down and sideways markets. In moderate rallies, the note outperforms most of the time. In strong up markets, the underlying leads due to capped upside.</a:t>
            </a:r>
            <a:endParaRPr lang="en-US" sz="1050" dirty="0">
              <a:latin typeface="Aptos Light" panose="020B0004020202020204" pitchFamily="34" charset="0"/>
              <a:cs typeface="Calibri Light" panose="020F0302020204030204" pitchFamily="34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E5140A7-20EE-410E-2B62-B286A0C3804B}"/>
              </a:ext>
            </a:extLst>
          </p:cNvPr>
          <p:cNvGrpSpPr/>
          <p:nvPr/>
        </p:nvGrpSpPr>
        <p:grpSpPr>
          <a:xfrm>
            <a:off x="346383" y="1737785"/>
            <a:ext cx="8549524" cy="3082307"/>
            <a:chOff x="346383" y="1737785"/>
            <a:chExt cx="8549524" cy="3082307"/>
          </a:xfrm>
        </p:grpSpPr>
        <p:graphicFrame>
          <p:nvGraphicFramePr>
            <p:cNvPr id="13" name="Chart 12">
              <a:extLst>
                <a:ext uri="{FF2B5EF4-FFF2-40B4-BE49-F238E27FC236}">
                  <a16:creationId xmlns:a16="http://schemas.microsoft.com/office/drawing/2014/main" id="{D608DF9C-E163-295C-E769-BC45ABA664B9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452362891"/>
                </p:ext>
              </p:extLst>
            </p:nvPr>
          </p:nvGraphicFramePr>
          <p:xfrm>
            <a:off x="4990215" y="1919997"/>
            <a:ext cx="3785190" cy="284336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graphicFrame>
          <p:nvGraphicFramePr>
            <p:cNvPr id="30" name="Chart 29">
              <a:extLst>
                <a:ext uri="{FF2B5EF4-FFF2-40B4-BE49-F238E27FC236}">
                  <a16:creationId xmlns:a16="http://schemas.microsoft.com/office/drawing/2014/main" id="{2A3562E2-4D9A-33BB-8FCD-262CA82D0991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741111205"/>
                </p:ext>
              </p:extLst>
            </p:nvPr>
          </p:nvGraphicFramePr>
          <p:xfrm>
            <a:off x="346383" y="1737785"/>
            <a:ext cx="8549524" cy="308230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A6E20C0-44E2-498E-1B35-F2321452B30B}"/>
              </a:ext>
            </a:extLst>
          </p:cNvPr>
          <p:cNvSpPr txBox="1"/>
          <p:nvPr/>
        </p:nvSpPr>
        <p:spPr>
          <a:xfrm>
            <a:off x="6971313" y="4713385"/>
            <a:ext cx="80177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ptos Light" panose="020B0004020202020204" pitchFamily="34" charset="0"/>
              </a:rPr>
              <a:t>38% of </a:t>
            </a:r>
            <a:r>
              <a:rPr lang="en-US" sz="900" dirty="0" err="1">
                <a:latin typeface="Aptos Light" panose="020B0004020202020204" pitchFamily="34" charset="0"/>
              </a:rPr>
              <a:t>Obs</a:t>
            </a:r>
            <a:endParaRPr lang="en-US" sz="900" dirty="0">
              <a:latin typeface="Aptos Light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EED7C-5B25-FF2A-DD05-202F6E8642D4}"/>
              </a:ext>
            </a:extLst>
          </p:cNvPr>
          <p:cNvSpPr txBox="1"/>
          <p:nvPr/>
        </p:nvSpPr>
        <p:spPr>
          <a:xfrm>
            <a:off x="7833461" y="4713385"/>
            <a:ext cx="80177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ptos Light" panose="020B0004020202020204" pitchFamily="34" charset="0"/>
              </a:rPr>
              <a:t>40% of </a:t>
            </a:r>
            <a:r>
              <a:rPr lang="en-US" sz="900" dirty="0" err="1">
                <a:latin typeface="Aptos Light" panose="020B0004020202020204" pitchFamily="34" charset="0"/>
              </a:rPr>
              <a:t>Obs</a:t>
            </a:r>
            <a:endParaRPr lang="en-US" sz="900" dirty="0">
              <a:latin typeface="Aptos Light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F551D0-7B99-73CE-02A4-21ADE2A20455}"/>
              </a:ext>
            </a:extLst>
          </p:cNvPr>
          <p:cNvSpPr txBox="1"/>
          <p:nvPr/>
        </p:nvSpPr>
        <p:spPr>
          <a:xfrm>
            <a:off x="6072000" y="4713385"/>
            <a:ext cx="80177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ptos Light" panose="020B0004020202020204" pitchFamily="34" charset="0"/>
              </a:rPr>
              <a:t>16% of </a:t>
            </a:r>
            <a:r>
              <a:rPr lang="en-US" sz="900" dirty="0" err="1">
                <a:latin typeface="Aptos Light" panose="020B0004020202020204" pitchFamily="34" charset="0"/>
              </a:rPr>
              <a:t>Obs</a:t>
            </a:r>
            <a:endParaRPr lang="en-US" sz="900" dirty="0">
              <a:latin typeface="Aptos Light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215B3B-5717-22EE-8B5B-B1C32D626803}"/>
              </a:ext>
            </a:extLst>
          </p:cNvPr>
          <p:cNvSpPr txBox="1"/>
          <p:nvPr/>
        </p:nvSpPr>
        <p:spPr>
          <a:xfrm>
            <a:off x="5270224" y="4713385"/>
            <a:ext cx="80177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ptos Light" panose="020B0004020202020204" pitchFamily="34" charset="0"/>
              </a:rPr>
              <a:t>6% of </a:t>
            </a:r>
            <a:r>
              <a:rPr lang="en-US" sz="900" dirty="0" err="1">
                <a:latin typeface="Aptos Light" panose="020B0004020202020204" pitchFamily="34" charset="0"/>
              </a:rPr>
              <a:t>Obs</a:t>
            </a:r>
            <a:endParaRPr lang="en-US" sz="900" dirty="0">
              <a:latin typeface="Aptos Light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668ED6-2FCB-6B89-D8D8-82534173536C}"/>
              </a:ext>
            </a:extLst>
          </p:cNvPr>
          <p:cNvSpPr txBox="1"/>
          <p:nvPr/>
        </p:nvSpPr>
        <p:spPr>
          <a:xfrm>
            <a:off x="5270224" y="4954979"/>
            <a:ext cx="1422340" cy="261610"/>
          </a:xfrm>
          <a:prstGeom prst="rect">
            <a:avLst/>
          </a:prstGeom>
          <a:solidFill>
            <a:srgbClr val="FFFFFF">
              <a:alpha val="64706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Aptos Light" panose="020B0004020202020204" pitchFamily="34" charset="0"/>
              </a:rPr>
              <a:t>Unconditional: 32%</a:t>
            </a:r>
          </a:p>
        </p:txBody>
      </p:sp>
    </p:spTree>
    <p:extLst>
      <p:ext uri="{BB962C8B-B14F-4D97-AF65-F5344CB8AC3E}">
        <p14:creationId xmlns:p14="http://schemas.microsoft.com/office/powerpoint/2010/main" val="893451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18725-5695-F855-3F27-BB35F2004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Object 28">
            <a:extLst>
              <a:ext uri="{FF2B5EF4-FFF2-40B4-BE49-F238E27FC236}">
                <a16:creationId xmlns:a16="http://schemas.microsoft.com/office/drawing/2014/main" id="{21E52EF7-AB68-3660-F989-DDCC176DF0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2242027"/>
              </p:ext>
            </p:extLst>
          </p:nvPr>
        </p:nvGraphicFramePr>
        <p:xfrm>
          <a:off x="500243" y="1637549"/>
          <a:ext cx="3883048" cy="4057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638800" imgH="5892800" progId="Excel.Sheet.12">
                  <p:embed/>
                </p:oleObj>
              </mc:Choice>
              <mc:Fallback>
                <p:oleObj name="Worksheet" r:id="rId2" imgW="5638800" imgH="58928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0243" y="1637549"/>
                        <a:ext cx="3883048" cy="40579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0D5D6C2-B8BF-A079-E63C-0A352280221C}"/>
              </a:ext>
            </a:extLst>
          </p:cNvPr>
          <p:cNvSpPr txBox="1"/>
          <p:nvPr/>
        </p:nvSpPr>
        <p:spPr>
          <a:xfrm>
            <a:off x="302497" y="249071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Modelling Structured Notes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00C5D2-5EE0-6319-04C1-4CEEE3D63579}"/>
              </a:ext>
            </a:extLst>
          </p:cNvPr>
          <p:cNvSpPr txBox="1"/>
          <p:nvPr/>
        </p:nvSpPr>
        <p:spPr>
          <a:xfrm>
            <a:off x="302497" y="1065891"/>
            <a:ext cx="4269504" cy="276999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Sample Portfolios with Autocallable Buffered Note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BAD8CA-4533-41E6-5177-6BC955C0F52A}"/>
              </a:ext>
            </a:extLst>
          </p:cNvPr>
          <p:cNvSpPr txBox="1"/>
          <p:nvPr/>
        </p:nvSpPr>
        <p:spPr>
          <a:xfrm>
            <a:off x="4710023" y="1062521"/>
            <a:ext cx="4131480" cy="276999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Simulated Terminal Payoff: Underlying &amp; Autocallable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B7E965-24DC-0AC9-7B75-0373C7DAF930}"/>
              </a:ext>
            </a:extLst>
          </p:cNvPr>
          <p:cNvSpPr txBox="1"/>
          <p:nvPr/>
        </p:nvSpPr>
        <p:spPr>
          <a:xfrm>
            <a:off x="302851" y="588604"/>
            <a:ext cx="77473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Grotesque Light" panose="020B0304020202020204" pitchFamily="34" charset="0"/>
              </a:rPr>
              <a:t>Autocallable Coupon Buffered Notes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6D497E-BD04-5715-DE3D-7D3CDB6134B9}"/>
              </a:ext>
            </a:extLst>
          </p:cNvPr>
          <p:cNvSpPr/>
          <p:nvPr/>
        </p:nvSpPr>
        <p:spPr>
          <a:xfrm>
            <a:off x="486147" y="2502223"/>
            <a:ext cx="3924644" cy="151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EDDB9496-846D-D6D2-4118-6DBCE0669E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1574930"/>
              </p:ext>
            </p:extLst>
          </p:nvPr>
        </p:nvGraphicFramePr>
        <p:xfrm>
          <a:off x="4878425" y="1536437"/>
          <a:ext cx="3924644" cy="41590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79944B16-46C4-8201-8B76-9432211B1076}"/>
              </a:ext>
            </a:extLst>
          </p:cNvPr>
          <p:cNvSpPr txBox="1"/>
          <p:nvPr/>
        </p:nvSpPr>
        <p:spPr>
          <a:xfrm>
            <a:off x="377480" y="5990167"/>
            <a:ext cx="8389040" cy="400110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Aptos Light" panose="020B0004020202020204" pitchFamily="34" charset="0"/>
                <a:cs typeface="Calibri Light" panose="020F0302020204030204" pitchFamily="34" charset="0"/>
              </a:rPr>
              <a:t>Buffered Autocallable notes give the benefit of reduced tail risk. However, this comes at the expense of lower upside participation then outright equity exposure.</a:t>
            </a:r>
          </a:p>
        </p:txBody>
      </p:sp>
    </p:spTree>
    <p:extLst>
      <p:ext uri="{BB962C8B-B14F-4D97-AF65-F5344CB8AC3E}">
        <p14:creationId xmlns:p14="http://schemas.microsoft.com/office/powerpoint/2010/main" val="23801045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788F9-4CC8-ADF1-5A57-F9135AE95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3A6AF52-0D72-B39B-BEA1-E152FF99C684}"/>
              </a:ext>
            </a:extLst>
          </p:cNvPr>
          <p:cNvSpPr txBox="1"/>
          <p:nvPr/>
        </p:nvSpPr>
        <p:spPr>
          <a:xfrm>
            <a:off x="1769918" y="2951947"/>
            <a:ext cx="56041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Grotesque Light" panose="020B0304020202020204" pitchFamily="34" charset="0"/>
              </a:rPr>
              <a:t>Case Studies:</a:t>
            </a:r>
          </a:p>
          <a:p>
            <a:pPr algn="ctr"/>
            <a:r>
              <a:rPr lang="en-US" sz="2800" dirty="0">
                <a:latin typeface="Grotesque Light" panose="020B0304020202020204" pitchFamily="34" charset="0"/>
              </a:rPr>
              <a:t>Private Markets Modelling</a:t>
            </a:r>
          </a:p>
        </p:txBody>
      </p:sp>
    </p:spTree>
    <p:extLst>
      <p:ext uri="{BB962C8B-B14F-4D97-AF65-F5344CB8AC3E}">
        <p14:creationId xmlns:p14="http://schemas.microsoft.com/office/powerpoint/2010/main" val="10836069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17F44-B395-D4EE-768D-36FDA1494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99283BCA-84CB-7B43-AF58-7E37DB1081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90352354"/>
              </p:ext>
            </p:extLst>
          </p:nvPr>
        </p:nvGraphicFramePr>
        <p:xfrm>
          <a:off x="302495" y="1553496"/>
          <a:ext cx="8221396" cy="21276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71C96F4-BE6E-9371-8FAD-B570424C7FD0}"/>
              </a:ext>
            </a:extLst>
          </p:cNvPr>
          <p:cNvSpPr txBox="1"/>
          <p:nvPr/>
        </p:nvSpPr>
        <p:spPr>
          <a:xfrm>
            <a:off x="340434" y="1006261"/>
            <a:ext cx="8463133" cy="276999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NAV Exposure for Single Vintage Buyout Fund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AA11C38-4160-19DC-F65E-77798B3947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6378087"/>
              </p:ext>
            </p:extLst>
          </p:nvPr>
        </p:nvGraphicFramePr>
        <p:xfrm>
          <a:off x="544280" y="4159045"/>
          <a:ext cx="8297223" cy="224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CE9AAD7-191C-FDA9-61C6-3CFE76EF2C7E}"/>
              </a:ext>
            </a:extLst>
          </p:cNvPr>
          <p:cNvCxnSpPr/>
          <p:nvPr/>
        </p:nvCxnSpPr>
        <p:spPr>
          <a:xfrm>
            <a:off x="302495" y="6500036"/>
            <a:ext cx="853900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6131320-D4C1-4ECA-66FC-6B5A0E35A7EA}"/>
              </a:ext>
            </a:extLst>
          </p:cNvPr>
          <p:cNvSpPr txBox="1"/>
          <p:nvPr/>
        </p:nvSpPr>
        <p:spPr>
          <a:xfrm>
            <a:off x="6358759" y="2000657"/>
            <a:ext cx="2175642" cy="707886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Aptos Light" panose="020B0004020202020204" pitchFamily="34" charset="0"/>
                <a:cs typeface="Calibri Light" panose="020F0302020204030204" pitchFamily="34" charset="0"/>
              </a:rPr>
              <a:t>LATER YEARS</a:t>
            </a:r>
            <a:r>
              <a:rPr lang="en-US" sz="1000" dirty="0">
                <a:latin typeface="Aptos Light" panose="020B0004020202020204" pitchFamily="34" charset="0"/>
                <a:cs typeface="Calibri Light" panose="020F0302020204030204" pitchFamily="34" charset="0"/>
              </a:rPr>
              <a:t>: Portfolio size declines as investments continue to be harvested and cash is returned to investors; fund life ends.</a:t>
            </a:r>
            <a:endParaRPr lang="en-GB" sz="1000" dirty="0">
              <a:latin typeface="Aptos Light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3827A4-5970-CB6D-6741-56F9B9984277}"/>
              </a:ext>
            </a:extLst>
          </p:cNvPr>
          <p:cNvSpPr txBox="1"/>
          <p:nvPr/>
        </p:nvSpPr>
        <p:spPr>
          <a:xfrm>
            <a:off x="336329" y="564324"/>
            <a:ext cx="77473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Grotesque Light" panose="020B0304020202020204" pitchFamily="34" charset="0"/>
              </a:rPr>
              <a:t>The Shape and Life-Cycle of Private Market Funds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9B9B2E-664F-9420-37FA-FB320E1E59CE}"/>
              </a:ext>
            </a:extLst>
          </p:cNvPr>
          <p:cNvSpPr txBox="1"/>
          <p:nvPr/>
        </p:nvSpPr>
        <p:spPr>
          <a:xfrm>
            <a:off x="911250" y="1549238"/>
            <a:ext cx="1343322" cy="707886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b="1" dirty="0">
                <a:latin typeface="Aptos Light" panose="020B0004020202020204" pitchFamily="34" charset="0"/>
              </a:rPr>
              <a:t>EARLY YEARS</a:t>
            </a:r>
            <a:r>
              <a:rPr lang="en-GB" sz="1000" dirty="0">
                <a:latin typeface="Aptos Light" panose="020B0004020202020204" pitchFamily="34" charset="0"/>
              </a:rPr>
              <a:t>: Committed capital is called as GPs make investment.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F0A1DA-C2D5-047F-2D25-192FE02A415F}"/>
              </a:ext>
            </a:extLst>
          </p:cNvPr>
          <p:cNvSpPr txBox="1"/>
          <p:nvPr/>
        </p:nvSpPr>
        <p:spPr>
          <a:xfrm>
            <a:off x="2863327" y="1431063"/>
            <a:ext cx="3484922" cy="400110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000" b="1" dirty="0">
                <a:latin typeface="Aptos Light" panose="020B0004020202020204" pitchFamily="34" charset="0"/>
              </a:rPr>
              <a:t>MIDDLE YEARS</a:t>
            </a:r>
            <a:r>
              <a:rPr lang="en-GB" sz="1000" dirty="0">
                <a:latin typeface="Aptos Light" panose="020B0004020202020204" pitchFamily="34" charset="0"/>
              </a:rPr>
              <a:t>: Investment period ends with NAVs typically peaking. Committed capital has mostly been returned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BA6A6A-B954-FEF3-C8CC-B119C949D92F}"/>
              </a:ext>
            </a:extLst>
          </p:cNvPr>
          <p:cNvSpPr txBox="1"/>
          <p:nvPr/>
        </p:nvSpPr>
        <p:spPr>
          <a:xfrm>
            <a:off x="336329" y="3727413"/>
            <a:ext cx="8463133" cy="276999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Cash-Flow Profile for Single Vintage Buyout Fund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B881FA-B777-5BF7-3B7D-DFFAFC113984}"/>
              </a:ext>
            </a:extLst>
          </p:cNvPr>
          <p:cNvSpPr txBox="1"/>
          <p:nvPr/>
        </p:nvSpPr>
        <p:spPr>
          <a:xfrm>
            <a:off x="336329" y="239654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Private Markets Modelling</a:t>
            </a:r>
          </a:p>
        </p:txBody>
      </p:sp>
    </p:spTree>
    <p:extLst>
      <p:ext uri="{BB962C8B-B14F-4D97-AF65-F5344CB8AC3E}">
        <p14:creationId xmlns:p14="http://schemas.microsoft.com/office/powerpoint/2010/main" val="804589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860BE-C745-890C-3721-75F56A5BD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AAA702E8-F294-A8A2-6F03-B4839EAD35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5593368"/>
              </p:ext>
            </p:extLst>
          </p:nvPr>
        </p:nvGraphicFramePr>
        <p:xfrm>
          <a:off x="4803935" y="1617107"/>
          <a:ext cx="3890335" cy="35286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EE371205-47AA-FF96-DF41-FBEE44EFDC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2882966"/>
              </p:ext>
            </p:extLst>
          </p:nvPr>
        </p:nvGraphicFramePr>
        <p:xfrm>
          <a:off x="483252" y="1657836"/>
          <a:ext cx="3577560" cy="32026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241800" imgH="3797300" progId="Excel.Sheet.12">
                  <p:embed/>
                </p:oleObj>
              </mc:Choice>
              <mc:Fallback>
                <p:oleObj name="Worksheet" r:id="rId3" imgW="4241800" imgH="37973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3252" y="1657836"/>
                        <a:ext cx="3577560" cy="32026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ACF984A-18F6-23C0-49B4-4327DF5AA38D}"/>
              </a:ext>
            </a:extLst>
          </p:cNvPr>
          <p:cNvSpPr txBox="1"/>
          <p:nvPr/>
        </p:nvSpPr>
        <p:spPr>
          <a:xfrm>
            <a:off x="366292" y="305777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Private Markets Modelling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5FF5BA0-3D34-56E2-04E6-7A25B0466311}"/>
              </a:ext>
            </a:extLst>
          </p:cNvPr>
          <p:cNvCxnSpPr/>
          <p:nvPr/>
        </p:nvCxnSpPr>
        <p:spPr>
          <a:xfrm>
            <a:off x="302495" y="6500036"/>
            <a:ext cx="853900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2AFE11F-E08B-37D8-DD0A-037EB0399A69}"/>
              </a:ext>
            </a:extLst>
          </p:cNvPr>
          <p:cNvSpPr txBox="1"/>
          <p:nvPr/>
        </p:nvSpPr>
        <p:spPr>
          <a:xfrm>
            <a:off x="313128" y="1246646"/>
            <a:ext cx="4110018" cy="276999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Sample Portfolios with One-Time Private Commitment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2E033A-44E6-A557-C8E4-25765DFC1A93}"/>
              </a:ext>
            </a:extLst>
          </p:cNvPr>
          <p:cNvSpPr/>
          <p:nvPr/>
        </p:nvSpPr>
        <p:spPr>
          <a:xfrm>
            <a:off x="3264497" y="3912788"/>
            <a:ext cx="785984" cy="96898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A8AE49-E9C9-CAD9-9F4E-F26F2E682521}"/>
              </a:ext>
            </a:extLst>
          </p:cNvPr>
          <p:cNvSpPr txBox="1"/>
          <p:nvPr/>
        </p:nvSpPr>
        <p:spPr>
          <a:xfrm>
            <a:off x="366292" y="631139"/>
            <a:ext cx="77473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Grotesque Light" panose="020B0304020202020204" pitchFamily="34" charset="0"/>
              </a:rPr>
              <a:t>Example of One-time Commitments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547A61-4909-3A28-ABD1-015EAC6B03C5}"/>
              </a:ext>
            </a:extLst>
          </p:cNvPr>
          <p:cNvSpPr txBox="1"/>
          <p:nvPr/>
        </p:nvSpPr>
        <p:spPr>
          <a:xfrm>
            <a:off x="4731488" y="1246646"/>
            <a:ext cx="4110015" cy="276999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Projected Cash-Flow Profile for Buyout &amp; Credit Commitment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79C995D-9081-AC8E-B2B3-A1298871D77D}"/>
              </a:ext>
            </a:extLst>
          </p:cNvPr>
          <p:cNvSpPr txBox="1"/>
          <p:nvPr/>
        </p:nvSpPr>
        <p:spPr>
          <a:xfrm>
            <a:off x="397933" y="5689356"/>
            <a:ext cx="8314267" cy="41549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>
                <a:latin typeface="Aptos Light" panose="020B0004020202020204" pitchFamily="34" charset="0"/>
              </a:defRPr>
            </a:lvl1pPr>
          </a:lstStyle>
          <a:p>
            <a:r>
              <a:rPr lang="en-GB" dirty="0"/>
              <a:t>Private markets investors should be mindful of the timing and impact of future cash flows, particularly in the early years when capital is being called. It is essential to maintain a sufficient buffer of stable, liquid assets to meet capital calls without disrupting the broader portfolio.</a:t>
            </a:r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F69A10A-A847-A340-38CD-107753BEE94C}"/>
              </a:ext>
            </a:extLst>
          </p:cNvPr>
          <p:cNvSpPr/>
          <p:nvPr/>
        </p:nvSpPr>
        <p:spPr>
          <a:xfrm>
            <a:off x="5156790" y="3429000"/>
            <a:ext cx="659218" cy="1355651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0FF0BA2-EEC4-ECF1-A952-79959FEF11BD}"/>
              </a:ext>
            </a:extLst>
          </p:cNvPr>
          <p:cNvSpPr txBox="1"/>
          <p:nvPr/>
        </p:nvSpPr>
        <p:spPr>
          <a:xfrm>
            <a:off x="5837274" y="3889876"/>
            <a:ext cx="1286540" cy="7848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C00000"/>
                </a:solidFill>
                <a:latin typeface="Aptos" panose="020B0004020202020204" pitchFamily="34" charset="0"/>
              </a:rPr>
              <a:t>Negative cash-flow in early years require funding, preferrable with stable, highly liquid assets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7B8A23-C277-2380-BD90-EC3D1C19B2D7}"/>
              </a:ext>
            </a:extLst>
          </p:cNvPr>
          <p:cNvSpPr txBox="1"/>
          <p:nvPr/>
        </p:nvSpPr>
        <p:spPr>
          <a:xfrm>
            <a:off x="2323607" y="4897410"/>
            <a:ext cx="215525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C00000"/>
                </a:solidFill>
                <a:latin typeface="Aptos" panose="020B0004020202020204" pitchFamily="34" charset="0"/>
              </a:rPr>
              <a:t>2x 50 single commitments to buyout and private credit funds</a:t>
            </a:r>
          </a:p>
        </p:txBody>
      </p:sp>
    </p:spTree>
    <p:extLst>
      <p:ext uri="{BB962C8B-B14F-4D97-AF65-F5344CB8AC3E}">
        <p14:creationId xmlns:p14="http://schemas.microsoft.com/office/powerpoint/2010/main" val="35918685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9EADB-44F0-B265-2290-8D376777C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278A07B9-DDED-43EC-72D6-08C1BA97B6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3138314"/>
              </p:ext>
            </p:extLst>
          </p:nvPr>
        </p:nvGraphicFramePr>
        <p:xfrm>
          <a:off x="447489" y="5094186"/>
          <a:ext cx="8249022" cy="12201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0642600" imgH="1574800" progId="Excel.Sheet.12">
                  <p:embed/>
                </p:oleObj>
              </mc:Choice>
              <mc:Fallback>
                <p:oleObj name="Worksheet" r:id="rId2" imgW="10642600" imgH="15748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47489" y="5094186"/>
                        <a:ext cx="8249022" cy="12201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83E5404-DD8B-3986-AB7C-0E9B96B4244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96160981"/>
              </p:ext>
            </p:extLst>
          </p:nvPr>
        </p:nvGraphicFramePr>
        <p:xfrm>
          <a:off x="366293" y="1158964"/>
          <a:ext cx="8363038" cy="39021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9D8548A-6881-71ED-C564-52392AE7A946}"/>
              </a:ext>
            </a:extLst>
          </p:cNvPr>
          <p:cNvSpPr txBox="1"/>
          <p:nvPr/>
        </p:nvSpPr>
        <p:spPr>
          <a:xfrm>
            <a:off x="366292" y="305777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Private Markets Modelling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163712C-A7CF-36DD-2B3B-E7B66EFC7F66}"/>
              </a:ext>
            </a:extLst>
          </p:cNvPr>
          <p:cNvCxnSpPr/>
          <p:nvPr/>
        </p:nvCxnSpPr>
        <p:spPr>
          <a:xfrm>
            <a:off x="302495" y="6500036"/>
            <a:ext cx="853900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495BEE6-6A5C-0390-839C-A11161242C65}"/>
              </a:ext>
            </a:extLst>
          </p:cNvPr>
          <p:cNvSpPr txBox="1"/>
          <p:nvPr/>
        </p:nvSpPr>
        <p:spPr>
          <a:xfrm>
            <a:off x="313128" y="1033988"/>
            <a:ext cx="8528376" cy="276999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Evolution of Portfolio Weights, Single Commitment Strategy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9180B3-673C-1C8F-710B-6782BB59E643}"/>
              </a:ext>
            </a:extLst>
          </p:cNvPr>
          <p:cNvSpPr txBox="1"/>
          <p:nvPr/>
        </p:nvSpPr>
        <p:spPr>
          <a:xfrm>
            <a:off x="366292" y="631139"/>
            <a:ext cx="77473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Grotesque Light" panose="020B0304020202020204" pitchFamily="34" charset="0"/>
              </a:rPr>
              <a:t>Example of One-time Commitments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866E57-8AA2-9618-F690-24595E0740B9}"/>
              </a:ext>
            </a:extLst>
          </p:cNvPr>
          <p:cNvSpPr txBox="1"/>
          <p:nvPr/>
        </p:nvSpPr>
        <p:spPr>
          <a:xfrm>
            <a:off x="1105787" y="2197386"/>
            <a:ext cx="1637414" cy="10618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050" dirty="0">
                <a:solidFill>
                  <a:srgbClr val="C00000"/>
                </a:solidFill>
                <a:latin typeface="Aptos" panose="020B0004020202020204" pitchFamily="34" charset="0"/>
              </a:rPr>
              <a:t>In the early years, as capital is called and invested, exposure to private markets increases relative to liquid assets.</a:t>
            </a:r>
            <a:endParaRPr lang="en-US" sz="1050" dirty="0">
              <a:solidFill>
                <a:srgbClr val="C00000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CA036A-486E-E18E-9A09-CBF23460D28B}"/>
              </a:ext>
            </a:extLst>
          </p:cNvPr>
          <p:cNvSpPr/>
          <p:nvPr/>
        </p:nvSpPr>
        <p:spPr>
          <a:xfrm>
            <a:off x="1127051" y="3296095"/>
            <a:ext cx="1541721" cy="1552354"/>
          </a:xfrm>
          <a:prstGeom prst="rect">
            <a:avLst/>
          </a:prstGeom>
          <a:noFill/>
          <a:ln w="1905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80625A-6E88-40CC-49E2-6A5B80A62323}"/>
              </a:ext>
            </a:extLst>
          </p:cNvPr>
          <p:cNvSpPr txBox="1"/>
          <p:nvPr/>
        </p:nvSpPr>
        <p:spPr>
          <a:xfrm>
            <a:off x="3506332" y="1856295"/>
            <a:ext cx="2894467" cy="57708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050" dirty="0">
                <a:solidFill>
                  <a:srgbClr val="C00000"/>
                </a:solidFill>
                <a:latin typeface="Aptos" panose="020B0004020202020204" pitchFamily="34" charset="0"/>
              </a:rPr>
              <a:t>As the years progress, funds begin to distribute capital and reach maturity, leading to a reduction in exposure to private markets.</a:t>
            </a:r>
            <a:endParaRPr lang="en-US" sz="1050" dirty="0">
              <a:solidFill>
                <a:srgbClr val="C00000"/>
              </a:solidFill>
              <a:latin typeface="Aptos" panose="020B0004020202020204" pitchFamily="34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D6DD292-DAA9-698B-6EB5-3D960E66F2FE}"/>
              </a:ext>
            </a:extLst>
          </p:cNvPr>
          <p:cNvCxnSpPr>
            <a:cxnSpLocks/>
          </p:cNvCxnSpPr>
          <p:nvPr/>
        </p:nvCxnSpPr>
        <p:spPr>
          <a:xfrm flipH="1">
            <a:off x="3434316" y="2433376"/>
            <a:ext cx="1137683" cy="671333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1EAC27C-C65F-1FC9-D4E3-9619AB20EE4F}"/>
              </a:ext>
            </a:extLst>
          </p:cNvPr>
          <p:cNvCxnSpPr>
            <a:cxnSpLocks/>
          </p:cNvCxnSpPr>
          <p:nvPr/>
        </p:nvCxnSpPr>
        <p:spPr>
          <a:xfrm>
            <a:off x="4571999" y="2433376"/>
            <a:ext cx="478466" cy="335666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BD83348A-BC5B-DD1A-BBE0-FA660ABD8658}"/>
              </a:ext>
            </a:extLst>
          </p:cNvPr>
          <p:cNvSpPr/>
          <p:nvPr/>
        </p:nvSpPr>
        <p:spPr>
          <a:xfrm>
            <a:off x="3434315" y="5101987"/>
            <a:ext cx="1431967" cy="1225705"/>
          </a:xfrm>
          <a:prstGeom prst="rect">
            <a:avLst/>
          </a:prstGeom>
          <a:noFill/>
          <a:ln w="19050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4064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5325B-4BE7-7325-58C4-7C6DCC576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08B927-2138-BC1A-B828-0E192AF598A8}"/>
              </a:ext>
            </a:extLst>
          </p:cNvPr>
          <p:cNvSpPr txBox="1"/>
          <p:nvPr/>
        </p:nvSpPr>
        <p:spPr>
          <a:xfrm>
            <a:off x="366292" y="305777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Private Markets Modelling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C4CFF02-34B2-5C4A-174A-17B2BEC4A218}"/>
              </a:ext>
            </a:extLst>
          </p:cNvPr>
          <p:cNvCxnSpPr/>
          <p:nvPr/>
        </p:nvCxnSpPr>
        <p:spPr>
          <a:xfrm>
            <a:off x="302495" y="6531566"/>
            <a:ext cx="853900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5F40E03-4342-0146-AAF5-74D6F57EF03D}"/>
              </a:ext>
            </a:extLst>
          </p:cNvPr>
          <p:cNvSpPr txBox="1"/>
          <p:nvPr/>
        </p:nvSpPr>
        <p:spPr>
          <a:xfrm>
            <a:off x="238697" y="2072315"/>
            <a:ext cx="4258872" cy="276999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Current and Target Portfolio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1D516E-C6B9-91AD-D240-FEA07BCC425A}"/>
              </a:ext>
            </a:extLst>
          </p:cNvPr>
          <p:cNvSpPr txBox="1"/>
          <p:nvPr/>
        </p:nvSpPr>
        <p:spPr>
          <a:xfrm>
            <a:off x="366292" y="631139"/>
            <a:ext cx="77473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Grotesque Light" panose="020B0304020202020204" pitchFamily="34" charset="0"/>
              </a:rPr>
              <a:t>Target Allocation and Commitment Pacing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EA1255-701E-7AF5-B460-C1D8AC6C9D72}"/>
              </a:ext>
            </a:extLst>
          </p:cNvPr>
          <p:cNvSpPr txBox="1"/>
          <p:nvPr/>
        </p:nvSpPr>
        <p:spPr>
          <a:xfrm>
            <a:off x="4657063" y="2072315"/>
            <a:ext cx="4258872" cy="276999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Required Annual Commitment Size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290CC1-ECF3-FB58-433E-4D163CA2D72E}"/>
              </a:ext>
            </a:extLst>
          </p:cNvPr>
          <p:cNvSpPr txBox="1"/>
          <p:nvPr/>
        </p:nvSpPr>
        <p:spPr>
          <a:xfrm>
            <a:off x="238697" y="1348964"/>
            <a:ext cx="8677238" cy="46166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50">
                <a:latin typeface="Aptos Light" panose="020B0004020202020204" pitchFamily="34" charset="0"/>
              </a:defRPr>
            </a:lvl1pPr>
          </a:lstStyle>
          <a:p>
            <a:r>
              <a:rPr lang="en-GB" sz="1200" dirty="0"/>
              <a:t>Investors targeting a fixed allocation to private markets require a disciplined and ongoing commitment strategy to both new and existing opportunities.</a:t>
            </a:r>
            <a:endParaRPr lang="en-US" sz="1200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348DB255-4771-7A9E-FCF9-A1C02A95B2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3740299"/>
              </p:ext>
            </p:extLst>
          </p:nvPr>
        </p:nvGraphicFramePr>
        <p:xfrm>
          <a:off x="561501" y="2586682"/>
          <a:ext cx="3509387" cy="29912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559300" imgH="3886200" progId="Excel.Sheet.12">
                  <p:embed/>
                </p:oleObj>
              </mc:Choice>
              <mc:Fallback>
                <p:oleObj name="Worksheet" r:id="rId2" imgW="4559300" imgH="3886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61501" y="2586682"/>
                        <a:ext cx="3509387" cy="29912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4C9B6407-F542-9DE3-244A-0B6934EEA2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77475685"/>
              </p:ext>
            </p:extLst>
          </p:nvPr>
        </p:nvGraphicFramePr>
        <p:xfrm>
          <a:off x="5397432" y="3058780"/>
          <a:ext cx="2832167" cy="32770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Oval 8">
            <a:extLst>
              <a:ext uri="{FF2B5EF4-FFF2-40B4-BE49-F238E27FC236}">
                <a16:creationId xmlns:a16="http://schemas.microsoft.com/office/drawing/2014/main" id="{85CDBD0B-B5E1-68BB-3942-B00BCFD33986}"/>
              </a:ext>
            </a:extLst>
          </p:cNvPr>
          <p:cNvSpPr/>
          <p:nvPr/>
        </p:nvSpPr>
        <p:spPr>
          <a:xfrm>
            <a:off x="6600494" y="3237182"/>
            <a:ext cx="399394" cy="294290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D85D8D-68D3-6037-0970-9D80E7D46790}"/>
              </a:ext>
            </a:extLst>
          </p:cNvPr>
          <p:cNvSpPr txBox="1"/>
          <p:nvPr/>
        </p:nvSpPr>
        <p:spPr>
          <a:xfrm>
            <a:off x="4730636" y="2541510"/>
            <a:ext cx="26010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 dirty="0">
                <a:solidFill>
                  <a:srgbClr val="C00000"/>
                </a:solidFill>
                <a:latin typeface="Aptos" panose="020B0004020202020204" pitchFamily="34" charset="0"/>
              </a:rPr>
              <a:t>To reach and maintain the 20% target allocation, an investor would need to make yearly commitments of 5.2% of the liquid portfolio value</a:t>
            </a:r>
            <a:endParaRPr lang="en-US" sz="1050" dirty="0">
              <a:solidFill>
                <a:srgbClr val="C00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12446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D2737-C086-1D40-C6B1-8F4A500ED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D38E6E7E-28FD-414E-9F9A-5C021932B8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88392999"/>
              </p:ext>
            </p:extLst>
          </p:nvPr>
        </p:nvGraphicFramePr>
        <p:xfrm>
          <a:off x="302495" y="1744873"/>
          <a:ext cx="8424410" cy="36051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2CD1D80-01DD-02FF-C145-2BB4FA6A1EC2}"/>
              </a:ext>
            </a:extLst>
          </p:cNvPr>
          <p:cNvSpPr txBox="1"/>
          <p:nvPr/>
        </p:nvSpPr>
        <p:spPr>
          <a:xfrm>
            <a:off x="366292" y="305777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Private Markets Modelling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C7D6325-7A01-AF62-BC53-F5681673FEFF}"/>
              </a:ext>
            </a:extLst>
          </p:cNvPr>
          <p:cNvCxnSpPr/>
          <p:nvPr/>
        </p:nvCxnSpPr>
        <p:spPr>
          <a:xfrm>
            <a:off x="302495" y="6531566"/>
            <a:ext cx="853900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5B1EAD8-4ECA-125E-8C2A-4933285B0DAC}"/>
              </a:ext>
            </a:extLst>
          </p:cNvPr>
          <p:cNvSpPr txBox="1"/>
          <p:nvPr/>
        </p:nvSpPr>
        <p:spPr>
          <a:xfrm>
            <a:off x="267939" y="1286050"/>
            <a:ext cx="8608123" cy="276999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Yearly Commitment Size Required to Sustain Target Allocation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7D0DA7-B864-A5A8-0A52-1FA6BEFC6DEA}"/>
              </a:ext>
            </a:extLst>
          </p:cNvPr>
          <p:cNvSpPr txBox="1"/>
          <p:nvPr/>
        </p:nvSpPr>
        <p:spPr>
          <a:xfrm>
            <a:off x="366292" y="631139"/>
            <a:ext cx="77473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Grotesque Light" panose="020B0304020202020204" pitchFamily="34" charset="0"/>
              </a:rPr>
              <a:t>Target Allocation and Commitment Pacing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C6FE5D9-16B4-1AC1-FD97-F33683DA2C72}"/>
              </a:ext>
            </a:extLst>
          </p:cNvPr>
          <p:cNvSpPr/>
          <p:nvPr/>
        </p:nvSpPr>
        <p:spPr>
          <a:xfrm>
            <a:off x="7019252" y="2743740"/>
            <a:ext cx="315310" cy="241738"/>
          </a:xfrm>
          <a:prstGeom prst="ellips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A095D5B-D972-099F-0818-2AF071D42888}"/>
              </a:ext>
            </a:extLst>
          </p:cNvPr>
          <p:cNvCxnSpPr>
            <a:cxnSpLocks/>
          </p:cNvCxnSpPr>
          <p:nvPr/>
        </p:nvCxnSpPr>
        <p:spPr>
          <a:xfrm>
            <a:off x="6672410" y="2618030"/>
            <a:ext cx="346842" cy="17308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F26A268-8AFC-2888-6574-393AC984F384}"/>
              </a:ext>
            </a:extLst>
          </p:cNvPr>
          <p:cNvSpPr txBox="1"/>
          <p:nvPr/>
        </p:nvSpPr>
        <p:spPr>
          <a:xfrm>
            <a:off x="980089" y="2454564"/>
            <a:ext cx="2096814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50" dirty="0">
                <a:solidFill>
                  <a:srgbClr val="C00000"/>
                </a:solidFill>
                <a:latin typeface="Aptos" panose="020B0004020202020204" pitchFamily="34" charset="0"/>
              </a:rPr>
              <a:t>Investors will need to make progressively larger commitments to maintain their target percentage allocation, as the overall portfolio grows over time.</a:t>
            </a:r>
            <a:endParaRPr lang="en-US" sz="1050" dirty="0">
              <a:solidFill>
                <a:srgbClr val="C00000"/>
              </a:solidFill>
              <a:latin typeface="Aptos" panose="020B00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8D46925-5B94-FDF5-6DE0-4EB4D9FEB7DD}"/>
              </a:ext>
            </a:extLst>
          </p:cNvPr>
          <p:cNvSpPr txBox="1"/>
          <p:nvPr/>
        </p:nvSpPr>
        <p:spPr>
          <a:xfrm>
            <a:off x="5027541" y="2207998"/>
            <a:ext cx="1644869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050" dirty="0">
                <a:solidFill>
                  <a:srgbClr val="C00000"/>
                </a:solidFill>
                <a:latin typeface="Aptos" panose="020B0004020202020204" pitchFamily="34" charset="0"/>
              </a:rPr>
              <a:t>Commitment size is expected to double by year 17 relative to year 1</a:t>
            </a:r>
            <a:endParaRPr lang="en-US" sz="1050" dirty="0">
              <a:solidFill>
                <a:srgbClr val="C00000"/>
              </a:solidFill>
              <a:latin typeface="Aptos" panose="020B00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34BCF64-E0D2-5836-886E-9FDDA20DA3CD}"/>
              </a:ext>
            </a:extLst>
          </p:cNvPr>
          <p:cNvSpPr txBox="1"/>
          <p:nvPr/>
        </p:nvSpPr>
        <p:spPr>
          <a:xfrm>
            <a:off x="582748" y="5592970"/>
            <a:ext cx="7978504" cy="46166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50">
                <a:latin typeface="Aptos Light" panose="020B0004020202020204" pitchFamily="34" charset="0"/>
              </a:defRPr>
            </a:lvl1pPr>
          </a:lstStyle>
          <a:p>
            <a:r>
              <a:rPr lang="en-GB" sz="1200" dirty="0"/>
              <a:t>Investors targeting a fixed allocation to private markets require a disciplined and ongoing commitment strategy to both new and existing opportunities.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4960851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FD710-DFCB-23D3-D6E0-218E64F73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FCAB53-36EE-02D6-7936-2454E66CD050}"/>
              </a:ext>
            </a:extLst>
          </p:cNvPr>
          <p:cNvSpPr txBox="1"/>
          <p:nvPr/>
        </p:nvSpPr>
        <p:spPr>
          <a:xfrm>
            <a:off x="366292" y="305777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Private Markets Modelling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E4F08D-4CC9-ACC2-DA51-2378F8EFCE6B}"/>
              </a:ext>
            </a:extLst>
          </p:cNvPr>
          <p:cNvCxnSpPr/>
          <p:nvPr/>
        </p:nvCxnSpPr>
        <p:spPr>
          <a:xfrm>
            <a:off x="302495" y="6531566"/>
            <a:ext cx="853900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11A6269-9A86-493E-2A66-1B148EC23B4C}"/>
              </a:ext>
            </a:extLst>
          </p:cNvPr>
          <p:cNvSpPr txBox="1"/>
          <p:nvPr/>
        </p:nvSpPr>
        <p:spPr>
          <a:xfrm>
            <a:off x="233380" y="1349111"/>
            <a:ext cx="8677238" cy="276999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Evolution of Private Markets Portfolio Weights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ADF8DD-70DC-94B7-400D-6CE23B0555F0}"/>
              </a:ext>
            </a:extLst>
          </p:cNvPr>
          <p:cNvSpPr txBox="1"/>
          <p:nvPr/>
        </p:nvSpPr>
        <p:spPr>
          <a:xfrm>
            <a:off x="366292" y="631139"/>
            <a:ext cx="77473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Grotesque Light" panose="020B0304020202020204" pitchFamily="34" charset="0"/>
              </a:rPr>
              <a:t>Target Allocation and Commitment Pacing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312E0A-9D94-8104-DB3B-9D0EFD070A7B}"/>
              </a:ext>
            </a:extLst>
          </p:cNvPr>
          <p:cNvSpPr txBox="1"/>
          <p:nvPr/>
        </p:nvSpPr>
        <p:spPr>
          <a:xfrm>
            <a:off x="302495" y="5622575"/>
            <a:ext cx="8539009" cy="46166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>
                <a:latin typeface="Aptos Light" panose="020B0004020202020204" pitchFamily="34" charset="0"/>
              </a:defRPr>
            </a:lvl1pPr>
          </a:lstStyle>
          <a:p>
            <a:r>
              <a:rPr lang="en-GB" dirty="0"/>
              <a:t>Investors should be mindful that it may take several years for a private markets portfolio to reach its target allocation. If not properly managed, this can create a short- to medium-term drag on overall portfolio performance</a:t>
            </a:r>
            <a:endParaRPr lang="en-US" dirty="0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F18B562-7E76-5555-90A3-7E9F2EB597B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213974"/>
              </p:ext>
            </p:extLst>
          </p:nvPr>
        </p:nvGraphicFramePr>
        <p:xfrm>
          <a:off x="384489" y="1839317"/>
          <a:ext cx="8375023" cy="36695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5">
            <a:extLst>
              <a:ext uri="{FF2B5EF4-FFF2-40B4-BE49-F238E27FC236}">
                <a16:creationId xmlns:a16="http://schemas.microsoft.com/office/drawing/2014/main" id="{5DFFC880-FA40-EBBB-4D36-5132BCCFC30E}"/>
              </a:ext>
            </a:extLst>
          </p:cNvPr>
          <p:cNvSpPr txBox="1"/>
          <p:nvPr/>
        </p:nvSpPr>
        <p:spPr>
          <a:xfrm>
            <a:off x="6720804" y="2556274"/>
            <a:ext cx="120399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>
                <a:solidFill>
                  <a:srgbClr val="C00000"/>
                </a:solidFill>
                <a:latin typeface="Aptos" panose="020B0004020202020204" pitchFamily="34" charset="0"/>
              </a:rPr>
              <a:t>Target Allocation</a:t>
            </a:r>
          </a:p>
        </p:txBody>
      </p:sp>
    </p:spTree>
    <p:extLst>
      <p:ext uri="{BB962C8B-B14F-4D97-AF65-F5344CB8AC3E}">
        <p14:creationId xmlns:p14="http://schemas.microsoft.com/office/powerpoint/2010/main" val="11675815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ABB28-D9DC-112A-E36C-4E9E132C9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ED9AA35-7DC7-2401-70B5-26B9E5A0F351}"/>
              </a:ext>
            </a:extLst>
          </p:cNvPr>
          <p:cNvSpPr/>
          <p:nvPr/>
        </p:nvSpPr>
        <p:spPr>
          <a:xfrm>
            <a:off x="1129744" y="2647371"/>
            <a:ext cx="2784530" cy="30852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00000000-0008-0000-0300-000003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65109870"/>
              </p:ext>
            </p:extLst>
          </p:nvPr>
        </p:nvGraphicFramePr>
        <p:xfrm>
          <a:off x="501530" y="2224152"/>
          <a:ext cx="6388100" cy="40877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5C7136E-7FFF-D801-74B8-ACB524E8B7E4}"/>
              </a:ext>
            </a:extLst>
          </p:cNvPr>
          <p:cNvCxnSpPr>
            <a:cxnSpLocks/>
          </p:cNvCxnSpPr>
          <p:nvPr/>
        </p:nvCxnSpPr>
        <p:spPr>
          <a:xfrm>
            <a:off x="1231453" y="2907464"/>
            <a:ext cx="252240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B3A7A08-284A-36F0-0651-BC0BD315E690}"/>
              </a:ext>
            </a:extLst>
          </p:cNvPr>
          <p:cNvSpPr txBox="1"/>
          <p:nvPr/>
        </p:nvSpPr>
        <p:spPr>
          <a:xfrm>
            <a:off x="338291" y="289102"/>
            <a:ext cx="7747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rotesque Light" panose="020B0304020202020204" pitchFamily="34" charset="0"/>
              </a:rPr>
              <a:t>Portfolio Wealth Projections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D24399-1A80-31E0-76F5-5EB5128BB9CB}"/>
              </a:ext>
            </a:extLst>
          </p:cNvPr>
          <p:cNvSpPr txBox="1"/>
          <p:nvPr/>
        </p:nvSpPr>
        <p:spPr>
          <a:xfrm>
            <a:off x="338291" y="622539"/>
            <a:ext cx="77473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Grotesque Light" panose="020B0304020202020204" pitchFamily="34" charset="0"/>
              </a:rPr>
              <a:t>Transitioning from Current to </a:t>
            </a:r>
            <a:r>
              <a:rPr lang="en-US" sz="1400" dirty="0">
                <a:latin typeface="Grotesque Light" panose="020B0304020202020204" pitchFamily="34" charset="0"/>
              </a:rPr>
              <a:t>Target</a:t>
            </a:r>
            <a:r>
              <a:rPr lang="en-US" sz="1200" dirty="0">
                <a:latin typeface="Grotesque Light" panose="020B0304020202020204" pitchFamily="34" charset="0"/>
              </a:rPr>
              <a:t> Portfolio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322223-31E1-E2F3-71C1-EBFF954D4714}"/>
              </a:ext>
            </a:extLst>
          </p:cNvPr>
          <p:cNvSpPr txBox="1"/>
          <p:nvPr/>
        </p:nvSpPr>
        <p:spPr>
          <a:xfrm>
            <a:off x="302496" y="1760554"/>
            <a:ext cx="8539009" cy="276999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+mj-lt"/>
              </a:rPr>
              <a:t>Simulated Future Nominal Portfolio Value Paths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DA3C8F-BC9F-D264-160F-D1C948A5777E}"/>
              </a:ext>
            </a:extLst>
          </p:cNvPr>
          <p:cNvSpPr txBox="1"/>
          <p:nvPr/>
        </p:nvSpPr>
        <p:spPr>
          <a:xfrm>
            <a:off x="302496" y="1193266"/>
            <a:ext cx="8539009" cy="27699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>
                <a:latin typeface="Aptos Light" panose="020B0004020202020204" pitchFamily="34" charset="0"/>
              </a:defRPr>
            </a:lvl1pPr>
          </a:lstStyle>
          <a:p>
            <a:r>
              <a:rPr lang="en-US" dirty="0"/>
              <a:t>We show here the project distribution of portfolio paths as through the evolution of the current portfolio to the target portfolio.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F54A36-C63F-878F-66C1-FEC9B2AB815E}"/>
              </a:ext>
            </a:extLst>
          </p:cNvPr>
          <p:cNvSpPr txBox="1"/>
          <p:nvPr/>
        </p:nvSpPr>
        <p:spPr>
          <a:xfrm>
            <a:off x="1932186" y="2738187"/>
            <a:ext cx="1179646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Aptos" panose="020B0004020202020204" pitchFamily="34" charset="0"/>
              </a:rPr>
              <a:t>Building Private Asset Portfolio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49BAE27-1E82-E998-DAC9-4BC71161A37E}"/>
              </a:ext>
            </a:extLst>
          </p:cNvPr>
          <p:cNvCxnSpPr>
            <a:cxnSpLocks/>
          </p:cNvCxnSpPr>
          <p:nvPr/>
        </p:nvCxnSpPr>
        <p:spPr>
          <a:xfrm>
            <a:off x="4015983" y="2907464"/>
            <a:ext cx="2522400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5A269D3-6FD7-4CBC-9437-E39CAB611702}"/>
              </a:ext>
            </a:extLst>
          </p:cNvPr>
          <p:cNvSpPr txBox="1"/>
          <p:nvPr/>
        </p:nvSpPr>
        <p:spPr>
          <a:xfrm>
            <a:off x="4716716" y="2738187"/>
            <a:ext cx="1179646" cy="36933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atin typeface="Aptos" panose="020B0004020202020204" pitchFamily="34" charset="0"/>
              </a:rPr>
              <a:t>Fully Invested Portfolio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3B039E1-CFD3-05A6-9D6D-B4635625AB4F}"/>
              </a:ext>
            </a:extLst>
          </p:cNvPr>
          <p:cNvCxnSpPr>
            <a:cxnSpLocks/>
          </p:cNvCxnSpPr>
          <p:nvPr/>
        </p:nvCxnSpPr>
        <p:spPr>
          <a:xfrm flipV="1">
            <a:off x="6992984" y="3248517"/>
            <a:ext cx="1529564" cy="6587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13">
            <a:extLst>
              <a:ext uri="{FF2B5EF4-FFF2-40B4-BE49-F238E27FC236}">
                <a16:creationId xmlns:a16="http://schemas.microsoft.com/office/drawing/2014/main" id="{A1A11A9C-4375-F544-1C38-AF274DBCBE3D}"/>
              </a:ext>
            </a:extLst>
          </p:cNvPr>
          <p:cNvSpPr txBox="1"/>
          <p:nvPr/>
        </p:nvSpPr>
        <p:spPr>
          <a:xfrm>
            <a:off x="7424442" y="3076741"/>
            <a:ext cx="1179628" cy="50783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>
                <a:latin typeface="Aptos" panose="020B0004020202020204" pitchFamily="34" charset="0"/>
              </a:rPr>
              <a:t>90% of outcomes will be less than this value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53C3649-D8D9-A2E4-F229-CE9EAC164A76}"/>
              </a:ext>
            </a:extLst>
          </p:cNvPr>
          <p:cNvCxnSpPr>
            <a:cxnSpLocks/>
          </p:cNvCxnSpPr>
          <p:nvPr/>
        </p:nvCxnSpPr>
        <p:spPr>
          <a:xfrm flipV="1">
            <a:off x="6992984" y="4287705"/>
            <a:ext cx="1529564" cy="6587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13">
            <a:extLst>
              <a:ext uri="{FF2B5EF4-FFF2-40B4-BE49-F238E27FC236}">
                <a16:creationId xmlns:a16="http://schemas.microsoft.com/office/drawing/2014/main" id="{C80F1305-B410-E0FA-357E-9847F9388294}"/>
              </a:ext>
            </a:extLst>
          </p:cNvPr>
          <p:cNvSpPr txBox="1"/>
          <p:nvPr/>
        </p:nvSpPr>
        <p:spPr>
          <a:xfrm>
            <a:off x="7415109" y="3982360"/>
            <a:ext cx="1179628" cy="50783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>
                <a:latin typeface="Aptos" panose="020B0004020202020204" pitchFamily="34" charset="0"/>
              </a:rPr>
              <a:t>50% of outcomes will be less than this value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7EB3724-F001-A0A9-E05A-2505BEB73D4F}"/>
              </a:ext>
            </a:extLst>
          </p:cNvPr>
          <p:cNvCxnSpPr>
            <a:cxnSpLocks/>
          </p:cNvCxnSpPr>
          <p:nvPr/>
        </p:nvCxnSpPr>
        <p:spPr>
          <a:xfrm flipV="1">
            <a:off x="6983651" y="4911951"/>
            <a:ext cx="1529564" cy="6587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13">
            <a:extLst>
              <a:ext uri="{FF2B5EF4-FFF2-40B4-BE49-F238E27FC236}">
                <a16:creationId xmlns:a16="http://schemas.microsoft.com/office/drawing/2014/main" id="{474EC182-AFED-C2F7-E21D-E06257F139E9}"/>
              </a:ext>
            </a:extLst>
          </p:cNvPr>
          <p:cNvSpPr txBox="1"/>
          <p:nvPr/>
        </p:nvSpPr>
        <p:spPr>
          <a:xfrm>
            <a:off x="7415109" y="4565445"/>
            <a:ext cx="1179628" cy="50783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>
                <a:latin typeface="Aptos" panose="020B0004020202020204" pitchFamily="34" charset="0"/>
              </a:rPr>
              <a:t>10% of outcomes will be less than this value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ED877E9-BBF7-7C62-83A4-56109CBF14AA}"/>
              </a:ext>
            </a:extLst>
          </p:cNvPr>
          <p:cNvCxnSpPr>
            <a:cxnSpLocks/>
          </p:cNvCxnSpPr>
          <p:nvPr/>
        </p:nvCxnSpPr>
        <p:spPr>
          <a:xfrm flipV="1">
            <a:off x="6983651" y="5228014"/>
            <a:ext cx="1529564" cy="6587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13">
            <a:extLst>
              <a:ext uri="{FF2B5EF4-FFF2-40B4-BE49-F238E27FC236}">
                <a16:creationId xmlns:a16="http://schemas.microsoft.com/office/drawing/2014/main" id="{C838940C-3202-B16A-A6AA-6ED29A029AE8}"/>
              </a:ext>
            </a:extLst>
          </p:cNvPr>
          <p:cNvSpPr txBox="1"/>
          <p:nvPr/>
        </p:nvSpPr>
        <p:spPr>
          <a:xfrm>
            <a:off x="7415109" y="5148530"/>
            <a:ext cx="1179628" cy="50783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" dirty="0">
                <a:latin typeface="Aptos" panose="020B0004020202020204" pitchFamily="34" charset="0"/>
              </a:rPr>
              <a:t>1% of outcomes will be less than this value</a:t>
            </a:r>
          </a:p>
        </p:txBody>
      </p:sp>
    </p:spTree>
    <p:extLst>
      <p:ext uri="{BB962C8B-B14F-4D97-AF65-F5344CB8AC3E}">
        <p14:creationId xmlns:p14="http://schemas.microsoft.com/office/powerpoint/2010/main" val="1854736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17676</TotalTime>
  <Words>2277</Words>
  <Application>Microsoft Macintosh PowerPoint</Application>
  <PresentationFormat>On-screen Show (4:3)</PresentationFormat>
  <Paragraphs>327</Paragraphs>
  <Slides>42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0" baseType="lpstr">
      <vt:lpstr>Aptos</vt:lpstr>
      <vt:lpstr>Aptos Light</vt:lpstr>
      <vt:lpstr>Arial</vt:lpstr>
      <vt:lpstr>Calibri</vt:lpstr>
      <vt:lpstr>Calibri Light</vt:lpstr>
      <vt:lpstr>Grotesque Light</vt:lpstr>
      <vt:lpstr>Office 2013 - 2022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Francis Barker</dc:creator>
  <cp:lastModifiedBy>Francis Barker</cp:lastModifiedBy>
  <cp:revision>94</cp:revision>
  <dcterms:created xsi:type="dcterms:W3CDTF">2024-02-09T09:35:44Z</dcterms:created>
  <dcterms:modified xsi:type="dcterms:W3CDTF">2025-07-09T13:57:46Z</dcterms:modified>
</cp:coreProperties>
</file>